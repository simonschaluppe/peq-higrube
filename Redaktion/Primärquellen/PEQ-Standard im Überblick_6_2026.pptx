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theme/themeOverride1.xml" ContentType="application/vnd.openxmlformats-officedocument.themeOverride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theme/themeOverride2.xml" ContentType="application/vnd.openxmlformats-officedocument.themeOverride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theme/themeOverride3.xml" ContentType="application/vnd.openxmlformats-officedocument.themeOverride+xml"/>
  <Override PartName="/ppt/tags/tag27.xml" ContentType="application/vnd.openxmlformats-officedocument.presentationml.tags+xml"/>
  <Override PartName="/ppt/charts/chart4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ppt/theme/themeOverride4.xml" ContentType="application/vnd.openxmlformats-officedocument.themeOverride+xml"/>
  <Override PartName="/ppt/charts/chart5.xml" ContentType="application/vnd.openxmlformats-officedocument.drawingml.chart+xml"/>
  <Override PartName="/ppt/charts/style5.xml" ContentType="application/vnd.ms-office.chartstyle+xml"/>
  <Override PartName="/ppt/charts/colors5.xml" ContentType="application/vnd.ms-office.chartcolorstyle+xml"/>
  <Override PartName="/ppt/theme/themeOverride5.xml" ContentType="application/vnd.openxmlformats-officedocument.themeOverride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charts/chart6.xml" ContentType="application/vnd.openxmlformats-officedocument.drawingml.chart+xml"/>
  <Override PartName="/ppt/charts/style6.xml" ContentType="application/vnd.ms-office.chartstyle+xml"/>
  <Override PartName="/ppt/charts/colors6.xml" ContentType="application/vnd.ms-office.chartcolorstyle+xml"/>
  <Override PartName="/ppt/theme/themeOverride6.xml" ContentType="application/vnd.openxmlformats-officedocument.themeOverride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charts/chart7.xml" ContentType="application/vnd.openxmlformats-officedocument.drawingml.chart+xml"/>
  <Override PartName="/ppt/charts/style7.xml" ContentType="application/vnd.ms-office.chartstyle+xml"/>
  <Override PartName="/ppt/charts/colors7.xml" ContentType="application/vnd.ms-office.chartcolorstyle+xml"/>
  <Override PartName="/ppt/charts/chart8.xml" ContentType="application/vnd.openxmlformats-officedocument.drawingml.chart+xml"/>
  <Override PartName="/ppt/charts/style8.xml" ContentType="application/vnd.ms-office.chartstyle+xml"/>
  <Override PartName="/ppt/charts/colors8.xml" ContentType="application/vnd.ms-office.chartcolorstyle+xml"/>
  <Override PartName="/ppt/charts/chart9.xml" ContentType="application/vnd.openxmlformats-officedocument.drawingml.chart+xml"/>
  <Override PartName="/ppt/charts/chart10.xml" ContentType="application/vnd.openxmlformats-officedocument.drawingml.chart+xml"/>
  <Override PartName="/ppt/charts/style9.xml" ContentType="application/vnd.ms-office.chartstyle+xml"/>
  <Override PartName="/ppt/charts/colors9.xml" ContentType="application/vnd.ms-office.chartcolorstyle+xml"/>
  <Override PartName="/ppt/charts/chart11.xml" ContentType="application/vnd.openxmlformats-officedocument.drawingml.chart+xml"/>
  <Override PartName="/ppt/charts/style10.xml" ContentType="application/vnd.ms-office.chartstyle+xml"/>
  <Override PartName="/ppt/charts/colors10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1" r:id="rId1"/>
  </p:sldMasterIdLst>
  <p:notesMasterIdLst>
    <p:notesMasterId r:id="rId48"/>
  </p:notesMasterIdLst>
  <p:handoutMasterIdLst>
    <p:handoutMasterId r:id="rId49"/>
  </p:handoutMasterIdLst>
  <p:sldIdLst>
    <p:sldId id="256" r:id="rId2"/>
    <p:sldId id="397" r:id="rId3"/>
    <p:sldId id="398" r:id="rId4"/>
    <p:sldId id="399" r:id="rId5"/>
    <p:sldId id="1430" r:id="rId6"/>
    <p:sldId id="1431" r:id="rId7"/>
    <p:sldId id="395" r:id="rId8"/>
    <p:sldId id="396" r:id="rId9"/>
    <p:sldId id="1472" r:id="rId10"/>
    <p:sldId id="1478" r:id="rId11"/>
    <p:sldId id="402" r:id="rId12"/>
    <p:sldId id="307" r:id="rId13"/>
    <p:sldId id="1469" r:id="rId14"/>
    <p:sldId id="1468" r:id="rId15"/>
    <p:sldId id="1471" r:id="rId16"/>
    <p:sldId id="1445" r:id="rId17"/>
    <p:sldId id="1446" r:id="rId18"/>
    <p:sldId id="1357" r:id="rId19"/>
    <p:sldId id="1448" r:id="rId20"/>
    <p:sldId id="1449" r:id="rId21"/>
    <p:sldId id="1450" r:id="rId22"/>
    <p:sldId id="1451" r:id="rId23"/>
    <p:sldId id="1470" r:id="rId24"/>
    <p:sldId id="1453" r:id="rId25"/>
    <p:sldId id="1454" r:id="rId26"/>
    <p:sldId id="1466" r:id="rId27"/>
    <p:sldId id="1455" r:id="rId28"/>
    <p:sldId id="1456" r:id="rId29"/>
    <p:sldId id="1457" r:id="rId30"/>
    <p:sldId id="1473" r:id="rId31"/>
    <p:sldId id="1458" r:id="rId32"/>
    <p:sldId id="1459" r:id="rId33"/>
    <p:sldId id="1460" r:id="rId34"/>
    <p:sldId id="1461" r:id="rId35"/>
    <p:sldId id="1462" r:id="rId36"/>
    <p:sldId id="1463" r:id="rId37"/>
    <p:sldId id="1464" r:id="rId38"/>
    <p:sldId id="1483" r:id="rId39"/>
    <p:sldId id="1465" r:id="rId40"/>
    <p:sldId id="1474" r:id="rId41"/>
    <p:sldId id="1475" r:id="rId42"/>
    <p:sldId id="1477" r:id="rId43"/>
    <p:sldId id="1476" r:id="rId44"/>
    <p:sldId id="1480" r:id="rId45"/>
    <p:sldId id="1481" r:id="rId46"/>
    <p:sldId id="1482" r:id="rId47"/>
  </p:sldIdLst>
  <p:sldSz cx="12192000" cy="6858000"/>
  <p:notesSz cx="4762500" cy="86868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Kowalski Katharina" initials="KK" lastIdx="12" clrIdx="0">
    <p:extLst>
      <p:ext uri="{19B8F6BF-5375-455C-9EA6-DF929625EA0E}">
        <p15:presenceInfo xmlns:p15="http://schemas.microsoft.com/office/powerpoint/2012/main" userId="S-1-5-21-488040868-4244228847-1048680791-22768" providerId="AD"/>
      </p:ext>
    </p:extLst>
  </p:cmAuthor>
  <p:cmAuthor id="2" name="Jung Gerd" initials="JG" lastIdx="25" clrIdx="1">
    <p:extLst>
      <p:ext uri="{19B8F6BF-5375-455C-9EA6-DF929625EA0E}">
        <p15:presenceInfo xmlns:p15="http://schemas.microsoft.com/office/powerpoint/2012/main" userId="S-1-5-21-488040868-4244228847-1048680791-25123" providerId="AD"/>
      </p:ext>
    </p:extLst>
  </p:cmAuthor>
  <p:cmAuthor id="3" name="Bargmann Elisabeth" initials="BE" lastIdx="36" clrIdx="2">
    <p:extLst>
      <p:ext uri="{19B8F6BF-5375-455C-9EA6-DF929625EA0E}">
        <p15:presenceInfo xmlns:p15="http://schemas.microsoft.com/office/powerpoint/2012/main" userId="S-1-5-21-488040868-4244228847-1048680791-22028" providerId="AD"/>
      </p:ext>
    </p:extLst>
  </p:cmAuthor>
  <p:cmAuthor id="4" name="Maier Philipp" initials="MP" lastIdx="1" clrIdx="3">
    <p:extLst>
      <p:ext uri="{19B8F6BF-5375-455C-9EA6-DF929625EA0E}">
        <p15:presenceInfo xmlns:p15="http://schemas.microsoft.com/office/powerpoint/2012/main" userId="S-1-5-21-488040868-4244228847-1048680791-22769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86F686"/>
    <a:srgbClr val="6ACA5B"/>
    <a:srgbClr val="FFFBBC"/>
    <a:srgbClr val="DCCB60"/>
    <a:srgbClr val="926A12"/>
    <a:srgbClr val="F2ABA9"/>
    <a:srgbClr val="DD7E72"/>
    <a:srgbClr val="C86C61"/>
    <a:srgbClr val="C9FFF5"/>
    <a:srgbClr val="80E3E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ittlere Formatvorlage 2 - Akz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B4B98B0-60AC-42C2-AFA5-B58CD77FA1E5}" styleName="Helle Formatvorlage 1 - Akz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838" autoAdjust="0"/>
    <p:restoredTop sz="96247" autoAdjust="0"/>
  </p:normalViewPr>
  <p:slideViewPr>
    <p:cSldViewPr snapToGrid="0">
      <p:cViewPr varScale="1">
        <p:scale>
          <a:sx n="121" d="100"/>
          <a:sy n="121" d="100"/>
        </p:scale>
        <p:origin x="120" y="150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49" d="100"/>
          <a:sy n="49" d="100"/>
        </p:scale>
        <p:origin x="2668" y="4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commentAuthors" Target="commentAuthor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51" Type="http://schemas.openxmlformats.org/officeDocument/2006/relationships/presProps" Target="pres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handoutMaster" Target="handoutMasters/handoutMaster1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1.xml"/><Relationship Id="rId2" Type="http://schemas.microsoft.com/office/2011/relationships/chartColorStyle" Target="colors1.xml"/><Relationship Id="rId1" Type="http://schemas.microsoft.com/office/2011/relationships/chartStyle" Target="style1.xml"/><Relationship Id="rId4" Type="http://schemas.openxmlformats.org/officeDocument/2006/relationships/oleObject" Target="file:///C:\Users\schneids\code\peexcel\peexcel\ka_PEQ_Nachweistool_DEV.xlsb" TargetMode="Externa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2.xml"/><Relationship Id="rId2" Type="http://schemas.microsoft.com/office/2011/relationships/chartColorStyle" Target="colors2.xml"/><Relationship Id="rId1" Type="http://schemas.microsoft.com/office/2011/relationships/chartStyle" Target="style2.xml"/><Relationship Id="rId4" Type="http://schemas.openxmlformats.org/officeDocument/2006/relationships/oleObject" Target="https://d.docs.live.net/572453d936140585/PhD/Paper/Design/Climate%20Neutral%20PEDS%20design%20paper%20tables%20and%20diagrams.xlsx" TargetMode="Externa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3.xml"/><Relationship Id="rId2" Type="http://schemas.microsoft.com/office/2011/relationships/chartColorStyle" Target="colors3.xml"/><Relationship Id="rId1" Type="http://schemas.microsoft.com/office/2011/relationships/chartStyle" Target="style3.xml"/><Relationship Id="rId4" Type="http://schemas.openxmlformats.org/officeDocument/2006/relationships/oleObject" Target="file:///C:\Users\schneids\code\peexcel\peexcel\ka_PEQ_Nachweistool_DEV.xlsb" TargetMode="External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4.xml"/><Relationship Id="rId2" Type="http://schemas.microsoft.com/office/2011/relationships/chartColorStyle" Target="colors4.xml"/><Relationship Id="rId1" Type="http://schemas.microsoft.com/office/2011/relationships/chartStyle" Target="style4.xml"/><Relationship Id="rId4" Type="http://schemas.openxmlformats.org/officeDocument/2006/relationships/oleObject" Target="file:///C:\Users\schneids\code\peexcel\peexcel\ka_PEQ_Nachweistool_DEV.xlsb" TargetMode="External"/></Relationships>
</file>

<file path=ppt/charts/_rels/chart5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5.xml"/><Relationship Id="rId2" Type="http://schemas.microsoft.com/office/2011/relationships/chartColorStyle" Target="colors5.xml"/><Relationship Id="rId1" Type="http://schemas.microsoft.com/office/2011/relationships/chartStyle" Target="style5.xml"/><Relationship Id="rId4" Type="http://schemas.openxmlformats.org/officeDocument/2006/relationships/oleObject" Target="file:///C:\Users\schneids\code\peexcel\peexcel\ka_PEQ_Nachweistool_DEV.xlsb" TargetMode="External"/></Relationships>
</file>

<file path=ppt/charts/_rels/chart6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6.xml"/><Relationship Id="rId2" Type="http://schemas.microsoft.com/office/2011/relationships/chartColorStyle" Target="colors6.xml"/><Relationship Id="rId1" Type="http://schemas.microsoft.com/office/2011/relationships/chartStyle" Target="style6.xml"/><Relationship Id="rId4" Type="http://schemas.openxmlformats.org/officeDocument/2006/relationships/oleObject" Target="file:///C:\Users\ma0026.NB-MA0026\Downloads\ka_PEQ_Nachweistool_DEV.xlsb" TargetMode="External"/></Relationships>
</file>

<file path=ppt/charts/_rels/chart7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schneids\Nextcloud\EE\1_Forschung\3_Auftr&#228;ge\2025%20klimaaktiv%20PEQ%20Deklaration\PEQ%20Dokumente\2_Kommunikation\Kommunikationsliste.xlsx" TargetMode="External"/><Relationship Id="rId2" Type="http://schemas.microsoft.com/office/2011/relationships/chartColorStyle" Target="colors7.xml"/><Relationship Id="rId1" Type="http://schemas.microsoft.com/office/2011/relationships/chartStyle" Target="style7.xml"/></Relationships>
</file>

<file path=ppt/charts/_rels/chart8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schneids\Nextcloud\EE\1_Forschung\3_Auftr&#228;ge\2025%20klimaaktiv%20PEQ%20Deklaration\PEQ%20Dokumente\2_Kommunikation\Kommunikationsliste.xlsx" TargetMode="External"/><Relationship Id="rId2" Type="http://schemas.microsoft.com/office/2011/relationships/chartColorStyle" Target="colors8.xml"/><Relationship Id="rId1" Type="http://schemas.microsoft.com/office/2011/relationships/chartStyle" Target="style8.xml"/></Relationships>
</file>

<file path=ppt/charts/_rels/chart9.xml.rels><?xml version="1.0" encoding="UTF-8" standalone="yes"?>
<Relationships xmlns="http://schemas.openxmlformats.org/package/2006/relationships"><Relationship Id="rId1" Type="http://schemas.openxmlformats.org/officeDocument/2006/relationships/oleObject" Target="file:///C:\Users\schneids\Nextcloud\EE\1_Forschung\3_Auftr&#228;ge\2025%20klimaaktiv%20PEQ%20Deklaration\PEQ%20Dokumente\3_Beratung\Anfragen%20PEQ_2025.xlsx" TargetMode="External"/></Relationships>
</file>

<file path=ppt/charts/_rels/chart10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schneids\Nextcloud\EE\1_Forschung\3_Auftr&#228;ge\2025%20klimaaktiv%20PEQ%20Deklaration\PEQ%20Dokumente\3_Beratung\Anfragen%20PEQ_2025.xlsx" TargetMode="External"/><Relationship Id="rId2" Type="http://schemas.microsoft.com/office/2011/relationships/chartColorStyle" Target="colors9.xml"/><Relationship Id="rId1" Type="http://schemas.microsoft.com/office/2011/relationships/chartStyle" Target="style9.xml"/></Relationships>
</file>

<file path=ppt/charts/_rels/chart11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schneids\Nextcloud\EE\1_Forschung\3_Auftr&#228;ge\2025%20klimaaktiv%20PEQ%20Deklaration\PEQ%20Dokumente\3_Beratung\Anfragen%20PEQ_2025.xlsx" TargetMode="External"/><Relationship Id="rId2" Type="http://schemas.microsoft.com/office/2011/relationships/chartColorStyle" Target="colors10.xml"/><Relationship Id="rId1" Type="http://schemas.microsoft.com/office/2011/relationships/chartStyle" Target="style10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de-DE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de-DE" dirty="0"/>
              <a:t>MIV Verkehrsleistung</a:t>
            </a:r>
          </a:p>
        </c:rich>
      </c:tx>
      <c:layout>
        <c:manualLayout>
          <c:xMode val="edge"/>
          <c:yMode val="edge"/>
          <c:x val="6.4136396936745652E-2"/>
          <c:y val="2.7797143820982795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de-DE"/>
        </a:p>
      </c:txPr>
    </c:title>
    <c:autoTitleDeleted val="0"/>
    <c:plotArea>
      <c:layout>
        <c:manualLayout>
          <c:layoutTarget val="inner"/>
          <c:xMode val="edge"/>
          <c:yMode val="edge"/>
          <c:x val="7.62813774783348E-2"/>
          <c:y val="0.13454206001153038"/>
          <c:w val="0.59476858395615995"/>
          <c:h val="0.71407152763275561"/>
        </c:manualLayout>
      </c:layout>
      <c:barChart>
        <c:barDir val="bar"/>
        <c:grouping val="clustered"/>
        <c:varyColors val="0"/>
        <c:ser>
          <c:idx val="0"/>
          <c:order val="0"/>
          <c:tx>
            <c:strRef>
              <c:f>🚗!$L$25</c:f>
              <c:strCache>
                <c:ptCount val="1"/>
                <c:pt idx="0">
                  <c:v>Urban</c:v>
                </c:pt>
              </c:strCache>
            </c:strRef>
          </c:tx>
          <c:spPr>
            <a:solidFill>
              <a:srgbClr val="86F686"/>
            </a:solidFill>
            <a:ln>
              <a:noFill/>
            </a:ln>
            <a:effectLst/>
          </c:spPr>
          <c:invertIfNegative val="0"/>
          <c:val>
            <c:numRef>
              <c:f>🚗!$V$25</c:f>
              <c:numCache>
                <c:formatCode>#,##0</c:formatCode>
                <c:ptCount val="1"/>
                <c:pt idx="0">
                  <c:v>4564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AB24-457A-A239-CF24D0E7FECA}"/>
            </c:ext>
          </c:extLst>
        </c:ser>
        <c:ser>
          <c:idx val="1"/>
          <c:order val="1"/>
          <c:tx>
            <c:strRef>
              <c:f>🚗!$L$26</c:f>
              <c:strCache>
                <c:ptCount val="1"/>
                <c:pt idx="0">
                  <c:v>Sub-Urban</c:v>
                </c:pt>
              </c:strCache>
            </c:strRef>
          </c:tx>
          <c:spPr>
            <a:solidFill>
              <a:srgbClr val="6ACA5B"/>
            </a:solidFill>
            <a:ln>
              <a:noFill/>
            </a:ln>
            <a:effectLst/>
          </c:spPr>
          <c:invertIfNegative val="0"/>
          <c:val>
            <c:numRef>
              <c:f>🚗!$V$26</c:f>
              <c:numCache>
                <c:formatCode>#,##0</c:formatCode>
                <c:ptCount val="1"/>
                <c:pt idx="0">
                  <c:v>5305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AB24-457A-A239-CF24D0E7FECA}"/>
            </c:ext>
          </c:extLst>
        </c:ser>
        <c:ser>
          <c:idx val="2"/>
          <c:order val="2"/>
          <c:tx>
            <c:strRef>
              <c:f>🚗!$L$27</c:f>
              <c:strCache>
                <c:ptCount val="1"/>
                <c:pt idx="0">
                  <c:v>Ländlich mit Pendelverkehr, ÖV gut</c:v>
                </c:pt>
              </c:strCache>
            </c:strRef>
          </c:tx>
          <c:spPr>
            <a:solidFill>
              <a:srgbClr val="FFFBBC"/>
            </a:solidFill>
            <a:ln>
              <a:noFill/>
            </a:ln>
            <a:effectLst/>
          </c:spPr>
          <c:invertIfNegative val="0"/>
          <c:val>
            <c:numRef>
              <c:f>🚗!$V$27</c:f>
              <c:numCache>
                <c:formatCode>#,##0</c:formatCode>
                <c:ptCount val="1"/>
                <c:pt idx="0">
                  <c:v>6361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AB24-457A-A239-CF24D0E7FECA}"/>
            </c:ext>
          </c:extLst>
        </c:ser>
        <c:ser>
          <c:idx val="3"/>
          <c:order val="3"/>
          <c:tx>
            <c:strRef>
              <c:f>🚗!$L$28</c:f>
              <c:strCache>
                <c:ptCount val="1"/>
                <c:pt idx="0">
                  <c:v>Ländlich mit Pendelverkehr</c:v>
                </c:pt>
              </c:strCache>
            </c:strRef>
          </c:tx>
          <c:spPr>
            <a:solidFill>
              <a:srgbClr val="DCCB60"/>
            </a:solidFill>
            <a:ln>
              <a:noFill/>
            </a:ln>
            <a:effectLst/>
          </c:spPr>
          <c:invertIfNegative val="0"/>
          <c:val>
            <c:numRef>
              <c:f>🚗!$V$28</c:f>
              <c:numCache>
                <c:formatCode>#,##0</c:formatCode>
                <c:ptCount val="1"/>
                <c:pt idx="0">
                  <c:v>6731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AB24-457A-A239-CF24D0E7FECA}"/>
            </c:ext>
          </c:extLst>
        </c:ser>
        <c:ser>
          <c:idx val="4"/>
          <c:order val="4"/>
          <c:tx>
            <c:strRef>
              <c:f>🚗!$L$29</c:f>
              <c:strCache>
                <c:ptCount val="1"/>
                <c:pt idx="0">
                  <c:v>Ländlich mit Pendelverkehr, ÖV schlecht</c:v>
                </c:pt>
              </c:strCache>
            </c:strRef>
          </c:tx>
          <c:spPr>
            <a:solidFill>
              <a:srgbClr val="926A12"/>
            </a:solidFill>
            <a:ln>
              <a:noFill/>
            </a:ln>
            <a:effectLst/>
          </c:spPr>
          <c:invertIfNegative val="0"/>
          <c:val>
            <c:numRef>
              <c:f>🚗!$V$29</c:f>
              <c:numCache>
                <c:formatCode>#,##0</c:formatCode>
                <c:ptCount val="1"/>
                <c:pt idx="0">
                  <c:v>10953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AB24-457A-A239-CF24D0E7FECA}"/>
            </c:ext>
          </c:extLst>
        </c:ser>
        <c:ser>
          <c:idx val="5"/>
          <c:order val="5"/>
          <c:tx>
            <c:strRef>
              <c:f>🚗!$L$30</c:f>
              <c:strCache>
                <c:ptCount val="1"/>
                <c:pt idx="0">
                  <c:v>Ländlich, ÖV gut</c:v>
                </c:pt>
              </c:strCache>
            </c:strRef>
          </c:tx>
          <c:spPr>
            <a:solidFill>
              <a:srgbClr val="F2ABA9"/>
            </a:solidFill>
            <a:ln>
              <a:noFill/>
            </a:ln>
            <a:effectLst/>
          </c:spPr>
          <c:invertIfNegative val="0"/>
          <c:val>
            <c:numRef>
              <c:f>🚗!$V$30</c:f>
              <c:numCache>
                <c:formatCode>#,##0</c:formatCode>
                <c:ptCount val="1"/>
                <c:pt idx="0">
                  <c:v>6155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5-AB24-457A-A239-CF24D0E7FECA}"/>
            </c:ext>
          </c:extLst>
        </c:ser>
        <c:ser>
          <c:idx val="6"/>
          <c:order val="6"/>
          <c:tx>
            <c:strRef>
              <c:f>🚗!$L$31</c:f>
              <c:strCache>
                <c:ptCount val="1"/>
                <c:pt idx="0">
                  <c:v>Ländlich</c:v>
                </c:pt>
              </c:strCache>
            </c:strRef>
          </c:tx>
          <c:spPr>
            <a:solidFill>
              <a:srgbClr val="DD7E72"/>
            </a:solidFill>
            <a:ln>
              <a:noFill/>
            </a:ln>
            <a:effectLst/>
          </c:spPr>
          <c:invertIfNegative val="0"/>
          <c:val>
            <c:numRef>
              <c:f>🚗!$V$31</c:f>
              <c:numCache>
                <c:formatCode>#,##0</c:formatCode>
                <c:ptCount val="1"/>
                <c:pt idx="0">
                  <c:v>6275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AB24-457A-A239-CF24D0E7FECA}"/>
            </c:ext>
          </c:extLst>
        </c:ser>
        <c:ser>
          <c:idx val="7"/>
          <c:order val="7"/>
          <c:tx>
            <c:strRef>
              <c:f>🚗!$L$32</c:f>
              <c:strCache>
                <c:ptCount val="1"/>
                <c:pt idx="0">
                  <c:v>Ländlich, ÖV schlecht</c:v>
                </c:pt>
              </c:strCache>
            </c:strRef>
          </c:tx>
          <c:spPr>
            <a:solidFill>
              <a:srgbClr val="C86C61"/>
            </a:solidFill>
            <a:ln>
              <a:noFill/>
            </a:ln>
            <a:effectLst/>
          </c:spPr>
          <c:invertIfNegative val="0"/>
          <c:val>
            <c:numRef>
              <c:f>🚗!$V$32</c:f>
              <c:numCache>
                <c:formatCode>#,##0</c:formatCode>
                <c:ptCount val="1"/>
                <c:pt idx="0">
                  <c:v>7429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7-AB24-457A-A239-CF24D0E7FECA}"/>
            </c:ext>
          </c:extLst>
        </c:ser>
        <c:ser>
          <c:idx val="8"/>
          <c:order val="8"/>
          <c:tx>
            <c:strRef>
              <c:f>🚗!$L$33</c:f>
              <c:strCache>
                <c:ptCount val="1"/>
                <c:pt idx="0">
                  <c:v>Wien Zentrum</c:v>
                </c:pt>
              </c:strCache>
            </c:strRef>
          </c:tx>
          <c:spPr>
            <a:solidFill>
              <a:srgbClr val="C9FFF5"/>
            </a:solidFill>
            <a:ln>
              <a:noFill/>
            </a:ln>
            <a:effectLst/>
          </c:spPr>
          <c:invertIfNegative val="0"/>
          <c:val>
            <c:numRef>
              <c:f>🚗!$V$33</c:f>
              <c:numCache>
                <c:formatCode>#,##0</c:formatCode>
                <c:ptCount val="1"/>
                <c:pt idx="0">
                  <c:v>3279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AB24-457A-A239-CF24D0E7FECA}"/>
            </c:ext>
          </c:extLst>
        </c:ser>
        <c:ser>
          <c:idx val="9"/>
          <c:order val="9"/>
          <c:tx>
            <c:strRef>
              <c:f>🚗!$L$34</c:f>
              <c:strCache>
                <c:ptCount val="1"/>
                <c:pt idx="0">
                  <c:v>Wien</c:v>
                </c:pt>
              </c:strCache>
            </c:strRef>
          </c:tx>
          <c:spPr>
            <a:solidFill>
              <a:srgbClr val="80E3E5"/>
            </a:solidFill>
            <a:ln>
              <a:noFill/>
            </a:ln>
            <a:effectLst/>
          </c:spPr>
          <c:invertIfNegative val="0"/>
          <c:val>
            <c:numRef>
              <c:f>🚗!$V$34</c:f>
              <c:numCache>
                <c:formatCode>#,##0</c:formatCode>
                <c:ptCount val="1"/>
                <c:pt idx="0">
                  <c:v>2578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9-AB24-457A-A239-CF24D0E7FECA}"/>
            </c:ext>
          </c:extLst>
        </c:ser>
        <c:ser>
          <c:idx val="10"/>
          <c:order val="10"/>
          <c:tx>
            <c:strRef>
              <c:f>🚗!$L$35</c:f>
              <c:strCache>
                <c:ptCount val="1"/>
                <c:pt idx="0">
                  <c:v>Wien Randbezirke</c:v>
                </c:pt>
              </c:strCache>
            </c:strRef>
          </c:tx>
          <c:spPr>
            <a:solidFill>
              <a:srgbClr val="3ACAC3"/>
            </a:solidFill>
            <a:ln>
              <a:noFill/>
            </a:ln>
            <a:effectLst/>
          </c:spPr>
          <c:invertIfNegative val="0"/>
          <c:val>
            <c:numRef>
              <c:f>🚗!$V$35</c:f>
              <c:numCache>
                <c:formatCode>#,##0</c:formatCode>
                <c:ptCount val="1"/>
                <c:pt idx="0">
                  <c:v>3679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A-AB24-457A-A239-CF24D0E7FEC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axId val="634896912"/>
        <c:axId val="634898352"/>
      </c:barChart>
      <c:catAx>
        <c:axId val="634896912"/>
        <c:scaling>
          <c:orientation val="minMax"/>
        </c:scaling>
        <c:delete val="1"/>
        <c:axPos val="l"/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de-DE" dirty="0"/>
                  <a:t>Mobilitäts-ÖV-Typ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de-DE"/>
            </a:p>
          </c:txPr>
        </c:title>
        <c:majorTickMark val="none"/>
        <c:minorTickMark val="none"/>
        <c:tickLblPos val="nextTo"/>
        <c:crossAx val="634898352"/>
        <c:crosses val="autoZero"/>
        <c:auto val="1"/>
        <c:lblAlgn val="ctr"/>
        <c:lblOffset val="100"/>
        <c:noMultiLvlLbl val="0"/>
      </c:catAx>
      <c:valAx>
        <c:axId val="634898352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de-DE" dirty="0"/>
                  <a:t>MIV Jahrespersonenkilometer (</a:t>
                </a:r>
                <a:r>
                  <a:rPr lang="de-DE" dirty="0" err="1"/>
                  <a:t>Pkm</a:t>
                </a:r>
                <a:r>
                  <a:rPr lang="de-DE" dirty="0"/>
                  <a:t>/a)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de-DE"/>
            </a:p>
          </c:txPr>
        </c:title>
        <c:numFmt formatCode="#,##0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de-DE"/>
          </a:p>
        </c:txPr>
        <c:crossAx val="634896912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egendEntry>
        <c:idx val="6"/>
        <c:txPr>
          <a:bodyPr rot="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pPr>
            <a:endParaRPr lang="de-DE"/>
          </a:p>
        </c:txPr>
      </c:legendEntry>
      <c:layout>
        <c:manualLayout>
          <c:xMode val="edge"/>
          <c:yMode val="edge"/>
          <c:x val="0"/>
          <c:y val="0.18946273062994079"/>
          <c:w val="0.57344257445312896"/>
          <c:h val="0.60409203600477646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de-DE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de-DE"/>
    </a:p>
  </c:txPr>
  <c:externalData r:id="rId4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de-DE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1"/>
    <c:plotArea>
      <c:layout>
        <c:manualLayout>
          <c:layoutTarget val="inner"/>
          <c:xMode val="edge"/>
          <c:yMode val="edge"/>
          <c:x val="0.10464152507252383"/>
          <c:y val="5.6945345067160723E-2"/>
          <c:w val="0.34110038132025949"/>
          <c:h val="0.7404581596418095"/>
        </c:manualLayout>
      </c:layout>
      <c:lineChart>
        <c:grouping val="standard"/>
        <c:varyColors val="0"/>
        <c:ser>
          <c:idx val="0"/>
          <c:order val="0"/>
          <c:tx>
            <c:strRef>
              <c:f>rcps!$A$4</c:f>
              <c:strCache>
                <c:ptCount val="1"/>
                <c:pt idx="0">
                  <c:v>Electricity Average</c:v>
                </c:pt>
              </c:strCache>
            </c:strRef>
          </c:tx>
          <c:spPr>
            <a:ln w="28575" cap="rnd">
              <a:solidFill>
                <a:schemeClr val="accent4"/>
              </a:solidFill>
              <a:round/>
            </a:ln>
            <a:effectLst/>
          </c:spPr>
          <c:marker>
            <c:symbol val="none"/>
          </c:marker>
          <c:cat>
            <c:numRef>
              <c:f>rcps!$P$3:$AO$3</c:f>
              <c:numCache>
                <c:formatCode>General</c:formatCode>
                <c:ptCount val="26"/>
                <c:pt idx="0">
                  <c:v>2025</c:v>
                </c:pt>
                <c:pt idx="1">
                  <c:v>2026</c:v>
                </c:pt>
                <c:pt idx="2">
                  <c:v>2027</c:v>
                </c:pt>
                <c:pt idx="3">
                  <c:v>2028</c:v>
                </c:pt>
                <c:pt idx="4">
                  <c:v>2029</c:v>
                </c:pt>
                <c:pt idx="5">
                  <c:v>2030</c:v>
                </c:pt>
                <c:pt idx="6">
                  <c:v>2031</c:v>
                </c:pt>
                <c:pt idx="7">
                  <c:v>2032</c:v>
                </c:pt>
                <c:pt idx="8">
                  <c:v>2033</c:v>
                </c:pt>
                <c:pt idx="9">
                  <c:v>2034</c:v>
                </c:pt>
                <c:pt idx="10">
                  <c:v>2035</c:v>
                </c:pt>
                <c:pt idx="11">
                  <c:v>2036</c:v>
                </c:pt>
                <c:pt idx="12">
                  <c:v>2037</c:v>
                </c:pt>
                <c:pt idx="13">
                  <c:v>2038</c:v>
                </c:pt>
                <c:pt idx="14">
                  <c:v>2039</c:v>
                </c:pt>
                <c:pt idx="15">
                  <c:v>2040</c:v>
                </c:pt>
                <c:pt idx="16">
                  <c:v>2041</c:v>
                </c:pt>
                <c:pt idx="17">
                  <c:v>2042</c:v>
                </c:pt>
                <c:pt idx="18">
                  <c:v>2043</c:v>
                </c:pt>
                <c:pt idx="19">
                  <c:v>2044</c:v>
                </c:pt>
                <c:pt idx="20">
                  <c:v>2045</c:v>
                </c:pt>
                <c:pt idx="21">
                  <c:v>2046</c:v>
                </c:pt>
                <c:pt idx="22">
                  <c:v>2047</c:v>
                </c:pt>
                <c:pt idx="23">
                  <c:v>2048</c:v>
                </c:pt>
                <c:pt idx="24">
                  <c:v>2049</c:v>
                </c:pt>
                <c:pt idx="25">
                  <c:v>2050</c:v>
                </c:pt>
              </c:numCache>
            </c:numRef>
          </c:cat>
          <c:val>
            <c:numRef>
              <c:f>rcps!$P$4:$AO$4</c:f>
              <c:numCache>
                <c:formatCode>0</c:formatCode>
                <c:ptCount val="26"/>
                <c:pt idx="0">
                  <c:v>127.51536735219105</c:v>
                </c:pt>
                <c:pt idx="1">
                  <c:v>111.44843106581497</c:v>
                </c:pt>
                <c:pt idx="2">
                  <c:v>95.381494779438896</c:v>
                </c:pt>
                <c:pt idx="3">
                  <c:v>79.314558493062833</c:v>
                </c:pt>
                <c:pt idx="4">
                  <c:v>63.247622206686756</c:v>
                </c:pt>
                <c:pt idx="5">
                  <c:v>47.180685920310687</c:v>
                </c:pt>
                <c:pt idx="6">
                  <c:v>45.522986144732201</c:v>
                </c:pt>
                <c:pt idx="7">
                  <c:v>43.865286369153722</c:v>
                </c:pt>
                <c:pt idx="8">
                  <c:v>42.207586593575236</c:v>
                </c:pt>
                <c:pt idx="9">
                  <c:v>40.54988681799675</c:v>
                </c:pt>
                <c:pt idx="10">
                  <c:v>38.892187042418271</c:v>
                </c:pt>
                <c:pt idx="11">
                  <c:v>37.234487266839785</c:v>
                </c:pt>
                <c:pt idx="12">
                  <c:v>35.5767874912613</c:v>
                </c:pt>
                <c:pt idx="13">
                  <c:v>33.919087715682821</c:v>
                </c:pt>
                <c:pt idx="14">
                  <c:v>32.261387940104328</c:v>
                </c:pt>
                <c:pt idx="15">
                  <c:v>30.603688164525849</c:v>
                </c:pt>
                <c:pt idx="16">
                  <c:v>27.543319348073265</c:v>
                </c:pt>
                <c:pt idx="17">
                  <c:v>24.482950531620681</c:v>
                </c:pt>
                <c:pt idx="18">
                  <c:v>21.422581715168093</c:v>
                </c:pt>
                <c:pt idx="19">
                  <c:v>18.362212898715509</c:v>
                </c:pt>
                <c:pt idx="20">
                  <c:v>15.301844082262923</c:v>
                </c:pt>
                <c:pt idx="21">
                  <c:v>12.24147526581034</c:v>
                </c:pt>
                <c:pt idx="22">
                  <c:v>9.1811064493577561</c:v>
                </c:pt>
                <c:pt idx="23">
                  <c:v>6.1207376329051684</c:v>
                </c:pt>
                <c:pt idx="24">
                  <c:v>3.0603688164525842</c:v>
                </c:pt>
                <c:pt idx="25">
                  <c:v>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7C9C-4D30-A828-707CCAADCC3F}"/>
            </c:ext>
          </c:extLst>
        </c:ser>
        <c:ser>
          <c:idx val="1"/>
          <c:order val="1"/>
          <c:tx>
            <c:strRef>
              <c:f>rcps!$A$5</c:f>
              <c:strCache>
                <c:ptCount val="1"/>
                <c:pt idx="0">
                  <c:v>Electricity Max</c:v>
                </c:pt>
              </c:strCache>
            </c:strRef>
          </c:tx>
          <c:spPr>
            <a:ln w="9525" cap="rnd">
              <a:solidFill>
                <a:srgbClr val="FFC000">
                  <a:lumMod val="40000"/>
                  <a:lumOff val="60000"/>
                </a:srgbClr>
              </a:solidFill>
              <a:round/>
            </a:ln>
            <a:effectLst/>
          </c:spPr>
          <c:marker>
            <c:symbol val="none"/>
          </c:marker>
          <c:cat>
            <c:numRef>
              <c:f>rcps!$P$3:$AO$3</c:f>
              <c:numCache>
                <c:formatCode>General</c:formatCode>
                <c:ptCount val="26"/>
                <c:pt idx="0">
                  <c:v>2025</c:v>
                </c:pt>
                <c:pt idx="1">
                  <c:v>2026</c:v>
                </c:pt>
                <c:pt idx="2">
                  <c:v>2027</c:v>
                </c:pt>
                <c:pt idx="3">
                  <c:v>2028</c:v>
                </c:pt>
                <c:pt idx="4">
                  <c:v>2029</c:v>
                </c:pt>
                <c:pt idx="5">
                  <c:v>2030</c:v>
                </c:pt>
                <c:pt idx="6">
                  <c:v>2031</c:v>
                </c:pt>
                <c:pt idx="7">
                  <c:v>2032</c:v>
                </c:pt>
                <c:pt idx="8">
                  <c:v>2033</c:v>
                </c:pt>
                <c:pt idx="9">
                  <c:v>2034</c:v>
                </c:pt>
                <c:pt idx="10">
                  <c:v>2035</c:v>
                </c:pt>
                <c:pt idx="11">
                  <c:v>2036</c:v>
                </c:pt>
                <c:pt idx="12">
                  <c:v>2037</c:v>
                </c:pt>
                <c:pt idx="13">
                  <c:v>2038</c:v>
                </c:pt>
                <c:pt idx="14">
                  <c:v>2039</c:v>
                </c:pt>
                <c:pt idx="15">
                  <c:v>2040</c:v>
                </c:pt>
                <c:pt idx="16">
                  <c:v>2041</c:v>
                </c:pt>
                <c:pt idx="17">
                  <c:v>2042</c:v>
                </c:pt>
                <c:pt idx="18">
                  <c:v>2043</c:v>
                </c:pt>
                <c:pt idx="19">
                  <c:v>2044</c:v>
                </c:pt>
                <c:pt idx="20">
                  <c:v>2045</c:v>
                </c:pt>
                <c:pt idx="21">
                  <c:v>2046</c:v>
                </c:pt>
                <c:pt idx="22">
                  <c:v>2047</c:v>
                </c:pt>
                <c:pt idx="23">
                  <c:v>2048</c:v>
                </c:pt>
                <c:pt idx="24">
                  <c:v>2049</c:v>
                </c:pt>
                <c:pt idx="25">
                  <c:v>2050</c:v>
                </c:pt>
              </c:numCache>
            </c:numRef>
          </c:cat>
          <c:val>
            <c:numRef>
              <c:f>rcps!$P$5:$AO$5</c:f>
              <c:numCache>
                <c:formatCode>0</c:formatCode>
                <c:ptCount val="26"/>
                <c:pt idx="0">
                  <c:v>168.32856622254369</c:v>
                </c:pt>
                <c:pt idx="1">
                  <c:v>147.11916687850319</c:v>
                </c:pt>
                <c:pt idx="2">
                  <c:v>125.90976753446267</c:v>
                </c:pt>
                <c:pt idx="3">
                  <c:v>104.70036819042218</c:v>
                </c:pt>
                <c:pt idx="4">
                  <c:v>83.490968846381676</c:v>
                </c:pt>
                <c:pt idx="5">
                  <c:v>62.281569502341164</c:v>
                </c:pt>
                <c:pt idx="6">
                  <c:v>60.093298141448095</c:v>
                </c:pt>
                <c:pt idx="7">
                  <c:v>57.905026780555026</c:v>
                </c:pt>
                <c:pt idx="8">
                  <c:v>55.716755419661958</c:v>
                </c:pt>
                <c:pt idx="9">
                  <c:v>53.528484058768896</c:v>
                </c:pt>
                <c:pt idx="10">
                  <c:v>51.340212697875828</c:v>
                </c:pt>
                <c:pt idx="11">
                  <c:v>49.151941336982759</c:v>
                </c:pt>
                <c:pt idx="12">
                  <c:v>46.96366997608969</c:v>
                </c:pt>
                <c:pt idx="13">
                  <c:v>44.775398615196622</c:v>
                </c:pt>
                <c:pt idx="14">
                  <c:v>42.587127254303553</c:v>
                </c:pt>
                <c:pt idx="15">
                  <c:v>40.398855893410484</c:v>
                </c:pt>
                <c:pt idx="16">
                  <c:v>36.358970304069437</c:v>
                </c:pt>
                <c:pt idx="17">
                  <c:v>32.31908471472839</c:v>
                </c:pt>
                <c:pt idx="18">
                  <c:v>28.27919912538734</c:v>
                </c:pt>
                <c:pt idx="19">
                  <c:v>24.239313536046289</c:v>
                </c:pt>
                <c:pt idx="20">
                  <c:v>20.199427946705242</c:v>
                </c:pt>
                <c:pt idx="21">
                  <c:v>16.159542357364195</c:v>
                </c:pt>
                <c:pt idx="22">
                  <c:v>12.119656768023145</c:v>
                </c:pt>
                <c:pt idx="23">
                  <c:v>8.079771178682094</c:v>
                </c:pt>
                <c:pt idx="24">
                  <c:v>4.039885589341047</c:v>
                </c:pt>
                <c:pt idx="25">
                  <c:v>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7C9C-4D30-A828-707CCAADCC3F}"/>
            </c:ext>
          </c:extLst>
        </c:ser>
        <c:ser>
          <c:idx val="2"/>
          <c:order val="2"/>
          <c:tx>
            <c:strRef>
              <c:f>rcps!$A$6</c:f>
              <c:strCache>
                <c:ptCount val="1"/>
                <c:pt idx="0">
                  <c:v>Electricity Min</c:v>
                </c:pt>
              </c:strCache>
            </c:strRef>
          </c:tx>
          <c:spPr>
            <a:ln w="9525" cap="rnd">
              <a:solidFill>
                <a:srgbClr val="FFC000">
                  <a:lumMod val="40000"/>
                  <a:lumOff val="60000"/>
                </a:srgbClr>
              </a:solidFill>
              <a:round/>
            </a:ln>
            <a:effectLst/>
          </c:spPr>
          <c:marker>
            <c:symbol val="none"/>
          </c:marker>
          <c:cat>
            <c:numRef>
              <c:f>rcps!$P$3:$AO$3</c:f>
              <c:numCache>
                <c:formatCode>General</c:formatCode>
                <c:ptCount val="26"/>
                <c:pt idx="0">
                  <c:v>2025</c:v>
                </c:pt>
                <c:pt idx="1">
                  <c:v>2026</c:v>
                </c:pt>
                <c:pt idx="2">
                  <c:v>2027</c:v>
                </c:pt>
                <c:pt idx="3">
                  <c:v>2028</c:v>
                </c:pt>
                <c:pt idx="4">
                  <c:v>2029</c:v>
                </c:pt>
                <c:pt idx="5">
                  <c:v>2030</c:v>
                </c:pt>
                <c:pt idx="6">
                  <c:v>2031</c:v>
                </c:pt>
                <c:pt idx="7">
                  <c:v>2032</c:v>
                </c:pt>
                <c:pt idx="8">
                  <c:v>2033</c:v>
                </c:pt>
                <c:pt idx="9">
                  <c:v>2034</c:v>
                </c:pt>
                <c:pt idx="10">
                  <c:v>2035</c:v>
                </c:pt>
                <c:pt idx="11">
                  <c:v>2036</c:v>
                </c:pt>
                <c:pt idx="12">
                  <c:v>2037</c:v>
                </c:pt>
                <c:pt idx="13">
                  <c:v>2038</c:v>
                </c:pt>
                <c:pt idx="14">
                  <c:v>2039</c:v>
                </c:pt>
                <c:pt idx="15">
                  <c:v>2040</c:v>
                </c:pt>
                <c:pt idx="16">
                  <c:v>2041</c:v>
                </c:pt>
                <c:pt idx="17">
                  <c:v>2042</c:v>
                </c:pt>
                <c:pt idx="18">
                  <c:v>2043</c:v>
                </c:pt>
                <c:pt idx="19">
                  <c:v>2044</c:v>
                </c:pt>
                <c:pt idx="20">
                  <c:v>2045</c:v>
                </c:pt>
                <c:pt idx="21">
                  <c:v>2046</c:v>
                </c:pt>
                <c:pt idx="22">
                  <c:v>2047</c:v>
                </c:pt>
                <c:pt idx="23">
                  <c:v>2048</c:v>
                </c:pt>
                <c:pt idx="24">
                  <c:v>2049</c:v>
                </c:pt>
                <c:pt idx="25">
                  <c:v>2050</c:v>
                </c:pt>
              </c:numCache>
            </c:numRef>
          </c:cat>
          <c:val>
            <c:numRef>
              <c:f>rcps!$P$6:$AO$6</c:f>
              <c:numCache>
                <c:formatCode>0</c:formatCode>
                <c:ptCount val="26"/>
                <c:pt idx="0">
                  <c:v>105.44309965403197</c:v>
                </c:pt>
                <c:pt idx="1">
                  <c:v>92.157269097623939</c:v>
                </c:pt>
                <c:pt idx="2">
                  <c:v>78.871438541215909</c:v>
                </c:pt>
                <c:pt idx="3">
                  <c:v>65.585607984807879</c:v>
                </c:pt>
                <c:pt idx="4">
                  <c:v>52.29977742839985</c:v>
                </c:pt>
                <c:pt idx="5">
                  <c:v>39.013946871991827</c:v>
                </c:pt>
                <c:pt idx="6">
                  <c:v>37.643186576489413</c:v>
                </c:pt>
                <c:pt idx="7">
                  <c:v>36.272426280986998</c:v>
                </c:pt>
                <c:pt idx="8">
                  <c:v>34.901665985484577</c:v>
                </c:pt>
                <c:pt idx="9">
                  <c:v>33.530905689982163</c:v>
                </c:pt>
                <c:pt idx="10">
                  <c:v>32.160145394479748</c:v>
                </c:pt>
                <c:pt idx="11">
                  <c:v>30.789385098977334</c:v>
                </c:pt>
                <c:pt idx="12">
                  <c:v>29.418624803474916</c:v>
                </c:pt>
                <c:pt idx="13">
                  <c:v>28.047864507972502</c:v>
                </c:pt>
                <c:pt idx="14">
                  <c:v>26.677104212470084</c:v>
                </c:pt>
                <c:pt idx="15">
                  <c:v>25.30634391696767</c:v>
                </c:pt>
                <c:pt idx="16">
                  <c:v>22.775709525270901</c:v>
                </c:pt>
                <c:pt idx="17">
                  <c:v>20.245075133574137</c:v>
                </c:pt>
                <c:pt idx="18">
                  <c:v>17.714440741877368</c:v>
                </c:pt>
                <c:pt idx="19">
                  <c:v>15.183806350180602</c:v>
                </c:pt>
                <c:pt idx="20">
                  <c:v>12.653171958483835</c:v>
                </c:pt>
                <c:pt idx="21">
                  <c:v>10.12253756678707</c:v>
                </c:pt>
                <c:pt idx="22">
                  <c:v>7.5919031750903017</c:v>
                </c:pt>
                <c:pt idx="23">
                  <c:v>5.0612687833935333</c:v>
                </c:pt>
                <c:pt idx="24">
                  <c:v>2.5306343916967649</c:v>
                </c:pt>
                <c:pt idx="25">
                  <c:v>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7C9C-4D30-A828-707CCAADCC3F}"/>
            </c:ext>
          </c:extLst>
        </c:ser>
        <c:ser>
          <c:idx val="3"/>
          <c:order val="3"/>
          <c:tx>
            <c:strRef>
              <c:f>rcps!$A$7</c:f>
              <c:strCache>
                <c:ptCount val="1"/>
                <c:pt idx="0">
                  <c:v>Electricity 75%</c:v>
                </c:pt>
              </c:strCache>
            </c:strRef>
          </c:tx>
          <c:spPr>
            <a:ln w="12700" cap="rnd">
              <a:solidFill>
                <a:srgbClr val="FFC000">
                  <a:lumMod val="75000"/>
                </a:srgbClr>
              </a:solidFill>
              <a:round/>
            </a:ln>
            <a:effectLst/>
          </c:spPr>
          <c:marker>
            <c:symbol val="none"/>
          </c:marker>
          <c:cat>
            <c:numRef>
              <c:f>rcps!$P$3:$AO$3</c:f>
              <c:numCache>
                <c:formatCode>General</c:formatCode>
                <c:ptCount val="26"/>
                <c:pt idx="0">
                  <c:v>2025</c:v>
                </c:pt>
                <c:pt idx="1">
                  <c:v>2026</c:v>
                </c:pt>
                <c:pt idx="2">
                  <c:v>2027</c:v>
                </c:pt>
                <c:pt idx="3">
                  <c:v>2028</c:v>
                </c:pt>
                <c:pt idx="4">
                  <c:v>2029</c:v>
                </c:pt>
                <c:pt idx="5">
                  <c:v>2030</c:v>
                </c:pt>
                <c:pt idx="6">
                  <c:v>2031</c:v>
                </c:pt>
                <c:pt idx="7">
                  <c:v>2032</c:v>
                </c:pt>
                <c:pt idx="8">
                  <c:v>2033</c:v>
                </c:pt>
                <c:pt idx="9">
                  <c:v>2034</c:v>
                </c:pt>
                <c:pt idx="10">
                  <c:v>2035</c:v>
                </c:pt>
                <c:pt idx="11">
                  <c:v>2036</c:v>
                </c:pt>
                <c:pt idx="12">
                  <c:v>2037</c:v>
                </c:pt>
                <c:pt idx="13">
                  <c:v>2038</c:v>
                </c:pt>
                <c:pt idx="14">
                  <c:v>2039</c:v>
                </c:pt>
                <c:pt idx="15">
                  <c:v>2040</c:v>
                </c:pt>
                <c:pt idx="16">
                  <c:v>2041</c:v>
                </c:pt>
                <c:pt idx="17">
                  <c:v>2042</c:v>
                </c:pt>
                <c:pt idx="18">
                  <c:v>2043</c:v>
                </c:pt>
                <c:pt idx="19">
                  <c:v>2044</c:v>
                </c:pt>
                <c:pt idx="20">
                  <c:v>2045</c:v>
                </c:pt>
                <c:pt idx="21">
                  <c:v>2046</c:v>
                </c:pt>
                <c:pt idx="22">
                  <c:v>2047</c:v>
                </c:pt>
                <c:pt idx="23">
                  <c:v>2048</c:v>
                </c:pt>
                <c:pt idx="24">
                  <c:v>2049</c:v>
                </c:pt>
                <c:pt idx="25">
                  <c:v>2050</c:v>
                </c:pt>
              </c:numCache>
            </c:numRef>
          </c:cat>
          <c:val>
            <c:numRef>
              <c:f>rcps!$P$7:$AO$7</c:f>
              <c:numCache>
                <c:formatCode>0</c:formatCode>
                <c:ptCount val="26"/>
                <c:pt idx="0">
                  <c:v>147.92196678736735</c:v>
                </c:pt>
                <c:pt idx="1">
                  <c:v>129.28379897215908</c:v>
                </c:pt>
                <c:pt idx="2">
                  <c:v>110.64563115695077</c:v>
                </c:pt>
                <c:pt idx="3">
                  <c:v>92.007463341742493</c:v>
                </c:pt>
                <c:pt idx="4">
                  <c:v>73.369295526534202</c:v>
                </c:pt>
                <c:pt idx="5">
                  <c:v>54.731127711325918</c:v>
                </c:pt>
                <c:pt idx="6">
                  <c:v>52.808142143090144</c:v>
                </c:pt>
                <c:pt idx="7">
                  <c:v>50.885156574854371</c:v>
                </c:pt>
                <c:pt idx="8">
                  <c:v>48.96217100661859</c:v>
                </c:pt>
                <c:pt idx="9">
                  <c:v>47.039185438382816</c:v>
                </c:pt>
                <c:pt idx="10">
                  <c:v>45.116199870147042</c:v>
                </c:pt>
                <c:pt idx="11">
                  <c:v>43.193214301911269</c:v>
                </c:pt>
                <c:pt idx="12">
                  <c:v>41.270228733675495</c:v>
                </c:pt>
                <c:pt idx="13">
                  <c:v>39.347243165439721</c:v>
                </c:pt>
                <c:pt idx="14">
                  <c:v>37.42425759720394</c:v>
                </c:pt>
                <c:pt idx="15">
                  <c:v>35.501272028968167</c:v>
                </c:pt>
                <c:pt idx="16">
                  <c:v>31.951144826071349</c:v>
                </c:pt>
                <c:pt idx="17">
                  <c:v>28.401017623174532</c:v>
                </c:pt>
                <c:pt idx="18">
                  <c:v>24.850890420277718</c:v>
                </c:pt>
                <c:pt idx="19">
                  <c:v>21.300763217380901</c:v>
                </c:pt>
                <c:pt idx="20">
                  <c:v>17.750636014484083</c:v>
                </c:pt>
                <c:pt idx="21">
                  <c:v>14.20050881158727</c:v>
                </c:pt>
                <c:pt idx="22">
                  <c:v>10.650381608690452</c:v>
                </c:pt>
                <c:pt idx="23">
                  <c:v>7.1002544057936348</c:v>
                </c:pt>
                <c:pt idx="24">
                  <c:v>3.5501272028968174</c:v>
                </c:pt>
                <c:pt idx="25">
                  <c:v>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3-7C9C-4D30-A828-707CCAADCC3F}"/>
            </c:ext>
          </c:extLst>
        </c:ser>
        <c:ser>
          <c:idx val="4"/>
          <c:order val="4"/>
          <c:tx>
            <c:strRef>
              <c:f>rcps!$A$8</c:f>
              <c:strCache>
                <c:ptCount val="1"/>
                <c:pt idx="0">
                  <c:v>DH from heating plant (renewable)</c:v>
                </c:pt>
              </c:strCache>
            </c:strRef>
          </c:tx>
          <c:spPr>
            <a:ln w="28575" cap="rnd">
              <a:solidFill>
                <a:schemeClr val="accent1">
                  <a:lumMod val="40000"/>
                  <a:lumOff val="60000"/>
                </a:schemeClr>
              </a:solidFill>
              <a:round/>
            </a:ln>
            <a:effectLst/>
          </c:spPr>
          <c:marker>
            <c:symbol val="none"/>
          </c:marker>
          <c:cat>
            <c:numRef>
              <c:f>rcps!$P$3:$AO$3</c:f>
              <c:numCache>
                <c:formatCode>General</c:formatCode>
                <c:ptCount val="26"/>
                <c:pt idx="0">
                  <c:v>2025</c:v>
                </c:pt>
                <c:pt idx="1">
                  <c:v>2026</c:v>
                </c:pt>
                <c:pt idx="2">
                  <c:v>2027</c:v>
                </c:pt>
                <c:pt idx="3">
                  <c:v>2028</c:v>
                </c:pt>
                <c:pt idx="4">
                  <c:v>2029</c:v>
                </c:pt>
                <c:pt idx="5">
                  <c:v>2030</c:v>
                </c:pt>
                <c:pt idx="6">
                  <c:v>2031</c:v>
                </c:pt>
                <c:pt idx="7">
                  <c:v>2032</c:v>
                </c:pt>
                <c:pt idx="8">
                  <c:v>2033</c:v>
                </c:pt>
                <c:pt idx="9">
                  <c:v>2034</c:v>
                </c:pt>
                <c:pt idx="10">
                  <c:v>2035</c:v>
                </c:pt>
                <c:pt idx="11">
                  <c:v>2036</c:v>
                </c:pt>
                <c:pt idx="12">
                  <c:v>2037</c:v>
                </c:pt>
                <c:pt idx="13">
                  <c:v>2038</c:v>
                </c:pt>
                <c:pt idx="14">
                  <c:v>2039</c:v>
                </c:pt>
                <c:pt idx="15">
                  <c:v>2040</c:v>
                </c:pt>
                <c:pt idx="16">
                  <c:v>2041</c:v>
                </c:pt>
                <c:pt idx="17">
                  <c:v>2042</c:v>
                </c:pt>
                <c:pt idx="18">
                  <c:v>2043</c:v>
                </c:pt>
                <c:pt idx="19">
                  <c:v>2044</c:v>
                </c:pt>
                <c:pt idx="20">
                  <c:v>2045</c:v>
                </c:pt>
                <c:pt idx="21">
                  <c:v>2046</c:v>
                </c:pt>
                <c:pt idx="22">
                  <c:v>2047</c:v>
                </c:pt>
                <c:pt idx="23">
                  <c:v>2048</c:v>
                </c:pt>
                <c:pt idx="24">
                  <c:v>2049</c:v>
                </c:pt>
                <c:pt idx="25">
                  <c:v>2050</c:v>
                </c:pt>
              </c:numCache>
            </c:numRef>
          </c:cat>
          <c:val>
            <c:numRef>
              <c:f>rcps!$P$8:$AO$8</c:f>
              <c:numCache>
                <c:formatCode>0</c:formatCode>
                <c:ptCount val="26"/>
                <c:pt idx="0">
                  <c:v>59</c:v>
                </c:pt>
                <c:pt idx="1">
                  <c:v>56.64</c:v>
                </c:pt>
                <c:pt idx="2">
                  <c:v>54.28</c:v>
                </c:pt>
                <c:pt idx="3">
                  <c:v>51.92</c:v>
                </c:pt>
                <c:pt idx="4">
                  <c:v>49.56</c:v>
                </c:pt>
                <c:pt idx="5">
                  <c:v>47.2</c:v>
                </c:pt>
                <c:pt idx="6">
                  <c:v>44.84</c:v>
                </c:pt>
                <c:pt idx="7">
                  <c:v>42.480000000000004</c:v>
                </c:pt>
                <c:pt idx="8">
                  <c:v>40.120000000000005</c:v>
                </c:pt>
                <c:pt idx="9">
                  <c:v>37.760000000000005</c:v>
                </c:pt>
                <c:pt idx="10">
                  <c:v>35.400000000000006</c:v>
                </c:pt>
                <c:pt idx="11">
                  <c:v>33.04</c:v>
                </c:pt>
                <c:pt idx="12">
                  <c:v>30.68</c:v>
                </c:pt>
                <c:pt idx="13">
                  <c:v>28.32</c:v>
                </c:pt>
                <c:pt idx="14">
                  <c:v>25.96</c:v>
                </c:pt>
                <c:pt idx="15">
                  <c:v>23.6</c:v>
                </c:pt>
                <c:pt idx="16">
                  <c:v>21.240000000000002</c:v>
                </c:pt>
                <c:pt idx="17">
                  <c:v>18.880000000000003</c:v>
                </c:pt>
                <c:pt idx="18">
                  <c:v>16.52</c:v>
                </c:pt>
                <c:pt idx="19">
                  <c:v>14.16</c:v>
                </c:pt>
                <c:pt idx="20">
                  <c:v>11.8</c:v>
                </c:pt>
                <c:pt idx="21">
                  <c:v>9.44</c:v>
                </c:pt>
                <c:pt idx="22">
                  <c:v>7.0799999999999983</c:v>
                </c:pt>
                <c:pt idx="23">
                  <c:v>4.7199999999999989</c:v>
                </c:pt>
                <c:pt idx="24">
                  <c:v>2.3599999999999994</c:v>
                </c:pt>
                <c:pt idx="25">
                  <c:v>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4-7C9C-4D30-A828-707CCAADCC3F}"/>
            </c:ext>
          </c:extLst>
        </c:ser>
        <c:ser>
          <c:idx val="5"/>
          <c:order val="5"/>
          <c:tx>
            <c:strRef>
              <c:f>rcps!$A$9</c:f>
              <c:strCache>
                <c:ptCount val="1"/>
                <c:pt idx="0">
                  <c:v>DH from heating plant (non-renewable)</c:v>
                </c:pt>
              </c:strCache>
            </c:strRef>
          </c:tx>
          <c:spPr>
            <a:ln w="28575" cap="rnd">
              <a:solidFill>
                <a:schemeClr val="accent1">
                  <a:lumMod val="75000"/>
                </a:schemeClr>
              </a:solidFill>
              <a:round/>
            </a:ln>
            <a:effectLst/>
          </c:spPr>
          <c:marker>
            <c:symbol val="none"/>
          </c:marker>
          <c:cat>
            <c:numRef>
              <c:f>rcps!$P$3:$AO$3</c:f>
              <c:numCache>
                <c:formatCode>General</c:formatCode>
                <c:ptCount val="26"/>
                <c:pt idx="0">
                  <c:v>2025</c:v>
                </c:pt>
                <c:pt idx="1">
                  <c:v>2026</c:v>
                </c:pt>
                <c:pt idx="2">
                  <c:v>2027</c:v>
                </c:pt>
                <c:pt idx="3">
                  <c:v>2028</c:v>
                </c:pt>
                <c:pt idx="4">
                  <c:v>2029</c:v>
                </c:pt>
                <c:pt idx="5">
                  <c:v>2030</c:v>
                </c:pt>
                <c:pt idx="6">
                  <c:v>2031</c:v>
                </c:pt>
                <c:pt idx="7">
                  <c:v>2032</c:v>
                </c:pt>
                <c:pt idx="8">
                  <c:v>2033</c:v>
                </c:pt>
                <c:pt idx="9">
                  <c:v>2034</c:v>
                </c:pt>
                <c:pt idx="10">
                  <c:v>2035</c:v>
                </c:pt>
                <c:pt idx="11">
                  <c:v>2036</c:v>
                </c:pt>
                <c:pt idx="12">
                  <c:v>2037</c:v>
                </c:pt>
                <c:pt idx="13">
                  <c:v>2038</c:v>
                </c:pt>
                <c:pt idx="14">
                  <c:v>2039</c:v>
                </c:pt>
                <c:pt idx="15">
                  <c:v>2040</c:v>
                </c:pt>
                <c:pt idx="16">
                  <c:v>2041</c:v>
                </c:pt>
                <c:pt idx="17">
                  <c:v>2042</c:v>
                </c:pt>
                <c:pt idx="18">
                  <c:v>2043</c:v>
                </c:pt>
                <c:pt idx="19">
                  <c:v>2044</c:v>
                </c:pt>
                <c:pt idx="20">
                  <c:v>2045</c:v>
                </c:pt>
                <c:pt idx="21">
                  <c:v>2046</c:v>
                </c:pt>
                <c:pt idx="22">
                  <c:v>2047</c:v>
                </c:pt>
                <c:pt idx="23">
                  <c:v>2048</c:v>
                </c:pt>
                <c:pt idx="24">
                  <c:v>2049</c:v>
                </c:pt>
                <c:pt idx="25">
                  <c:v>2050</c:v>
                </c:pt>
              </c:numCache>
            </c:numRef>
          </c:cat>
          <c:val>
            <c:numRef>
              <c:f>rcps!$P$9:$AO$9</c:f>
              <c:numCache>
                <c:formatCode>0</c:formatCode>
                <c:ptCount val="26"/>
                <c:pt idx="0">
                  <c:v>193</c:v>
                </c:pt>
                <c:pt idx="1">
                  <c:v>192.614</c:v>
                </c:pt>
                <c:pt idx="2">
                  <c:v>192.22800000000001</c:v>
                </c:pt>
                <c:pt idx="3">
                  <c:v>191.84199999999998</c:v>
                </c:pt>
                <c:pt idx="4">
                  <c:v>191.45599999999999</c:v>
                </c:pt>
                <c:pt idx="5">
                  <c:v>191.07</c:v>
                </c:pt>
                <c:pt idx="6">
                  <c:v>190.684</c:v>
                </c:pt>
                <c:pt idx="7">
                  <c:v>190.298</c:v>
                </c:pt>
                <c:pt idx="8">
                  <c:v>189.91200000000001</c:v>
                </c:pt>
                <c:pt idx="9">
                  <c:v>189.52600000000001</c:v>
                </c:pt>
                <c:pt idx="10">
                  <c:v>189.14</c:v>
                </c:pt>
                <c:pt idx="11">
                  <c:v>188.75399999999999</c:v>
                </c:pt>
                <c:pt idx="12">
                  <c:v>188.36799999999999</c:v>
                </c:pt>
                <c:pt idx="13">
                  <c:v>187.982</c:v>
                </c:pt>
                <c:pt idx="14">
                  <c:v>187.596</c:v>
                </c:pt>
                <c:pt idx="15">
                  <c:v>187.21</c:v>
                </c:pt>
                <c:pt idx="16">
                  <c:v>186.82400000000001</c:v>
                </c:pt>
                <c:pt idx="17">
                  <c:v>186.43800000000002</c:v>
                </c:pt>
                <c:pt idx="18">
                  <c:v>186.05199999999999</c:v>
                </c:pt>
                <c:pt idx="19">
                  <c:v>185.666</c:v>
                </c:pt>
                <c:pt idx="20">
                  <c:v>185.28</c:v>
                </c:pt>
                <c:pt idx="21">
                  <c:v>184.89400000000001</c:v>
                </c:pt>
                <c:pt idx="22">
                  <c:v>184.50800000000001</c:v>
                </c:pt>
                <c:pt idx="23">
                  <c:v>184.12199999999999</c:v>
                </c:pt>
                <c:pt idx="24">
                  <c:v>183.73599999999999</c:v>
                </c:pt>
                <c:pt idx="25">
                  <c:v>183.35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5-7C9C-4D30-A828-707CCAADCC3F}"/>
            </c:ext>
          </c:extLst>
        </c:ser>
        <c:ser>
          <c:idx val="6"/>
          <c:order val="6"/>
          <c:tx>
            <c:strRef>
              <c:f>rcps!$A$10</c:f>
              <c:strCache>
                <c:ptCount val="1"/>
                <c:pt idx="0">
                  <c:v>DH from high-efficiency CHP(1) (default value)</c:v>
                </c:pt>
              </c:strCache>
            </c:strRef>
          </c:tx>
          <c:spPr>
            <a:ln w="28575" cap="rnd">
              <a:solidFill>
                <a:srgbClr val="4472C4"/>
              </a:solidFill>
              <a:round/>
            </a:ln>
            <a:effectLst/>
          </c:spPr>
          <c:marker>
            <c:symbol val="none"/>
          </c:marker>
          <c:cat>
            <c:numRef>
              <c:f>rcps!$P$3:$AO$3</c:f>
              <c:numCache>
                <c:formatCode>General</c:formatCode>
                <c:ptCount val="26"/>
                <c:pt idx="0">
                  <c:v>2025</c:v>
                </c:pt>
                <c:pt idx="1">
                  <c:v>2026</c:v>
                </c:pt>
                <c:pt idx="2">
                  <c:v>2027</c:v>
                </c:pt>
                <c:pt idx="3">
                  <c:v>2028</c:v>
                </c:pt>
                <c:pt idx="4">
                  <c:v>2029</c:v>
                </c:pt>
                <c:pt idx="5">
                  <c:v>2030</c:v>
                </c:pt>
                <c:pt idx="6">
                  <c:v>2031</c:v>
                </c:pt>
                <c:pt idx="7">
                  <c:v>2032</c:v>
                </c:pt>
                <c:pt idx="8">
                  <c:v>2033</c:v>
                </c:pt>
                <c:pt idx="9">
                  <c:v>2034</c:v>
                </c:pt>
                <c:pt idx="10">
                  <c:v>2035</c:v>
                </c:pt>
                <c:pt idx="11">
                  <c:v>2036</c:v>
                </c:pt>
                <c:pt idx="12">
                  <c:v>2037</c:v>
                </c:pt>
                <c:pt idx="13">
                  <c:v>2038</c:v>
                </c:pt>
                <c:pt idx="14">
                  <c:v>2039</c:v>
                </c:pt>
                <c:pt idx="15">
                  <c:v>2040</c:v>
                </c:pt>
                <c:pt idx="16">
                  <c:v>2041</c:v>
                </c:pt>
                <c:pt idx="17">
                  <c:v>2042</c:v>
                </c:pt>
                <c:pt idx="18">
                  <c:v>2043</c:v>
                </c:pt>
                <c:pt idx="19">
                  <c:v>2044</c:v>
                </c:pt>
                <c:pt idx="20">
                  <c:v>2045</c:v>
                </c:pt>
                <c:pt idx="21">
                  <c:v>2046</c:v>
                </c:pt>
                <c:pt idx="22">
                  <c:v>2047</c:v>
                </c:pt>
                <c:pt idx="23">
                  <c:v>2048</c:v>
                </c:pt>
                <c:pt idx="24">
                  <c:v>2049</c:v>
                </c:pt>
                <c:pt idx="25">
                  <c:v>2050</c:v>
                </c:pt>
              </c:numCache>
            </c:numRef>
          </c:cat>
          <c:val>
            <c:numRef>
              <c:f>rcps!$P$10:$AO$10</c:f>
              <c:numCache>
                <c:formatCode>0</c:formatCode>
                <c:ptCount val="26"/>
                <c:pt idx="0">
                  <c:v>67</c:v>
                </c:pt>
                <c:pt idx="1">
                  <c:v>64.319999999999993</c:v>
                </c:pt>
                <c:pt idx="2">
                  <c:v>61.64</c:v>
                </c:pt>
                <c:pt idx="3">
                  <c:v>58.96</c:v>
                </c:pt>
                <c:pt idx="4">
                  <c:v>56.28</c:v>
                </c:pt>
                <c:pt idx="5">
                  <c:v>53.6</c:v>
                </c:pt>
                <c:pt idx="6">
                  <c:v>50.92</c:v>
                </c:pt>
                <c:pt idx="7">
                  <c:v>48.24</c:v>
                </c:pt>
                <c:pt idx="8">
                  <c:v>45.56</c:v>
                </c:pt>
                <c:pt idx="9">
                  <c:v>42.88</c:v>
                </c:pt>
                <c:pt idx="10">
                  <c:v>40.200000000000003</c:v>
                </c:pt>
                <c:pt idx="11">
                  <c:v>37.519999999999996</c:v>
                </c:pt>
                <c:pt idx="12">
                  <c:v>34.840000000000003</c:v>
                </c:pt>
                <c:pt idx="13">
                  <c:v>32.159999999999997</c:v>
                </c:pt>
                <c:pt idx="14">
                  <c:v>29.48</c:v>
                </c:pt>
                <c:pt idx="15">
                  <c:v>26.8</c:v>
                </c:pt>
                <c:pt idx="16">
                  <c:v>24.12</c:v>
                </c:pt>
                <c:pt idx="17">
                  <c:v>21.44</c:v>
                </c:pt>
                <c:pt idx="18">
                  <c:v>18.759999999999998</c:v>
                </c:pt>
                <c:pt idx="19">
                  <c:v>16.079999999999998</c:v>
                </c:pt>
                <c:pt idx="20">
                  <c:v>13.4</c:v>
                </c:pt>
                <c:pt idx="21">
                  <c:v>10.719999999999999</c:v>
                </c:pt>
                <c:pt idx="22">
                  <c:v>8.0400000000000027</c:v>
                </c:pt>
                <c:pt idx="23">
                  <c:v>5.3599999999999994</c:v>
                </c:pt>
                <c:pt idx="24">
                  <c:v>2.6799999999999997</c:v>
                </c:pt>
                <c:pt idx="25">
                  <c:v>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6-7C9C-4D30-A828-707CCAADCC3F}"/>
            </c:ext>
          </c:extLst>
        </c:ser>
        <c:ser>
          <c:idx val="7"/>
          <c:order val="7"/>
          <c:tx>
            <c:strRef>
              <c:f>rcps!$A$11</c:f>
              <c:strCache>
                <c:ptCount val="1"/>
                <c:pt idx="0">
                  <c:v>DH from high-efficiency CHP(1) (best value)</c:v>
                </c:pt>
              </c:strCache>
            </c:strRef>
          </c:tx>
          <c:spPr>
            <a:ln w="28575" cap="rnd">
              <a:solidFill>
                <a:srgbClr val="4472C4">
                  <a:lumMod val="75000"/>
                </a:srgbClr>
              </a:solidFill>
              <a:round/>
            </a:ln>
            <a:effectLst/>
          </c:spPr>
          <c:marker>
            <c:symbol val="none"/>
          </c:marker>
          <c:cat>
            <c:numRef>
              <c:f>rcps!$P$3:$AO$3</c:f>
              <c:numCache>
                <c:formatCode>General</c:formatCode>
                <c:ptCount val="26"/>
                <c:pt idx="0">
                  <c:v>2025</c:v>
                </c:pt>
                <c:pt idx="1">
                  <c:v>2026</c:v>
                </c:pt>
                <c:pt idx="2">
                  <c:v>2027</c:v>
                </c:pt>
                <c:pt idx="3">
                  <c:v>2028</c:v>
                </c:pt>
                <c:pt idx="4">
                  <c:v>2029</c:v>
                </c:pt>
                <c:pt idx="5">
                  <c:v>2030</c:v>
                </c:pt>
                <c:pt idx="6">
                  <c:v>2031</c:v>
                </c:pt>
                <c:pt idx="7">
                  <c:v>2032</c:v>
                </c:pt>
                <c:pt idx="8">
                  <c:v>2033</c:v>
                </c:pt>
                <c:pt idx="9">
                  <c:v>2034</c:v>
                </c:pt>
                <c:pt idx="10">
                  <c:v>2035</c:v>
                </c:pt>
                <c:pt idx="11">
                  <c:v>2036</c:v>
                </c:pt>
                <c:pt idx="12">
                  <c:v>2037</c:v>
                </c:pt>
                <c:pt idx="13">
                  <c:v>2038</c:v>
                </c:pt>
                <c:pt idx="14">
                  <c:v>2039</c:v>
                </c:pt>
                <c:pt idx="15">
                  <c:v>2040</c:v>
                </c:pt>
                <c:pt idx="16">
                  <c:v>2041</c:v>
                </c:pt>
                <c:pt idx="17">
                  <c:v>2042</c:v>
                </c:pt>
                <c:pt idx="18">
                  <c:v>2043</c:v>
                </c:pt>
                <c:pt idx="19">
                  <c:v>2044</c:v>
                </c:pt>
                <c:pt idx="20">
                  <c:v>2045</c:v>
                </c:pt>
                <c:pt idx="21">
                  <c:v>2046</c:v>
                </c:pt>
                <c:pt idx="22">
                  <c:v>2047</c:v>
                </c:pt>
                <c:pt idx="23">
                  <c:v>2048</c:v>
                </c:pt>
                <c:pt idx="24">
                  <c:v>2049</c:v>
                </c:pt>
                <c:pt idx="25">
                  <c:v>2050</c:v>
                </c:pt>
              </c:numCache>
            </c:numRef>
          </c:cat>
          <c:val>
            <c:numRef>
              <c:f>rcps!$P$11:$AO$11</c:f>
              <c:numCache>
                <c:formatCode>0</c:formatCode>
                <c:ptCount val="26"/>
                <c:pt idx="0">
                  <c:v>20</c:v>
                </c:pt>
                <c:pt idx="1">
                  <c:v>19.2</c:v>
                </c:pt>
                <c:pt idx="2">
                  <c:v>18.399999999999999</c:v>
                </c:pt>
                <c:pt idx="3">
                  <c:v>17.600000000000001</c:v>
                </c:pt>
                <c:pt idx="4">
                  <c:v>16.8</c:v>
                </c:pt>
                <c:pt idx="5">
                  <c:v>16</c:v>
                </c:pt>
                <c:pt idx="6">
                  <c:v>15.2</c:v>
                </c:pt>
                <c:pt idx="7">
                  <c:v>14.4</c:v>
                </c:pt>
                <c:pt idx="8">
                  <c:v>13.6</c:v>
                </c:pt>
                <c:pt idx="9">
                  <c:v>12.8</c:v>
                </c:pt>
                <c:pt idx="10">
                  <c:v>12</c:v>
                </c:pt>
                <c:pt idx="11">
                  <c:v>11.2</c:v>
                </c:pt>
                <c:pt idx="12">
                  <c:v>10.4</c:v>
                </c:pt>
                <c:pt idx="13">
                  <c:v>9.6</c:v>
                </c:pt>
                <c:pt idx="14">
                  <c:v>8.8000000000000007</c:v>
                </c:pt>
                <c:pt idx="15">
                  <c:v>8</c:v>
                </c:pt>
                <c:pt idx="16">
                  <c:v>7.2</c:v>
                </c:pt>
                <c:pt idx="17">
                  <c:v>6.4</c:v>
                </c:pt>
                <c:pt idx="18">
                  <c:v>5.6</c:v>
                </c:pt>
                <c:pt idx="19">
                  <c:v>4.8</c:v>
                </c:pt>
                <c:pt idx="20">
                  <c:v>4</c:v>
                </c:pt>
                <c:pt idx="21">
                  <c:v>3.2</c:v>
                </c:pt>
                <c:pt idx="22">
                  <c:v>2.4000000000000004</c:v>
                </c:pt>
                <c:pt idx="23">
                  <c:v>1.5999999999999996</c:v>
                </c:pt>
                <c:pt idx="24">
                  <c:v>0.79999999999999982</c:v>
                </c:pt>
                <c:pt idx="25">
                  <c:v>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7-7C9C-4D30-A828-707CCAADCC3F}"/>
            </c:ext>
          </c:extLst>
        </c:ser>
        <c:ser>
          <c:idx val="8"/>
          <c:order val="8"/>
          <c:tx>
            <c:strRef>
              <c:f>rcps!$A$12</c:f>
              <c:strCache>
                <c:ptCount val="1"/>
                <c:pt idx="0">
                  <c:v>DH Vienna</c:v>
                </c:pt>
              </c:strCache>
            </c:strRef>
          </c:tx>
          <c:spPr>
            <a:ln w="28575" cap="rnd">
              <a:solidFill>
                <a:srgbClr val="FFC000"/>
              </a:solidFill>
              <a:round/>
            </a:ln>
            <a:effectLst/>
          </c:spPr>
          <c:marker>
            <c:symbol val="none"/>
          </c:marker>
          <c:cat>
            <c:numRef>
              <c:f>rcps!$P$3:$AO$3</c:f>
              <c:numCache>
                <c:formatCode>General</c:formatCode>
                <c:ptCount val="26"/>
                <c:pt idx="0">
                  <c:v>2025</c:v>
                </c:pt>
                <c:pt idx="1">
                  <c:v>2026</c:v>
                </c:pt>
                <c:pt idx="2">
                  <c:v>2027</c:v>
                </c:pt>
                <c:pt idx="3">
                  <c:v>2028</c:v>
                </c:pt>
                <c:pt idx="4">
                  <c:v>2029</c:v>
                </c:pt>
                <c:pt idx="5">
                  <c:v>2030</c:v>
                </c:pt>
                <c:pt idx="6">
                  <c:v>2031</c:v>
                </c:pt>
                <c:pt idx="7">
                  <c:v>2032</c:v>
                </c:pt>
                <c:pt idx="8">
                  <c:v>2033</c:v>
                </c:pt>
                <c:pt idx="9">
                  <c:v>2034</c:v>
                </c:pt>
                <c:pt idx="10">
                  <c:v>2035</c:v>
                </c:pt>
                <c:pt idx="11">
                  <c:v>2036</c:v>
                </c:pt>
                <c:pt idx="12">
                  <c:v>2037</c:v>
                </c:pt>
                <c:pt idx="13">
                  <c:v>2038</c:v>
                </c:pt>
                <c:pt idx="14">
                  <c:v>2039</c:v>
                </c:pt>
                <c:pt idx="15">
                  <c:v>2040</c:v>
                </c:pt>
                <c:pt idx="16">
                  <c:v>2041</c:v>
                </c:pt>
                <c:pt idx="17">
                  <c:v>2042</c:v>
                </c:pt>
                <c:pt idx="18">
                  <c:v>2043</c:v>
                </c:pt>
                <c:pt idx="19">
                  <c:v>2044</c:v>
                </c:pt>
                <c:pt idx="20">
                  <c:v>2045</c:v>
                </c:pt>
                <c:pt idx="21">
                  <c:v>2046</c:v>
                </c:pt>
                <c:pt idx="22">
                  <c:v>2047</c:v>
                </c:pt>
                <c:pt idx="23">
                  <c:v>2048</c:v>
                </c:pt>
                <c:pt idx="24">
                  <c:v>2049</c:v>
                </c:pt>
                <c:pt idx="25">
                  <c:v>2050</c:v>
                </c:pt>
              </c:numCache>
            </c:numRef>
          </c:cat>
          <c:val>
            <c:numRef>
              <c:f>rcps!$P$12:$AO$12</c:f>
              <c:numCache>
                <c:formatCode>0</c:formatCode>
                <c:ptCount val="26"/>
                <c:pt idx="0">
                  <c:v>20</c:v>
                </c:pt>
                <c:pt idx="1">
                  <c:v>19.2</c:v>
                </c:pt>
                <c:pt idx="2">
                  <c:v>18.399999999999999</c:v>
                </c:pt>
                <c:pt idx="3">
                  <c:v>17.600000000000001</c:v>
                </c:pt>
                <c:pt idx="4">
                  <c:v>16.8</c:v>
                </c:pt>
                <c:pt idx="5">
                  <c:v>16</c:v>
                </c:pt>
                <c:pt idx="6">
                  <c:v>15.2</c:v>
                </c:pt>
                <c:pt idx="7">
                  <c:v>14.4</c:v>
                </c:pt>
                <c:pt idx="8">
                  <c:v>13.6</c:v>
                </c:pt>
                <c:pt idx="9">
                  <c:v>12.8</c:v>
                </c:pt>
                <c:pt idx="10">
                  <c:v>12</c:v>
                </c:pt>
                <c:pt idx="11">
                  <c:v>11.2</c:v>
                </c:pt>
                <c:pt idx="12">
                  <c:v>10.4</c:v>
                </c:pt>
                <c:pt idx="13">
                  <c:v>9.6</c:v>
                </c:pt>
                <c:pt idx="14">
                  <c:v>8.8000000000000007</c:v>
                </c:pt>
                <c:pt idx="15">
                  <c:v>8</c:v>
                </c:pt>
                <c:pt idx="16">
                  <c:v>7.2</c:v>
                </c:pt>
                <c:pt idx="17">
                  <c:v>6.4</c:v>
                </c:pt>
                <c:pt idx="18">
                  <c:v>5.6</c:v>
                </c:pt>
                <c:pt idx="19">
                  <c:v>4.8</c:v>
                </c:pt>
                <c:pt idx="20">
                  <c:v>4</c:v>
                </c:pt>
                <c:pt idx="21">
                  <c:v>3.2</c:v>
                </c:pt>
                <c:pt idx="22">
                  <c:v>2.4000000000000004</c:v>
                </c:pt>
                <c:pt idx="23">
                  <c:v>1.5999999999999996</c:v>
                </c:pt>
                <c:pt idx="24">
                  <c:v>0.79999999999999982</c:v>
                </c:pt>
                <c:pt idx="25">
                  <c:v>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8-7C9C-4D30-A828-707CCAADCC3F}"/>
            </c:ext>
          </c:extLst>
        </c:ser>
        <c:ser>
          <c:idx val="9"/>
          <c:order val="9"/>
          <c:tx>
            <c:strRef>
              <c:f>rcps!$A$13</c:f>
              <c:strCache>
                <c:ptCount val="1"/>
                <c:pt idx="0">
                  <c:v>Waste heat (default value)</c:v>
                </c:pt>
              </c:strCache>
            </c:strRef>
          </c:tx>
          <c:spPr>
            <a:ln w="28575" cap="rnd">
              <a:solidFill>
                <a:schemeClr val="tx2">
                  <a:lumMod val="40000"/>
                  <a:lumOff val="60000"/>
                </a:schemeClr>
              </a:solidFill>
              <a:round/>
            </a:ln>
            <a:effectLst/>
          </c:spPr>
          <c:marker>
            <c:symbol val="none"/>
          </c:marker>
          <c:cat>
            <c:numRef>
              <c:f>rcps!$P$3:$AO$3</c:f>
              <c:numCache>
                <c:formatCode>General</c:formatCode>
                <c:ptCount val="26"/>
                <c:pt idx="0">
                  <c:v>2025</c:v>
                </c:pt>
                <c:pt idx="1">
                  <c:v>2026</c:v>
                </c:pt>
                <c:pt idx="2">
                  <c:v>2027</c:v>
                </c:pt>
                <c:pt idx="3">
                  <c:v>2028</c:v>
                </c:pt>
                <c:pt idx="4">
                  <c:v>2029</c:v>
                </c:pt>
                <c:pt idx="5">
                  <c:v>2030</c:v>
                </c:pt>
                <c:pt idx="6">
                  <c:v>2031</c:v>
                </c:pt>
                <c:pt idx="7">
                  <c:v>2032</c:v>
                </c:pt>
                <c:pt idx="8">
                  <c:v>2033</c:v>
                </c:pt>
                <c:pt idx="9">
                  <c:v>2034</c:v>
                </c:pt>
                <c:pt idx="10">
                  <c:v>2035</c:v>
                </c:pt>
                <c:pt idx="11">
                  <c:v>2036</c:v>
                </c:pt>
                <c:pt idx="12">
                  <c:v>2037</c:v>
                </c:pt>
                <c:pt idx="13">
                  <c:v>2038</c:v>
                </c:pt>
                <c:pt idx="14">
                  <c:v>2039</c:v>
                </c:pt>
                <c:pt idx="15">
                  <c:v>2040</c:v>
                </c:pt>
                <c:pt idx="16">
                  <c:v>2041</c:v>
                </c:pt>
                <c:pt idx="17">
                  <c:v>2042</c:v>
                </c:pt>
                <c:pt idx="18">
                  <c:v>2043</c:v>
                </c:pt>
                <c:pt idx="19">
                  <c:v>2044</c:v>
                </c:pt>
                <c:pt idx="20">
                  <c:v>2045</c:v>
                </c:pt>
                <c:pt idx="21">
                  <c:v>2046</c:v>
                </c:pt>
                <c:pt idx="22">
                  <c:v>2047</c:v>
                </c:pt>
                <c:pt idx="23">
                  <c:v>2048</c:v>
                </c:pt>
                <c:pt idx="24">
                  <c:v>2049</c:v>
                </c:pt>
                <c:pt idx="25">
                  <c:v>2050</c:v>
                </c:pt>
              </c:numCache>
            </c:numRef>
          </c:cat>
          <c:val>
            <c:numRef>
              <c:f>rcps!$P$13:$AO$13</c:f>
              <c:numCache>
                <c:formatCode>0</c:formatCode>
                <c:ptCount val="26"/>
                <c:pt idx="0">
                  <c:v>20</c:v>
                </c:pt>
                <c:pt idx="1">
                  <c:v>19.2</c:v>
                </c:pt>
                <c:pt idx="2">
                  <c:v>18.399999999999999</c:v>
                </c:pt>
                <c:pt idx="3">
                  <c:v>17.600000000000001</c:v>
                </c:pt>
                <c:pt idx="4">
                  <c:v>16.8</c:v>
                </c:pt>
                <c:pt idx="5">
                  <c:v>16</c:v>
                </c:pt>
                <c:pt idx="6">
                  <c:v>15.2</c:v>
                </c:pt>
                <c:pt idx="7">
                  <c:v>14.4</c:v>
                </c:pt>
                <c:pt idx="8">
                  <c:v>13.6</c:v>
                </c:pt>
                <c:pt idx="9">
                  <c:v>12.8</c:v>
                </c:pt>
                <c:pt idx="10">
                  <c:v>12</c:v>
                </c:pt>
                <c:pt idx="11">
                  <c:v>11.2</c:v>
                </c:pt>
                <c:pt idx="12">
                  <c:v>10.4</c:v>
                </c:pt>
                <c:pt idx="13">
                  <c:v>9.6</c:v>
                </c:pt>
                <c:pt idx="14">
                  <c:v>8.8000000000000007</c:v>
                </c:pt>
                <c:pt idx="15">
                  <c:v>8</c:v>
                </c:pt>
                <c:pt idx="16">
                  <c:v>7.2</c:v>
                </c:pt>
                <c:pt idx="17">
                  <c:v>6.4</c:v>
                </c:pt>
                <c:pt idx="18">
                  <c:v>5.6</c:v>
                </c:pt>
                <c:pt idx="19">
                  <c:v>4.8</c:v>
                </c:pt>
                <c:pt idx="20">
                  <c:v>4</c:v>
                </c:pt>
                <c:pt idx="21">
                  <c:v>3.2</c:v>
                </c:pt>
                <c:pt idx="22">
                  <c:v>2.4000000000000004</c:v>
                </c:pt>
                <c:pt idx="23">
                  <c:v>1.5999999999999996</c:v>
                </c:pt>
                <c:pt idx="24">
                  <c:v>0.79999999999999982</c:v>
                </c:pt>
                <c:pt idx="25">
                  <c:v>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9-7C9C-4D30-A828-707CCAADCC3F}"/>
            </c:ext>
          </c:extLst>
        </c:ser>
        <c:ser>
          <c:idx val="10"/>
          <c:order val="10"/>
          <c:tx>
            <c:strRef>
              <c:f>rcps!$A$14</c:f>
              <c:strCache>
                <c:ptCount val="1"/>
                <c:pt idx="0">
                  <c:v>Waste heat (best value)</c:v>
                </c:pt>
              </c:strCache>
            </c:strRef>
          </c:tx>
          <c:spPr>
            <a:ln w="19050" cap="rnd">
              <a:solidFill>
                <a:srgbClr val="ED7D31">
                  <a:lumMod val="40000"/>
                  <a:lumOff val="60000"/>
                </a:srgbClr>
              </a:solidFill>
              <a:round/>
            </a:ln>
            <a:effectLst/>
          </c:spPr>
          <c:marker>
            <c:symbol val="none"/>
          </c:marker>
          <c:cat>
            <c:numRef>
              <c:f>rcps!$P$3:$AO$3</c:f>
              <c:numCache>
                <c:formatCode>General</c:formatCode>
                <c:ptCount val="26"/>
                <c:pt idx="0">
                  <c:v>2025</c:v>
                </c:pt>
                <c:pt idx="1">
                  <c:v>2026</c:v>
                </c:pt>
                <c:pt idx="2">
                  <c:v>2027</c:v>
                </c:pt>
                <c:pt idx="3">
                  <c:v>2028</c:v>
                </c:pt>
                <c:pt idx="4">
                  <c:v>2029</c:v>
                </c:pt>
                <c:pt idx="5">
                  <c:v>2030</c:v>
                </c:pt>
                <c:pt idx="6">
                  <c:v>2031</c:v>
                </c:pt>
                <c:pt idx="7">
                  <c:v>2032</c:v>
                </c:pt>
                <c:pt idx="8">
                  <c:v>2033</c:v>
                </c:pt>
                <c:pt idx="9">
                  <c:v>2034</c:v>
                </c:pt>
                <c:pt idx="10">
                  <c:v>2035</c:v>
                </c:pt>
                <c:pt idx="11">
                  <c:v>2036</c:v>
                </c:pt>
                <c:pt idx="12">
                  <c:v>2037</c:v>
                </c:pt>
                <c:pt idx="13">
                  <c:v>2038</c:v>
                </c:pt>
                <c:pt idx="14">
                  <c:v>2039</c:v>
                </c:pt>
                <c:pt idx="15">
                  <c:v>2040</c:v>
                </c:pt>
                <c:pt idx="16">
                  <c:v>2041</c:v>
                </c:pt>
                <c:pt idx="17">
                  <c:v>2042</c:v>
                </c:pt>
                <c:pt idx="18">
                  <c:v>2043</c:v>
                </c:pt>
                <c:pt idx="19">
                  <c:v>2044</c:v>
                </c:pt>
                <c:pt idx="20">
                  <c:v>2045</c:v>
                </c:pt>
                <c:pt idx="21">
                  <c:v>2046</c:v>
                </c:pt>
                <c:pt idx="22">
                  <c:v>2047</c:v>
                </c:pt>
                <c:pt idx="23">
                  <c:v>2048</c:v>
                </c:pt>
                <c:pt idx="24">
                  <c:v>2049</c:v>
                </c:pt>
                <c:pt idx="25">
                  <c:v>2050</c:v>
                </c:pt>
              </c:numCache>
            </c:numRef>
          </c:cat>
          <c:val>
            <c:numRef>
              <c:f>rcps!$P$14:$AO$14</c:f>
              <c:numCache>
                <c:formatCode>0</c:formatCode>
                <c:ptCount val="26"/>
                <c:pt idx="0">
                  <c:v>20</c:v>
                </c:pt>
                <c:pt idx="1">
                  <c:v>19.2</c:v>
                </c:pt>
                <c:pt idx="2">
                  <c:v>18.399999999999999</c:v>
                </c:pt>
                <c:pt idx="3">
                  <c:v>17.600000000000001</c:v>
                </c:pt>
                <c:pt idx="4">
                  <c:v>16.8</c:v>
                </c:pt>
                <c:pt idx="5">
                  <c:v>16</c:v>
                </c:pt>
                <c:pt idx="6">
                  <c:v>15.2</c:v>
                </c:pt>
                <c:pt idx="7">
                  <c:v>14.4</c:v>
                </c:pt>
                <c:pt idx="8">
                  <c:v>13.6</c:v>
                </c:pt>
                <c:pt idx="9">
                  <c:v>12.8</c:v>
                </c:pt>
                <c:pt idx="10">
                  <c:v>12</c:v>
                </c:pt>
                <c:pt idx="11">
                  <c:v>11.2</c:v>
                </c:pt>
                <c:pt idx="12">
                  <c:v>10.4</c:v>
                </c:pt>
                <c:pt idx="13">
                  <c:v>9.6</c:v>
                </c:pt>
                <c:pt idx="14">
                  <c:v>8.8000000000000007</c:v>
                </c:pt>
                <c:pt idx="15">
                  <c:v>8</c:v>
                </c:pt>
                <c:pt idx="16">
                  <c:v>7.2</c:v>
                </c:pt>
                <c:pt idx="17">
                  <c:v>6.4</c:v>
                </c:pt>
                <c:pt idx="18">
                  <c:v>5.6</c:v>
                </c:pt>
                <c:pt idx="19">
                  <c:v>4.8</c:v>
                </c:pt>
                <c:pt idx="20">
                  <c:v>4</c:v>
                </c:pt>
                <c:pt idx="21">
                  <c:v>3.2</c:v>
                </c:pt>
                <c:pt idx="22">
                  <c:v>2.4000000000000004</c:v>
                </c:pt>
                <c:pt idx="23">
                  <c:v>1.5999999999999996</c:v>
                </c:pt>
                <c:pt idx="24">
                  <c:v>0.79999999999999982</c:v>
                </c:pt>
                <c:pt idx="25">
                  <c:v>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A-7C9C-4D30-A828-707CCAADCC3F}"/>
            </c:ext>
          </c:extLst>
        </c:ser>
        <c:ser>
          <c:idx val="11"/>
          <c:order val="11"/>
          <c:tx>
            <c:strRef>
              <c:f>rcps!$A$15</c:f>
              <c:strCache>
                <c:ptCount val="1"/>
                <c:pt idx="0">
                  <c:v>Coal</c:v>
                </c:pt>
              </c:strCache>
            </c:strRef>
          </c:tx>
          <c:spPr>
            <a:ln w="19050" cap="rnd">
              <a:solidFill>
                <a:srgbClr val="E7E6E6">
                  <a:lumMod val="10000"/>
                </a:srgbClr>
              </a:solidFill>
              <a:prstDash val="dash"/>
              <a:round/>
            </a:ln>
            <a:effectLst/>
          </c:spPr>
          <c:marker>
            <c:symbol val="none"/>
          </c:marker>
          <c:cat>
            <c:numRef>
              <c:f>rcps!$P$3:$AO$3</c:f>
              <c:numCache>
                <c:formatCode>General</c:formatCode>
                <c:ptCount val="26"/>
                <c:pt idx="0">
                  <c:v>2025</c:v>
                </c:pt>
                <c:pt idx="1">
                  <c:v>2026</c:v>
                </c:pt>
                <c:pt idx="2">
                  <c:v>2027</c:v>
                </c:pt>
                <c:pt idx="3">
                  <c:v>2028</c:v>
                </c:pt>
                <c:pt idx="4">
                  <c:v>2029</c:v>
                </c:pt>
                <c:pt idx="5">
                  <c:v>2030</c:v>
                </c:pt>
                <c:pt idx="6">
                  <c:v>2031</c:v>
                </c:pt>
                <c:pt idx="7">
                  <c:v>2032</c:v>
                </c:pt>
                <c:pt idx="8">
                  <c:v>2033</c:v>
                </c:pt>
                <c:pt idx="9">
                  <c:v>2034</c:v>
                </c:pt>
                <c:pt idx="10">
                  <c:v>2035</c:v>
                </c:pt>
                <c:pt idx="11">
                  <c:v>2036</c:v>
                </c:pt>
                <c:pt idx="12">
                  <c:v>2037</c:v>
                </c:pt>
                <c:pt idx="13">
                  <c:v>2038</c:v>
                </c:pt>
                <c:pt idx="14">
                  <c:v>2039</c:v>
                </c:pt>
                <c:pt idx="15">
                  <c:v>2040</c:v>
                </c:pt>
                <c:pt idx="16">
                  <c:v>2041</c:v>
                </c:pt>
                <c:pt idx="17">
                  <c:v>2042</c:v>
                </c:pt>
                <c:pt idx="18">
                  <c:v>2043</c:v>
                </c:pt>
                <c:pt idx="19">
                  <c:v>2044</c:v>
                </c:pt>
                <c:pt idx="20">
                  <c:v>2045</c:v>
                </c:pt>
                <c:pt idx="21">
                  <c:v>2046</c:v>
                </c:pt>
                <c:pt idx="22">
                  <c:v>2047</c:v>
                </c:pt>
                <c:pt idx="23">
                  <c:v>2048</c:v>
                </c:pt>
                <c:pt idx="24">
                  <c:v>2049</c:v>
                </c:pt>
                <c:pt idx="25">
                  <c:v>2050</c:v>
                </c:pt>
              </c:numCache>
            </c:numRef>
          </c:cat>
          <c:val>
            <c:numRef>
              <c:f>rcps!$P$15:$AO$15</c:f>
              <c:numCache>
                <c:formatCode>0</c:formatCode>
                <c:ptCount val="26"/>
                <c:pt idx="0">
                  <c:v>360</c:v>
                </c:pt>
                <c:pt idx="1">
                  <c:v>359.28</c:v>
                </c:pt>
                <c:pt idx="2">
                  <c:v>358.56</c:v>
                </c:pt>
                <c:pt idx="3">
                  <c:v>357.84</c:v>
                </c:pt>
                <c:pt idx="4">
                  <c:v>357.12</c:v>
                </c:pt>
                <c:pt idx="5">
                  <c:v>356.4</c:v>
                </c:pt>
                <c:pt idx="6">
                  <c:v>355.67999999999995</c:v>
                </c:pt>
                <c:pt idx="7">
                  <c:v>354.96</c:v>
                </c:pt>
                <c:pt idx="8">
                  <c:v>354.24</c:v>
                </c:pt>
                <c:pt idx="9">
                  <c:v>353.52</c:v>
                </c:pt>
                <c:pt idx="10">
                  <c:v>352.79999999999995</c:v>
                </c:pt>
                <c:pt idx="11">
                  <c:v>352.08</c:v>
                </c:pt>
                <c:pt idx="12">
                  <c:v>351.36</c:v>
                </c:pt>
                <c:pt idx="13">
                  <c:v>350.64</c:v>
                </c:pt>
                <c:pt idx="14">
                  <c:v>349.91999999999996</c:v>
                </c:pt>
                <c:pt idx="15">
                  <c:v>349.2</c:v>
                </c:pt>
                <c:pt idx="16">
                  <c:v>348.48</c:v>
                </c:pt>
                <c:pt idx="17">
                  <c:v>347.76</c:v>
                </c:pt>
                <c:pt idx="18">
                  <c:v>347.03999999999996</c:v>
                </c:pt>
                <c:pt idx="19">
                  <c:v>346.32</c:v>
                </c:pt>
                <c:pt idx="20">
                  <c:v>345.6</c:v>
                </c:pt>
                <c:pt idx="21">
                  <c:v>344.88</c:v>
                </c:pt>
                <c:pt idx="22">
                  <c:v>344.15999999999997</c:v>
                </c:pt>
                <c:pt idx="23">
                  <c:v>343.44</c:v>
                </c:pt>
                <c:pt idx="24">
                  <c:v>342.72</c:v>
                </c:pt>
                <c:pt idx="25">
                  <c:v>342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B-7C9C-4D30-A828-707CCAADCC3F}"/>
            </c:ext>
          </c:extLst>
        </c:ser>
        <c:ser>
          <c:idx val="12"/>
          <c:order val="12"/>
          <c:tx>
            <c:strRef>
              <c:f>rcps!$A$16</c:f>
              <c:strCache>
                <c:ptCount val="1"/>
                <c:pt idx="0">
                  <c:v>Heating oil</c:v>
                </c:pt>
              </c:strCache>
            </c:strRef>
          </c:tx>
          <c:spPr>
            <a:ln w="19050" cap="rnd">
              <a:solidFill>
                <a:srgbClr val="E7E6E6">
                  <a:lumMod val="25000"/>
                </a:srgbClr>
              </a:solidFill>
              <a:prstDash val="sysDash"/>
              <a:round/>
            </a:ln>
            <a:effectLst/>
          </c:spPr>
          <c:marker>
            <c:symbol val="none"/>
          </c:marker>
          <c:cat>
            <c:numRef>
              <c:f>rcps!$P$3:$AO$3</c:f>
              <c:numCache>
                <c:formatCode>General</c:formatCode>
                <c:ptCount val="26"/>
                <c:pt idx="0">
                  <c:v>2025</c:v>
                </c:pt>
                <c:pt idx="1">
                  <c:v>2026</c:v>
                </c:pt>
                <c:pt idx="2">
                  <c:v>2027</c:v>
                </c:pt>
                <c:pt idx="3">
                  <c:v>2028</c:v>
                </c:pt>
                <c:pt idx="4">
                  <c:v>2029</c:v>
                </c:pt>
                <c:pt idx="5">
                  <c:v>2030</c:v>
                </c:pt>
                <c:pt idx="6">
                  <c:v>2031</c:v>
                </c:pt>
                <c:pt idx="7">
                  <c:v>2032</c:v>
                </c:pt>
                <c:pt idx="8">
                  <c:v>2033</c:v>
                </c:pt>
                <c:pt idx="9">
                  <c:v>2034</c:v>
                </c:pt>
                <c:pt idx="10">
                  <c:v>2035</c:v>
                </c:pt>
                <c:pt idx="11">
                  <c:v>2036</c:v>
                </c:pt>
                <c:pt idx="12">
                  <c:v>2037</c:v>
                </c:pt>
                <c:pt idx="13">
                  <c:v>2038</c:v>
                </c:pt>
                <c:pt idx="14">
                  <c:v>2039</c:v>
                </c:pt>
                <c:pt idx="15">
                  <c:v>2040</c:v>
                </c:pt>
                <c:pt idx="16">
                  <c:v>2041</c:v>
                </c:pt>
                <c:pt idx="17">
                  <c:v>2042</c:v>
                </c:pt>
                <c:pt idx="18">
                  <c:v>2043</c:v>
                </c:pt>
                <c:pt idx="19">
                  <c:v>2044</c:v>
                </c:pt>
                <c:pt idx="20">
                  <c:v>2045</c:v>
                </c:pt>
                <c:pt idx="21">
                  <c:v>2046</c:v>
                </c:pt>
                <c:pt idx="22">
                  <c:v>2047</c:v>
                </c:pt>
                <c:pt idx="23">
                  <c:v>2048</c:v>
                </c:pt>
                <c:pt idx="24">
                  <c:v>2049</c:v>
                </c:pt>
                <c:pt idx="25">
                  <c:v>2050</c:v>
                </c:pt>
              </c:numCache>
            </c:numRef>
          </c:cat>
          <c:val>
            <c:numRef>
              <c:f>rcps!$P$16:$AO$16</c:f>
              <c:numCache>
                <c:formatCode>0</c:formatCode>
                <c:ptCount val="26"/>
                <c:pt idx="0">
                  <c:v>271</c:v>
                </c:pt>
                <c:pt idx="1">
                  <c:v>270.45800000000003</c:v>
                </c:pt>
                <c:pt idx="2">
                  <c:v>269.916</c:v>
                </c:pt>
                <c:pt idx="3">
                  <c:v>269.37400000000002</c:v>
                </c:pt>
                <c:pt idx="4">
                  <c:v>268.83199999999999</c:v>
                </c:pt>
                <c:pt idx="5">
                  <c:v>268.29000000000002</c:v>
                </c:pt>
                <c:pt idx="6">
                  <c:v>267.74800000000005</c:v>
                </c:pt>
                <c:pt idx="7">
                  <c:v>267.20600000000002</c:v>
                </c:pt>
                <c:pt idx="8">
                  <c:v>266.66399999999999</c:v>
                </c:pt>
                <c:pt idx="9">
                  <c:v>266.12200000000001</c:v>
                </c:pt>
                <c:pt idx="10">
                  <c:v>265.58000000000004</c:v>
                </c:pt>
                <c:pt idx="11">
                  <c:v>265.03800000000001</c:v>
                </c:pt>
                <c:pt idx="12">
                  <c:v>264.49599999999998</c:v>
                </c:pt>
                <c:pt idx="13">
                  <c:v>263.95400000000001</c:v>
                </c:pt>
                <c:pt idx="14">
                  <c:v>263.41200000000003</c:v>
                </c:pt>
                <c:pt idx="15">
                  <c:v>262.87</c:v>
                </c:pt>
                <c:pt idx="16">
                  <c:v>262.32799999999997</c:v>
                </c:pt>
                <c:pt idx="17">
                  <c:v>261.786</c:v>
                </c:pt>
                <c:pt idx="18">
                  <c:v>261.24400000000003</c:v>
                </c:pt>
                <c:pt idx="19">
                  <c:v>260.702</c:v>
                </c:pt>
                <c:pt idx="20">
                  <c:v>260.15999999999997</c:v>
                </c:pt>
                <c:pt idx="21">
                  <c:v>259.61799999999999</c:v>
                </c:pt>
                <c:pt idx="22">
                  <c:v>259.07600000000002</c:v>
                </c:pt>
                <c:pt idx="23">
                  <c:v>258.53399999999999</c:v>
                </c:pt>
                <c:pt idx="24">
                  <c:v>257.99199999999996</c:v>
                </c:pt>
                <c:pt idx="25">
                  <c:v>257.45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C-7C9C-4D30-A828-707CCAADCC3F}"/>
            </c:ext>
          </c:extLst>
        </c:ser>
        <c:ser>
          <c:idx val="13"/>
          <c:order val="13"/>
          <c:tx>
            <c:strRef>
              <c:f>rcps!$A$17</c:f>
              <c:strCache>
                <c:ptCount val="1"/>
                <c:pt idx="0">
                  <c:v>Natural gas</c:v>
                </c:pt>
              </c:strCache>
            </c:strRef>
          </c:tx>
          <c:spPr>
            <a:ln w="19050" cap="rnd">
              <a:solidFill>
                <a:srgbClr val="E7E6E6">
                  <a:lumMod val="50000"/>
                </a:srgbClr>
              </a:solidFill>
              <a:prstDash val="sysDot"/>
              <a:round/>
            </a:ln>
            <a:effectLst/>
          </c:spPr>
          <c:marker>
            <c:symbol val="none"/>
          </c:marker>
          <c:cat>
            <c:numRef>
              <c:f>rcps!$P$3:$AO$3</c:f>
              <c:numCache>
                <c:formatCode>General</c:formatCode>
                <c:ptCount val="26"/>
                <c:pt idx="0">
                  <c:v>2025</c:v>
                </c:pt>
                <c:pt idx="1">
                  <c:v>2026</c:v>
                </c:pt>
                <c:pt idx="2">
                  <c:v>2027</c:v>
                </c:pt>
                <c:pt idx="3">
                  <c:v>2028</c:v>
                </c:pt>
                <c:pt idx="4">
                  <c:v>2029</c:v>
                </c:pt>
                <c:pt idx="5">
                  <c:v>2030</c:v>
                </c:pt>
                <c:pt idx="6">
                  <c:v>2031</c:v>
                </c:pt>
                <c:pt idx="7">
                  <c:v>2032</c:v>
                </c:pt>
                <c:pt idx="8">
                  <c:v>2033</c:v>
                </c:pt>
                <c:pt idx="9">
                  <c:v>2034</c:v>
                </c:pt>
                <c:pt idx="10">
                  <c:v>2035</c:v>
                </c:pt>
                <c:pt idx="11">
                  <c:v>2036</c:v>
                </c:pt>
                <c:pt idx="12">
                  <c:v>2037</c:v>
                </c:pt>
                <c:pt idx="13">
                  <c:v>2038</c:v>
                </c:pt>
                <c:pt idx="14">
                  <c:v>2039</c:v>
                </c:pt>
                <c:pt idx="15">
                  <c:v>2040</c:v>
                </c:pt>
                <c:pt idx="16">
                  <c:v>2041</c:v>
                </c:pt>
                <c:pt idx="17">
                  <c:v>2042</c:v>
                </c:pt>
                <c:pt idx="18">
                  <c:v>2043</c:v>
                </c:pt>
                <c:pt idx="19">
                  <c:v>2044</c:v>
                </c:pt>
                <c:pt idx="20">
                  <c:v>2045</c:v>
                </c:pt>
                <c:pt idx="21">
                  <c:v>2046</c:v>
                </c:pt>
                <c:pt idx="22">
                  <c:v>2047</c:v>
                </c:pt>
                <c:pt idx="23">
                  <c:v>2048</c:v>
                </c:pt>
                <c:pt idx="24">
                  <c:v>2049</c:v>
                </c:pt>
                <c:pt idx="25">
                  <c:v>2050</c:v>
                </c:pt>
              </c:numCache>
            </c:numRef>
          </c:cat>
          <c:val>
            <c:numRef>
              <c:f>rcps!$P$17:$AO$17</c:f>
              <c:numCache>
                <c:formatCode>0</c:formatCode>
                <c:ptCount val="26"/>
                <c:pt idx="0">
                  <c:v>201</c:v>
                </c:pt>
                <c:pt idx="1">
                  <c:v>200.59800000000001</c:v>
                </c:pt>
                <c:pt idx="2">
                  <c:v>200.196</c:v>
                </c:pt>
                <c:pt idx="3">
                  <c:v>199.79400000000001</c:v>
                </c:pt>
                <c:pt idx="4">
                  <c:v>199.392</c:v>
                </c:pt>
                <c:pt idx="5">
                  <c:v>198.99</c:v>
                </c:pt>
                <c:pt idx="6">
                  <c:v>198.58800000000002</c:v>
                </c:pt>
                <c:pt idx="7">
                  <c:v>198.18600000000001</c:v>
                </c:pt>
                <c:pt idx="8">
                  <c:v>197.78399999999999</c:v>
                </c:pt>
                <c:pt idx="9">
                  <c:v>197.38200000000001</c:v>
                </c:pt>
                <c:pt idx="10">
                  <c:v>196.98000000000002</c:v>
                </c:pt>
                <c:pt idx="11">
                  <c:v>196.578</c:v>
                </c:pt>
                <c:pt idx="12">
                  <c:v>196.17599999999999</c:v>
                </c:pt>
                <c:pt idx="13">
                  <c:v>195.774</c:v>
                </c:pt>
                <c:pt idx="14">
                  <c:v>195.37200000000001</c:v>
                </c:pt>
                <c:pt idx="15">
                  <c:v>194.97</c:v>
                </c:pt>
                <c:pt idx="16">
                  <c:v>194.56799999999998</c:v>
                </c:pt>
                <c:pt idx="17">
                  <c:v>194.166</c:v>
                </c:pt>
                <c:pt idx="18">
                  <c:v>193.76400000000001</c:v>
                </c:pt>
                <c:pt idx="19">
                  <c:v>193.36199999999999</c:v>
                </c:pt>
                <c:pt idx="20">
                  <c:v>192.95999999999998</c:v>
                </c:pt>
                <c:pt idx="21">
                  <c:v>192.55799999999999</c:v>
                </c:pt>
                <c:pt idx="22">
                  <c:v>192.15600000000001</c:v>
                </c:pt>
                <c:pt idx="23">
                  <c:v>191.75399999999999</c:v>
                </c:pt>
                <c:pt idx="24">
                  <c:v>191.35199999999998</c:v>
                </c:pt>
                <c:pt idx="25">
                  <c:v>190.95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D-7C9C-4D30-A828-707CCAADCC3F}"/>
            </c:ext>
          </c:extLst>
        </c:ser>
        <c:ser>
          <c:idx val="14"/>
          <c:order val="14"/>
          <c:tx>
            <c:strRef>
              <c:f>rcps!$A$18</c:f>
              <c:strCache>
                <c:ptCount val="1"/>
                <c:pt idx="0">
                  <c:v>Solid biomass</c:v>
                </c:pt>
              </c:strCache>
            </c:strRef>
          </c:tx>
          <c:spPr>
            <a:ln w="19050" cap="rnd">
              <a:solidFill>
                <a:srgbClr val="70AD47"/>
              </a:solidFill>
              <a:prstDash val="lgDash"/>
              <a:round/>
            </a:ln>
            <a:effectLst/>
          </c:spPr>
          <c:marker>
            <c:symbol val="none"/>
          </c:marker>
          <c:cat>
            <c:numRef>
              <c:f>rcps!$P$3:$AO$3</c:f>
              <c:numCache>
                <c:formatCode>General</c:formatCode>
                <c:ptCount val="26"/>
                <c:pt idx="0">
                  <c:v>2025</c:v>
                </c:pt>
                <c:pt idx="1">
                  <c:v>2026</c:v>
                </c:pt>
                <c:pt idx="2">
                  <c:v>2027</c:v>
                </c:pt>
                <c:pt idx="3">
                  <c:v>2028</c:v>
                </c:pt>
                <c:pt idx="4">
                  <c:v>2029</c:v>
                </c:pt>
                <c:pt idx="5">
                  <c:v>2030</c:v>
                </c:pt>
                <c:pt idx="6">
                  <c:v>2031</c:v>
                </c:pt>
                <c:pt idx="7">
                  <c:v>2032</c:v>
                </c:pt>
                <c:pt idx="8">
                  <c:v>2033</c:v>
                </c:pt>
                <c:pt idx="9">
                  <c:v>2034</c:v>
                </c:pt>
                <c:pt idx="10">
                  <c:v>2035</c:v>
                </c:pt>
                <c:pt idx="11">
                  <c:v>2036</c:v>
                </c:pt>
                <c:pt idx="12">
                  <c:v>2037</c:v>
                </c:pt>
                <c:pt idx="13">
                  <c:v>2038</c:v>
                </c:pt>
                <c:pt idx="14">
                  <c:v>2039</c:v>
                </c:pt>
                <c:pt idx="15">
                  <c:v>2040</c:v>
                </c:pt>
                <c:pt idx="16">
                  <c:v>2041</c:v>
                </c:pt>
                <c:pt idx="17">
                  <c:v>2042</c:v>
                </c:pt>
                <c:pt idx="18">
                  <c:v>2043</c:v>
                </c:pt>
                <c:pt idx="19">
                  <c:v>2044</c:v>
                </c:pt>
                <c:pt idx="20">
                  <c:v>2045</c:v>
                </c:pt>
                <c:pt idx="21">
                  <c:v>2046</c:v>
                </c:pt>
                <c:pt idx="22">
                  <c:v>2047</c:v>
                </c:pt>
                <c:pt idx="23">
                  <c:v>2048</c:v>
                </c:pt>
                <c:pt idx="24">
                  <c:v>2049</c:v>
                </c:pt>
                <c:pt idx="25">
                  <c:v>2050</c:v>
                </c:pt>
              </c:numCache>
            </c:numRef>
          </c:cat>
          <c:val>
            <c:numRef>
              <c:f>rcps!$P$18:$AO$18</c:f>
              <c:numCache>
                <c:formatCode>0</c:formatCode>
                <c:ptCount val="26"/>
                <c:pt idx="0">
                  <c:v>247</c:v>
                </c:pt>
                <c:pt idx="1">
                  <c:v>237.12</c:v>
                </c:pt>
                <c:pt idx="2">
                  <c:v>227.24</c:v>
                </c:pt>
                <c:pt idx="3">
                  <c:v>217.36</c:v>
                </c:pt>
                <c:pt idx="4">
                  <c:v>207.48000000000002</c:v>
                </c:pt>
                <c:pt idx="5">
                  <c:v>197.60000000000002</c:v>
                </c:pt>
                <c:pt idx="6">
                  <c:v>187.72000000000003</c:v>
                </c:pt>
                <c:pt idx="7">
                  <c:v>177.84000000000003</c:v>
                </c:pt>
                <c:pt idx="8">
                  <c:v>167.96</c:v>
                </c:pt>
                <c:pt idx="9">
                  <c:v>158.08000000000001</c:v>
                </c:pt>
                <c:pt idx="10">
                  <c:v>148.20000000000002</c:v>
                </c:pt>
                <c:pt idx="11">
                  <c:v>138.32000000000002</c:v>
                </c:pt>
                <c:pt idx="12">
                  <c:v>128.44</c:v>
                </c:pt>
                <c:pt idx="13">
                  <c:v>118.56000000000002</c:v>
                </c:pt>
                <c:pt idx="14">
                  <c:v>108.68000000000002</c:v>
                </c:pt>
                <c:pt idx="15">
                  <c:v>98.800000000000011</c:v>
                </c:pt>
                <c:pt idx="16">
                  <c:v>88.920000000000016</c:v>
                </c:pt>
                <c:pt idx="17">
                  <c:v>79.040000000000006</c:v>
                </c:pt>
                <c:pt idx="18">
                  <c:v>69.160000000000011</c:v>
                </c:pt>
                <c:pt idx="19">
                  <c:v>59.280000000000008</c:v>
                </c:pt>
                <c:pt idx="20">
                  <c:v>49.400000000000006</c:v>
                </c:pt>
                <c:pt idx="21">
                  <c:v>39.520000000000003</c:v>
                </c:pt>
                <c:pt idx="22">
                  <c:v>29.64</c:v>
                </c:pt>
                <c:pt idx="23">
                  <c:v>19.760000000000005</c:v>
                </c:pt>
                <c:pt idx="24">
                  <c:v>9.8800000000000097</c:v>
                </c:pt>
                <c:pt idx="25">
                  <c:v>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E-7C9C-4D30-A828-707CCAADCC3F}"/>
            </c:ext>
          </c:extLst>
        </c:ser>
        <c:ser>
          <c:idx val="15"/>
          <c:order val="15"/>
          <c:tx>
            <c:strRef>
              <c:f>rcps!$A$19</c:f>
              <c:strCache>
                <c:ptCount val="1"/>
                <c:pt idx="0">
                  <c:v>Gaseous biofuels (island operation)</c:v>
                </c:pt>
              </c:strCache>
            </c:strRef>
          </c:tx>
          <c:spPr>
            <a:ln w="19050" cap="rnd">
              <a:solidFill>
                <a:srgbClr val="70AD47"/>
              </a:solidFill>
              <a:prstDash val="sysDot"/>
              <a:round/>
            </a:ln>
            <a:effectLst/>
          </c:spPr>
          <c:marker>
            <c:symbol val="none"/>
          </c:marker>
          <c:cat>
            <c:numRef>
              <c:f>rcps!$P$3:$AO$3</c:f>
              <c:numCache>
                <c:formatCode>General</c:formatCode>
                <c:ptCount val="26"/>
                <c:pt idx="0">
                  <c:v>2025</c:v>
                </c:pt>
                <c:pt idx="1">
                  <c:v>2026</c:v>
                </c:pt>
                <c:pt idx="2">
                  <c:v>2027</c:v>
                </c:pt>
                <c:pt idx="3">
                  <c:v>2028</c:v>
                </c:pt>
                <c:pt idx="4">
                  <c:v>2029</c:v>
                </c:pt>
                <c:pt idx="5">
                  <c:v>2030</c:v>
                </c:pt>
                <c:pt idx="6">
                  <c:v>2031</c:v>
                </c:pt>
                <c:pt idx="7">
                  <c:v>2032</c:v>
                </c:pt>
                <c:pt idx="8">
                  <c:v>2033</c:v>
                </c:pt>
                <c:pt idx="9">
                  <c:v>2034</c:v>
                </c:pt>
                <c:pt idx="10">
                  <c:v>2035</c:v>
                </c:pt>
                <c:pt idx="11">
                  <c:v>2036</c:v>
                </c:pt>
                <c:pt idx="12">
                  <c:v>2037</c:v>
                </c:pt>
                <c:pt idx="13">
                  <c:v>2038</c:v>
                </c:pt>
                <c:pt idx="14">
                  <c:v>2039</c:v>
                </c:pt>
                <c:pt idx="15">
                  <c:v>2040</c:v>
                </c:pt>
                <c:pt idx="16">
                  <c:v>2041</c:v>
                </c:pt>
                <c:pt idx="17">
                  <c:v>2042</c:v>
                </c:pt>
                <c:pt idx="18">
                  <c:v>2043</c:v>
                </c:pt>
                <c:pt idx="19">
                  <c:v>2044</c:v>
                </c:pt>
                <c:pt idx="20">
                  <c:v>2045</c:v>
                </c:pt>
                <c:pt idx="21">
                  <c:v>2046</c:v>
                </c:pt>
                <c:pt idx="22">
                  <c:v>2047</c:v>
                </c:pt>
                <c:pt idx="23">
                  <c:v>2048</c:v>
                </c:pt>
                <c:pt idx="24">
                  <c:v>2049</c:v>
                </c:pt>
                <c:pt idx="25">
                  <c:v>2050</c:v>
                </c:pt>
              </c:numCache>
            </c:numRef>
          </c:cat>
          <c:val>
            <c:numRef>
              <c:f>rcps!$P$19:$AO$19</c:f>
              <c:numCache>
                <c:formatCode>0</c:formatCode>
                <c:ptCount val="26"/>
                <c:pt idx="0">
                  <c:v>100</c:v>
                </c:pt>
                <c:pt idx="1">
                  <c:v>96</c:v>
                </c:pt>
                <c:pt idx="2">
                  <c:v>92</c:v>
                </c:pt>
                <c:pt idx="3">
                  <c:v>88</c:v>
                </c:pt>
                <c:pt idx="4">
                  <c:v>84</c:v>
                </c:pt>
                <c:pt idx="5">
                  <c:v>80</c:v>
                </c:pt>
                <c:pt idx="6">
                  <c:v>76</c:v>
                </c:pt>
                <c:pt idx="7">
                  <c:v>72</c:v>
                </c:pt>
                <c:pt idx="8">
                  <c:v>68</c:v>
                </c:pt>
                <c:pt idx="9">
                  <c:v>64</c:v>
                </c:pt>
                <c:pt idx="10">
                  <c:v>60</c:v>
                </c:pt>
                <c:pt idx="11">
                  <c:v>56</c:v>
                </c:pt>
                <c:pt idx="12">
                  <c:v>52</c:v>
                </c:pt>
                <c:pt idx="13">
                  <c:v>48</c:v>
                </c:pt>
                <c:pt idx="14">
                  <c:v>44</c:v>
                </c:pt>
                <c:pt idx="15">
                  <c:v>40</c:v>
                </c:pt>
                <c:pt idx="16">
                  <c:v>36</c:v>
                </c:pt>
                <c:pt idx="17">
                  <c:v>32</c:v>
                </c:pt>
                <c:pt idx="18">
                  <c:v>28</c:v>
                </c:pt>
                <c:pt idx="19">
                  <c:v>24</c:v>
                </c:pt>
                <c:pt idx="20">
                  <c:v>20</c:v>
                </c:pt>
                <c:pt idx="21">
                  <c:v>16</c:v>
                </c:pt>
                <c:pt idx="22">
                  <c:v>12</c:v>
                </c:pt>
                <c:pt idx="23">
                  <c:v>8</c:v>
                </c:pt>
                <c:pt idx="24">
                  <c:v>4</c:v>
                </c:pt>
                <c:pt idx="25">
                  <c:v>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F-7C9C-4D30-A828-707CCAADCC3F}"/>
            </c:ext>
          </c:extLst>
        </c:ser>
        <c:ser>
          <c:idx val="16"/>
          <c:order val="16"/>
          <c:tx>
            <c:strRef>
              <c:f>rcps!$A$20</c:f>
              <c:strCache>
                <c:ptCount val="1"/>
                <c:pt idx="0">
                  <c:v>Liquid biofuels (island operation)</c:v>
                </c:pt>
              </c:strCache>
            </c:strRef>
          </c:tx>
          <c:spPr>
            <a:ln w="19050" cap="rnd">
              <a:solidFill>
                <a:srgbClr val="70AD47"/>
              </a:solidFill>
              <a:round/>
            </a:ln>
            <a:effectLst/>
          </c:spPr>
          <c:marker>
            <c:symbol val="none"/>
          </c:marker>
          <c:cat>
            <c:numRef>
              <c:f>rcps!$P$3:$AO$3</c:f>
              <c:numCache>
                <c:formatCode>General</c:formatCode>
                <c:ptCount val="26"/>
                <c:pt idx="0">
                  <c:v>2025</c:v>
                </c:pt>
                <c:pt idx="1">
                  <c:v>2026</c:v>
                </c:pt>
                <c:pt idx="2">
                  <c:v>2027</c:v>
                </c:pt>
                <c:pt idx="3">
                  <c:v>2028</c:v>
                </c:pt>
                <c:pt idx="4">
                  <c:v>2029</c:v>
                </c:pt>
                <c:pt idx="5">
                  <c:v>2030</c:v>
                </c:pt>
                <c:pt idx="6">
                  <c:v>2031</c:v>
                </c:pt>
                <c:pt idx="7">
                  <c:v>2032</c:v>
                </c:pt>
                <c:pt idx="8">
                  <c:v>2033</c:v>
                </c:pt>
                <c:pt idx="9">
                  <c:v>2034</c:v>
                </c:pt>
                <c:pt idx="10">
                  <c:v>2035</c:v>
                </c:pt>
                <c:pt idx="11">
                  <c:v>2036</c:v>
                </c:pt>
                <c:pt idx="12">
                  <c:v>2037</c:v>
                </c:pt>
                <c:pt idx="13">
                  <c:v>2038</c:v>
                </c:pt>
                <c:pt idx="14">
                  <c:v>2039</c:v>
                </c:pt>
                <c:pt idx="15">
                  <c:v>2040</c:v>
                </c:pt>
                <c:pt idx="16">
                  <c:v>2041</c:v>
                </c:pt>
                <c:pt idx="17">
                  <c:v>2042</c:v>
                </c:pt>
                <c:pt idx="18">
                  <c:v>2043</c:v>
                </c:pt>
                <c:pt idx="19">
                  <c:v>2044</c:v>
                </c:pt>
                <c:pt idx="20">
                  <c:v>2045</c:v>
                </c:pt>
                <c:pt idx="21">
                  <c:v>2046</c:v>
                </c:pt>
                <c:pt idx="22">
                  <c:v>2047</c:v>
                </c:pt>
                <c:pt idx="23">
                  <c:v>2048</c:v>
                </c:pt>
                <c:pt idx="24">
                  <c:v>2049</c:v>
                </c:pt>
                <c:pt idx="25">
                  <c:v>2050</c:v>
                </c:pt>
              </c:numCache>
            </c:numRef>
          </c:cat>
          <c:val>
            <c:numRef>
              <c:f>rcps!$P$20:$AO$20</c:f>
              <c:numCache>
                <c:formatCode>0</c:formatCode>
                <c:ptCount val="26"/>
                <c:pt idx="0">
                  <c:v>70</c:v>
                </c:pt>
                <c:pt idx="1">
                  <c:v>67.2</c:v>
                </c:pt>
                <c:pt idx="2">
                  <c:v>64.400000000000006</c:v>
                </c:pt>
                <c:pt idx="3">
                  <c:v>61.6</c:v>
                </c:pt>
                <c:pt idx="4">
                  <c:v>58.8</c:v>
                </c:pt>
                <c:pt idx="5">
                  <c:v>56</c:v>
                </c:pt>
                <c:pt idx="6">
                  <c:v>53.2</c:v>
                </c:pt>
                <c:pt idx="7">
                  <c:v>50.4</c:v>
                </c:pt>
                <c:pt idx="8">
                  <c:v>47.6</c:v>
                </c:pt>
                <c:pt idx="9">
                  <c:v>44.8</c:v>
                </c:pt>
                <c:pt idx="10">
                  <c:v>42</c:v>
                </c:pt>
                <c:pt idx="11">
                  <c:v>39.200000000000003</c:v>
                </c:pt>
                <c:pt idx="12">
                  <c:v>36.4</c:v>
                </c:pt>
                <c:pt idx="13">
                  <c:v>33.6</c:v>
                </c:pt>
                <c:pt idx="14">
                  <c:v>30.8</c:v>
                </c:pt>
                <c:pt idx="15">
                  <c:v>28</c:v>
                </c:pt>
                <c:pt idx="16">
                  <c:v>25.2</c:v>
                </c:pt>
                <c:pt idx="17">
                  <c:v>22.4</c:v>
                </c:pt>
                <c:pt idx="18">
                  <c:v>19.600000000000001</c:v>
                </c:pt>
                <c:pt idx="19">
                  <c:v>16.8</c:v>
                </c:pt>
                <c:pt idx="20">
                  <c:v>14</c:v>
                </c:pt>
                <c:pt idx="21">
                  <c:v>11.2</c:v>
                </c:pt>
                <c:pt idx="22">
                  <c:v>8.3999999999999986</c:v>
                </c:pt>
                <c:pt idx="23">
                  <c:v>5.6000000000000014</c:v>
                </c:pt>
                <c:pt idx="24">
                  <c:v>2.8000000000000007</c:v>
                </c:pt>
                <c:pt idx="25">
                  <c:v>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10-7C9C-4D30-A828-707CCAADCC3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573012672"/>
        <c:axId val="573013152"/>
      </c:lineChart>
      <c:catAx>
        <c:axId val="573012672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ysClr val="windowText" lastClr="000000"/>
                    </a:solidFill>
                    <a:latin typeface="Aptos" panose="020B0004020202020204" pitchFamily="34" charset="0"/>
                    <a:ea typeface="+mn-ea"/>
                    <a:cs typeface="+mn-cs"/>
                  </a:defRPr>
                </a:pPr>
                <a:r>
                  <a:rPr lang="de-DE"/>
                  <a:t>Year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ysClr val="windowText" lastClr="000000"/>
                  </a:solidFill>
                  <a:latin typeface="Aptos" panose="020B0004020202020204" pitchFamily="34" charset="0"/>
                  <a:ea typeface="+mn-ea"/>
                  <a:cs typeface="+mn-cs"/>
                </a:defRPr>
              </a:pPr>
              <a:endParaRPr lang="zh-CN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rgbClr val="000000"/>
            </a:solidFill>
            <a:round/>
          </a:ln>
          <a:effectLst/>
        </c:spPr>
        <c:txPr>
          <a:bodyPr rot="-5400000" spcFirstLastPara="1" vertOverflow="ellipsis" wrap="square" anchor="ctr" anchorCtr="1"/>
          <a:lstStyle/>
          <a:p>
            <a:pPr>
              <a:defRPr sz="1000" b="0" i="0" u="none" strike="noStrike" kern="1200" baseline="0">
                <a:solidFill>
                  <a:sysClr val="windowText" lastClr="000000"/>
                </a:solidFill>
                <a:latin typeface="Aptos" panose="020B0004020202020204" pitchFamily="34" charset="0"/>
                <a:ea typeface="+mn-ea"/>
                <a:cs typeface="+mn-cs"/>
              </a:defRPr>
            </a:pPr>
            <a:endParaRPr lang="zh-CN"/>
          </a:p>
        </c:txPr>
        <c:crossAx val="573013152"/>
        <c:crosses val="autoZero"/>
        <c:auto val="1"/>
        <c:lblAlgn val="ctr"/>
        <c:lblOffset val="100"/>
        <c:tickLblSkip val="5"/>
        <c:tickMarkSkip val="5"/>
        <c:noMultiLvlLbl val="0"/>
      </c:catAx>
      <c:valAx>
        <c:axId val="573013152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minorGridlines>
          <c:spPr>
            <a:ln w="9525" cap="flat" cmpd="sng" algn="ctr">
              <a:solidFill>
                <a:schemeClr val="tx1">
                  <a:lumMod val="5000"/>
                  <a:lumOff val="95000"/>
                </a:schemeClr>
              </a:solidFill>
              <a:round/>
            </a:ln>
            <a:effectLst/>
          </c:spPr>
        </c:min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ysClr val="windowText" lastClr="000000"/>
                    </a:solidFill>
                    <a:latin typeface="Aptos" panose="020B0004020202020204" pitchFamily="34" charset="0"/>
                    <a:ea typeface="+mn-ea"/>
                    <a:cs typeface="+mn-cs"/>
                  </a:defRPr>
                </a:pPr>
                <a:r>
                  <a:rPr lang="de-DE"/>
                  <a:t>Emission Intensity [gCO2eq/kWh]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ysClr val="windowText" lastClr="000000"/>
                  </a:solidFill>
                  <a:latin typeface="Aptos" panose="020B0004020202020204" pitchFamily="34" charset="0"/>
                  <a:ea typeface="+mn-ea"/>
                  <a:cs typeface="+mn-cs"/>
                </a:defRPr>
              </a:pPr>
              <a:endParaRPr lang="zh-CN"/>
            </a:p>
          </c:txPr>
        </c:title>
        <c:numFmt formatCode="General" sourceLinked="0"/>
        <c:majorTickMark val="out"/>
        <c:minorTickMark val="none"/>
        <c:tickLblPos val="nextTo"/>
        <c:spPr>
          <a:noFill/>
          <a:ln>
            <a:solidFill>
              <a:srgbClr val="000000"/>
            </a:solidFill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baseline="0">
                <a:solidFill>
                  <a:sysClr val="windowText" lastClr="000000"/>
                </a:solidFill>
                <a:latin typeface="Aptos" panose="020B0004020202020204" pitchFamily="34" charset="0"/>
                <a:ea typeface="+mn-ea"/>
                <a:cs typeface="+mn-cs"/>
              </a:defRPr>
            </a:pPr>
            <a:endParaRPr lang="zh-CN"/>
          </a:p>
        </c:txPr>
        <c:crossAx val="573012672"/>
        <c:crosses val="autoZero"/>
        <c:crossBetween val="between"/>
        <c:majorUnit val="50"/>
        <c:minorUnit val="25"/>
      </c:valAx>
      <c:spPr>
        <a:noFill/>
        <a:ln>
          <a:noFill/>
        </a:ln>
        <a:effectLst/>
      </c:spPr>
    </c:plotArea>
    <c:legend>
      <c:legendPos val="b"/>
      <c:legendEntry>
        <c:idx val="8"/>
        <c:delete val="1"/>
      </c:legendEntry>
      <c:layout>
        <c:manualLayout>
          <c:xMode val="edge"/>
          <c:yMode val="edge"/>
          <c:x val="0.42108507448575788"/>
          <c:y val="3.7349853327157637E-2"/>
          <c:w val="0.57646457143114405"/>
          <c:h val="0.9364485873089393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000" b="0" i="0" u="none" strike="noStrike" kern="1200" baseline="0">
              <a:solidFill>
                <a:sysClr val="windowText" lastClr="000000"/>
              </a:solidFill>
              <a:latin typeface="Aptos" panose="020B0004020202020204" pitchFamily="34" charset="0"/>
              <a:ea typeface="+mn-ea"/>
              <a:cs typeface="+mn-cs"/>
            </a:defRPr>
          </a:pPr>
          <a:endParaRPr lang="zh-CN"/>
        </a:p>
      </c:txPr>
    </c:legend>
    <c:plotVisOnly val="1"/>
    <c:dispBlanksAs val="zero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solidFill>
      <a:schemeClr val="bg1"/>
    </a:solidFill>
    <a:ln w="3175" cap="flat" cmpd="sng" algn="ctr">
      <a:noFill/>
      <a:round/>
    </a:ln>
    <a:effectLst/>
  </c:spPr>
  <c:txPr>
    <a:bodyPr/>
    <a:lstStyle/>
    <a:p>
      <a:pPr>
        <a:defRPr sz="1000">
          <a:solidFill>
            <a:sysClr val="windowText" lastClr="000000"/>
          </a:solidFill>
          <a:latin typeface="Aptos" panose="020B0004020202020204" pitchFamily="34" charset="0"/>
        </a:defRPr>
      </a:pPr>
      <a:endParaRPr lang="zh-CN"/>
    </a:p>
  </c:txPr>
  <c:externalData r:id="rId4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de-DE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1"/>
    <c:plotArea>
      <c:layout>
        <c:manualLayout>
          <c:layoutTarget val="inner"/>
          <c:xMode val="edge"/>
          <c:yMode val="edge"/>
          <c:x val="0.1669955098587883"/>
          <c:y val="0.10983461842356211"/>
          <c:w val="0.33408899174719853"/>
          <c:h val="0.80974770454731204"/>
        </c:manualLayout>
      </c:layout>
      <c:barChart>
        <c:barDir val="col"/>
        <c:grouping val="stacked"/>
        <c:varyColors val="0"/>
        <c:ser>
          <c:idx val="1"/>
          <c:order val="0"/>
          <c:tx>
            <c:strRef>
              <c:f>📊Erg!$D$162</c:f>
              <c:strCache>
                <c:ptCount val="1"/>
                <c:pt idx="0">
                  <c:v>Errichtung Gebäude</c:v>
                </c:pt>
              </c:strCache>
            </c:strRef>
          </c:tx>
          <c:spPr>
            <a:pattFill prst="horzBrick">
              <a:fgClr>
                <a:srgbClr val="3BACBE">
                  <a:lumMod val="20000"/>
                  <a:lumOff val="80000"/>
                </a:srgbClr>
              </a:fgClr>
              <a:bgClr>
                <a:srgbClr val="3BACBE"/>
              </a:bgClr>
            </a:pattFill>
            <a:ln>
              <a:noFill/>
            </a:ln>
            <a:effectLst/>
          </c:spPr>
          <c:invertIfNegative val="0"/>
          <c:dLbls>
            <c:dLbl>
              <c:idx val="0"/>
              <c:layout>
                <c:manualLayout>
                  <c:x val="0.10995370370370371"/>
                  <c:y val="4.7483380816714153E-2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0-62DF-48C8-87FC-9D5575E333A3}"/>
                </c:ext>
              </c:extLst>
            </c:dLbl>
            <c:numFmt formatCode="0.00;\−0.00;;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2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de-DE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📊Erg!$E$159:$G$159</c:f>
              <c:strCache>
                <c:ptCount val="3"/>
                <c:pt idx="0">
                  <c:v>Emissionen</c:v>
                </c:pt>
                <c:pt idx="1">
                  <c:v>Saldo</c:v>
                </c:pt>
                <c:pt idx="2">
                  <c:v>Budget</c:v>
                </c:pt>
              </c:strCache>
            </c:strRef>
          </c:cat>
          <c:val>
            <c:numRef>
              <c:f>📊Erg!$E$162:$G$162</c:f>
              <c:numCache>
                <c:formatCode>General</c:formatCode>
                <c:ptCount val="3"/>
                <c:pt idx="0" formatCode="0.0">
                  <c:v>30.512939090029679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62DF-48C8-87FC-9D5575E333A3}"/>
            </c:ext>
          </c:extLst>
        </c:ser>
        <c:ser>
          <c:idx val="2"/>
          <c:order val="1"/>
          <c:tx>
            <c:strRef>
              <c:f>📊Erg!$D$163</c:f>
              <c:strCache>
                <c:ptCount val="1"/>
                <c:pt idx="0">
                  <c:v>Errichtung TGA</c:v>
                </c:pt>
              </c:strCache>
            </c:strRef>
          </c:tx>
          <c:spPr>
            <a:pattFill prst="horzBrick">
              <a:fgClr>
                <a:srgbClr val="BCCF00">
                  <a:lumMod val="20000"/>
                  <a:lumOff val="80000"/>
                </a:srgbClr>
              </a:fgClr>
              <a:bgClr>
                <a:srgbClr val="BCCF00"/>
              </a:bgClr>
            </a:pattFill>
            <a:ln>
              <a:noFill/>
            </a:ln>
            <a:effectLst/>
          </c:spPr>
          <c:invertIfNegative val="0"/>
          <c:dLbls>
            <c:dLbl>
              <c:idx val="0"/>
              <c:layout>
                <c:manualLayout>
                  <c:x val="0.10995370370370371"/>
                  <c:y val="1.4245014245014245E-2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7.3697916666666669E-2"/>
                      <c:h val="9.7008547008547011E-2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2-62DF-48C8-87FC-9D5575E333A3}"/>
                </c:ext>
              </c:extLst>
            </c:dLbl>
            <c:numFmt formatCode="#,##0.00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2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de-DE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📊Erg!$E$159:$G$159</c:f>
              <c:strCache>
                <c:ptCount val="3"/>
                <c:pt idx="0">
                  <c:v>Emissionen</c:v>
                </c:pt>
                <c:pt idx="1">
                  <c:v>Saldo</c:v>
                </c:pt>
                <c:pt idx="2">
                  <c:v>Budget</c:v>
                </c:pt>
              </c:strCache>
            </c:strRef>
          </c:cat>
          <c:val>
            <c:numRef>
              <c:f>📊Erg!$E$163:$G$163</c:f>
              <c:numCache>
                <c:formatCode>General</c:formatCode>
                <c:ptCount val="3"/>
                <c:pt idx="0" formatCode="0.0">
                  <c:v>3.385241703799712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62DF-48C8-87FC-9D5575E333A3}"/>
            </c:ext>
          </c:extLst>
        </c:ser>
        <c:ser>
          <c:idx val="3"/>
          <c:order val="2"/>
          <c:tx>
            <c:strRef>
              <c:f>📊Erg!$D$164</c:f>
              <c:strCache>
                <c:ptCount val="1"/>
                <c:pt idx="0">
                  <c:v>Errichtung MIV</c:v>
                </c:pt>
              </c:strCache>
            </c:strRef>
          </c:tx>
          <c:spPr>
            <a:pattFill prst="dashHorz">
              <a:fgClr>
                <a:srgbClr val="F59C00">
                  <a:lumMod val="20000"/>
                  <a:lumOff val="80000"/>
                </a:srgbClr>
              </a:fgClr>
              <a:bgClr>
                <a:srgbClr val="F59C00"/>
              </a:bgClr>
            </a:pattFill>
            <a:ln>
              <a:noFill/>
            </a:ln>
            <a:effectLst/>
          </c:spPr>
          <c:invertIfNegative val="0"/>
          <c:dLbls>
            <c:dLbl>
              <c:idx val="0"/>
              <c:layout>
                <c:manualLayout>
                  <c:x val="0.10706018518518519"/>
                  <c:y val="-1.1870658261734376E-2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7.3697916666666669E-2"/>
                      <c:h val="8.2763532763532752E-2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4-62DF-48C8-87FC-9D5575E333A3}"/>
                </c:ext>
              </c:extLst>
            </c:dLbl>
            <c:numFmt formatCode="0.0;\−0.0;;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2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de-DE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📊Erg!$E$159:$G$159</c:f>
              <c:strCache>
                <c:ptCount val="3"/>
                <c:pt idx="0">
                  <c:v>Emissionen</c:v>
                </c:pt>
                <c:pt idx="1">
                  <c:v>Saldo</c:v>
                </c:pt>
                <c:pt idx="2">
                  <c:v>Budget</c:v>
                </c:pt>
              </c:strCache>
            </c:strRef>
          </c:cat>
          <c:val>
            <c:numRef>
              <c:f>📊Erg!$E$164:$G$164</c:f>
              <c:numCache>
                <c:formatCode>General</c:formatCode>
                <c:ptCount val="3"/>
                <c:pt idx="0" formatCode="0.0">
                  <c:v>46.79999999999999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5-62DF-48C8-87FC-9D5575E333A3}"/>
            </c:ext>
          </c:extLst>
        </c:ser>
        <c:ser>
          <c:idx val="4"/>
          <c:order val="3"/>
          <c:tx>
            <c:strRef>
              <c:f>📊Erg!$D$165</c:f>
              <c:strCache>
                <c:ptCount val="1"/>
                <c:pt idx="0">
                  <c:v>Instandsetzung Gebäude</c:v>
                </c:pt>
              </c:strCache>
            </c:strRef>
          </c:tx>
          <c:spPr>
            <a:pattFill prst="shingle">
              <a:fgClr>
                <a:srgbClr val="3BACBE"/>
              </a:fgClr>
              <a:bgClr>
                <a:srgbClr val="FFFFFF"/>
              </a:bgClr>
            </a:pattFill>
            <a:ln>
              <a:noFill/>
            </a:ln>
            <a:effectLst/>
          </c:spPr>
          <c:invertIfNegative val="0"/>
          <c:dLbls>
            <c:numFmt formatCode="0.0;\−0.0;;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2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de-DE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📊Erg!$E$159:$G$159</c:f>
              <c:strCache>
                <c:ptCount val="3"/>
                <c:pt idx="0">
                  <c:v>Emissionen</c:v>
                </c:pt>
                <c:pt idx="1">
                  <c:v>Saldo</c:v>
                </c:pt>
                <c:pt idx="2">
                  <c:v>Budget</c:v>
                </c:pt>
              </c:strCache>
            </c:strRef>
          </c:cat>
          <c:val>
            <c:numRef>
              <c:f>📊Erg!$E$165:$G$165</c:f>
              <c:numCache>
                <c:formatCode>General</c:formatCode>
                <c:ptCount val="3"/>
                <c:pt idx="0" formatCode="0.0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62DF-48C8-87FC-9D5575E333A3}"/>
            </c:ext>
          </c:extLst>
        </c:ser>
        <c:ser>
          <c:idx val="6"/>
          <c:order val="4"/>
          <c:tx>
            <c:strRef>
              <c:f>📊Erg!$D$166</c:f>
              <c:strCache>
                <c:ptCount val="1"/>
                <c:pt idx="0">
                  <c:v>Instandsetzung TGA</c:v>
                </c:pt>
              </c:strCache>
            </c:strRef>
          </c:tx>
          <c:spPr>
            <a:pattFill prst="shingle">
              <a:fgClr>
                <a:srgbClr val="BCCF00"/>
              </a:fgClr>
              <a:bgClr>
                <a:srgbClr val="FFFFFF"/>
              </a:bgClr>
            </a:pattFill>
            <a:ln>
              <a:noFill/>
            </a:ln>
            <a:effectLst/>
          </c:spPr>
          <c:invertIfNegative val="0"/>
          <c:dLbls>
            <c:dLbl>
              <c:idx val="0"/>
              <c:layout>
                <c:manualLayout>
                  <c:x val="0.10127314814814815"/>
                  <c:y val="-6.1728395061728482E-2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62DF-48C8-87FC-9D5575E333A3}"/>
                </c:ext>
              </c:extLst>
            </c:dLbl>
            <c:numFmt formatCode="0.0;\−0.0;;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2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de-DE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📊Erg!$E$159:$G$159</c:f>
              <c:strCache>
                <c:ptCount val="3"/>
                <c:pt idx="0">
                  <c:v>Emissionen</c:v>
                </c:pt>
                <c:pt idx="1">
                  <c:v>Saldo</c:v>
                </c:pt>
                <c:pt idx="2">
                  <c:v>Budget</c:v>
                </c:pt>
              </c:strCache>
            </c:strRef>
          </c:cat>
          <c:val>
            <c:numRef>
              <c:f>📊Erg!$E$166:$G$166</c:f>
              <c:numCache>
                <c:formatCode>General</c:formatCode>
                <c:ptCount val="3"/>
                <c:pt idx="0" formatCode="0.0">
                  <c:v>0.10000000000000009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62DF-48C8-87FC-9D5575E333A3}"/>
            </c:ext>
          </c:extLst>
        </c:ser>
        <c:ser>
          <c:idx val="0"/>
          <c:order val="5"/>
          <c:tx>
            <c:strRef>
              <c:f>📊Erg!$D$160</c:f>
              <c:strCache>
                <c:ptCount val="1"/>
                <c:pt idx="0">
                  <c:v>Betrieb Gebäude</c:v>
                </c:pt>
              </c:strCache>
            </c:strRef>
          </c:tx>
          <c:spPr>
            <a:solidFill>
              <a:srgbClr val="950F53">
                <a:lumMod val="60000"/>
                <a:lumOff val="40000"/>
              </a:srgbClr>
            </a:solidFill>
            <a:ln>
              <a:noFill/>
            </a:ln>
            <a:effectLst/>
          </c:spPr>
          <c:invertIfNegative val="0"/>
          <c:dLbls>
            <c:numFmt formatCode="0.0;\−0.0;;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2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de-DE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📊Erg!$E$159:$G$159</c:f>
              <c:strCache>
                <c:ptCount val="3"/>
                <c:pt idx="0">
                  <c:v>Emissionen</c:v>
                </c:pt>
                <c:pt idx="1">
                  <c:v>Saldo</c:v>
                </c:pt>
                <c:pt idx="2">
                  <c:v>Budget</c:v>
                </c:pt>
              </c:strCache>
            </c:strRef>
          </c:cat>
          <c:val>
            <c:numRef>
              <c:f>📊Erg!$E$160:$G$160</c:f>
              <c:numCache>
                <c:formatCode>General</c:formatCode>
                <c:ptCount val="3"/>
                <c:pt idx="0" formatCode="0.0">
                  <c:v>88.446251120876255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9-62DF-48C8-87FC-9D5575E333A3}"/>
            </c:ext>
          </c:extLst>
        </c:ser>
        <c:ser>
          <c:idx val="13"/>
          <c:order val="6"/>
          <c:tx>
            <c:strRef>
              <c:f>📊Erg!$D$161</c:f>
              <c:strCache>
                <c:ptCount val="1"/>
                <c:pt idx="0">
                  <c:v>Betrieb MIV</c:v>
                </c:pt>
              </c:strCache>
            </c:strRef>
          </c:tx>
          <c:spPr>
            <a:pattFill prst="sphere">
              <a:fgClr>
                <a:srgbClr val="F59C00">
                  <a:lumMod val="50000"/>
                </a:srgbClr>
              </a:fgClr>
              <a:bgClr>
                <a:srgbClr val="F59C00">
                  <a:lumMod val="75000"/>
                </a:srgbClr>
              </a:bgClr>
            </a:pattFill>
            <a:ln>
              <a:noFill/>
            </a:ln>
            <a:effectLst/>
          </c:spPr>
          <c:invertIfNegative val="0"/>
          <c:dLbls>
            <c:numFmt formatCode="0.0;\−0.0;;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2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de-DE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📊Erg!$E$159:$G$159</c:f>
              <c:strCache>
                <c:ptCount val="3"/>
                <c:pt idx="0">
                  <c:v>Emissionen</c:v>
                </c:pt>
                <c:pt idx="1">
                  <c:v>Saldo</c:v>
                </c:pt>
                <c:pt idx="2">
                  <c:v>Budget</c:v>
                </c:pt>
              </c:strCache>
            </c:strRef>
          </c:cat>
          <c:val>
            <c:numRef>
              <c:f>📊Erg!$E$161:$G$161</c:f>
              <c:numCache>
                <c:formatCode>General</c:formatCode>
                <c:ptCount val="3"/>
                <c:pt idx="0" formatCode="0.0">
                  <c:v>59.399213658029922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A-62DF-48C8-87FC-9D5575E333A3}"/>
            </c:ext>
          </c:extLst>
        </c:ser>
        <c:ser>
          <c:idx val="5"/>
          <c:order val="7"/>
          <c:tx>
            <c:strRef>
              <c:f>📊Erg!$D$167</c:f>
              <c:strCache>
                <c:ptCount val="1"/>
                <c:pt idx="0">
                  <c:v>☁ THG-Budget</c:v>
                </c:pt>
              </c:strCache>
            </c:strRef>
          </c:tx>
          <c:spPr>
            <a:pattFill prst="wdUpDiag">
              <a:fgClr>
                <a:srgbClr val="3BACBE">
                  <a:lumMod val="60000"/>
                  <a:lumOff val="40000"/>
                </a:srgbClr>
              </a:fgClr>
              <a:bgClr>
                <a:srgbClr val="3BACBE">
                  <a:lumMod val="20000"/>
                  <a:lumOff val="80000"/>
                </a:srgbClr>
              </a:bgClr>
            </a:pattFill>
            <a:ln>
              <a:noFill/>
            </a:ln>
            <a:effectLst/>
          </c:spPr>
          <c:invertIfNegative val="0"/>
          <c:dLbls>
            <c:spPr>
              <a:solidFill>
                <a:srgbClr val="FFFFFF">
                  <a:alpha val="50196"/>
                </a:srgbClr>
              </a:solidFill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2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de-DE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📊Erg!$E$159:$G$159</c:f>
              <c:strCache>
                <c:ptCount val="3"/>
                <c:pt idx="0">
                  <c:v>Emissionen</c:v>
                </c:pt>
                <c:pt idx="1">
                  <c:v>Saldo</c:v>
                </c:pt>
                <c:pt idx="2">
                  <c:v>Budget</c:v>
                </c:pt>
              </c:strCache>
            </c:strRef>
          </c:cat>
          <c:val>
            <c:numRef>
              <c:f>📊Erg!$E$167:$G$167</c:f>
              <c:numCache>
                <c:formatCode>General</c:formatCode>
                <c:ptCount val="3"/>
                <c:pt idx="2" formatCode="0">
                  <c:v>320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B-62DF-48C8-87FC-9D5575E333A3}"/>
            </c:ext>
          </c:extLst>
        </c:ser>
        <c:ser>
          <c:idx val="7"/>
          <c:order val="8"/>
          <c:tx>
            <c:strRef>
              <c:f>📊Erg!$D$172</c:f>
              <c:strCache>
                <c:ptCount val="1"/>
                <c:pt idx="0">
                  <c:v>Sockel</c:v>
                </c:pt>
              </c:strCache>
            </c:strRef>
          </c:tx>
          <c:spPr>
            <a:noFill/>
            <a:ln>
              <a:noFill/>
            </a:ln>
            <a:effectLst/>
          </c:spPr>
          <c:invertIfNegative val="0"/>
          <c:dLbls>
            <c:delete val="1"/>
          </c:dLbls>
          <c:cat>
            <c:strRef>
              <c:f>📊Erg!$E$159:$G$159</c:f>
              <c:strCache>
                <c:ptCount val="3"/>
                <c:pt idx="0">
                  <c:v>Emissionen</c:v>
                </c:pt>
                <c:pt idx="1">
                  <c:v>Saldo</c:v>
                </c:pt>
                <c:pt idx="2">
                  <c:v>Budget</c:v>
                </c:pt>
              </c:strCache>
            </c:strRef>
          </c:cat>
          <c:val>
            <c:numRef>
              <c:f>📊Erg!$E$172:$G$172</c:f>
              <c:numCache>
                <c:formatCode>0.0</c:formatCode>
                <c:ptCount val="3"/>
                <c:pt idx="1">
                  <c:v>228.64364557273555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C-62DF-48C8-87FC-9D5575E333A3}"/>
            </c:ext>
          </c:extLst>
        </c:ser>
        <c:ser>
          <c:idx val="14"/>
          <c:order val="9"/>
          <c:tx>
            <c:strRef>
              <c:f>📊Erg!$D$170</c:f>
              <c:strCache>
                <c:ptCount val="1"/>
                <c:pt idx="0">
                  <c:v>Budget-Überschreitung</c:v>
                </c:pt>
              </c:strCache>
            </c:strRef>
          </c:tx>
          <c:spPr>
            <a:solidFill>
              <a:srgbClr val="E1320F"/>
            </a:solidFill>
            <a:ln>
              <a:noFill/>
            </a:ln>
            <a:effectLst/>
          </c:spPr>
          <c:invertIfNegative val="0"/>
          <c:dLbls>
            <c:numFmt formatCode="0.0;\-0.0;;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2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de-DE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📊Erg!$E$159:$G$159</c:f>
              <c:strCache>
                <c:ptCount val="3"/>
                <c:pt idx="0">
                  <c:v>Emissionen</c:v>
                </c:pt>
                <c:pt idx="1">
                  <c:v>Saldo</c:v>
                </c:pt>
                <c:pt idx="2">
                  <c:v>Budget</c:v>
                </c:pt>
              </c:strCache>
            </c:strRef>
          </c:cat>
          <c:val>
            <c:numRef>
              <c:f>📊Erg!$E$170:$G$170</c:f>
              <c:numCache>
                <c:formatCode>0.0</c:formatCode>
                <c:ptCount val="3"/>
                <c:pt idx="1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D-62DF-48C8-87FC-9D5575E333A3}"/>
            </c:ext>
          </c:extLst>
        </c:ser>
        <c:ser>
          <c:idx val="8"/>
          <c:order val="10"/>
          <c:tx>
            <c:strRef>
              <c:f>📊Erg!$D$171</c:f>
              <c:strCache>
                <c:ptCount val="1"/>
                <c:pt idx="0">
                  <c:v>Budget-Unterschreitung</c:v>
                </c:pt>
              </c:strCache>
            </c:strRef>
          </c:tx>
          <c:spPr>
            <a:solidFill>
              <a:srgbClr val="00B050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2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de-DE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📊Erg!$E$159:$G$159</c:f>
              <c:strCache>
                <c:ptCount val="3"/>
                <c:pt idx="0">
                  <c:v>Emissionen</c:v>
                </c:pt>
                <c:pt idx="1">
                  <c:v>Saldo</c:v>
                </c:pt>
                <c:pt idx="2">
                  <c:v>Budget</c:v>
                </c:pt>
              </c:strCache>
            </c:strRef>
          </c:cat>
          <c:val>
            <c:numRef>
              <c:f>📊Erg!$E$171:$G$171</c:f>
              <c:numCache>
                <c:formatCode>0.0</c:formatCode>
                <c:ptCount val="3"/>
                <c:pt idx="1">
                  <c:v>91.356354427264449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E-62DF-48C8-87FC-9D5575E333A3}"/>
            </c:ext>
          </c:extLst>
        </c:ser>
        <c:dLbls>
          <c:dLblPos val="ctr"/>
          <c:showLegendKey val="0"/>
          <c:showVal val="1"/>
          <c:showCatName val="0"/>
          <c:showSerName val="0"/>
          <c:showPercent val="0"/>
          <c:showBubbleSize val="0"/>
        </c:dLbls>
        <c:gapWidth val="50"/>
        <c:overlap val="100"/>
        <c:axId val="1109789984"/>
        <c:axId val="1167844256"/>
      </c:barChart>
      <c:catAx>
        <c:axId val="1109789984"/>
        <c:scaling>
          <c:orientation val="minMax"/>
        </c:scaling>
        <c:delete val="0"/>
        <c:axPos val="t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0" spcFirstLastPara="1" vertOverflow="ellipsis" wrap="square" anchor="ctr" anchorCtr="1"/>
          <a:lstStyle/>
          <a:p>
            <a:pPr>
              <a:defRPr sz="14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de-DE"/>
          </a:p>
        </c:txPr>
        <c:crossAx val="1167844256"/>
        <c:crosses val="max"/>
        <c:auto val="1"/>
        <c:lblAlgn val="ctr"/>
        <c:lblOffset val="100"/>
        <c:noMultiLvlLbl val="0"/>
      </c:catAx>
      <c:valAx>
        <c:axId val="1167844256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 algn="ctr" rtl="0">
                  <a:defRPr sz="12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de-AT"/>
                  <a:t>THG-Bilanz 2025-2075 (kgCO2equiv/m²BGF) 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 algn="ctr" rtl="0">
                <a:defRPr sz="12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de-AT"/>
            </a:p>
          </c:txPr>
        </c:title>
        <c:numFmt formatCode="0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2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de-DE"/>
          </a:p>
        </c:txPr>
        <c:crossAx val="1109789984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legend>
      <c:legendPos val="r"/>
      <c:legendEntry>
        <c:idx val="2"/>
        <c:delete val="1"/>
      </c:legendEntry>
      <c:legendEntry>
        <c:idx val="6"/>
        <c:delete val="1"/>
      </c:legendEntry>
      <c:layout>
        <c:manualLayout>
          <c:xMode val="edge"/>
          <c:yMode val="edge"/>
          <c:x val="0.51860190653251692"/>
          <c:y val="5.5536487426251203E-2"/>
          <c:w val="0.42620311923819437"/>
          <c:h val="0.8714261653122237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2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de-DE"/>
        </a:p>
      </c:txPr>
    </c:legend>
    <c:plotVisOnly val="1"/>
    <c:dispBlanksAs val="gap"/>
    <c:showDLblsOverMax val="0"/>
  </c:chart>
  <c:spPr>
    <a:solidFill>
      <a:srgbClr val="E6EFF3"/>
    </a:solidFill>
    <a:ln w="9525" cap="flat" cmpd="sng" algn="ctr">
      <a:solidFill>
        <a:schemeClr val="tx1">
          <a:lumMod val="15000"/>
          <a:lumOff val="85000"/>
        </a:schemeClr>
      </a:solidFill>
      <a:round/>
    </a:ln>
    <a:effectLst/>
  </c:spPr>
  <c:txPr>
    <a:bodyPr/>
    <a:lstStyle/>
    <a:p>
      <a:pPr>
        <a:defRPr sz="1200"/>
      </a:pPr>
      <a:endParaRPr lang="de-DE"/>
    </a:p>
  </c:txPr>
  <c:externalData r:id="rId4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de-DE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title>
      <c:tx>
        <c:rich>
          <a:bodyPr rot="0" spcFirstLastPara="1" vertOverflow="ellipsis" vert="horz" wrap="square" anchor="ctr" anchorCtr="1"/>
          <a:lstStyle/>
          <a:p>
            <a:pPr>
              <a:defRPr sz="132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de-DE"/>
              <a:t>Primärenergie-Bilanz</a:t>
            </a:r>
          </a:p>
        </c:rich>
      </c:tx>
      <c:layout>
        <c:manualLayout>
          <c:xMode val="edge"/>
          <c:yMode val="edge"/>
          <c:x val="0.13491388174865807"/>
          <c:y val="9.9321304419798043E-3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32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de-DE"/>
        </a:p>
      </c:txPr>
    </c:title>
    <c:autoTitleDeleted val="0"/>
    <c:plotArea>
      <c:layout>
        <c:manualLayout>
          <c:layoutTarget val="inner"/>
          <c:xMode val="edge"/>
          <c:yMode val="edge"/>
          <c:x val="0.13224809425378242"/>
          <c:y val="8.4714816209966806E-2"/>
          <c:w val="0.33719433044779662"/>
          <c:h val="0.84088954301273089"/>
        </c:manualLayout>
      </c:layout>
      <c:barChart>
        <c:barDir val="col"/>
        <c:grouping val="stacked"/>
        <c:varyColors val="0"/>
        <c:ser>
          <c:idx val="0"/>
          <c:order val="0"/>
          <c:tx>
            <c:strRef>
              <c:f>📊Erg!$D$135</c:f>
              <c:strCache>
                <c:ptCount val="1"/>
                <c:pt idx="0">
                  <c:v>Nutzerstrom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dLbls>
            <c:numFmt formatCode="#,##0.0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00" b="1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endParaRPr lang="de-DE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📊Erg!$E$131:$F$131</c:f>
              <c:strCache>
                <c:ptCount val="2"/>
                <c:pt idx="0">
                  <c:v>Bedarf</c:v>
                </c:pt>
                <c:pt idx="1">
                  <c:v>Deckung</c:v>
                </c:pt>
              </c:strCache>
            </c:strRef>
          </c:cat>
          <c:val>
            <c:numRef>
              <c:f>📊Erg!$E$135:$F$135</c:f>
              <c:numCache>
                <c:formatCode>General</c:formatCode>
                <c:ptCount val="2"/>
                <c:pt idx="0" formatCode="0.0">
                  <c:v>46.659595258613791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0C04-42F0-8A6A-C33AFA343A90}"/>
            </c:ext>
          </c:extLst>
        </c:ser>
        <c:ser>
          <c:idx val="7"/>
          <c:order val="1"/>
          <c:tx>
            <c:strRef>
              <c:f>📊Erg!$D$136</c:f>
              <c:strCache>
                <c:ptCount val="1"/>
                <c:pt idx="0">
                  <c:v>HKLS Strom</c:v>
                </c:pt>
              </c:strCache>
            </c:strRef>
          </c:tx>
          <c:spPr>
            <a:solidFill>
              <a:srgbClr val="CA0237">
                <a:lumMod val="60000"/>
                <a:lumOff val="40000"/>
              </a:srgbClr>
            </a:solidFill>
            <a:ln>
              <a:noFill/>
            </a:ln>
            <a:effectLst/>
          </c:spPr>
          <c:invertIfNegative val="0"/>
          <c:dLbls>
            <c:numFmt formatCode="#,##0.0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00" b="1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endParaRPr lang="de-DE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📊Erg!$E$131:$F$131</c:f>
              <c:strCache>
                <c:ptCount val="2"/>
                <c:pt idx="0">
                  <c:v>Bedarf</c:v>
                </c:pt>
                <c:pt idx="1">
                  <c:v>Deckung</c:v>
                </c:pt>
              </c:strCache>
            </c:strRef>
          </c:cat>
          <c:val>
            <c:numRef>
              <c:f>📊Erg!$E$136:$F$136</c:f>
              <c:numCache>
                <c:formatCode>General</c:formatCode>
                <c:ptCount val="2"/>
                <c:pt idx="0" formatCode="0.0">
                  <c:v>32.498563657273046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0C04-42F0-8A6A-C33AFA343A90}"/>
            </c:ext>
          </c:extLst>
        </c:ser>
        <c:ser>
          <c:idx val="8"/>
          <c:order val="2"/>
          <c:tx>
            <c:strRef>
              <c:f>📊Erg!$D$137</c:f>
              <c:strCache>
                <c:ptCount val="1"/>
                <c:pt idx="0">
                  <c:v>HKLS Fernwärme</c:v>
                </c:pt>
              </c:strCache>
            </c:strRef>
          </c:tx>
          <c:spPr>
            <a:solidFill>
              <a:srgbClr val="E1320F">
                <a:lumMod val="75000"/>
              </a:srgbClr>
            </a:solidFill>
            <a:ln>
              <a:noFill/>
            </a:ln>
            <a:effectLst/>
          </c:spPr>
          <c:invertIfNegative val="0"/>
          <c:dLbls>
            <c:numFmt formatCode="0.0;\−0.0;;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00" b="1" i="0" u="none" strike="noStrike" kern="1200" baseline="0">
                    <a:solidFill>
                      <a:schemeClr val="bg2"/>
                    </a:solidFill>
                    <a:latin typeface="+mn-lt"/>
                    <a:ea typeface="+mn-ea"/>
                    <a:cs typeface="+mn-cs"/>
                  </a:defRPr>
                </a:pPr>
                <a:endParaRPr lang="de-DE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📊Erg!$E$131:$F$131</c:f>
              <c:strCache>
                <c:ptCount val="2"/>
                <c:pt idx="0">
                  <c:v>Bedarf</c:v>
                </c:pt>
                <c:pt idx="1">
                  <c:v>Deckung</c:v>
                </c:pt>
              </c:strCache>
            </c:strRef>
          </c:cat>
          <c:val>
            <c:numRef>
              <c:f>📊Erg!$E$137:$F$137</c:f>
              <c:numCache>
                <c:formatCode>General</c:formatCode>
                <c:ptCount val="2"/>
                <c:pt idx="0" formatCode="0.0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0C04-42F0-8A6A-C33AFA343A90}"/>
            </c:ext>
          </c:extLst>
        </c:ser>
        <c:ser>
          <c:idx val="9"/>
          <c:order val="3"/>
          <c:tx>
            <c:strRef>
              <c:f>📊Erg!$D$138</c:f>
              <c:strCache>
                <c:ptCount val="1"/>
                <c:pt idx="0">
                  <c:v>HKLS Erdgas</c:v>
                </c:pt>
              </c:strCache>
            </c:strRef>
          </c:tx>
          <c:spPr>
            <a:solidFill>
              <a:srgbClr val="3BACBE">
                <a:lumMod val="75000"/>
              </a:srgbClr>
            </a:solidFill>
            <a:ln>
              <a:noFill/>
            </a:ln>
            <a:effectLst/>
          </c:spPr>
          <c:invertIfNegative val="0"/>
          <c:dLbls>
            <c:numFmt formatCode="0.0;\−0.0;;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de-DE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📊Erg!$E$131:$F$131</c:f>
              <c:strCache>
                <c:ptCount val="2"/>
                <c:pt idx="0">
                  <c:v>Bedarf</c:v>
                </c:pt>
                <c:pt idx="1">
                  <c:v>Deckung</c:v>
                </c:pt>
              </c:strCache>
            </c:strRef>
          </c:cat>
          <c:val>
            <c:numRef>
              <c:f>📊Erg!$E$138:$F$138</c:f>
              <c:numCache>
                <c:formatCode>General</c:formatCode>
                <c:ptCount val="2"/>
                <c:pt idx="0" formatCode="0.0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0C04-42F0-8A6A-C33AFA343A90}"/>
            </c:ext>
          </c:extLst>
        </c:ser>
        <c:ser>
          <c:idx val="10"/>
          <c:order val="4"/>
          <c:tx>
            <c:strRef>
              <c:f>📊Erg!$D$139</c:f>
              <c:strCache>
                <c:ptCount val="1"/>
                <c:pt idx="0">
                  <c:v>HKLS Biomasse</c:v>
                </c:pt>
              </c:strCache>
            </c:strRef>
          </c:tx>
          <c:spPr>
            <a:solidFill>
              <a:srgbClr val="5FB564">
                <a:lumMod val="50000"/>
              </a:srgbClr>
            </a:solidFill>
            <a:ln>
              <a:noFill/>
            </a:ln>
            <a:effectLst/>
          </c:spPr>
          <c:invertIfNegative val="0"/>
          <c:dLbls>
            <c:numFmt formatCode="0.0;\−0.0;;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00" b="0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endParaRPr lang="de-DE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📊Erg!$E$131:$F$131</c:f>
              <c:strCache>
                <c:ptCount val="2"/>
                <c:pt idx="0">
                  <c:v>Bedarf</c:v>
                </c:pt>
                <c:pt idx="1">
                  <c:v>Deckung</c:v>
                </c:pt>
              </c:strCache>
            </c:strRef>
          </c:cat>
          <c:val>
            <c:numRef>
              <c:f>📊Erg!$E$139:$F$139</c:f>
              <c:numCache>
                <c:formatCode>General</c:formatCode>
                <c:ptCount val="2"/>
                <c:pt idx="0" formatCode="0.0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0C04-42F0-8A6A-C33AFA343A90}"/>
            </c:ext>
          </c:extLst>
        </c:ser>
        <c:ser>
          <c:idx val="11"/>
          <c:order val="5"/>
          <c:tx>
            <c:strRef>
              <c:f>📊Erg!$D$140</c:f>
              <c:strCache>
                <c:ptCount val="1"/>
                <c:pt idx="0">
                  <c:v>HKLS Sonstige</c:v>
                </c:pt>
              </c:strCache>
            </c:strRef>
          </c:tx>
          <c:spPr>
            <a:solidFill>
              <a:srgbClr val="E6EFF3">
                <a:lumMod val="25000"/>
              </a:srgbClr>
            </a:solidFill>
            <a:ln>
              <a:noFill/>
            </a:ln>
            <a:effectLst/>
          </c:spPr>
          <c:invertIfNegative val="0"/>
          <c:dLbls>
            <c:numFmt formatCode="0.0;\−0.0;;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de-DE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📊Erg!$E$131:$F$131</c:f>
              <c:strCache>
                <c:ptCount val="2"/>
                <c:pt idx="0">
                  <c:v>Bedarf</c:v>
                </c:pt>
                <c:pt idx="1">
                  <c:v>Deckung</c:v>
                </c:pt>
              </c:strCache>
            </c:strRef>
          </c:cat>
          <c:val>
            <c:numRef>
              <c:f>📊Erg!$E$140:$F$140</c:f>
              <c:numCache>
                <c:formatCode>General</c:formatCode>
                <c:ptCount val="2"/>
                <c:pt idx="0" formatCode="0.0">
                  <c:v>0.12162675982973675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5-0C04-42F0-8A6A-C33AFA343A90}"/>
            </c:ext>
          </c:extLst>
        </c:ser>
        <c:ser>
          <c:idx val="15"/>
          <c:order val="6"/>
          <c:tx>
            <c:strRef>
              <c:f>📊Erg!$D$134</c:f>
              <c:strCache>
                <c:ptCount val="1"/>
                <c:pt idx="0">
                  <c:v>Speicherverluste</c:v>
                </c:pt>
              </c:strCache>
            </c:strRef>
          </c:tx>
          <c:spPr>
            <a:solidFill>
              <a:srgbClr val="BCCF00"/>
            </a:solidFill>
            <a:ln>
              <a:noFill/>
            </a:ln>
            <a:effectLst/>
          </c:spPr>
          <c:invertIfNegative val="0"/>
          <c:dLbls>
            <c:numFmt formatCode="0.0;\−0.0;;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de-DE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val>
            <c:numRef>
              <c:f>📊Erg!$E$134:$F$134</c:f>
              <c:numCache>
                <c:formatCode>General</c:formatCode>
                <c:ptCount val="2"/>
                <c:pt idx="0" formatCode="0.0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0C04-42F0-8A6A-C33AFA343A90}"/>
            </c:ext>
          </c:extLst>
        </c:ser>
        <c:ser>
          <c:idx val="13"/>
          <c:order val="7"/>
          <c:tx>
            <c:strRef>
              <c:f>📊Erg!$D$142</c:f>
              <c:strCache>
                <c:ptCount val="1"/>
                <c:pt idx="0">
                  <c:v>MIV Elektrisch</c:v>
                </c:pt>
              </c:strCache>
            </c:strRef>
          </c:tx>
          <c:spPr>
            <a:pattFill prst="sphere">
              <a:fgClr>
                <a:srgbClr val="BCCF00"/>
              </a:fgClr>
              <a:bgClr>
                <a:srgbClr val="BCCF00">
                  <a:lumMod val="60000"/>
                  <a:lumOff val="40000"/>
                </a:srgbClr>
              </a:bgClr>
            </a:pattFill>
            <a:ln>
              <a:noFill/>
            </a:ln>
            <a:effectLst/>
          </c:spPr>
          <c:invertIfNegative val="0"/>
          <c:dLbls>
            <c:numFmt formatCode="0.0;\−0.0;;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00" b="1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de-DE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📊Erg!$E$131:$F$131</c:f>
              <c:strCache>
                <c:ptCount val="2"/>
                <c:pt idx="0">
                  <c:v>Bedarf</c:v>
                </c:pt>
                <c:pt idx="1">
                  <c:v>Deckung</c:v>
                </c:pt>
              </c:strCache>
            </c:strRef>
          </c:cat>
          <c:val>
            <c:numRef>
              <c:f>📊Erg!$E$142:$F$142</c:f>
              <c:numCache>
                <c:formatCode>General</c:formatCode>
                <c:ptCount val="2"/>
                <c:pt idx="0" formatCode="0.0">
                  <c:v>16.393032520355053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7-0C04-42F0-8A6A-C33AFA343A90}"/>
            </c:ext>
          </c:extLst>
        </c:ser>
        <c:ser>
          <c:idx val="12"/>
          <c:order val="8"/>
          <c:tx>
            <c:strRef>
              <c:f>📊Erg!$D$141</c:f>
              <c:strCache>
                <c:ptCount val="1"/>
                <c:pt idx="0">
                  <c:v>MIV Fossil</c:v>
                </c:pt>
              </c:strCache>
            </c:strRef>
          </c:tx>
          <c:spPr>
            <a:pattFill prst="sphere">
              <a:fgClr>
                <a:srgbClr val="F59C00">
                  <a:lumMod val="50000"/>
                </a:srgbClr>
              </a:fgClr>
              <a:bgClr>
                <a:srgbClr val="F59C00">
                  <a:lumMod val="75000"/>
                </a:srgbClr>
              </a:bgClr>
            </a:pattFill>
            <a:ln>
              <a:noFill/>
            </a:ln>
            <a:effectLst/>
          </c:spPr>
          <c:invertIfNegative val="0"/>
          <c:dLbls>
            <c:numFmt formatCode="0.0;\−0.0;;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00" b="1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endParaRPr lang="de-DE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📊Erg!$E$131:$F$131</c:f>
              <c:strCache>
                <c:ptCount val="2"/>
                <c:pt idx="0">
                  <c:v>Bedarf</c:v>
                </c:pt>
                <c:pt idx="1">
                  <c:v>Deckung</c:v>
                </c:pt>
              </c:strCache>
            </c:strRef>
          </c:cat>
          <c:val>
            <c:numRef>
              <c:f>📊Erg!$E$141:$F$141</c:f>
              <c:numCache>
                <c:formatCode>General</c:formatCode>
                <c:ptCount val="2"/>
                <c:pt idx="0" formatCode="0.0">
                  <c:v>21.902621745226991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0C04-42F0-8A6A-C33AFA343A90}"/>
            </c:ext>
          </c:extLst>
        </c:ser>
        <c:ser>
          <c:idx val="1"/>
          <c:order val="9"/>
          <c:tx>
            <c:v>Bedarf</c:v>
          </c:tx>
          <c:spPr>
            <a:solidFill>
              <a:srgbClr val="000000">
                <a:alpha val="0"/>
              </a:srgbClr>
            </a:solidFill>
            <a:ln>
              <a:noFill/>
            </a:ln>
            <a:effectLst/>
          </c:spPr>
          <c:invertIfNegative val="0"/>
          <c:dLbls>
            <c:numFmt formatCode="0.0;\−0.0;;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de-DE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📊Erg!$E$131:$F$131</c:f>
              <c:strCache>
                <c:ptCount val="2"/>
                <c:pt idx="0">
                  <c:v>Bedarf</c:v>
                </c:pt>
                <c:pt idx="1">
                  <c:v>Deckung</c:v>
                </c:pt>
              </c:strCache>
            </c:strRef>
          </c:cat>
          <c:val>
            <c:numLit>
              <c:formatCode>General</c:formatCode>
              <c:ptCount val="1"/>
              <c:pt idx="0">
                <c:v>0</c:v>
              </c:pt>
            </c:numLit>
          </c:val>
          <c:extLst>
            <c:ext xmlns:c16="http://schemas.microsoft.com/office/drawing/2014/chart" uri="{C3380CC4-5D6E-409C-BE32-E72D297353CC}">
              <c16:uniqueId val="{00000009-0C04-42F0-8A6A-C33AFA343A90}"/>
            </c:ext>
          </c:extLst>
        </c:ser>
        <c:ser>
          <c:idx val="2"/>
          <c:order val="10"/>
          <c:tx>
            <c:v>Lokale Erneuerbare (Substition)</c:v>
          </c:tx>
          <c:spPr>
            <a:solidFill>
              <a:srgbClr val="5FB564"/>
            </a:solidFill>
            <a:ln>
              <a:noFill/>
            </a:ln>
            <a:effectLst/>
          </c:spPr>
          <c:invertIfNegative val="0"/>
          <c:dLbls>
            <c:numFmt formatCode="#,##0.0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00" b="1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de-DE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📊Erg!$E$131:$F$131</c:f>
              <c:strCache>
                <c:ptCount val="2"/>
                <c:pt idx="0">
                  <c:v>Bedarf</c:v>
                </c:pt>
                <c:pt idx="1">
                  <c:v>Deckung</c:v>
                </c:pt>
              </c:strCache>
            </c:strRef>
          </c:cat>
          <c:val>
            <c:numRef>
              <c:f>📊Erg!$E$143:$F$143</c:f>
              <c:numCache>
                <c:formatCode>0.0</c:formatCode>
                <c:ptCount val="2"/>
                <c:pt idx="1">
                  <c:v>28.384912755774103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A-0C04-42F0-8A6A-C33AFA343A90}"/>
            </c:ext>
          </c:extLst>
        </c:ser>
        <c:ser>
          <c:idx val="3"/>
          <c:order val="11"/>
          <c:tx>
            <c:v>Energieflexible Bezug</c:v>
          </c:tx>
          <c:spPr>
            <a:solidFill>
              <a:srgbClr val="BCCF00">
                <a:lumMod val="60000"/>
                <a:lumOff val="40000"/>
              </a:srgbClr>
            </a:solidFill>
            <a:ln>
              <a:noFill/>
            </a:ln>
            <a:effectLst/>
          </c:spPr>
          <c:invertIfNegative val="0"/>
          <c:dLbls>
            <c:numFmt formatCode="0.0;\−0.0;;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de-DE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📊Erg!$E$131:$F$131</c:f>
              <c:strCache>
                <c:ptCount val="2"/>
                <c:pt idx="0">
                  <c:v>Bedarf</c:v>
                </c:pt>
                <c:pt idx="1">
                  <c:v>Deckung</c:v>
                </c:pt>
              </c:strCache>
            </c:strRef>
          </c:cat>
          <c:val>
            <c:numRef>
              <c:f>📊Erg!$E$144:$F$144</c:f>
              <c:numCache>
                <c:formatCode>0.0</c:formatCode>
                <c:ptCount val="2"/>
                <c:pt idx="1">
                  <c:v>27.062309022495185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B-0C04-42F0-8A6A-C33AFA343A90}"/>
            </c:ext>
          </c:extLst>
        </c:ser>
        <c:ser>
          <c:idx val="6"/>
          <c:order val="12"/>
          <c:tx>
            <c:strRef>
              <c:f>📊Erg!$D$147</c:f>
              <c:strCache>
                <c:ptCount val="1"/>
                <c:pt idx="0">
                  <c:v>Kontext Sanierung</c:v>
                </c:pt>
              </c:strCache>
            </c:strRef>
          </c:tx>
          <c:spPr>
            <a:pattFill prst="wdUpDiag">
              <a:fgClr>
                <a:srgbClr val="3BACBE">
                  <a:lumMod val="40000"/>
                  <a:lumOff val="60000"/>
                </a:srgbClr>
              </a:fgClr>
              <a:bgClr>
                <a:srgbClr val="3BACBE">
                  <a:lumMod val="20000"/>
                  <a:lumOff val="80000"/>
                </a:srgbClr>
              </a:bgClr>
            </a:pattFill>
            <a:ln>
              <a:noFill/>
            </a:ln>
            <a:effectLst/>
          </c:spPr>
          <c:invertIfNegative val="0"/>
          <c:dLbls>
            <c:numFmt formatCode="0.0;\−0.0;;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de-DE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📊Erg!$E$131:$F$131</c:f>
              <c:strCache>
                <c:ptCount val="2"/>
                <c:pt idx="0">
                  <c:v>Bedarf</c:v>
                </c:pt>
                <c:pt idx="1">
                  <c:v>Deckung</c:v>
                </c:pt>
              </c:strCache>
            </c:strRef>
          </c:cat>
          <c:val>
            <c:numRef>
              <c:f>📊Erg!$E$147:$F$147</c:f>
              <c:numCache>
                <c:formatCode>0.0</c:formatCode>
                <c:ptCount val="2"/>
                <c:pt idx="1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C-0C04-42F0-8A6A-C33AFA343A90}"/>
            </c:ext>
          </c:extLst>
        </c:ser>
        <c:ser>
          <c:idx val="4"/>
          <c:order val="13"/>
          <c:tx>
            <c:strRef>
              <c:f>📊Erg!$D$145</c:f>
              <c:strCache>
                <c:ptCount val="1"/>
                <c:pt idx="0">
                  <c:v>Kontext bauliche Dichte</c:v>
                </c:pt>
              </c:strCache>
            </c:strRef>
          </c:tx>
          <c:spPr>
            <a:pattFill prst="wdUpDiag">
              <a:fgClr>
                <a:srgbClr val="950F53">
                  <a:lumMod val="40000"/>
                  <a:lumOff val="60000"/>
                </a:srgbClr>
              </a:fgClr>
              <a:bgClr>
                <a:srgbClr val="950F53">
                  <a:lumMod val="20000"/>
                  <a:lumOff val="80000"/>
                </a:srgbClr>
              </a:bgClr>
            </a:pattFill>
            <a:ln>
              <a:noFill/>
            </a:ln>
            <a:effectLst/>
          </c:spPr>
          <c:invertIfNegative val="0"/>
          <c:dLbls>
            <c:numFmt formatCode="0.0;\−0.0;;" sourceLinked="0"/>
            <c:spPr>
              <a:solidFill>
                <a:srgbClr val="FFFFFF">
                  <a:alpha val="50196"/>
                </a:srgbClr>
              </a:solidFill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00" b="1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de-DE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📊Erg!$E$131:$F$131</c:f>
              <c:strCache>
                <c:ptCount val="2"/>
                <c:pt idx="0">
                  <c:v>Bedarf</c:v>
                </c:pt>
                <c:pt idx="1">
                  <c:v>Deckung</c:v>
                </c:pt>
              </c:strCache>
            </c:strRef>
          </c:cat>
          <c:val>
            <c:numRef>
              <c:f>📊Erg!$E$145:$F$145</c:f>
              <c:numCache>
                <c:formatCode>0.0</c:formatCode>
                <c:ptCount val="2"/>
                <c:pt idx="0">
                  <c:v>0</c:v>
                </c:pt>
                <c:pt idx="1">
                  <c:v>40.681552690675289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D-0C04-42F0-8A6A-C33AFA343A90}"/>
            </c:ext>
          </c:extLst>
        </c:ser>
        <c:ser>
          <c:idx val="5"/>
          <c:order val="14"/>
          <c:tx>
            <c:strRef>
              <c:f>📊Erg!$D$146</c:f>
              <c:strCache>
                <c:ptCount val="1"/>
                <c:pt idx="0">
                  <c:v>Kontext Mobilität</c:v>
                </c:pt>
              </c:strCache>
            </c:strRef>
          </c:tx>
          <c:spPr>
            <a:pattFill prst="wdUpDiag">
              <a:fgClr>
                <a:srgbClr val="F59C00">
                  <a:lumMod val="40000"/>
                  <a:lumOff val="60000"/>
                </a:srgbClr>
              </a:fgClr>
              <a:bgClr>
                <a:srgbClr val="F59C00">
                  <a:lumMod val="20000"/>
                  <a:lumOff val="80000"/>
                </a:srgbClr>
              </a:bgClr>
            </a:pattFill>
            <a:ln>
              <a:noFill/>
            </a:ln>
            <a:effectLst/>
          </c:spPr>
          <c:invertIfNegative val="0"/>
          <c:dLbls>
            <c:numFmt formatCode="0.0;\−0.0;;" sourceLinked="0"/>
            <c:spPr>
              <a:solidFill>
                <a:srgbClr val="FFFFFF">
                  <a:alpha val="50196"/>
                </a:srgbClr>
              </a:solidFill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00" b="1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de-DE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📊Erg!$E$131:$F$131</c:f>
              <c:strCache>
                <c:ptCount val="2"/>
                <c:pt idx="0">
                  <c:v>Bedarf</c:v>
                </c:pt>
                <c:pt idx="1">
                  <c:v>Deckung</c:v>
                </c:pt>
              </c:strCache>
            </c:strRef>
          </c:cat>
          <c:val>
            <c:numRef>
              <c:f>📊Erg!$E$146:$F$146</c:f>
              <c:numCache>
                <c:formatCode>0.0</c:formatCode>
                <c:ptCount val="2"/>
                <c:pt idx="1">
                  <c:v>25.599270454823273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E-0C04-42F0-8A6A-C33AFA343A90}"/>
            </c:ext>
          </c:extLst>
        </c:ser>
        <c:ser>
          <c:idx val="14"/>
          <c:order val="15"/>
          <c:tx>
            <c:v>Deckung</c:v>
          </c:tx>
          <c:spPr>
            <a:noFill/>
            <a:ln>
              <a:noFill/>
            </a:ln>
            <a:effectLst/>
          </c:spPr>
          <c:invertIfNegative val="0"/>
          <c:dLbls>
            <c:numFmt formatCode="0.0;\−0.0;;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de-DE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📊Erg!$E$131:$F$131</c:f>
              <c:strCache>
                <c:ptCount val="2"/>
                <c:pt idx="0">
                  <c:v>Bedarf</c:v>
                </c:pt>
                <c:pt idx="1">
                  <c:v>Deckung</c:v>
                </c:pt>
              </c:strCache>
            </c:strRef>
          </c:cat>
          <c:val>
            <c:numLit>
              <c:formatCode>General</c:formatCode>
              <c:ptCount val="1"/>
              <c:pt idx="0">
                <c:v>0</c:v>
              </c:pt>
            </c:numLit>
          </c:val>
          <c:extLst>
            <c:ext xmlns:c16="http://schemas.microsoft.com/office/drawing/2014/chart" uri="{C3380CC4-5D6E-409C-BE32-E72D297353CC}">
              <c16:uniqueId val="{0000000F-0C04-42F0-8A6A-C33AFA343A90}"/>
            </c:ext>
          </c:extLst>
        </c:ser>
        <c:dLbls>
          <c:dLblPos val="ctr"/>
          <c:showLegendKey val="0"/>
          <c:showVal val="1"/>
          <c:showCatName val="0"/>
          <c:showSerName val="0"/>
          <c:showPercent val="0"/>
          <c:showBubbleSize val="0"/>
        </c:dLbls>
        <c:gapWidth val="50"/>
        <c:overlap val="100"/>
        <c:axId val="1109789984"/>
        <c:axId val="1167844256"/>
      </c:barChart>
      <c:catAx>
        <c:axId val="1109789984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de-DE"/>
          </a:p>
        </c:txPr>
        <c:crossAx val="1167844256"/>
        <c:crosses val="autoZero"/>
        <c:auto val="1"/>
        <c:lblAlgn val="ctr"/>
        <c:lblOffset val="100"/>
        <c:noMultiLvlLbl val="0"/>
      </c:catAx>
      <c:valAx>
        <c:axId val="1167844256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1200" b="0" i="0" u="none" strike="noStrike" kern="1200" baseline="0">
                    <a:solidFill>
                      <a:srgbClr val="000000">
                        <a:lumMod val="65000"/>
                        <a:lumOff val="35000"/>
                      </a:srgb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de-AT" sz="1200" b="0" i="0" u="none" strike="noStrike" kern="1200" baseline="0">
                    <a:solidFill>
                      <a:srgbClr val="000000">
                        <a:lumMod val="65000"/>
                        <a:lumOff val="35000"/>
                      </a:srgbClr>
                    </a:solidFill>
                  </a:rPr>
                  <a:t>Primärenergie [kWh</a:t>
                </a:r>
                <a:r>
                  <a:rPr lang="de-AT" sz="1200" b="0" i="0" u="none" strike="noStrike" kern="1200" baseline="-25000">
                    <a:solidFill>
                      <a:srgbClr val="000000">
                        <a:lumMod val="65000"/>
                        <a:lumOff val="35000"/>
                      </a:srgbClr>
                    </a:solidFill>
                  </a:rPr>
                  <a:t>PE</a:t>
                </a:r>
                <a:r>
                  <a:rPr lang="de-AT" sz="1200" b="0" i="0" u="none" strike="noStrike" kern="1200" baseline="0">
                    <a:solidFill>
                      <a:srgbClr val="000000">
                        <a:lumMod val="65000"/>
                        <a:lumOff val="35000"/>
                      </a:srgbClr>
                    </a:solidFill>
                  </a:rPr>
                  <a:t>/m²</a:t>
                </a:r>
                <a:r>
                  <a:rPr lang="de-AT" sz="1200" b="0" i="0" u="none" strike="noStrike" kern="1200" baseline="-25000">
                    <a:solidFill>
                      <a:srgbClr val="000000">
                        <a:lumMod val="65000"/>
                        <a:lumOff val="35000"/>
                      </a:srgbClr>
                    </a:solidFill>
                  </a:rPr>
                  <a:t>NGF</a:t>
                </a:r>
                <a:r>
                  <a:rPr lang="de-AT" sz="1200" b="0" i="0" u="none" strike="noStrike" kern="1200" baseline="0">
                    <a:solidFill>
                      <a:srgbClr val="000000">
                        <a:lumMod val="65000"/>
                        <a:lumOff val="35000"/>
                      </a:srgbClr>
                    </a:solidFill>
                  </a:rPr>
                  <a:t>a]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1200" b="0" i="0" u="none" strike="noStrike" kern="1200" baseline="0">
                  <a:solidFill>
                    <a:srgbClr val="000000">
                      <a:lumMod val="65000"/>
                      <a:lumOff val="35000"/>
                    </a:srgbClr>
                  </a:solidFill>
                  <a:latin typeface="+mn-lt"/>
                  <a:ea typeface="+mn-ea"/>
                  <a:cs typeface="+mn-cs"/>
                </a:defRPr>
              </a:pPr>
              <a:endParaRPr lang="de-DE"/>
            </a:p>
          </c:txPr>
        </c:title>
        <c:numFmt formatCode="0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5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de-DE"/>
          </a:p>
        </c:txPr>
        <c:crossAx val="1109789984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legend>
      <c:legendPos val="r"/>
      <c:legendEntry>
        <c:idx val="9"/>
        <c:delete val="1"/>
      </c:legendEntry>
      <c:legendEntry>
        <c:idx val="10"/>
        <c:delete val="1"/>
      </c:legendEntry>
      <c:legendEntry>
        <c:idx val="11"/>
        <c:delete val="1"/>
      </c:legendEntry>
      <c:legendEntry>
        <c:idx val="12"/>
        <c:delete val="1"/>
      </c:legendEntry>
      <c:legendEntry>
        <c:idx val="13"/>
        <c:delete val="1"/>
      </c:legendEntry>
      <c:layout>
        <c:manualLayout>
          <c:xMode val="edge"/>
          <c:yMode val="edge"/>
          <c:x val="0.49641559654405232"/>
          <c:y val="8.0584770472636458E-2"/>
          <c:w val="0.46558378769998193"/>
          <c:h val="0.848101747504610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de-DE"/>
        </a:p>
      </c:txPr>
    </c:legend>
    <c:plotVisOnly val="1"/>
    <c:dispBlanksAs val="gap"/>
    <c:showDLblsOverMax val="0"/>
  </c:chart>
  <c:spPr>
    <a:solidFill>
      <a:srgbClr val="E6EFF3"/>
    </a:solidFill>
    <a:ln w="9525" cap="flat" cmpd="sng" algn="ctr">
      <a:solidFill>
        <a:schemeClr val="tx1">
          <a:lumMod val="15000"/>
          <a:lumOff val="85000"/>
        </a:schemeClr>
      </a:solidFill>
      <a:round/>
    </a:ln>
    <a:effectLst/>
  </c:spPr>
  <c:txPr>
    <a:bodyPr/>
    <a:lstStyle/>
    <a:p>
      <a:pPr>
        <a:defRPr sz="1100"/>
      </a:pPr>
      <a:endParaRPr lang="de-DE"/>
    </a:p>
  </c:txPr>
  <c:externalData r:id="rId4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de-DE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1"/>
    <c:plotArea>
      <c:layout>
        <c:manualLayout>
          <c:layoutTarget val="inner"/>
          <c:xMode val="edge"/>
          <c:yMode val="edge"/>
          <c:x val="0.10922882251536671"/>
          <c:y val="5.1607579887829123E-2"/>
          <c:w val="0.56853785098532761"/>
          <c:h val="0.68384591650945059"/>
        </c:manualLayout>
      </c:layout>
      <c:barChart>
        <c:barDir val="col"/>
        <c:grouping val="stacked"/>
        <c:varyColors val="0"/>
        <c:ser>
          <c:idx val="0"/>
          <c:order val="0"/>
          <c:tx>
            <c:strRef>
              <c:f>🔍var!$AI$17</c:f>
              <c:strCache>
                <c:ptCount val="1"/>
                <c:pt idx="0">
                  <c:v>Nutzerstrom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dLbls>
            <c:delete val="1"/>
          </c:dLbls>
          <c:cat>
            <c:multiLvlStrRef>
              <c:f>🔍var!$AN$13:$AY$14</c:f>
              <c:multiLvlStrCache>
                <c:ptCount val="12"/>
                <c:lvl>
                  <c:pt idx="0">
                    <c:v>Bedarf</c:v>
                  </c:pt>
                  <c:pt idx="1">
                    <c:v>Deckung</c:v>
                  </c:pt>
                  <c:pt idx="2">
                    <c:v>Bedarf</c:v>
                  </c:pt>
                  <c:pt idx="3">
                    <c:v>Deckung</c:v>
                  </c:pt>
                  <c:pt idx="4">
                    <c:v>Bedarf</c:v>
                  </c:pt>
                  <c:pt idx="5">
                    <c:v>Deckung</c:v>
                  </c:pt>
                  <c:pt idx="6">
                    <c:v>Bedarf</c:v>
                  </c:pt>
                  <c:pt idx="7">
                    <c:v>Deckung</c:v>
                  </c:pt>
                  <c:pt idx="8">
                    <c:v>Bedarf</c:v>
                  </c:pt>
                  <c:pt idx="9">
                    <c:v>Deckung</c:v>
                  </c:pt>
                  <c:pt idx="10">
                    <c:v>Bedarf</c:v>
                  </c:pt>
                  <c:pt idx="11">
                    <c:v>Deckung</c:v>
                  </c:pt>
                </c:lvl>
                <c:lvl>
                  <c:pt idx="0">
                    <c:v>Bestand Gas</c:v>
                  </c:pt>
                  <c:pt idx="2">
                    <c:v>Bestand Fernwärme</c:v>
                  </c:pt>
                  <c:pt idx="4">
                    <c:v>Saniert FW</c:v>
                  </c:pt>
                  <c:pt idx="6">
                    <c:v>Saniert, FW, PV</c:v>
                  </c:pt>
                  <c:pt idx="8">
                    <c:v>Saniert, flexible Wärmepumpe, PV</c:v>
                  </c:pt>
                  <c:pt idx="10">
                    <c:v>mit Mobilität</c:v>
                  </c:pt>
                </c:lvl>
              </c:multiLvlStrCache>
            </c:multiLvlStrRef>
          </c:cat>
          <c:val>
            <c:numRef>
              <c:f>🔍var!$AN$17:$AY$17</c:f>
              <c:numCache>
                <c:formatCode>General</c:formatCode>
                <c:ptCount val="12"/>
                <c:pt idx="0" formatCode="0.0">
                  <c:v>50.199235495960423</c:v>
                </c:pt>
                <c:pt idx="2" formatCode="0.0">
                  <c:v>50.199235495960423</c:v>
                </c:pt>
                <c:pt idx="4" formatCode="0.0">
                  <c:v>50.199235495960423</c:v>
                </c:pt>
                <c:pt idx="6" formatCode="0.0">
                  <c:v>50.199235495960423</c:v>
                </c:pt>
                <c:pt idx="8" formatCode="0.0">
                  <c:v>50.199235495960423</c:v>
                </c:pt>
                <c:pt idx="10" formatCode="0.0">
                  <c:v>50.199235495960423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C899-40F3-A4D1-0E862657B304}"/>
            </c:ext>
          </c:extLst>
        </c:ser>
        <c:ser>
          <c:idx val="7"/>
          <c:order val="1"/>
          <c:tx>
            <c:strRef>
              <c:f>🔍var!$AI$18</c:f>
              <c:strCache>
                <c:ptCount val="1"/>
                <c:pt idx="0">
                  <c:v>HKLS Strom</c:v>
                </c:pt>
              </c:strCache>
            </c:strRef>
          </c:tx>
          <c:spPr>
            <a:solidFill>
              <a:srgbClr val="CA0237">
                <a:lumMod val="60000"/>
                <a:lumOff val="40000"/>
              </a:srgbClr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05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de-DE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multiLvlStrRef>
              <c:f>🔍var!$AN$13:$AY$14</c:f>
              <c:multiLvlStrCache>
                <c:ptCount val="12"/>
                <c:lvl>
                  <c:pt idx="0">
                    <c:v>Bedarf</c:v>
                  </c:pt>
                  <c:pt idx="1">
                    <c:v>Deckung</c:v>
                  </c:pt>
                  <c:pt idx="2">
                    <c:v>Bedarf</c:v>
                  </c:pt>
                  <c:pt idx="3">
                    <c:v>Deckung</c:v>
                  </c:pt>
                  <c:pt idx="4">
                    <c:v>Bedarf</c:v>
                  </c:pt>
                  <c:pt idx="5">
                    <c:v>Deckung</c:v>
                  </c:pt>
                  <c:pt idx="6">
                    <c:v>Bedarf</c:v>
                  </c:pt>
                  <c:pt idx="7">
                    <c:v>Deckung</c:v>
                  </c:pt>
                  <c:pt idx="8">
                    <c:v>Bedarf</c:v>
                  </c:pt>
                  <c:pt idx="9">
                    <c:v>Deckung</c:v>
                  </c:pt>
                  <c:pt idx="10">
                    <c:v>Bedarf</c:v>
                  </c:pt>
                  <c:pt idx="11">
                    <c:v>Deckung</c:v>
                  </c:pt>
                </c:lvl>
                <c:lvl>
                  <c:pt idx="0">
                    <c:v>Bestand Gas</c:v>
                  </c:pt>
                  <c:pt idx="2">
                    <c:v>Bestand Fernwärme</c:v>
                  </c:pt>
                  <c:pt idx="4">
                    <c:v>Saniert FW</c:v>
                  </c:pt>
                  <c:pt idx="6">
                    <c:v>Saniert, FW, PV</c:v>
                  </c:pt>
                  <c:pt idx="8">
                    <c:v>Saniert, flexible Wärmepumpe, PV</c:v>
                  </c:pt>
                  <c:pt idx="10">
                    <c:v>mit Mobilität</c:v>
                  </c:pt>
                </c:lvl>
              </c:multiLvlStrCache>
            </c:multiLvlStrRef>
          </c:cat>
          <c:val>
            <c:numRef>
              <c:f>🔍var!$AN$18:$AY$18</c:f>
              <c:numCache>
                <c:formatCode>General</c:formatCode>
                <c:ptCount val="12"/>
                <c:pt idx="0" formatCode="0.0">
                  <c:v>13.192581985690323</c:v>
                </c:pt>
                <c:pt idx="2" formatCode="0.0">
                  <c:v>13.192581985690323</c:v>
                </c:pt>
                <c:pt idx="4" formatCode="0.0">
                  <c:v>10.505504911966858</c:v>
                </c:pt>
                <c:pt idx="6" formatCode="0.0">
                  <c:v>10.505504911966858</c:v>
                </c:pt>
                <c:pt idx="8" formatCode="0.0">
                  <c:v>40.320630650170763</c:v>
                </c:pt>
                <c:pt idx="10" formatCode="0.0">
                  <c:v>40.317668667670823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C899-40F3-A4D1-0E862657B304}"/>
            </c:ext>
          </c:extLst>
        </c:ser>
        <c:ser>
          <c:idx val="8"/>
          <c:order val="2"/>
          <c:tx>
            <c:strRef>
              <c:f>🔍var!$AI$19</c:f>
              <c:strCache>
                <c:ptCount val="1"/>
                <c:pt idx="0">
                  <c:v>HKLS Fernwärme</c:v>
                </c:pt>
              </c:strCache>
            </c:strRef>
          </c:tx>
          <c:spPr>
            <a:solidFill>
              <a:srgbClr val="E1320F">
                <a:lumMod val="75000"/>
              </a:srgbClr>
            </a:solidFill>
            <a:ln>
              <a:noFill/>
            </a:ln>
            <a:effectLst/>
          </c:spPr>
          <c:invertIfNegative val="0"/>
          <c:dLbls>
            <c:numFmt formatCode="0.0;\−0.0;;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050" b="0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endParaRPr lang="de-DE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multiLvlStrRef>
              <c:f>🔍var!$AN$13:$AY$14</c:f>
              <c:multiLvlStrCache>
                <c:ptCount val="12"/>
                <c:lvl>
                  <c:pt idx="0">
                    <c:v>Bedarf</c:v>
                  </c:pt>
                  <c:pt idx="1">
                    <c:v>Deckung</c:v>
                  </c:pt>
                  <c:pt idx="2">
                    <c:v>Bedarf</c:v>
                  </c:pt>
                  <c:pt idx="3">
                    <c:v>Deckung</c:v>
                  </c:pt>
                  <c:pt idx="4">
                    <c:v>Bedarf</c:v>
                  </c:pt>
                  <c:pt idx="5">
                    <c:v>Deckung</c:v>
                  </c:pt>
                  <c:pt idx="6">
                    <c:v>Bedarf</c:v>
                  </c:pt>
                  <c:pt idx="7">
                    <c:v>Deckung</c:v>
                  </c:pt>
                  <c:pt idx="8">
                    <c:v>Bedarf</c:v>
                  </c:pt>
                  <c:pt idx="9">
                    <c:v>Deckung</c:v>
                  </c:pt>
                  <c:pt idx="10">
                    <c:v>Bedarf</c:v>
                  </c:pt>
                  <c:pt idx="11">
                    <c:v>Deckung</c:v>
                  </c:pt>
                </c:lvl>
                <c:lvl>
                  <c:pt idx="0">
                    <c:v>Bestand Gas</c:v>
                  </c:pt>
                  <c:pt idx="2">
                    <c:v>Bestand Fernwärme</c:v>
                  </c:pt>
                  <c:pt idx="4">
                    <c:v>Saniert FW</c:v>
                  </c:pt>
                  <c:pt idx="6">
                    <c:v>Saniert, FW, PV</c:v>
                  </c:pt>
                  <c:pt idx="8">
                    <c:v>Saniert, flexible Wärmepumpe, PV</c:v>
                  </c:pt>
                  <c:pt idx="10">
                    <c:v>mit Mobilität</c:v>
                  </c:pt>
                </c:lvl>
              </c:multiLvlStrCache>
            </c:multiLvlStrRef>
          </c:cat>
          <c:val>
            <c:numRef>
              <c:f>🔍var!$AN$19:$AY$19</c:f>
              <c:numCache>
                <c:formatCode>General</c:formatCode>
                <c:ptCount val="12"/>
                <c:pt idx="0" formatCode="0.0">
                  <c:v>0</c:v>
                </c:pt>
                <c:pt idx="2" formatCode="0.0">
                  <c:v>52.527542979715584</c:v>
                </c:pt>
                <c:pt idx="4" formatCode="0.0">
                  <c:v>20.528047942518249</c:v>
                </c:pt>
                <c:pt idx="6" formatCode="0.0">
                  <c:v>20.528047942518249</c:v>
                </c:pt>
                <c:pt idx="8" formatCode="0.0">
                  <c:v>0</c:v>
                </c:pt>
                <c:pt idx="10" formatCode="0.0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C899-40F3-A4D1-0E862657B304}"/>
            </c:ext>
          </c:extLst>
        </c:ser>
        <c:ser>
          <c:idx val="9"/>
          <c:order val="3"/>
          <c:tx>
            <c:strRef>
              <c:f>🔍var!$AI$20</c:f>
              <c:strCache>
                <c:ptCount val="1"/>
                <c:pt idx="0">
                  <c:v>HKLS Erdgas</c:v>
                </c:pt>
              </c:strCache>
            </c:strRef>
          </c:tx>
          <c:spPr>
            <a:solidFill>
              <a:srgbClr val="3BACBE">
                <a:lumMod val="75000"/>
              </a:srgbClr>
            </a:solidFill>
            <a:ln>
              <a:noFill/>
            </a:ln>
            <a:effectLst/>
          </c:spPr>
          <c:invertIfNegative val="0"/>
          <c:dLbls>
            <c:dLbl>
              <c:idx val="0"/>
              <c:layout>
                <c:manualLayout>
                  <c:x val="-1.9192805025431978E-3"/>
                  <c:y val="0.14248832617680304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F-C899-40F3-A4D1-0E862657B304}"/>
                </c:ext>
              </c:extLst>
            </c:dLbl>
            <c:numFmt formatCode="0.0;\−0.0;;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05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de-DE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multiLvlStrRef>
              <c:f>🔍var!$AN$13:$AY$14</c:f>
              <c:multiLvlStrCache>
                <c:ptCount val="12"/>
                <c:lvl>
                  <c:pt idx="0">
                    <c:v>Bedarf</c:v>
                  </c:pt>
                  <c:pt idx="1">
                    <c:v>Deckung</c:v>
                  </c:pt>
                  <c:pt idx="2">
                    <c:v>Bedarf</c:v>
                  </c:pt>
                  <c:pt idx="3">
                    <c:v>Deckung</c:v>
                  </c:pt>
                  <c:pt idx="4">
                    <c:v>Bedarf</c:v>
                  </c:pt>
                  <c:pt idx="5">
                    <c:v>Deckung</c:v>
                  </c:pt>
                  <c:pt idx="6">
                    <c:v>Bedarf</c:v>
                  </c:pt>
                  <c:pt idx="7">
                    <c:v>Deckung</c:v>
                  </c:pt>
                  <c:pt idx="8">
                    <c:v>Bedarf</c:v>
                  </c:pt>
                  <c:pt idx="9">
                    <c:v>Deckung</c:v>
                  </c:pt>
                  <c:pt idx="10">
                    <c:v>Bedarf</c:v>
                  </c:pt>
                  <c:pt idx="11">
                    <c:v>Deckung</c:v>
                  </c:pt>
                </c:lvl>
                <c:lvl>
                  <c:pt idx="0">
                    <c:v>Bestand Gas</c:v>
                  </c:pt>
                  <c:pt idx="2">
                    <c:v>Bestand Fernwärme</c:v>
                  </c:pt>
                  <c:pt idx="4">
                    <c:v>Saniert FW</c:v>
                  </c:pt>
                  <c:pt idx="6">
                    <c:v>Saniert, FW, PV</c:v>
                  </c:pt>
                  <c:pt idx="8">
                    <c:v>Saniert, flexible Wärmepumpe, PV</c:v>
                  </c:pt>
                  <c:pt idx="10">
                    <c:v>mit Mobilität</c:v>
                  </c:pt>
                </c:lvl>
              </c:multiLvlStrCache>
            </c:multiLvlStrRef>
          </c:cat>
          <c:val>
            <c:numRef>
              <c:f>🔍var!$AN$20:$AY$20</c:f>
              <c:numCache>
                <c:formatCode>General</c:formatCode>
                <c:ptCount val="12"/>
                <c:pt idx="0" formatCode="0.0">
                  <c:v>175.09180993239096</c:v>
                </c:pt>
                <c:pt idx="2" formatCode="0.0">
                  <c:v>0</c:v>
                </c:pt>
                <c:pt idx="4" formatCode="0.0">
                  <c:v>0</c:v>
                </c:pt>
                <c:pt idx="6" formatCode="0.0">
                  <c:v>0</c:v>
                </c:pt>
                <c:pt idx="8" formatCode="0.0">
                  <c:v>0</c:v>
                </c:pt>
                <c:pt idx="10" formatCode="0.0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C899-40F3-A4D1-0E862657B304}"/>
            </c:ext>
          </c:extLst>
        </c:ser>
        <c:ser>
          <c:idx val="10"/>
          <c:order val="4"/>
          <c:tx>
            <c:strRef>
              <c:f>🔍var!$AI$21</c:f>
              <c:strCache>
                <c:ptCount val="1"/>
                <c:pt idx="0">
                  <c:v>HKLS Biomasse</c:v>
                </c:pt>
              </c:strCache>
            </c:strRef>
          </c:tx>
          <c:spPr>
            <a:solidFill>
              <a:srgbClr val="5FB564">
                <a:lumMod val="50000"/>
              </a:srgbClr>
            </a:solidFill>
            <a:ln>
              <a:noFill/>
            </a:ln>
            <a:effectLst/>
          </c:spPr>
          <c:invertIfNegative val="0"/>
          <c:dLbls>
            <c:numFmt formatCode="0.0;\−0.0;;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05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de-DE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multiLvlStrRef>
              <c:f>🔍var!$AN$13:$AY$14</c:f>
              <c:multiLvlStrCache>
                <c:ptCount val="12"/>
                <c:lvl>
                  <c:pt idx="0">
                    <c:v>Bedarf</c:v>
                  </c:pt>
                  <c:pt idx="1">
                    <c:v>Deckung</c:v>
                  </c:pt>
                  <c:pt idx="2">
                    <c:v>Bedarf</c:v>
                  </c:pt>
                  <c:pt idx="3">
                    <c:v>Deckung</c:v>
                  </c:pt>
                  <c:pt idx="4">
                    <c:v>Bedarf</c:v>
                  </c:pt>
                  <c:pt idx="5">
                    <c:v>Deckung</c:v>
                  </c:pt>
                  <c:pt idx="6">
                    <c:v>Bedarf</c:v>
                  </c:pt>
                  <c:pt idx="7">
                    <c:v>Deckung</c:v>
                  </c:pt>
                  <c:pt idx="8">
                    <c:v>Bedarf</c:v>
                  </c:pt>
                  <c:pt idx="9">
                    <c:v>Deckung</c:v>
                  </c:pt>
                  <c:pt idx="10">
                    <c:v>Bedarf</c:v>
                  </c:pt>
                  <c:pt idx="11">
                    <c:v>Deckung</c:v>
                  </c:pt>
                </c:lvl>
                <c:lvl>
                  <c:pt idx="0">
                    <c:v>Bestand Gas</c:v>
                  </c:pt>
                  <c:pt idx="2">
                    <c:v>Bestand Fernwärme</c:v>
                  </c:pt>
                  <c:pt idx="4">
                    <c:v>Saniert FW</c:v>
                  </c:pt>
                  <c:pt idx="6">
                    <c:v>Saniert, FW, PV</c:v>
                  </c:pt>
                  <c:pt idx="8">
                    <c:v>Saniert, flexible Wärmepumpe, PV</c:v>
                  </c:pt>
                  <c:pt idx="10">
                    <c:v>mit Mobilität</c:v>
                  </c:pt>
                </c:lvl>
              </c:multiLvlStrCache>
            </c:multiLvlStrRef>
          </c:cat>
          <c:val>
            <c:numRef>
              <c:f>🔍var!$AN$21:$AY$21</c:f>
              <c:numCache>
                <c:formatCode>General</c:formatCode>
                <c:ptCount val="12"/>
                <c:pt idx="0" formatCode="0.0">
                  <c:v>0</c:v>
                </c:pt>
                <c:pt idx="2" formatCode="0.0">
                  <c:v>0</c:v>
                </c:pt>
                <c:pt idx="4" formatCode="0.0">
                  <c:v>0</c:v>
                </c:pt>
                <c:pt idx="6" formatCode="0.0">
                  <c:v>0</c:v>
                </c:pt>
                <c:pt idx="8" formatCode="0.0">
                  <c:v>0</c:v>
                </c:pt>
                <c:pt idx="10" formatCode="0.0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C899-40F3-A4D1-0E862657B304}"/>
            </c:ext>
          </c:extLst>
        </c:ser>
        <c:ser>
          <c:idx val="11"/>
          <c:order val="5"/>
          <c:tx>
            <c:strRef>
              <c:f>🔍var!$AI$22</c:f>
              <c:strCache>
                <c:ptCount val="1"/>
                <c:pt idx="0">
                  <c:v>HKLS Sonstige</c:v>
                </c:pt>
              </c:strCache>
            </c:strRef>
          </c:tx>
          <c:spPr>
            <a:solidFill>
              <a:srgbClr val="E6EFF3">
                <a:lumMod val="25000"/>
              </a:srgbClr>
            </a:solidFill>
            <a:ln>
              <a:noFill/>
            </a:ln>
            <a:effectLst/>
          </c:spPr>
          <c:invertIfNegative val="0"/>
          <c:dLbls>
            <c:numFmt formatCode="0.0;\−0.0;;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05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de-DE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multiLvlStrRef>
              <c:f>🔍var!$AN$13:$AY$14</c:f>
              <c:multiLvlStrCache>
                <c:ptCount val="12"/>
                <c:lvl>
                  <c:pt idx="0">
                    <c:v>Bedarf</c:v>
                  </c:pt>
                  <c:pt idx="1">
                    <c:v>Deckung</c:v>
                  </c:pt>
                  <c:pt idx="2">
                    <c:v>Bedarf</c:v>
                  </c:pt>
                  <c:pt idx="3">
                    <c:v>Deckung</c:v>
                  </c:pt>
                  <c:pt idx="4">
                    <c:v>Bedarf</c:v>
                  </c:pt>
                  <c:pt idx="5">
                    <c:v>Deckung</c:v>
                  </c:pt>
                  <c:pt idx="6">
                    <c:v>Bedarf</c:v>
                  </c:pt>
                  <c:pt idx="7">
                    <c:v>Deckung</c:v>
                  </c:pt>
                  <c:pt idx="8">
                    <c:v>Bedarf</c:v>
                  </c:pt>
                  <c:pt idx="9">
                    <c:v>Deckung</c:v>
                  </c:pt>
                  <c:pt idx="10">
                    <c:v>Bedarf</c:v>
                  </c:pt>
                  <c:pt idx="11">
                    <c:v>Deckung</c:v>
                  </c:pt>
                </c:lvl>
                <c:lvl>
                  <c:pt idx="0">
                    <c:v>Bestand Gas</c:v>
                  </c:pt>
                  <c:pt idx="2">
                    <c:v>Bestand Fernwärme</c:v>
                  </c:pt>
                  <c:pt idx="4">
                    <c:v>Saniert FW</c:v>
                  </c:pt>
                  <c:pt idx="6">
                    <c:v>Saniert, FW, PV</c:v>
                  </c:pt>
                  <c:pt idx="8">
                    <c:v>Saniert, flexible Wärmepumpe, PV</c:v>
                  </c:pt>
                  <c:pt idx="10">
                    <c:v>mit Mobilität</c:v>
                  </c:pt>
                </c:lvl>
              </c:multiLvlStrCache>
            </c:multiLvlStrRef>
          </c:cat>
          <c:val>
            <c:numRef>
              <c:f>🔍var!$AN$22:$AY$22</c:f>
              <c:numCache>
                <c:formatCode>General</c:formatCode>
                <c:ptCount val="12"/>
                <c:pt idx="0" formatCode="0.0">
                  <c:v>0</c:v>
                </c:pt>
                <c:pt idx="2" formatCode="0.0">
                  <c:v>0</c:v>
                </c:pt>
                <c:pt idx="4" formatCode="0.0">
                  <c:v>0</c:v>
                </c:pt>
                <c:pt idx="6" formatCode="0.0">
                  <c:v>0</c:v>
                </c:pt>
                <c:pt idx="8" formatCode="0.0">
                  <c:v>0</c:v>
                </c:pt>
                <c:pt idx="10" formatCode="0.0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5-C899-40F3-A4D1-0E862657B304}"/>
            </c:ext>
          </c:extLst>
        </c:ser>
        <c:ser>
          <c:idx val="13"/>
          <c:order val="6"/>
          <c:tx>
            <c:strRef>
              <c:f>🔍var!$AI$23</c:f>
              <c:strCache>
                <c:ptCount val="1"/>
                <c:pt idx="0">
                  <c:v>MIV Fossil</c:v>
                </c:pt>
              </c:strCache>
            </c:strRef>
          </c:tx>
          <c:spPr>
            <a:pattFill prst="sphere">
              <a:fgClr>
                <a:srgbClr val="F59C00">
                  <a:lumMod val="75000"/>
                </a:srgbClr>
              </a:fgClr>
              <a:bgClr>
                <a:srgbClr val="F59C00"/>
              </a:bgClr>
            </a:pattFill>
            <a:ln>
              <a:noFill/>
            </a:ln>
            <a:effectLst/>
          </c:spPr>
          <c:invertIfNegative val="0"/>
          <c:dLbls>
            <c:numFmt formatCode="0.0;\−0.0;;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05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de-DE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multiLvlStrRef>
              <c:f>🔍var!$AN$13:$AY$14</c:f>
              <c:multiLvlStrCache>
                <c:ptCount val="12"/>
                <c:lvl>
                  <c:pt idx="0">
                    <c:v>Bedarf</c:v>
                  </c:pt>
                  <c:pt idx="1">
                    <c:v>Deckung</c:v>
                  </c:pt>
                  <c:pt idx="2">
                    <c:v>Bedarf</c:v>
                  </c:pt>
                  <c:pt idx="3">
                    <c:v>Deckung</c:v>
                  </c:pt>
                  <c:pt idx="4">
                    <c:v>Bedarf</c:v>
                  </c:pt>
                  <c:pt idx="5">
                    <c:v>Deckung</c:v>
                  </c:pt>
                  <c:pt idx="6">
                    <c:v>Bedarf</c:v>
                  </c:pt>
                  <c:pt idx="7">
                    <c:v>Deckung</c:v>
                  </c:pt>
                  <c:pt idx="8">
                    <c:v>Bedarf</c:v>
                  </c:pt>
                  <c:pt idx="9">
                    <c:v>Deckung</c:v>
                  </c:pt>
                  <c:pt idx="10">
                    <c:v>Bedarf</c:v>
                  </c:pt>
                  <c:pt idx="11">
                    <c:v>Deckung</c:v>
                  </c:pt>
                </c:lvl>
                <c:lvl>
                  <c:pt idx="0">
                    <c:v>Bestand Gas</c:v>
                  </c:pt>
                  <c:pt idx="2">
                    <c:v>Bestand Fernwärme</c:v>
                  </c:pt>
                  <c:pt idx="4">
                    <c:v>Saniert FW</c:v>
                  </c:pt>
                  <c:pt idx="6">
                    <c:v>Saniert, FW, PV</c:v>
                  </c:pt>
                  <c:pt idx="8">
                    <c:v>Saniert, flexible Wärmepumpe, PV</c:v>
                  </c:pt>
                  <c:pt idx="10">
                    <c:v>mit Mobilität</c:v>
                  </c:pt>
                </c:lvl>
              </c:multiLvlStrCache>
            </c:multiLvlStrRef>
          </c:cat>
          <c:val>
            <c:numRef>
              <c:f>🔍var!$AN$23:$AY$23</c:f>
              <c:numCache>
                <c:formatCode>General</c:formatCode>
                <c:ptCount val="12"/>
                <c:pt idx="0" formatCode="0.0">
                  <c:v>0</c:v>
                </c:pt>
                <c:pt idx="2" formatCode="0.0">
                  <c:v>0</c:v>
                </c:pt>
                <c:pt idx="4" formatCode="0.0">
                  <c:v>0</c:v>
                </c:pt>
                <c:pt idx="6" formatCode="0.0">
                  <c:v>0</c:v>
                </c:pt>
                <c:pt idx="8" formatCode="0.0">
                  <c:v>0</c:v>
                </c:pt>
                <c:pt idx="10" formatCode="0.0">
                  <c:v>13.834252346085437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C899-40F3-A4D1-0E862657B304}"/>
            </c:ext>
          </c:extLst>
        </c:ser>
        <c:ser>
          <c:idx val="12"/>
          <c:order val="7"/>
          <c:tx>
            <c:strRef>
              <c:f>🔍var!$AI$24</c:f>
              <c:strCache>
                <c:ptCount val="1"/>
                <c:pt idx="0">
                  <c:v>MIV Elektrisch</c:v>
                </c:pt>
              </c:strCache>
            </c:strRef>
          </c:tx>
          <c:spPr>
            <a:pattFill prst="sphere">
              <a:fgClr>
                <a:srgbClr val="BCCF00"/>
              </a:fgClr>
              <a:bgClr>
                <a:srgbClr val="BCCF00">
                  <a:lumMod val="60000"/>
                  <a:lumOff val="40000"/>
                </a:srgbClr>
              </a:bgClr>
            </a:pattFill>
            <a:ln>
              <a:noFill/>
            </a:ln>
            <a:effectLst/>
          </c:spPr>
          <c:invertIfNegative val="0"/>
          <c:dLbls>
            <c:numFmt formatCode="0.0;\−0.0;;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05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de-DE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multiLvlStrRef>
              <c:f>🔍var!$AN$13:$AY$14</c:f>
              <c:multiLvlStrCache>
                <c:ptCount val="12"/>
                <c:lvl>
                  <c:pt idx="0">
                    <c:v>Bedarf</c:v>
                  </c:pt>
                  <c:pt idx="1">
                    <c:v>Deckung</c:v>
                  </c:pt>
                  <c:pt idx="2">
                    <c:v>Bedarf</c:v>
                  </c:pt>
                  <c:pt idx="3">
                    <c:v>Deckung</c:v>
                  </c:pt>
                  <c:pt idx="4">
                    <c:v>Bedarf</c:v>
                  </c:pt>
                  <c:pt idx="5">
                    <c:v>Deckung</c:v>
                  </c:pt>
                  <c:pt idx="6">
                    <c:v>Bedarf</c:v>
                  </c:pt>
                  <c:pt idx="7">
                    <c:v>Deckung</c:v>
                  </c:pt>
                  <c:pt idx="8">
                    <c:v>Bedarf</c:v>
                  </c:pt>
                  <c:pt idx="9">
                    <c:v>Deckung</c:v>
                  </c:pt>
                  <c:pt idx="10">
                    <c:v>Bedarf</c:v>
                  </c:pt>
                  <c:pt idx="11">
                    <c:v>Deckung</c:v>
                  </c:pt>
                </c:lvl>
                <c:lvl>
                  <c:pt idx="0">
                    <c:v>Bestand Gas</c:v>
                  </c:pt>
                  <c:pt idx="2">
                    <c:v>Bestand Fernwärme</c:v>
                  </c:pt>
                  <c:pt idx="4">
                    <c:v>Saniert FW</c:v>
                  </c:pt>
                  <c:pt idx="6">
                    <c:v>Saniert, FW, PV</c:v>
                  </c:pt>
                  <c:pt idx="8">
                    <c:v>Saniert, flexible Wärmepumpe, PV</c:v>
                  </c:pt>
                  <c:pt idx="10">
                    <c:v>mit Mobilität</c:v>
                  </c:pt>
                </c:lvl>
              </c:multiLvlStrCache>
            </c:multiLvlStrRef>
          </c:cat>
          <c:val>
            <c:numRef>
              <c:f>🔍var!$AN$24:$AY$24</c:f>
              <c:numCache>
                <c:formatCode>General</c:formatCode>
                <c:ptCount val="12"/>
                <c:pt idx="0" formatCode="0.0">
                  <c:v>0</c:v>
                </c:pt>
                <c:pt idx="2" formatCode="0.0">
                  <c:v>0</c:v>
                </c:pt>
                <c:pt idx="4" formatCode="0.0">
                  <c:v>0</c:v>
                </c:pt>
                <c:pt idx="6" formatCode="0.0">
                  <c:v>0</c:v>
                </c:pt>
                <c:pt idx="8" formatCode="0.0">
                  <c:v>0</c:v>
                </c:pt>
                <c:pt idx="10" formatCode="0.0">
                  <c:v>11.39279809136139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7-C899-40F3-A4D1-0E862657B304}"/>
            </c:ext>
          </c:extLst>
        </c:ser>
        <c:ser>
          <c:idx val="1"/>
          <c:order val="8"/>
          <c:tx>
            <c:strRef>
              <c:f>🔍var!$AI$25</c:f>
              <c:strCache>
                <c:ptCount val="1"/>
                <c:pt idx="0">
                  <c:v>Bedarfe</c:v>
                </c:pt>
              </c:strCache>
            </c:strRef>
          </c:tx>
          <c:spPr>
            <a:solidFill>
              <a:srgbClr val="000000">
                <a:alpha val="0"/>
              </a:srgbClr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05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de-DE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multiLvlStrRef>
              <c:f>🔍var!$AN$13:$AY$14</c:f>
              <c:multiLvlStrCache>
                <c:ptCount val="12"/>
                <c:lvl>
                  <c:pt idx="0">
                    <c:v>Bedarf</c:v>
                  </c:pt>
                  <c:pt idx="1">
                    <c:v>Deckung</c:v>
                  </c:pt>
                  <c:pt idx="2">
                    <c:v>Bedarf</c:v>
                  </c:pt>
                  <c:pt idx="3">
                    <c:v>Deckung</c:v>
                  </c:pt>
                  <c:pt idx="4">
                    <c:v>Bedarf</c:v>
                  </c:pt>
                  <c:pt idx="5">
                    <c:v>Deckung</c:v>
                  </c:pt>
                  <c:pt idx="6">
                    <c:v>Bedarf</c:v>
                  </c:pt>
                  <c:pt idx="7">
                    <c:v>Deckung</c:v>
                  </c:pt>
                  <c:pt idx="8">
                    <c:v>Bedarf</c:v>
                  </c:pt>
                  <c:pt idx="9">
                    <c:v>Deckung</c:v>
                  </c:pt>
                  <c:pt idx="10">
                    <c:v>Bedarf</c:v>
                  </c:pt>
                  <c:pt idx="11">
                    <c:v>Deckung</c:v>
                  </c:pt>
                </c:lvl>
                <c:lvl>
                  <c:pt idx="0">
                    <c:v>Bestand Gas</c:v>
                  </c:pt>
                  <c:pt idx="2">
                    <c:v>Bestand Fernwärme</c:v>
                  </c:pt>
                  <c:pt idx="4">
                    <c:v>Saniert FW</c:v>
                  </c:pt>
                  <c:pt idx="6">
                    <c:v>Saniert, FW, PV</c:v>
                  </c:pt>
                  <c:pt idx="8">
                    <c:v>Saniert, flexible Wärmepumpe, PV</c:v>
                  </c:pt>
                  <c:pt idx="10">
                    <c:v>mit Mobilität</c:v>
                  </c:pt>
                </c:lvl>
              </c:multiLvlStrCache>
            </c:multiLvlStrRef>
          </c:cat>
          <c:val>
            <c:numRef>
              <c:f>🔍var!$AN$25:$AY$25</c:f>
              <c:numCache>
                <c:formatCode>General</c:formatCode>
                <c:ptCount val="12"/>
              </c:numCache>
            </c:numRef>
          </c:val>
          <c:extLst>
            <c:ext xmlns:c16="http://schemas.microsoft.com/office/drawing/2014/chart" uri="{C3380CC4-5D6E-409C-BE32-E72D297353CC}">
              <c16:uniqueId val="{00000008-C899-40F3-A4D1-0E862657B304}"/>
            </c:ext>
          </c:extLst>
        </c:ser>
        <c:ser>
          <c:idx val="2"/>
          <c:order val="9"/>
          <c:tx>
            <c:strRef>
              <c:f>🔍var!$AI$26</c:f>
              <c:strCache>
                <c:ptCount val="1"/>
                <c:pt idx="0">
                  <c:v>Lokale Erneuerbare (Subst.)</c:v>
                </c:pt>
              </c:strCache>
            </c:strRef>
          </c:tx>
          <c:spPr>
            <a:solidFill>
              <a:srgbClr val="5FB564"/>
            </a:solidFill>
            <a:ln>
              <a:noFill/>
            </a:ln>
            <a:effectLst/>
          </c:spPr>
          <c:invertIfNegative val="0"/>
          <c:dLbls>
            <c:numFmt formatCode="0.0;\−0.0;;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05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de-DE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multiLvlStrRef>
              <c:f>🔍var!$AN$13:$AY$14</c:f>
              <c:multiLvlStrCache>
                <c:ptCount val="12"/>
                <c:lvl>
                  <c:pt idx="0">
                    <c:v>Bedarf</c:v>
                  </c:pt>
                  <c:pt idx="1">
                    <c:v>Deckung</c:v>
                  </c:pt>
                  <c:pt idx="2">
                    <c:v>Bedarf</c:v>
                  </c:pt>
                  <c:pt idx="3">
                    <c:v>Deckung</c:v>
                  </c:pt>
                  <c:pt idx="4">
                    <c:v>Bedarf</c:v>
                  </c:pt>
                  <c:pt idx="5">
                    <c:v>Deckung</c:v>
                  </c:pt>
                  <c:pt idx="6">
                    <c:v>Bedarf</c:v>
                  </c:pt>
                  <c:pt idx="7">
                    <c:v>Deckung</c:v>
                  </c:pt>
                  <c:pt idx="8">
                    <c:v>Bedarf</c:v>
                  </c:pt>
                  <c:pt idx="9">
                    <c:v>Deckung</c:v>
                  </c:pt>
                  <c:pt idx="10">
                    <c:v>Bedarf</c:v>
                  </c:pt>
                  <c:pt idx="11">
                    <c:v>Deckung</c:v>
                  </c:pt>
                </c:lvl>
                <c:lvl>
                  <c:pt idx="0">
                    <c:v>Bestand Gas</c:v>
                  </c:pt>
                  <c:pt idx="2">
                    <c:v>Bestand Fernwärme</c:v>
                  </c:pt>
                  <c:pt idx="4">
                    <c:v>Saniert FW</c:v>
                  </c:pt>
                  <c:pt idx="6">
                    <c:v>Saniert, FW, PV</c:v>
                  </c:pt>
                  <c:pt idx="8">
                    <c:v>Saniert, flexible Wärmepumpe, PV</c:v>
                  </c:pt>
                  <c:pt idx="10">
                    <c:v>mit Mobilität</c:v>
                  </c:pt>
                </c:lvl>
              </c:multiLvlStrCache>
            </c:multiLvlStrRef>
          </c:cat>
          <c:val>
            <c:numRef>
              <c:f>🔍var!$AN$26:$AY$26</c:f>
              <c:numCache>
                <c:formatCode>0.0</c:formatCode>
                <c:ptCount val="12"/>
                <c:pt idx="1">
                  <c:v>0</c:v>
                </c:pt>
                <c:pt idx="3">
                  <c:v>0</c:v>
                </c:pt>
                <c:pt idx="5">
                  <c:v>1.5494492444165631</c:v>
                </c:pt>
                <c:pt idx="7">
                  <c:v>15.494492444165578</c:v>
                </c:pt>
                <c:pt idx="9">
                  <c:v>15.494492444165578</c:v>
                </c:pt>
                <c:pt idx="11">
                  <c:v>15.494492444165578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9-C899-40F3-A4D1-0E862657B304}"/>
            </c:ext>
          </c:extLst>
        </c:ser>
        <c:ser>
          <c:idx val="3"/>
          <c:order val="10"/>
          <c:tx>
            <c:strRef>
              <c:f>🔍var!$AI$27</c:f>
              <c:strCache>
                <c:ptCount val="1"/>
                <c:pt idx="0">
                  <c:v>Energieflexibler Bezug</c:v>
                </c:pt>
              </c:strCache>
            </c:strRef>
          </c:tx>
          <c:spPr>
            <a:solidFill>
              <a:srgbClr val="BCCF00">
                <a:lumMod val="60000"/>
                <a:lumOff val="40000"/>
              </a:srgbClr>
            </a:solidFill>
            <a:ln>
              <a:noFill/>
            </a:ln>
            <a:effectLst/>
          </c:spPr>
          <c:invertIfNegative val="0"/>
          <c:dLbls>
            <c:numFmt formatCode="0.0;\−0.0;;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05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de-DE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multiLvlStrRef>
              <c:f>🔍var!$AN$13:$AY$14</c:f>
              <c:multiLvlStrCache>
                <c:ptCount val="12"/>
                <c:lvl>
                  <c:pt idx="0">
                    <c:v>Bedarf</c:v>
                  </c:pt>
                  <c:pt idx="1">
                    <c:v>Deckung</c:v>
                  </c:pt>
                  <c:pt idx="2">
                    <c:v>Bedarf</c:v>
                  </c:pt>
                  <c:pt idx="3">
                    <c:v>Deckung</c:v>
                  </c:pt>
                  <c:pt idx="4">
                    <c:v>Bedarf</c:v>
                  </c:pt>
                  <c:pt idx="5">
                    <c:v>Deckung</c:v>
                  </c:pt>
                  <c:pt idx="6">
                    <c:v>Bedarf</c:v>
                  </c:pt>
                  <c:pt idx="7">
                    <c:v>Deckung</c:v>
                  </c:pt>
                  <c:pt idx="8">
                    <c:v>Bedarf</c:v>
                  </c:pt>
                  <c:pt idx="9">
                    <c:v>Deckung</c:v>
                  </c:pt>
                  <c:pt idx="10">
                    <c:v>Bedarf</c:v>
                  </c:pt>
                  <c:pt idx="11">
                    <c:v>Deckung</c:v>
                  </c:pt>
                </c:lvl>
                <c:lvl>
                  <c:pt idx="0">
                    <c:v>Bestand Gas</c:v>
                  </c:pt>
                  <c:pt idx="2">
                    <c:v>Bestand Fernwärme</c:v>
                  </c:pt>
                  <c:pt idx="4">
                    <c:v>Saniert FW</c:v>
                  </c:pt>
                  <c:pt idx="6">
                    <c:v>Saniert, FW, PV</c:v>
                  </c:pt>
                  <c:pt idx="8">
                    <c:v>Saniert, flexible Wärmepumpe, PV</c:v>
                  </c:pt>
                  <c:pt idx="10">
                    <c:v>mit Mobilität</c:v>
                  </c:pt>
                </c:lvl>
              </c:multiLvlStrCache>
            </c:multiLvlStrRef>
          </c:cat>
          <c:val>
            <c:numRef>
              <c:f>🔍var!$AN$27:$AY$27</c:f>
              <c:numCache>
                <c:formatCode>0.0</c:formatCode>
                <c:ptCount val="12"/>
                <c:pt idx="1">
                  <c:v>0</c:v>
                </c:pt>
                <c:pt idx="3">
                  <c:v>0</c:v>
                </c:pt>
                <c:pt idx="5">
                  <c:v>0</c:v>
                </c:pt>
                <c:pt idx="7">
                  <c:v>0</c:v>
                </c:pt>
                <c:pt idx="9">
                  <c:v>24.618062280421004</c:v>
                </c:pt>
                <c:pt idx="11">
                  <c:v>30.376687545174875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A-C899-40F3-A4D1-0E862657B304}"/>
            </c:ext>
          </c:extLst>
        </c:ser>
        <c:ser>
          <c:idx val="6"/>
          <c:order val="11"/>
          <c:tx>
            <c:strRef>
              <c:f>🔍var!$AI$28</c:f>
              <c:strCache>
                <c:ptCount val="1"/>
                <c:pt idx="0">
                  <c:v>Kontext Sanierung</c:v>
                </c:pt>
              </c:strCache>
            </c:strRef>
          </c:tx>
          <c:spPr>
            <a:pattFill prst="wdUpDiag">
              <a:fgClr>
                <a:srgbClr val="3BACBE">
                  <a:lumMod val="40000"/>
                  <a:lumOff val="60000"/>
                </a:srgbClr>
              </a:fgClr>
              <a:bgClr>
                <a:srgbClr val="3BACBE">
                  <a:lumMod val="20000"/>
                  <a:lumOff val="80000"/>
                </a:srgbClr>
              </a:bgClr>
            </a:patt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05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de-DE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multiLvlStrRef>
              <c:f>🔍var!$AN$13:$AY$14</c:f>
              <c:multiLvlStrCache>
                <c:ptCount val="12"/>
                <c:lvl>
                  <c:pt idx="0">
                    <c:v>Bedarf</c:v>
                  </c:pt>
                  <c:pt idx="1">
                    <c:v>Deckung</c:v>
                  </c:pt>
                  <c:pt idx="2">
                    <c:v>Bedarf</c:v>
                  </c:pt>
                  <c:pt idx="3">
                    <c:v>Deckung</c:v>
                  </c:pt>
                  <c:pt idx="4">
                    <c:v>Bedarf</c:v>
                  </c:pt>
                  <c:pt idx="5">
                    <c:v>Deckung</c:v>
                  </c:pt>
                  <c:pt idx="6">
                    <c:v>Bedarf</c:v>
                  </c:pt>
                  <c:pt idx="7">
                    <c:v>Deckung</c:v>
                  </c:pt>
                  <c:pt idx="8">
                    <c:v>Bedarf</c:v>
                  </c:pt>
                  <c:pt idx="9">
                    <c:v>Deckung</c:v>
                  </c:pt>
                  <c:pt idx="10">
                    <c:v>Bedarf</c:v>
                  </c:pt>
                  <c:pt idx="11">
                    <c:v>Deckung</c:v>
                  </c:pt>
                </c:lvl>
                <c:lvl>
                  <c:pt idx="0">
                    <c:v>Bestand Gas</c:v>
                  </c:pt>
                  <c:pt idx="2">
                    <c:v>Bestand Fernwärme</c:v>
                  </c:pt>
                  <c:pt idx="4">
                    <c:v>Saniert FW</c:v>
                  </c:pt>
                  <c:pt idx="6">
                    <c:v>Saniert, FW, PV</c:v>
                  </c:pt>
                  <c:pt idx="8">
                    <c:v>Saniert, flexible Wärmepumpe, PV</c:v>
                  </c:pt>
                  <c:pt idx="10">
                    <c:v>mit Mobilität</c:v>
                  </c:pt>
                </c:lvl>
              </c:multiLvlStrCache>
            </c:multiLvlStrRef>
          </c:cat>
          <c:val>
            <c:numRef>
              <c:f>🔍var!$AN$28:$AY$28</c:f>
              <c:numCache>
                <c:formatCode>0.0</c:formatCode>
                <c:ptCount val="12"/>
                <c:pt idx="1">
                  <c:v>15</c:v>
                </c:pt>
                <c:pt idx="3">
                  <c:v>15</c:v>
                </c:pt>
                <c:pt idx="5">
                  <c:v>15</c:v>
                </c:pt>
                <c:pt idx="7">
                  <c:v>15</c:v>
                </c:pt>
                <c:pt idx="9">
                  <c:v>15</c:v>
                </c:pt>
                <c:pt idx="11">
                  <c:v>15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B-C899-40F3-A4D1-0E862657B304}"/>
            </c:ext>
          </c:extLst>
        </c:ser>
        <c:ser>
          <c:idx val="4"/>
          <c:order val="12"/>
          <c:tx>
            <c:strRef>
              <c:f>🔍var!$AI$29</c:f>
              <c:strCache>
                <c:ptCount val="1"/>
                <c:pt idx="0">
                  <c:v>Kontext bauliche Dichte</c:v>
                </c:pt>
              </c:strCache>
            </c:strRef>
          </c:tx>
          <c:spPr>
            <a:pattFill prst="wdUpDiag">
              <a:fgClr>
                <a:srgbClr val="950F53">
                  <a:lumMod val="40000"/>
                  <a:lumOff val="60000"/>
                </a:srgbClr>
              </a:fgClr>
              <a:bgClr>
                <a:srgbClr val="950F53">
                  <a:lumMod val="20000"/>
                  <a:lumOff val="80000"/>
                </a:srgbClr>
              </a:bgClr>
            </a:pattFill>
            <a:ln>
              <a:noFill/>
            </a:ln>
            <a:effectLst/>
          </c:spPr>
          <c:invertIfNegative val="0"/>
          <c:dLbls>
            <c:numFmt formatCode="0.0;\−0.0;;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05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de-DE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multiLvlStrRef>
              <c:f>🔍var!$AN$13:$AY$14</c:f>
              <c:multiLvlStrCache>
                <c:ptCount val="12"/>
                <c:lvl>
                  <c:pt idx="0">
                    <c:v>Bedarf</c:v>
                  </c:pt>
                  <c:pt idx="1">
                    <c:v>Deckung</c:v>
                  </c:pt>
                  <c:pt idx="2">
                    <c:v>Bedarf</c:v>
                  </c:pt>
                  <c:pt idx="3">
                    <c:v>Deckung</c:v>
                  </c:pt>
                  <c:pt idx="4">
                    <c:v>Bedarf</c:v>
                  </c:pt>
                  <c:pt idx="5">
                    <c:v>Deckung</c:v>
                  </c:pt>
                  <c:pt idx="6">
                    <c:v>Bedarf</c:v>
                  </c:pt>
                  <c:pt idx="7">
                    <c:v>Deckung</c:v>
                  </c:pt>
                  <c:pt idx="8">
                    <c:v>Bedarf</c:v>
                  </c:pt>
                  <c:pt idx="9">
                    <c:v>Deckung</c:v>
                  </c:pt>
                  <c:pt idx="10">
                    <c:v>Bedarf</c:v>
                  </c:pt>
                  <c:pt idx="11">
                    <c:v>Deckung</c:v>
                  </c:pt>
                </c:lvl>
                <c:lvl>
                  <c:pt idx="0">
                    <c:v>Bestand Gas</c:v>
                  </c:pt>
                  <c:pt idx="2">
                    <c:v>Bestand Fernwärme</c:v>
                  </c:pt>
                  <c:pt idx="4">
                    <c:v>Saniert FW</c:v>
                  </c:pt>
                  <c:pt idx="6">
                    <c:v>Saniert, FW, PV</c:v>
                  </c:pt>
                  <c:pt idx="8">
                    <c:v>Saniert, flexible Wärmepumpe, PV</c:v>
                  </c:pt>
                  <c:pt idx="10">
                    <c:v>mit Mobilität</c:v>
                  </c:pt>
                </c:lvl>
              </c:multiLvlStrCache>
            </c:multiLvlStrRef>
          </c:cat>
          <c:val>
            <c:numRef>
              <c:f>🔍var!$AN$29:$AY$29</c:f>
              <c:numCache>
                <c:formatCode>0.0</c:formatCode>
                <c:ptCount val="12"/>
                <c:pt idx="0">
                  <c:v>0</c:v>
                </c:pt>
                <c:pt idx="1">
                  <c:v>37.907948717948713</c:v>
                </c:pt>
                <c:pt idx="2">
                  <c:v>0</c:v>
                </c:pt>
                <c:pt idx="3">
                  <c:v>37.907948717948713</c:v>
                </c:pt>
                <c:pt idx="4">
                  <c:v>0</c:v>
                </c:pt>
                <c:pt idx="5">
                  <c:v>37.907948717948713</c:v>
                </c:pt>
                <c:pt idx="6">
                  <c:v>0</c:v>
                </c:pt>
                <c:pt idx="7">
                  <c:v>37.907948717948713</c:v>
                </c:pt>
                <c:pt idx="8">
                  <c:v>0</c:v>
                </c:pt>
                <c:pt idx="9">
                  <c:v>37.907948717948713</c:v>
                </c:pt>
                <c:pt idx="10">
                  <c:v>0</c:v>
                </c:pt>
                <c:pt idx="11">
                  <c:v>37.907948717948713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C-C899-40F3-A4D1-0E862657B304}"/>
            </c:ext>
          </c:extLst>
        </c:ser>
        <c:ser>
          <c:idx val="5"/>
          <c:order val="13"/>
          <c:tx>
            <c:strRef>
              <c:f>🔍var!$AI$30</c:f>
              <c:strCache>
                <c:ptCount val="1"/>
                <c:pt idx="0">
                  <c:v>Kontext Mobilität</c:v>
                </c:pt>
              </c:strCache>
            </c:strRef>
          </c:tx>
          <c:spPr>
            <a:pattFill prst="wdUpDiag">
              <a:fgClr>
                <a:srgbClr val="F59C00">
                  <a:lumMod val="40000"/>
                  <a:lumOff val="60000"/>
                </a:srgbClr>
              </a:fgClr>
              <a:bgClr>
                <a:srgbClr val="F59C00">
                  <a:lumMod val="20000"/>
                  <a:lumOff val="80000"/>
                </a:srgbClr>
              </a:bgClr>
            </a:pattFill>
            <a:ln>
              <a:noFill/>
            </a:ln>
            <a:effectLst/>
          </c:spPr>
          <c:invertIfNegative val="0"/>
          <c:dLbls>
            <c:numFmt formatCode="0.0;\−0.0;;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05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de-DE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multiLvlStrRef>
              <c:f>🔍var!$AN$13:$AY$14</c:f>
              <c:multiLvlStrCache>
                <c:ptCount val="12"/>
                <c:lvl>
                  <c:pt idx="0">
                    <c:v>Bedarf</c:v>
                  </c:pt>
                  <c:pt idx="1">
                    <c:v>Deckung</c:v>
                  </c:pt>
                  <c:pt idx="2">
                    <c:v>Bedarf</c:v>
                  </c:pt>
                  <c:pt idx="3">
                    <c:v>Deckung</c:v>
                  </c:pt>
                  <c:pt idx="4">
                    <c:v>Bedarf</c:v>
                  </c:pt>
                  <c:pt idx="5">
                    <c:v>Deckung</c:v>
                  </c:pt>
                  <c:pt idx="6">
                    <c:v>Bedarf</c:v>
                  </c:pt>
                  <c:pt idx="7">
                    <c:v>Deckung</c:v>
                  </c:pt>
                  <c:pt idx="8">
                    <c:v>Bedarf</c:v>
                  </c:pt>
                  <c:pt idx="9">
                    <c:v>Deckung</c:v>
                  </c:pt>
                  <c:pt idx="10">
                    <c:v>Bedarf</c:v>
                  </c:pt>
                  <c:pt idx="11">
                    <c:v>Deckung</c:v>
                  </c:pt>
                </c:lvl>
                <c:lvl>
                  <c:pt idx="0">
                    <c:v>Bestand Gas</c:v>
                  </c:pt>
                  <c:pt idx="2">
                    <c:v>Bestand Fernwärme</c:v>
                  </c:pt>
                  <c:pt idx="4">
                    <c:v>Saniert FW</c:v>
                  </c:pt>
                  <c:pt idx="6">
                    <c:v>Saniert, FW, PV</c:v>
                  </c:pt>
                  <c:pt idx="8">
                    <c:v>Saniert, flexible Wärmepumpe, PV</c:v>
                  </c:pt>
                  <c:pt idx="10">
                    <c:v>mit Mobilität</c:v>
                  </c:pt>
                </c:lvl>
              </c:multiLvlStrCache>
            </c:multiLvlStrRef>
          </c:cat>
          <c:val>
            <c:numRef>
              <c:f>🔍var!$AN$30:$AY$30</c:f>
              <c:numCache>
                <c:formatCode>0.0</c:formatCode>
                <c:ptCount val="12"/>
                <c:pt idx="1">
                  <c:v>0</c:v>
                </c:pt>
                <c:pt idx="3">
                  <c:v>0</c:v>
                </c:pt>
                <c:pt idx="5">
                  <c:v>0</c:v>
                </c:pt>
                <c:pt idx="7">
                  <c:v>0</c:v>
                </c:pt>
                <c:pt idx="9">
                  <c:v>0</c:v>
                </c:pt>
                <c:pt idx="11">
                  <c:v>16.686366481535043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D-C899-40F3-A4D1-0E862657B304}"/>
            </c:ext>
          </c:extLst>
        </c:ser>
        <c:ser>
          <c:idx val="14"/>
          <c:order val="14"/>
          <c:tx>
            <c:strRef>
              <c:f>🔍var!$AI$31</c:f>
              <c:strCache>
                <c:ptCount val="1"/>
                <c:pt idx="0">
                  <c:v>Deckung</c:v>
                </c:pt>
              </c:strCache>
            </c:strRef>
          </c:tx>
          <c:spPr>
            <a:noFill/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05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de-DE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multiLvlStrRef>
              <c:f>🔍var!$AN$13:$AY$14</c:f>
              <c:multiLvlStrCache>
                <c:ptCount val="12"/>
                <c:lvl>
                  <c:pt idx="0">
                    <c:v>Bedarf</c:v>
                  </c:pt>
                  <c:pt idx="1">
                    <c:v>Deckung</c:v>
                  </c:pt>
                  <c:pt idx="2">
                    <c:v>Bedarf</c:v>
                  </c:pt>
                  <c:pt idx="3">
                    <c:v>Deckung</c:v>
                  </c:pt>
                  <c:pt idx="4">
                    <c:v>Bedarf</c:v>
                  </c:pt>
                  <c:pt idx="5">
                    <c:v>Deckung</c:v>
                  </c:pt>
                  <c:pt idx="6">
                    <c:v>Bedarf</c:v>
                  </c:pt>
                  <c:pt idx="7">
                    <c:v>Deckung</c:v>
                  </c:pt>
                  <c:pt idx="8">
                    <c:v>Bedarf</c:v>
                  </c:pt>
                  <c:pt idx="9">
                    <c:v>Deckung</c:v>
                  </c:pt>
                  <c:pt idx="10">
                    <c:v>Bedarf</c:v>
                  </c:pt>
                  <c:pt idx="11">
                    <c:v>Deckung</c:v>
                  </c:pt>
                </c:lvl>
                <c:lvl>
                  <c:pt idx="0">
                    <c:v>Bestand Gas</c:v>
                  </c:pt>
                  <c:pt idx="2">
                    <c:v>Bestand Fernwärme</c:v>
                  </c:pt>
                  <c:pt idx="4">
                    <c:v>Saniert FW</c:v>
                  </c:pt>
                  <c:pt idx="6">
                    <c:v>Saniert, FW, PV</c:v>
                  </c:pt>
                  <c:pt idx="8">
                    <c:v>Saniert, flexible Wärmepumpe, PV</c:v>
                  </c:pt>
                  <c:pt idx="10">
                    <c:v>mit Mobilität</c:v>
                  </c:pt>
                </c:lvl>
              </c:multiLvlStrCache>
            </c:multiLvlStrRef>
          </c:cat>
          <c:val>
            <c:numRef>
              <c:f>🔍var!$AN$31:$AY$31</c:f>
              <c:numCache>
                <c:formatCode>General</c:formatCode>
                <c:ptCount val="12"/>
              </c:numCache>
            </c:numRef>
          </c:val>
          <c:extLst>
            <c:ext xmlns:c16="http://schemas.microsoft.com/office/drawing/2014/chart" uri="{C3380CC4-5D6E-409C-BE32-E72D297353CC}">
              <c16:uniqueId val="{0000000E-C899-40F3-A4D1-0E862657B304}"/>
            </c:ext>
          </c:extLst>
        </c:ser>
        <c:dLbls>
          <c:dLblPos val="ctr"/>
          <c:showLegendKey val="0"/>
          <c:showVal val="1"/>
          <c:showCatName val="0"/>
          <c:showSerName val="0"/>
          <c:showPercent val="0"/>
          <c:showBubbleSize val="0"/>
        </c:dLbls>
        <c:gapWidth val="50"/>
        <c:overlap val="100"/>
        <c:axId val="1109789984"/>
        <c:axId val="1167844256"/>
      </c:barChart>
      <c:catAx>
        <c:axId val="1109789984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8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de-DE"/>
          </a:p>
        </c:txPr>
        <c:crossAx val="1167844256"/>
        <c:crosses val="autoZero"/>
        <c:auto val="1"/>
        <c:lblAlgn val="ctr"/>
        <c:lblOffset val="100"/>
        <c:noMultiLvlLbl val="0"/>
      </c:catAx>
      <c:valAx>
        <c:axId val="1167844256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 algn="ctr" rtl="0">
                  <a:defRPr sz="105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de-AT"/>
                  <a:t>Primärenergie kWhPE/(m²NGFa)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 algn="ctr" rtl="0">
                <a:defRPr sz="105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de-DE"/>
            </a:p>
          </c:txPr>
        </c:title>
        <c:numFmt formatCode="0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5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de-DE"/>
          </a:p>
        </c:txPr>
        <c:crossAx val="1109789984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legend>
      <c:legendPos val="r"/>
      <c:legendEntry>
        <c:idx val="9"/>
        <c:delete val="1"/>
      </c:legendEntry>
      <c:legendEntry>
        <c:idx val="10"/>
        <c:delete val="1"/>
      </c:legendEntry>
      <c:layout>
        <c:manualLayout>
          <c:xMode val="edge"/>
          <c:yMode val="edge"/>
          <c:x val="0.65246466790308344"/>
          <c:y val="5.6128654973960822E-2"/>
          <c:w val="0.3424577701953081"/>
          <c:h val="0.70269786612847851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05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de-DE"/>
        </a:p>
      </c:txPr>
    </c:legend>
    <c:plotVisOnly val="1"/>
    <c:dispBlanksAs val="gap"/>
    <c:showDLblsOverMax val="0"/>
  </c:chart>
  <c:spPr>
    <a:solidFill>
      <a:srgbClr val="E6EFF3"/>
    </a:solidFill>
    <a:ln w="9525" cap="flat" cmpd="sng" algn="ctr">
      <a:solidFill>
        <a:schemeClr val="tx1">
          <a:lumMod val="15000"/>
          <a:lumOff val="85000"/>
        </a:schemeClr>
      </a:solidFill>
      <a:round/>
    </a:ln>
    <a:effectLst/>
  </c:spPr>
  <c:txPr>
    <a:bodyPr/>
    <a:lstStyle/>
    <a:p>
      <a:pPr>
        <a:defRPr sz="1050"/>
      </a:pPr>
      <a:endParaRPr lang="de-DE"/>
    </a:p>
  </c:txPr>
  <c:externalData r:id="rId4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de-DE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1"/>
    <c:plotArea>
      <c:layout>
        <c:manualLayout>
          <c:layoutTarget val="inner"/>
          <c:xMode val="edge"/>
          <c:yMode val="edge"/>
          <c:x val="7.1438403591735644E-2"/>
          <c:y val="5.1607623813378467E-2"/>
          <c:w val="0.72109936399837804"/>
          <c:h val="0.74839099529794384"/>
        </c:manualLayout>
      </c:layout>
      <c:barChart>
        <c:barDir val="col"/>
        <c:grouping val="stacked"/>
        <c:varyColors val="0"/>
        <c:ser>
          <c:idx val="0"/>
          <c:order val="0"/>
          <c:tx>
            <c:strRef>
              <c:f>🔍var!$AI$17</c:f>
              <c:strCache>
                <c:ptCount val="1"/>
                <c:pt idx="0">
                  <c:v>Nutzerstrom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00" b="1" i="0" u="none" strike="noStrike" kern="1200" baseline="0">
                    <a:solidFill>
                      <a:schemeClr val="bg2"/>
                    </a:solidFill>
                    <a:latin typeface="+mn-lt"/>
                    <a:ea typeface="+mn-ea"/>
                    <a:cs typeface="+mn-cs"/>
                  </a:defRPr>
                </a:pPr>
                <a:endParaRPr lang="de-DE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multiLvlStrRef>
              <c:f>🔍var!$AZ$13:$BG$14</c:f>
              <c:multiLvlStrCache>
                <c:ptCount val="8"/>
                <c:lvl>
                  <c:pt idx="0">
                    <c:v>Bedarf</c:v>
                  </c:pt>
                  <c:pt idx="1">
                    <c:v>Deckung</c:v>
                  </c:pt>
                  <c:pt idx="2">
                    <c:v>Bedarf</c:v>
                  </c:pt>
                  <c:pt idx="3">
                    <c:v>Deckung</c:v>
                  </c:pt>
                  <c:pt idx="4">
                    <c:v>Bedarf</c:v>
                  </c:pt>
                  <c:pt idx="5">
                    <c:v>Deckung</c:v>
                  </c:pt>
                  <c:pt idx="6">
                    <c:v>Bedarf</c:v>
                  </c:pt>
                  <c:pt idx="7">
                    <c:v>Deckung</c:v>
                  </c:pt>
                </c:lvl>
                <c:lvl>
                  <c:pt idx="0">
                    <c:v>Wohnen Neubau 2.5 Geschosse | PEQ Deklaration</c:v>
                  </c:pt>
                  <c:pt idx="2">
                    <c:v>Mischnutzung Neubau 7-stöckig| PEQ+M Deklaration</c:v>
                  </c:pt>
                  <c:pt idx="4">
                    <c:v>RUGInnovation | PEQ m. Mobilität</c:v>
                  </c:pt>
                  <c:pt idx="6">
                    <c:v>Gründerzeit | mit PV</c:v>
                  </c:pt>
                </c:lvl>
              </c:multiLvlStrCache>
            </c:multiLvlStrRef>
          </c:cat>
          <c:val>
            <c:numRef>
              <c:f>🔍var!$AZ$17:$BG$17</c:f>
              <c:numCache>
                <c:formatCode>General</c:formatCode>
                <c:ptCount val="8"/>
                <c:pt idx="0" formatCode="0.0">
                  <c:v>33</c:v>
                </c:pt>
                <c:pt idx="2" formatCode="0.0">
                  <c:v>46.7</c:v>
                </c:pt>
                <c:pt idx="4" formatCode="0.0">
                  <c:v>50.8</c:v>
                </c:pt>
                <c:pt idx="6" formatCode="0.0">
                  <c:v>50.199235495960423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487F-4E14-99F1-A52B79FE4D1C}"/>
            </c:ext>
          </c:extLst>
        </c:ser>
        <c:ser>
          <c:idx val="7"/>
          <c:order val="1"/>
          <c:tx>
            <c:strRef>
              <c:f>🔍var!$AI$18</c:f>
              <c:strCache>
                <c:ptCount val="1"/>
                <c:pt idx="0">
                  <c:v>HKLS Strom</c:v>
                </c:pt>
              </c:strCache>
            </c:strRef>
          </c:tx>
          <c:spPr>
            <a:solidFill>
              <a:srgbClr val="CA0237">
                <a:lumMod val="60000"/>
                <a:lumOff val="40000"/>
              </a:srgbClr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de-DE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multiLvlStrRef>
              <c:f>🔍var!$AZ$13:$BG$14</c:f>
              <c:multiLvlStrCache>
                <c:ptCount val="8"/>
                <c:lvl>
                  <c:pt idx="0">
                    <c:v>Bedarf</c:v>
                  </c:pt>
                  <c:pt idx="1">
                    <c:v>Deckung</c:v>
                  </c:pt>
                  <c:pt idx="2">
                    <c:v>Bedarf</c:v>
                  </c:pt>
                  <c:pt idx="3">
                    <c:v>Deckung</c:v>
                  </c:pt>
                  <c:pt idx="4">
                    <c:v>Bedarf</c:v>
                  </c:pt>
                  <c:pt idx="5">
                    <c:v>Deckung</c:v>
                  </c:pt>
                  <c:pt idx="6">
                    <c:v>Bedarf</c:v>
                  </c:pt>
                  <c:pt idx="7">
                    <c:v>Deckung</c:v>
                  </c:pt>
                </c:lvl>
                <c:lvl>
                  <c:pt idx="0">
                    <c:v>Wohnen Neubau 2.5 Geschosse | PEQ Deklaration</c:v>
                  </c:pt>
                  <c:pt idx="2">
                    <c:v>Mischnutzung Neubau 7-stöckig| PEQ+M Deklaration</c:v>
                  </c:pt>
                  <c:pt idx="4">
                    <c:v>RUGInnovation | PEQ m. Mobilität</c:v>
                  </c:pt>
                  <c:pt idx="6">
                    <c:v>Gründerzeit | mit PV</c:v>
                  </c:pt>
                </c:lvl>
              </c:multiLvlStrCache>
            </c:multiLvlStrRef>
          </c:cat>
          <c:val>
            <c:numRef>
              <c:f>🔍var!$AZ$18:$BG$18</c:f>
              <c:numCache>
                <c:formatCode>General</c:formatCode>
                <c:ptCount val="8"/>
                <c:pt idx="0" formatCode="0.0">
                  <c:v>30.9</c:v>
                </c:pt>
                <c:pt idx="2" formatCode="0.0">
                  <c:v>32.5</c:v>
                </c:pt>
                <c:pt idx="4" formatCode="0.0">
                  <c:v>43.2</c:v>
                </c:pt>
                <c:pt idx="6" formatCode="0.0">
                  <c:v>10.505504911966858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487F-4E14-99F1-A52B79FE4D1C}"/>
            </c:ext>
          </c:extLst>
        </c:ser>
        <c:ser>
          <c:idx val="8"/>
          <c:order val="2"/>
          <c:tx>
            <c:strRef>
              <c:f>🔍var!$AI$19</c:f>
              <c:strCache>
                <c:ptCount val="1"/>
                <c:pt idx="0">
                  <c:v>HKLS Fernwärme</c:v>
                </c:pt>
              </c:strCache>
            </c:strRef>
          </c:tx>
          <c:spPr>
            <a:solidFill>
              <a:srgbClr val="E1320F">
                <a:lumMod val="75000"/>
              </a:srgbClr>
            </a:solidFill>
            <a:ln>
              <a:noFill/>
            </a:ln>
            <a:effectLst/>
          </c:spPr>
          <c:invertIfNegative val="0"/>
          <c:dLbls>
            <c:numFmt formatCode="0.0;\−0.0;;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de-DE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multiLvlStrRef>
              <c:f>🔍var!$AZ$13:$BG$14</c:f>
              <c:multiLvlStrCache>
                <c:ptCount val="8"/>
                <c:lvl>
                  <c:pt idx="0">
                    <c:v>Bedarf</c:v>
                  </c:pt>
                  <c:pt idx="1">
                    <c:v>Deckung</c:v>
                  </c:pt>
                  <c:pt idx="2">
                    <c:v>Bedarf</c:v>
                  </c:pt>
                  <c:pt idx="3">
                    <c:v>Deckung</c:v>
                  </c:pt>
                  <c:pt idx="4">
                    <c:v>Bedarf</c:v>
                  </c:pt>
                  <c:pt idx="5">
                    <c:v>Deckung</c:v>
                  </c:pt>
                  <c:pt idx="6">
                    <c:v>Bedarf</c:v>
                  </c:pt>
                  <c:pt idx="7">
                    <c:v>Deckung</c:v>
                  </c:pt>
                </c:lvl>
                <c:lvl>
                  <c:pt idx="0">
                    <c:v>Wohnen Neubau 2.5 Geschosse | PEQ Deklaration</c:v>
                  </c:pt>
                  <c:pt idx="2">
                    <c:v>Mischnutzung Neubau 7-stöckig| PEQ+M Deklaration</c:v>
                  </c:pt>
                  <c:pt idx="4">
                    <c:v>RUGInnovation | PEQ m. Mobilität</c:v>
                  </c:pt>
                  <c:pt idx="6">
                    <c:v>Gründerzeit | mit PV</c:v>
                  </c:pt>
                </c:lvl>
              </c:multiLvlStrCache>
            </c:multiLvlStrRef>
          </c:cat>
          <c:val>
            <c:numRef>
              <c:f>🔍var!$AZ$19:$BG$19</c:f>
              <c:numCache>
                <c:formatCode>General</c:formatCode>
                <c:ptCount val="8"/>
                <c:pt idx="0" formatCode="0.0">
                  <c:v>0</c:v>
                </c:pt>
                <c:pt idx="2" formatCode="0.0">
                  <c:v>0</c:v>
                </c:pt>
                <c:pt idx="4" formatCode="0.0">
                  <c:v>0</c:v>
                </c:pt>
                <c:pt idx="6" formatCode="0.0">
                  <c:v>20.528047942518249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487F-4E14-99F1-A52B79FE4D1C}"/>
            </c:ext>
          </c:extLst>
        </c:ser>
        <c:ser>
          <c:idx val="9"/>
          <c:order val="3"/>
          <c:tx>
            <c:strRef>
              <c:f>🔍var!$AI$20</c:f>
              <c:strCache>
                <c:ptCount val="1"/>
                <c:pt idx="0">
                  <c:v>HKLS Erdgas</c:v>
                </c:pt>
              </c:strCache>
            </c:strRef>
          </c:tx>
          <c:spPr>
            <a:solidFill>
              <a:srgbClr val="3BACBE">
                <a:lumMod val="75000"/>
              </a:srgbClr>
            </a:solidFill>
            <a:ln>
              <a:noFill/>
            </a:ln>
            <a:effectLst/>
          </c:spPr>
          <c:invertIfNegative val="0"/>
          <c:dLbls>
            <c:numFmt formatCode="0.0;\−0.0;;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de-DE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multiLvlStrRef>
              <c:f>🔍var!$AZ$13:$BG$14</c:f>
              <c:multiLvlStrCache>
                <c:ptCount val="8"/>
                <c:lvl>
                  <c:pt idx="0">
                    <c:v>Bedarf</c:v>
                  </c:pt>
                  <c:pt idx="1">
                    <c:v>Deckung</c:v>
                  </c:pt>
                  <c:pt idx="2">
                    <c:v>Bedarf</c:v>
                  </c:pt>
                  <c:pt idx="3">
                    <c:v>Deckung</c:v>
                  </c:pt>
                  <c:pt idx="4">
                    <c:v>Bedarf</c:v>
                  </c:pt>
                  <c:pt idx="5">
                    <c:v>Deckung</c:v>
                  </c:pt>
                  <c:pt idx="6">
                    <c:v>Bedarf</c:v>
                  </c:pt>
                  <c:pt idx="7">
                    <c:v>Deckung</c:v>
                  </c:pt>
                </c:lvl>
                <c:lvl>
                  <c:pt idx="0">
                    <c:v>Wohnen Neubau 2.5 Geschosse | PEQ Deklaration</c:v>
                  </c:pt>
                  <c:pt idx="2">
                    <c:v>Mischnutzung Neubau 7-stöckig| PEQ+M Deklaration</c:v>
                  </c:pt>
                  <c:pt idx="4">
                    <c:v>RUGInnovation | PEQ m. Mobilität</c:v>
                  </c:pt>
                  <c:pt idx="6">
                    <c:v>Gründerzeit | mit PV</c:v>
                  </c:pt>
                </c:lvl>
              </c:multiLvlStrCache>
            </c:multiLvlStrRef>
          </c:cat>
          <c:val>
            <c:numRef>
              <c:f>🔍var!$AZ$20:$BG$20</c:f>
              <c:numCache>
                <c:formatCode>General</c:formatCode>
                <c:ptCount val="8"/>
                <c:pt idx="0" formatCode="0.0">
                  <c:v>0</c:v>
                </c:pt>
                <c:pt idx="2" formatCode="0.0">
                  <c:v>0</c:v>
                </c:pt>
                <c:pt idx="4" formatCode="0.0">
                  <c:v>0</c:v>
                </c:pt>
                <c:pt idx="6" formatCode="0.0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487F-4E14-99F1-A52B79FE4D1C}"/>
            </c:ext>
          </c:extLst>
        </c:ser>
        <c:ser>
          <c:idx val="10"/>
          <c:order val="4"/>
          <c:tx>
            <c:strRef>
              <c:f>🔍var!$AI$21</c:f>
              <c:strCache>
                <c:ptCount val="1"/>
                <c:pt idx="0">
                  <c:v>HKLS Biomasse</c:v>
                </c:pt>
              </c:strCache>
            </c:strRef>
          </c:tx>
          <c:spPr>
            <a:solidFill>
              <a:srgbClr val="5FB564">
                <a:lumMod val="50000"/>
              </a:srgbClr>
            </a:solidFill>
            <a:ln>
              <a:noFill/>
            </a:ln>
            <a:effectLst/>
          </c:spPr>
          <c:invertIfNegative val="0"/>
          <c:dLbls>
            <c:numFmt formatCode="0.0;\−0.0;;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de-DE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multiLvlStrRef>
              <c:f>🔍var!$AZ$13:$BG$14</c:f>
              <c:multiLvlStrCache>
                <c:ptCount val="8"/>
                <c:lvl>
                  <c:pt idx="0">
                    <c:v>Bedarf</c:v>
                  </c:pt>
                  <c:pt idx="1">
                    <c:v>Deckung</c:v>
                  </c:pt>
                  <c:pt idx="2">
                    <c:v>Bedarf</c:v>
                  </c:pt>
                  <c:pt idx="3">
                    <c:v>Deckung</c:v>
                  </c:pt>
                  <c:pt idx="4">
                    <c:v>Bedarf</c:v>
                  </c:pt>
                  <c:pt idx="5">
                    <c:v>Deckung</c:v>
                  </c:pt>
                  <c:pt idx="6">
                    <c:v>Bedarf</c:v>
                  </c:pt>
                  <c:pt idx="7">
                    <c:v>Deckung</c:v>
                  </c:pt>
                </c:lvl>
                <c:lvl>
                  <c:pt idx="0">
                    <c:v>Wohnen Neubau 2.5 Geschosse | PEQ Deklaration</c:v>
                  </c:pt>
                  <c:pt idx="2">
                    <c:v>Mischnutzung Neubau 7-stöckig| PEQ+M Deklaration</c:v>
                  </c:pt>
                  <c:pt idx="4">
                    <c:v>RUGInnovation | PEQ m. Mobilität</c:v>
                  </c:pt>
                  <c:pt idx="6">
                    <c:v>Gründerzeit | mit PV</c:v>
                  </c:pt>
                </c:lvl>
              </c:multiLvlStrCache>
            </c:multiLvlStrRef>
          </c:cat>
          <c:val>
            <c:numRef>
              <c:f>🔍var!$AZ$21:$BG$21</c:f>
              <c:numCache>
                <c:formatCode>General</c:formatCode>
                <c:ptCount val="8"/>
                <c:pt idx="0" formatCode="0.0">
                  <c:v>0</c:v>
                </c:pt>
                <c:pt idx="2" formatCode="0.0">
                  <c:v>0</c:v>
                </c:pt>
                <c:pt idx="4" formatCode="0.0">
                  <c:v>0</c:v>
                </c:pt>
                <c:pt idx="6" formatCode="0.0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487F-4E14-99F1-A52B79FE4D1C}"/>
            </c:ext>
          </c:extLst>
        </c:ser>
        <c:ser>
          <c:idx val="11"/>
          <c:order val="5"/>
          <c:tx>
            <c:strRef>
              <c:f>🔍var!$AI$22</c:f>
              <c:strCache>
                <c:ptCount val="1"/>
                <c:pt idx="0">
                  <c:v>HKLS Sonstige</c:v>
                </c:pt>
              </c:strCache>
            </c:strRef>
          </c:tx>
          <c:spPr>
            <a:solidFill>
              <a:srgbClr val="E6EFF3">
                <a:lumMod val="25000"/>
              </a:srgbClr>
            </a:solidFill>
            <a:ln>
              <a:noFill/>
            </a:ln>
            <a:effectLst/>
          </c:spPr>
          <c:invertIfNegative val="0"/>
          <c:dLbls>
            <c:numFmt formatCode="0.0;\−0.0;;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de-DE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multiLvlStrRef>
              <c:f>🔍var!$AZ$13:$BG$14</c:f>
              <c:multiLvlStrCache>
                <c:ptCount val="8"/>
                <c:lvl>
                  <c:pt idx="0">
                    <c:v>Bedarf</c:v>
                  </c:pt>
                  <c:pt idx="1">
                    <c:v>Deckung</c:v>
                  </c:pt>
                  <c:pt idx="2">
                    <c:v>Bedarf</c:v>
                  </c:pt>
                  <c:pt idx="3">
                    <c:v>Deckung</c:v>
                  </c:pt>
                  <c:pt idx="4">
                    <c:v>Bedarf</c:v>
                  </c:pt>
                  <c:pt idx="5">
                    <c:v>Deckung</c:v>
                  </c:pt>
                  <c:pt idx="6">
                    <c:v>Bedarf</c:v>
                  </c:pt>
                  <c:pt idx="7">
                    <c:v>Deckung</c:v>
                  </c:pt>
                </c:lvl>
                <c:lvl>
                  <c:pt idx="0">
                    <c:v>Wohnen Neubau 2.5 Geschosse | PEQ Deklaration</c:v>
                  </c:pt>
                  <c:pt idx="2">
                    <c:v>Mischnutzung Neubau 7-stöckig| PEQ+M Deklaration</c:v>
                  </c:pt>
                  <c:pt idx="4">
                    <c:v>RUGInnovation | PEQ m. Mobilität</c:v>
                  </c:pt>
                  <c:pt idx="6">
                    <c:v>Gründerzeit | mit PV</c:v>
                  </c:pt>
                </c:lvl>
              </c:multiLvlStrCache>
            </c:multiLvlStrRef>
          </c:cat>
          <c:val>
            <c:numRef>
              <c:f>🔍var!$AZ$22:$BG$22</c:f>
              <c:numCache>
                <c:formatCode>General</c:formatCode>
                <c:ptCount val="8"/>
                <c:pt idx="0" formatCode="0.0">
                  <c:v>0</c:v>
                </c:pt>
                <c:pt idx="2" formatCode="0.0">
                  <c:v>0.1</c:v>
                </c:pt>
                <c:pt idx="4" formatCode="0.0">
                  <c:v>0</c:v>
                </c:pt>
                <c:pt idx="6" formatCode="0.0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5-487F-4E14-99F1-A52B79FE4D1C}"/>
            </c:ext>
          </c:extLst>
        </c:ser>
        <c:ser>
          <c:idx val="13"/>
          <c:order val="6"/>
          <c:tx>
            <c:strRef>
              <c:f>🔍var!$AI$23</c:f>
              <c:strCache>
                <c:ptCount val="1"/>
                <c:pt idx="0">
                  <c:v>MIV Fossil</c:v>
                </c:pt>
              </c:strCache>
            </c:strRef>
          </c:tx>
          <c:spPr>
            <a:pattFill prst="sphere">
              <a:fgClr>
                <a:srgbClr val="F59C00">
                  <a:lumMod val="75000"/>
                </a:srgbClr>
              </a:fgClr>
              <a:bgClr>
                <a:srgbClr val="F59C00"/>
              </a:bgClr>
            </a:pattFill>
            <a:ln>
              <a:noFill/>
            </a:ln>
            <a:effectLst/>
          </c:spPr>
          <c:invertIfNegative val="0"/>
          <c:dLbls>
            <c:numFmt formatCode="0.0;\−0.0;;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00" b="1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de-DE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multiLvlStrRef>
              <c:f>🔍var!$AZ$13:$BG$14</c:f>
              <c:multiLvlStrCache>
                <c:ptCount val="8"/>
                <c:lvl>
                  <c:pt idx="0">
                    <c:v>Bedarf</c:v>
                  </c:pt>
                  <c:pt idx="1">
                    <c:v>Deckung</c:v>
                  </c:pt>
                  <c:pt idx="2">
                    <c:v>Bedarf</c:v>
                  </c:pt>
                  <c:pt idx="3">
                    <c:v>Deckung</c:v>
                  </c:pt>
                  <c:pt idx="4">
                    <c:v>Bedarf</c:v>
                  </c:pt>
                  <c:pt idx="5">
                    <c:v>Deckung</c:v>
                  </c:pt>
                  <c:pt idx="6">
                    <c:v>Bedarf</c:v>
                  </c:pt>
                  <c:pt idx="7">
                    <c:v>Deckung</c:v>
                  </c:pt>
                </c:lvl>
                <c:lvl>
                  <c:pt idx="0">
                    <c:v>Wohnen Neubau 2.5 Geschosse | PEQ Deklaration</c:v>
                  </c:pt>
                  <c:pt idx="2">
                    <c:v>Mischnutzung Neubau 7-stöckig| PEQ+M Deklaration</c:v>
                  </c:pt>
                  <c:pt idx="4">
                    <c:v>RUGInnovation | PEQ m. Mobilität</c:v>
                  </c:pt>
                  <c:pt idx="6">
                    <c:v>Gründerzeit | mit PV</c:v>
                  </c:pt>
                </c:lvl>
              </c:multiLvlStrCache>
            </c:multiLvlStrRef>
          </c:cat>
          <c:val>
            <c:numRef>
              <c:f>🔍var!$AZ$23:$BG$23</c:f>
              <c:numCache>
                <c:formatCode>General</c:formatCode>
                <c:ptCount val="8"/>
                <c:pt idx="0" formatCode="0.0">
                  <c:v>0</c:v>
                </c:pt>
                <c:pt idx="2" formatCode="0.0">
                  <c:v>21.9</c:v>
                </c:pt>
                <c:pt idx="4" formatCode="0.0">
                  <c:v>12.7</c:v>
                </c:pt>
                <c:pt idx="6" formatCode="0.0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487F-4E14-99F1-A52B79FE4D1C}"/>
            </c:ext>
          </c:extLst>
        </c:ser>
        <c:ser>
          <c:idx val="12"/>
          <c:order val="7"/>
          <c:tx>
            <c:strRef>
              <c:f>🔍var!$AI$24</c:f>
              <c:strCache>
                <c:ptCount val="1"/>
                <c:pt idx="0">
                  <c:v>MIV Elektrisch</c:v>
                </c:pt>
              </c:strCache>
            </c:strRef>
          </c:tx>
          <c:spPr>
            <a:pattFill prst="sphere">
              <a:fgClr>
                <a:srgbClr val="BCCF00"/>
              </a:fgClr>
              <a:bgClr>
                <a:srgbClr val="BCCF00">
                  <a:lumMod val="60000"/>
                  <a:lumOff val="40000"/>
                </a:srgbClr>
              </a:bgClr>
            </a:pattFill>
            <a:ln>
              <a:noFill/>
            </a:ln>
            <a:effectLst/>
          </c:spPr>
          <c:invertIfNegative val="0"/>
          <c:dLbls>
            <c:numFmt formatCode="0.0;\−0.0;;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00" b="1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de-DE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multiLvlStrRef>
              <c:f>🔍var!$AZ$13:$BG$14</c:f>
              <c:multiLvlStrCache>
                <c:ptCount val="8"/>
                <c:lvl>
                  <c:pt idx="0">
                    <c:v>Bedarf</c:v>
                  </c:pt>
                  <c:pt idx="1">
                    <c:v>Deckung</c:v>
                  </c:pt>
                  <c:pt idx="2">
                    <c:v>Bedarf</c:v>
                  </c:pt>
                  <c:pt idx="3">
                    <c:v>Deckung</c:v>
                  </c:pt>
                  <c:pt idx="4">
                    <c:v>Bedarf</c:v>
                  </c:pt>
                  <c:pt idx="5">
                    <c:v>Deckung</c:v>
                  </c:pt>
                  <c:pt idx="6">
                    <c:v>Bedarf</c:v>
                  </c:pt>
                  <c:pt idx="7">
                    <c:v>Deckung</c:v>
                  </c:pt>
                </c:lvl>
                <c:lvl>
                  <c:pt idx="0">
                    <c:v>Wohnen Neubau 2.5 Geschosse | PEQ Deklaration</c:v>
                  </c:pt>
                  <c:pt idx="2">
                    <c:v>Mischnutzung Neubau 7-stöckig| PEQ+M Deklaration</c:v>
                  </c:pt>
                  <c:pt idx="4">
                    <c:v>RUGInnovation | PEQ m. Mobilität</c:v>
                  </c:pt>
                  <c:pt idx="6">
                    <c:v>Gründerzeit | mit PV</c:v>
                  </c:pt>
                </c:lvl>
              </c:multiLvlStrCache>
            </c:multiLvlStrRef>
          </c:cat>
          <c:val>
            <c:numRef>
              <c:f>🔍var!$AZ$24:$BG$24</c:f>
              <c:numCache>
                <c:formatCode>General</c:formatCode>
                <c:ptCount val="8"/>
                <c:pt idx="0" formatCode="0.0">
                  <c:v>0</c:v>
                </c:pt>
                <c:pt idx="2" formatCode="0.0">
                  <c:v>16.399999999999999</c:v>
                </c:pt>
                <c:pt idx="4" formatCode="0.0">
                  <c:v>10.5</c:v>
                </c:pt>
                <c:pt idx="6" formatCode="0.0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7-487F-4E14-99F1-A52B79FE4D1C}"/>
            </c:ext>
          </c:extLst>
        </c:ser>
        <c:ser>
          <c:idx val="1"/>
          <c:order val="8"/>
          <c:tx>
            <c:strRef>
              <c:f>🔍var!$AI$25</c:f>
              <c:strCache>
                <c:ptCount val="1"/>
                <c:pt idx="0">
                  <c:v>Bedarfe</c:v>
                </c:pt>
              </c:strCache>
            </c:strRef>
          </c:tx>
          <c:spPr>
            <a:solidFill>
              <a:srgbClr val="000000">
                <a:alpha val="0"/>
              </a:srgbClr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de-DE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multiLvlStrRef>
              <c:f>🔍var!$AZ$13:$BG$14</c:f>
              <c:multiLvlStrCache>
                <c:ptCount val="8"/>
                <c:lvl>
                  <c:pt idx="0">
                    <c:v>Bedarf</c:v>
                  </c:pt>
                  <c:pt idx="1">
                    <c:v>Deckung</c:v>
                  </c:pt>
                  <c:pt idx="2">
                    <c:v>Bedarf</c:v>
                  </c:pt>
                  <c:pt idx="3">
                    <c:v>Deckung</c:v>
                  </c:pt>
                  <c:pt idx="4">
                    <c:v>Bedarf</c:v>
                  </c:pt>
                  <c:pt idx="5">
                    <c:v>Deckung</c:v>
                  </c:pt>
                  <c:pt idx="6">
                    <c:v>Bedarf</c:v>
                  </c:pt>
                  <c:pt idx="7">
                    <c:v>Deckung</c:v>
                  </c:pt>
                </c:lvl>
                <c:lvl>
                  <c:pt idx="0">
                    <c:v>Wohnen Neubau 2.5 Geschosse | PEQ Deklaration</c:v>
                  </c:pt>
                  <c:pt idx="2">
                    <c:v>Mischnutzung Neubau 7-stöckig| PEQ+M Deklaration</c:v>
                  </c:pt>
                  <c:pt idx="4">
                    <c:v>RUGInnovation | PEQ m. Mobilität</c:v>
                  </c:pt>
                  <c:pt idx="6">
                    <c:v>Gründerzeit | mit PV</c:v>
                  </c:pt>
                </c:lvl>
              </c:multiLvlStrCache>
            </c:multiLvlStrRef>
          </c:cat>
          <c:val>
            <c:numRef>
              <c:f>🔍var!$AZ$25:$BG$25</c:f>
              <c:numCache>
                <c:formatCode>General</c:formatCode>
                <c:ptCount val="8"/>
              </c:numCache>
            </c:numRef>
          </c:val>
          <c:extLst>
            <c:ext xmlns:c16="http://schemas.microsoft.com/office/drawing/2014/chart" uri="{C3380CC4-5D6E-409C-BE32-E72D297353CC}">
              <c16:uniqueId val="{00000008-487F-4E14-99F1-A52B79FE4D1C}"/>
            </c:ext>
          </c:extLst>
        </c:ser>
        <c:ser>
          <c:idx val="2"/>
          <c:order val="9"/>
          <c:tx>
            <c:strRef>
              <c:f>🔍var!$AI$26</c:f>
              <c:strCache>
                <c:ptCount val="1"/>
                <c:pt idx="0">
                  <c:v>Lokale Erneuerbare (Subst.)</c:v>
                </c:pt>
              </c:strCache>
            </c:strRef>
          </c:tx>
          <c:spPr>
            <a:solidFill>
              <a:srgbClr val="5FB564"/>
            </a:solidFill>
            <a:ln>
              <a:noFill/>
            </a:ln>
            <a:effectLst/>
          </c:spPr>
          <c:invertIfNegative val="0"/>
          <c:dLbls>
            <c:numFmt formatCode="0.0;\−0.0;;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00" b="1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de-DE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multiLvlStrRef>
              <c:f>🔍var!$AZ$13:$BG$14</c:f>
              <c:multiLvlStrCache>
                <c:ptCount val="8"/>
                <c:lvl>
                  <c:pt idx="0">
                    <c:v>Bedarf</c:v>
                  </c:pt>
                  <c:pt idx="1">
                    <c:v>Deckung</c:v>
                  </c:pt>
                  <c:pt idx="2">
                    <c:v>Bedarf</c:v>
                  </c:pt>
                  <c:pt idx="3">
                    <c:v>Deckung</c:v>
                  </c:pt>
                  <c:pt idx="4">
                    <c:v>Bedarf</c:v>
                  </c:pt>
                  <c:pt idx="5">
                    <c:v>Deckung</c:v>
                  </c:pt>
                  <c:pt idx="6">
                    <c:v>Bedarf</c:v>
                  </c:pt>
                  <c:pt idx="7">
                    <c:v>Deckung</c:v>
                  </c:pt>
                </c:lvl>
                <c:lvl>
                  <c:pt idx="0">
                    <c:v>Wohnen Neubau 2.5 Geschosse | PEQ Deklaration</c:v>
                  </c:pt>
                  <c:pt idx="2">
                    <c:v>Mischnutzung Neubau 7-stöckig| PEQ+M Deklaration</c:v>
                  </c:pt>
                  <c:pt idx="4">
                    <c:v>RUGInnovation | PEQ m. Mobilität</c:v>
                  </c:pt>
                  <c:pt idx="6">
                    <c:v>Gründerzeit | mit PV</c:v>
                  </c:pt>
                </c:lvl>
              </c:multiLvlStrCache>
            </c:multiLvlStrRef>
          </c:cat>
          <c:val>
            <c:numRef>
              <c:f>🔍var!$AZ$26:$BG$26</c:f>
              <c:numCache>
                <c:formatCode>0.0</c:formatCode>
                <c:ptCount val="8"/>
                <c:pt idx="1">
                  <c:v>65.2</c:v>
                </c:pt>
                <c:pt idx="3">
                  <c:v>28.4</c:v>
                </c:pt>
                <c:pt idx="5">
                  <c:v>26.5</c:v>
                </c:pt>
                <c:pt idx="7">
                  <c:v>15.494492444165578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9-487F-4E14-99F1-A52B79FE4D1C}"/>
            </c:ext>
          </c:extLst>
        </c:ser>
        <c:ser>
          <c:idx val="3"/>
          <c:order val="10"/>
          <c:tx>
            <c:strRef>
              <c:f>🔍var!$AI$27</c:f>
              <c:strCache>
                <c:ptCount val="1"/>
                <c:pt idx="0">
                  <c:v>Energieflexibler Bezug</c:v>
                </c:pt>
              </c:strCache>
            </c:strRef>
          </c:tx>
          <c:spPr>
            <a:solidFill>
              <a:srgbClr val="BCCF00">
                <a:lumMod val="60000"/>
                <a:lumOff val="40000"/>
              </a:srgbClr>
            </a:solidFill>
            <a:ln>
              <a:noFill/>
            </a:ln>
            <a:effectLst/>
          </c:spPr>
          <c:invertIfNegative val="0"/>
          <c:dLbls>
            <c:numFmt formatCode="0.0;\−0.0;;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00" b="1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de-DE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multiLvlStrRef>
              <c:f>🔍var!$AZ$13:$BG$14</c:f>
              <c:multiLvlStrCache>
                <c:ptCount val="8"/>
                <c:lvl>
                  <c:pt idx="0">
                    <c:v>Bedarf</c:v>
                  </c:pt>
                  <c:pt idx="1">
                    <c:v>Deckung</c:v>
                  </c:pt>
                  <c:pt idx="2">
                    <c:v>Bedarf</c:v>
                  </c:pt>
                  <c:pt idx="3">
                    <c:v>Deckung</c:v>
                  </c:pt>
                  <c:pt idx="4">
                    <c:v>Bedarf</c:v>
                  </c:pt>
                  <c:pt idx="5">
                    <c:v>Deckung</c:v>
                  </c:pt>
                  <c:pt idx="6">
                    <c:v>Bedarf</c:v>
                  </c:pt>
                  <c:pt idx="7">
                    <c:v>Deckung</c:v>
                  </c:pt>
                </c:lvl>
                <c:lvl>
                  <c:pt idx="0">
                    <c:v>Wohnen Neubau 2.5 Geschosse | PEQ Deklaration</c:v>
                  </c:pt>
                  <c:pt idx="2">
                    <c:v>Mischnutzung Neubau 7-stöckig| PEQ+M Deklaration</c:v>
                  </c:pt>
                  <c:pt idx="4">
                    <c:v>RUGInnovation | PEQ m. Mobilität</c:v>
                  </c:pt>
                  <c:pt idx="6">
                    <c:v>Gründerzeit | mit PV</c:v>
                  </c:pt>
                </c:lvl>
              </c:multiLvlStrCache>
            </c:multiLvlStrRef>
          </c:cat>
          <c:val>
            <c:numRef>
              <c:f>🔍var!$AZ$27:$BG$27</c:f>
              <c:numCache>
                <c:formatCode>0.0</c:formatCode>
                <c:ptCount val="8"/>
                <c:pt idx="1">
                  <c:v>11.3</c:v>
                </c:pt>
                <c:pt idx="3">
                  <c:v>27.1</c:v>
                </c:pt>
                <c:pt idx="5">
                  <c:v>34.6</c:v>
                </c:pt>
                <c:pt idx="7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A-487F-4E14-99F1-A52B79FE4D1C}"/>
            </c:ext>
          </c:extLst>
        </c:ser>
        <c:ser>
          <c:idx val="6"/>
          <c:order val="11"/>
          <c:tx>
            <c:strRef>
              <c:f>🔍var!$AI$28</c:f>
              <c:strCache>
                <c:ptCount val="1"/>
                <c:pt idx="0">
                  <c:v>Kontext Sanierung</c:v>
                </c:pt>
              </c:strCache>
            </c:strRef>
          </c:tx>
          <c:spPr>
            <a:pattFill prst="wdUpDiag">
              <a:fgClr>
                <a:srgbClr val="3BACBE">
                  <a:lumMod val="40000"/>
                  <a:lumOff val="60000"/>
                </a:srgbClr>
              </a:fgClr>
              <a:bgClr>
                <a:srgbClr val="3BACBE">
                  <a:lumMod val="20000"/>
                  <a:lumOff val="80000"/>
                </a:srgbClr>
              </a:bgClr>
            </a:pattFill>
            <a:ln>
              <a:noFill/>
            </a:ln>
            <a:effectLst/>
          </c:spPr>
          <c:invertIfNegative val="0"/>
          <c:dLbls>
            <c:dLbl>
              <c:idx val="1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B-487F-4E14-99F1-A52B79FE4D1C}"/>
                </c:ext>
              </c:extLst>
            </c:dLbl>
            <c:dLbl>
              <c:idx val="3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C-487F-4E14-99F1-A52B79FE4D1C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00" b="1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de-DE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multiLvlStrRef>
              <c:f>🔍var!$AZ$13:$BG$14</c:f>
              <c:multiLvlStrCache>
                <c:ptCount val="8"/>
                <c:lvl>
                  <c:pt idx="0">
                    <c:v>Bedarf</c:v>
                  </c:pt>
                  <c:pt idx="1">
                    <c:v>Deckung</c:v>
                  </c:pt>
                  <c:pt idx="2">
                    <c:v>Bedarf</c:v>
                  </c:pt>
                  <c:pt idx="3">
                    <c:v>Deckung</c:v>
                  </c:pt>
                  <c:pt idx="4">
                    <c:v>Bedarf</c:v>
                  </c:pt>
                  <c:pt idx="5">
                    <c:v>Deckung</c:v>
                  </c:pt>
                  <c:pt idx="6">
                    <c:v>Bedarf</c:v>
                  </c:pt>
                  <c:pt idx="7">
                    <c:v>Deckung</c:v>
                  </c:pt>
                </c:lvl>
                <c:lvl>
                  <c:pt idx="0">
                    <c:v>Wohnen Neubau 2.5 Geschosse | PEQ Deklaration</c:v>
                  </c:pt>
                  <c:pt idx="2">
                    <c:v>Mischnutzung Neubau 7-stöckig| PEQ+M Deklaration</c:v>
                  </c:pt>
                  <c:pt idx="4">
                    <c:v>RUGInnovation | PEQ m. Mobilität</c:v>
                  </c:pt>
                  <c:pt idx="6">
                    <c:v>Gründerzeit | mit PV</c:v>
                  </c:pt>
                </c:lvl>
              </c:multiLvlStrCache>
            </c:multiLvlStrRef>
          </c:cat>
          <c:val>
            <c:numRef>
              <c:f>🔍var!$AZ$28:$BG$28</c:f>
              <c:numCache>
                <c:formatCode>0.0</c:formatCode>
                <c:ptCount val="8"/>
                <c:pt idx="1">
                  <c:v>0</c:v>
                </c:pt>
                <c:pt idx="3">
                  <c:v>0</c:v>
                </c:pt>
                <c:pt idx="5">
                  <c:v>15</c:v>
                </c:pt>
                <c:pt idx="7">
                  <c:v>15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D-487F-4E14-99F1-A52B79FE4D1C}"/>
            </c:ext>
          </c:extLst>
        </c:ser>
        <c:ser>
          <c:idx val="4"/>
          <c:order val="12"/>
          <c:tx>
            <c:strRef>
              <c:f>🔍var!$AI$29</c:f>
              <c:strCache>
                <c:ptCount val="1"/>
                <c:pt idx="0">
                  <c:v>Kontext bauliche Dichte</c:v>
                </c:pt>
              </c:strCache>
            </c:strRef>
          </c:tx>
          <c:spPr>
            <a:pattFill prst="wdUpDiag">
              <a:fgClr>
                <a:srgbClr val="950F53">
                  <a:lumMod val="40000"/>
                  <a:lumOff val="60000"/>
                </a:srgbClr>
              </a:fgClr>
              <a:bgClr>
                <a:srgbClr val="950F53">
                  <a:lumMod val="20000"/>
                  <a:lumOff val="80000"/>
                </a:srgbClr>
              </a:bgClr>
            </a:pattFill>
            <a:ln>
              <a:noFill/>
            </a:ln>
            <a:effectLst/>
          </c:spPr>
          <c:invertIfNegative val="0"/>
          <c:dLbls>
            <c:numFmt formatCode="0.0;\−0.0;;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00" b="1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de-DE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multiLvlStrRef>
              <c:f>🔍var!$AZ$13:$BG$14</c:f>
              <c:multiLvlStrCache>
                <c:ptCount val="8"/>
                <c:lvl>
                  <c:pt idx="0">
                    <c:v>Bedarf</c:v>
                  </c:pt>
                  <c:pt idx="1">
                    <c:v>Deckung</c:v>
                  </c:pt>
                  <c:pt idx="2">
                    <c:v>Bedarf</c:v>
                  </c:pt>
                  <c:pt idx="3">
                    <c:v>Deckung</c:v>
                  </c:pt>
                  <c:pt idx="4">
                    <c:v>Bedarf</c:v>
                  </c:pt>
                  <c:pt idx="5">
                    <c:v>Deckung</c:v>
                  </c:pt>
                  <c:pt idx="6">
                    <c:v>Bedarf</c:v>
                  </c:pt>
                  <c:pt idx="7">
                    <c:v>Deckung</c:v>
                  </c:pt>
                </c:lvl>
                <c:lvl>
                  <c:pt idx="0">
                    <c:v>Wohnen Neubau 2.5 Geschosse | PEQ Deklaration</c:v>
                  </c:pt>
                  <c:pt idx="2">
                    <c:v>Mischnutzung Neubau 7-stöckig| PEQ+M Deklaration</c:v>
                  </c:pt>
                  <c:pt idx="4">
                    <c:v>RUGInnovation | PEQ m. Mobilität</c:v>
                  </c:pt>
                  <c:pt idx="6">
                    <c:v>Gründerzeit | mit PV</c:v>
                  </c:pt>
                </c:lvl>
              </c:multiLvlStrCache>
            </c:multiLvlStrRef>
          </c:cat>
          <c:val>
            <c:numRef>
              <c:f>🔍var!$AZ$29:$BG$29</c:f>
              <c:numCache>
                <c:formatCode>0.0</c:formatCode>
                <c:ptCount val="8"/>
                <c:pt idx="0">
                  <c:v>11.286825315042625</c:v>
                </c:pt>
                <c:pt idx="1">
                  <c:v>0</c:v>
                </c:pt>
                <c:pt idx="2">
                  <c:v>0</c:v>
                </c:pt>
                <c:pt idx="3">
                  <c:v>40.681552690675289</c:v>
                </c:pt>
                <c:pt idx="4">
                  <c:v>0</c:v>
                </c:pt>
                <c:pt idx="5">
                  <c:v>28.166250732070917</c:v>
                </c:pt>
                <c:pt idx="6">
                  <c:v>0</c:v>
                </c:pt>
                <c:pt idx="7">
                  <c:v>37.907948717948713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E-487F-4E14-99F1-A52B79FE4D1C}"/>
            </c:ext>
          </c:extLst>
        </c:ser>
        <c:ser>
          <c:idx val="5"/>
          <c:order val="13"/>
          <c:tx>
            <c:strRef>
              <c:f>🔍var!$AI$30</c:f>
              <c:strCache>
                <c:ptCount val="1"/>
                <c:pt idx="0">
                  <c:v>Kontext Mobilität</c:v>
                </c:pt>
              </c:strCache>
            </c:strRef>
          </c:tx>
          <c:spPr>
            <a:pattFill prst="wdUpDiag">
              <a:fgClr>
                <a:srgbClr val="F59C00">
                  <a:lumMod val="40000"/>
                  <a:lumOff val="60000"/>
                </a:srgbClr>
              </a:fgClr>
              <a:bgClr>
                <a:srgbClr val="F59C00">
                  <a:lumMod val="20000"/>
                  <a:lumOff val="80000"/>
                </a:srgbClr>
              </a:bgClr>
            </a:pattFill>
            <a:ln>
              <a:noFill/>
            </a:ln>
            <a:effectLst/>
          </c:spPr>
          <c:invertIfNegative val="0"/>
          <c:dLbls>
            <c:numFmt formatCode="0.0;\−0.0;;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00" b="1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de-DE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multiLvlStrRef>
              <c:f>🔍var!$AZ$13:$BG$14</c:f>
              <c:multiLvlStrCache>
                <c:ptCount val="8"/>
                <c:lvl>
                  <c:pt idx="0">
                    <c:v>Bedarf</c:v>
                  </c:pt>
                  <c:pt idx="1">
                    <c:v>Deckung</c:v>
                  </c:pt>
                  <c:pt idx="2">
                    <c:v>Bedarf</c:v>
                  </c:pt>
                  <c:pt idx="3">
                    <c:v>Deckung</c:v>
                  </c:pt>
                  <c:pt idx="4">
                    <c:v>Bedarf</c:v>
                  </c:pt>
                  <c:pt idx="5">
                    <c:v>Deckung</c:v>
                  </c:pt>
                  <c:pt idx="6">
                    <c:v>Bedarf</c:v>
                  </c:pt>
                  <c:pt idx="7">
                    <c:v>Deckung</c:v>
                  </c:pt>
                </c:lvl>
                <c:lvl>
                  <c:pt idx="0">
                    <c:v>Wohnen Neubau 2.5 Geschosse | PEQ Deklaration</c:v>
                  </c:pt>
                  <c:pt idx="2">
                    <c:v>Mischnutzung Neubau 7-stöckig| PEQ+M Deklaration</c:v>
                  </c:pt>
                  <c:pt idx="4">
                    <c:v>RUGInnovation | PEQ m. Mobilität</c:v>
                  </c:pt>
                  <c:pt idx="6">
                    <c:v>Gründerzeit | mit PV</c:v>
                  </c:pt>
                </c:lvl>
              </c:multiLvlStrCache>
            </c:multiLvlStrRef>
          </c:cat>
          <c:val>
            <c:numRef>
              <c:f>🔍var!$AZ$30:$BG$30</c:f>
              <c:numCache>
                <c:formatCode>0.0</c:formatCode>
                <c:ptCount val="8"/>
                <c:pt idx="1">
                  <c:v>0</c:v>
                </c:pt>
                <c:pt idx="3">
                  <c:v>25.599270454823273</c:v>
                </c:pt>
                <c:pt idx="5">
                  <c:v>14.107740396658576</c:v>
                </c:pt>
                <c:pt idx="7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F-487F-4E14-99F1-A52B79FE4D1C}"/>
            </c:ext>
          </c:extLst>
        </c:ser>
        <c:ser>
          <c:idx val="14"/>
          <c:order val="14"/>
          <c:tx>
            <c:strRef>
              <c:f>🔍var!$AI$31</c:f>
              <c:strCache>
                <c:ptCount val="1"/>
                <c:pt idx="0">
                  <c:v>Deckung</c:v>
                </c:pt>
              </c:strCache>
            </c:strRef>
          </c:tx>
          <c:spPr>
            <a:noFill/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de-DE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multiLvlStrRef>
              <c:f>🔍var!$AZ$13:$BG$14</c:f>
              <c:multiLvlStrCache>
                <c:ptCount val="8"/>
                <c:lvl>
                  <c:pt idx="0">
                    <c:v>Bedarf</c:v>
                  </c:pt>
                  <c:pt idx="1">
                    <c:v>Deckung</c:v>
                  </c:pt>
                  <c:pt idx="2">
                    <c:v>Bedarf</c:v>
                  </c:pt>
                  <c:pt idx="3">
                    <c:v>Deckung</c:v>
                  </c:pt>
                  <c:pt idx="4">
                    <c:v>Bedarf</c:v>
                  </c:pt>
                  <c:pt idx="5">
                    <c:v>Deckung</c:v>
                  </c:pt>
                  <c:pt idx="6">
                    <c:v>Bedarf</c:v>
                  </c:pt>
                  <c:pt idx="7">
                    <c:v>Deckung</c:v>
                  </c:pt>
                </c:lvl>
                <c:lvl>
                  <c:pt idx="0">
                    <c:v>Wohnen Neubau 2.5 Geschosse | PEQ Deklaration</c:v>
                  </c:pt>
                  <c:pt idx="2">
                    <c:v>Mischnutzung Neubau 7-stöckig| PEQ+M Deklaration</c:v>
                  </c:pt>
                  <c:pt idx="4">
                    <c:v>RUGInnovation | PEQ m. Mobilität</c:v>
                  </c:pt>
                  <c:pt idx="6">
                    <c:v>Gründerzeit | mit PV</c:v>
                  </c:pt>
                </c:lvl>
              </c:multiLvlStrCache>
            </c:multiLvlStrRef>
          </c:cat>
          <c:val>
            <c:numRef>
              <c:f>🔍var!$AZ$31:$BG$31</c:f>
              <c:numCache>
                <c:formatCode>General</c:formatCode>
                <c:ptCount val="8"/>
              </c:numCache>
            </c:numRef>
          </c:val>
          <c:extLst>
            <c:ext xmlns:c16="http://schemas.microsoft.com/office/drawing/2014/chart" uri="{C3380CC4-5D6E-409C-BE32-E72D297353CC}">
              <c16:uniqueId val="{00000010-487F-4E14-99F1-A52B79FE4D1C}"/>
            </c:ext>
          </c:extLst>
        </c:ser>
        <c:dLbls>
          <c:dLblPos val="ctr"/>
          <c:showLegendKey val="0"/>
          <c:showVal val="1"/>
          <c:showCatName val="0"/>
          <c:showSerName val="0"/>
          <c:showPercent val="0"/>
          <c:showBubbleSize val="0"/>
        </c:dLbls>
        <c:gapWidth val="50"/>
        <c:overlap val="100"/>
        <c:axId val="1109789984"/>
        <c:axId val="1167844256"/>
      </c:barChart>
      <c:catAx>
        <c:axId val="1109789984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de-DE"/>
          </a:p>
        </c:txPr>
        <c:crossAx val="1167844256"/>
        <c:crosses val="autoZero"/>
        <c:auto val="1"/>
        <c:lblAlgn val="ctr"/>
        <c:lblOffset val="100"/>
        <c:noMultiLvlLbl val="0"/>
      </c:catAx>
      <c:valAx>
        <c:axId val="1167844256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 algn="ctr" rtl="0">
                  <a:defRPr sz="11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de-AT" sz="1100" b="0" i="0" u="none" strike="noStrike" kern="1200" baseline="0">
                    <a:solidFill>
                      <a:srgbClr val="000000">
                        <a:lumMod val="65000"/>
                        <a:lumOff val="35000"/>
                      </a:srgbClr>
                    </a:solidFill>
                  </a:rPr>
                  <a:t>Primärenergie kWh</a:t>
                </a:r>
                <a:r>
                  <a:rPr lang="de-AT" sz="1100" b="0" i="0" u="none" strike="noStrike" kern="1200" baseline="-25000">
                    <a:solidFill>
                      <a:srgbClr val="000000">
                        <a:lumMod val="65000"/>
                        <a:lumOff val="35000"/>
                      </a:srgbClr>
                    </a:solidFill>
                  </a:rPr>
                  <a:t>PE</a:t>
                </a:r>
                <a:r>
                  <a:rPr lang="de-AT" sz="1100" b="0" i="0" u="none" strike="noStrike" kern="1200" baseline="0">
                    <a:solidFill>
                      <a:srgbClr val="000000">
                        <a:lumMod val="65000"/>
                        <a:lumOff val="35000"/>
                      </a:srgbClr>
                    </a:solidFill>
                  </a:rPr>
                  <a:t>/(m²</a:t>
                </a:r>
                <a:r>
                  <a:rPr lang="de-AT" sz="1100" b="0" i="0" u="none" strike="noStrike" kern="1200" baseline="-25000">
                    <a:solidFill>
                      <a:srgbClr val="000000">
                        <a:lumMod val="65000"/>
                        <a:lumOff val="35000"/>
                      </a:srgbClr>
                    </a:solidFill>
                  </a:rPr>
                  <a:t>NGF</a:t>
                </a:r>
                <a:r>
                  <a:rPr lang="de-AT" sz="1100" b="0" i="0" u="none" strike="noStrike" kern="1200" baseline="0">
                    <a:solidFill>
                      <a:srgbClr val="000000">
                        <a:lumMod val="65000"/>
                        <a:lumOff val="35000"/>
                      </a:srgbClr>
                    </a:solidFill>
                  </a:rPr>
                  <a:t>a)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 algn="ctr" rtl="0">
                <a:defRPr sz="11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de-DE"/>
            </a:p>
          </c:txPr>
        </c:title>
        <c:numFmt formatCode="0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de-DE"/>
          </a:p>
        </c:txPr>
        <c:crossAx val="1109789984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legend>
      <c:legendPos val="r"/>
      <c:legendEntry>
        <c:idx val="0"/>
        <c:delete val="1"/>
      </c:legendEntry>
      <c:legendEntry>
        <c:idx val="6"/>
        <c:delete val="1"/>
      </c:legendEntry>
      <c:legendEntry>
        <c:idx val="10"/>
        <c:delete val="1"/>
      </c:legendEntry>
      <c:legendEntry>
        <c:idx val="11"/>
        <c:delete val="1"/>
      </c:legendEntry>
      <c:layout>
        <c:manualLayout>
          <c:xMode val="edge"/>
          <c:yMode val="edge"/>
          <c:x val="0.78403144289568594"/>
          <c:y val="5.6128654973960822E-2"/>
          <c:w val="0.21089103596882378"/>
          <c:h val="0.85608640927319024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de-DE"/>
        </a:p>
      </c:txPr>
    </c:legend>
    <c:plotVisOnly val="1"/>
    <c:dispBlanksAs val="gap"/>
    <c:showDLblsOverMax val="0"/>
  </c:chart>
  <c:spPr>
    <a:solidFill>
      <a:srgbClr val="E6EFF3"/>
    </a:solidFill>
    <a:ln w="9525" cap="flat" cmpd="sng" algn="ctr">
      <a:solidFill>
        <a:schemeClr val="tx1">
          <a:lumMod val="15000"/>
          <a:lumOff val="85000"/>
        </a:schemeClr>
      </a:solidFill>
      <a:round/>
    </a:ln>
    <a:effectLst/>
  </c:spPr>
  <c:txPr>
    <a:bodyPr/>
    <a:lstStyle/>
    <a:p>
      <a:pPr>
        <a:defRPr sz="1100"/>
      </a:pPr>
      <a:endParaRPr lang="de-DE"/>
    </a:p>
  </c:txPr>
  <c:externalData r:id="rId4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de-DE"/>
  <c:roundedCorners val="0"/>
  <mc:AlternateContent xmlns:mc="http://schemas.openxmlformats.org/markup-compatibility/2006">
    <mc:Choice xmlns:c14="http://schemas.microsoft.com/office/drawing/2007/8/2/chart" Requires="c14">
      <c14:style val="105"/>
    </mc:Choice>
    <mc:Fallback>
      <c:style val="5"/>
    </mc:Fallback>
  </mc:AlternateContent>
  <c:chart>
    <c:title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0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de-DE"/>
        </a:p>
      </c:txPr>
    </c:title>
    <c:autoTitleDeleted val="0"/>
    <c:plotArea>
      <c:layout/>
      <c:pieChart>
        <c:varyColors val="1"/>
        <c:ser>
          <c:idx val="0"/>
          <c:order val="0"/>
          <c:tx>
            <c:strRef>
              <c:f>Auswertung!$B$2</c:f>
              <c:strCache>
                <c:ptCount val="1"/>
                <c:pt idx="0">
                  <c:v>Kommunikationsinstrument</c:v>
                </c:pt>
              </c:strCache>
            </c:strRef>
          </c:tx>
          <c:dPt>
            <c:idx val="0"/>
            <c:bubble3D val="0"/>
            <c:spPr>
              <a:solidFill>
                <a:schemeClr val="accent3">
                  <a:shade val="58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08B9-4925-A78C-727AED7A5356}"/>
              </c:ext>
            </c:extLst>
          </c:dPt>
          <c:dPt>
            <c:idx val="1"/>
            <c:bubble3D val="0"/>
            <c:spPr>
              <a:solidFill>
                <a:schemeClr val="accent3">
                  <a:shade val="86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08B9-4925-A78C-727AED7A5356}"/>
              </c:ext>
            </c:extLst>
          </c:dPt>
          <c:dPt>
            <c:idx val="2"/>
            <c:bubble3D val="0"/>
            <c:spPr>
              <a:solidFill>
                <a:schemeClr val="accent3">
                  <a:tint val="86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08B9-4925-A78C-727AED7A5356}"/>
              </c:ext>
            </c:extLst>
          </c:dPt>
          <c:dPt>
            <c:idx val="3"/>
            <c:bubble3D val="0"/>
            <c:spPr>
              <a:solidFill>
                <a:schemeClr val="accent3">
                  <a:tint val="58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7-08B9-4925-A78C-727AED7A5356}"/>
              </c:ext>
            </c:extLst>
          </c:dPt>
          <c:dPt>
            <c:idx val="4"/>
            <c:bubble3D val="0"/>
            <c:spPr>
              <a:solidFill>
                <a:schemeClr val="accent3">
                  <a:tint val="54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9-08B9-4925-A78C-727AED7A5356}"/>
              </c:ext>
            </c:extLst>
          </c:dPt>
          <c:dLbls>
            <c:dLbl>
              <c:idx val="4"/>
              <c:layout>
                <c:manualLayout>
                  <c:x val="-0.2145018137958451"/>
                  <c:y val="0.13889982502187226"/>
                </c:manualLayout>
              </c:layout>
              <c:dLblPos val="bestFit"/>
              <c:showLegendKey val="0"/>
              <c:showVal val="1"/>
              <c:showCatName val="1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9-08B9-4925-A78C-727AED7A5356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de-DE"/>
              </a:p>
            </c:txPr>
            <c:dLblPos val="bestFit"/>
            <c:showLegendKey val="0"/>
            <c:showVal val="1"/>
            <c:showCatName val="1"/>
            <c:showSerName val="0"/>
            <c:showPercent val="0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Auswertung!$B$3:$B$7</c:f>
              <c:strCache>
                <c:ptCount val="5"/>
                <c:pt idx="0">
                  <c:v>Print Artikel</c:v>
                </c:pt>
                <c:pt idx="1">
                  <c:v>Online Artikel</c:v>
                </c:pt>
                <c:pt idx="2">
                  <c:v>Präsentation</c:v>
                </c:pt>
                <c:pt idx="3">
                  <c:v>Workshop</c:v>
                </c:pt>
                <c:pt idx="4">
                  <c:v>Auszeichnungsveranstaltung</c:v>
                </c:pt>
              </c:strCache>
            </c:strRef>
          </c:cat>
          <c:val>
            <c:numRef>
              <c:f>Auswertung!$D$3:$D$7</c:f>
              <c:numCache>
                <c:formatCode>0%</c:formatCode>
                <c:ptCount val="5"/>
                <c:pt idx="0">
                  <c:v>0</c:v>
                </c:pt>
                <c:pt idx="1">
                  <c:v>0.17647058823529413</c:v>
                </c:pt>
                <c:pt idx="2">
                  <c:v>0.6470588235294118</c:v>
                </c:pt>
                <c:pt idx="3">
                  <c:v>0.17647058823529413</c:v>
                </c:pt>
                <c:pt idx="4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A-08B9-4925-A78C-727AED7A535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de-DE"/>
    </a:p>
  </c:txPr>
  <c:externalData r:id="rId3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de-DE"/>
  <c:roundedCorners val="0"/>
  <mc:AlternateContent xmlns:mc="http://schemas.openxmlformats.org/markup-compatibility/2006">
    <mc:Choice xmlns:c14="http://schemas.microsoft.com/office/drawing/2007/8/2/chart" Requires="c14">
      <c14:style val="105"/>
    </mc:Choice>
    <mc:Fallback>
      <c:style val="5"/>
    </mc:Fallback>
  </mc:AlternateContent>
  <c:chart>
    <c:title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0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de-DE"/>
        </a:p>
      </c:txPr>
    </c:title>
    <c:autoTitleDeleted val="0"/>
    <c:plotArea>
      <c:layout/>
      <c:pieChart>
        <c:varyColors val="1"/>
        <c:ser>
          <c:idx val="0"/>
          <c:order val="0"/>
          <c:tx>
            <c:strRef>
              <c:f>Auswertung!$B$10</c:f>
              <c:strCache>
                <c:ptCount val="1"/>
                <c:pt idx="0">
                  <c:v>Zielgruppe</c:v>
                </c:pt>
              </c:strCache>
            </c:strRef>
          </c:tx>
          <c:dPt>
            <c:idx val="0"/>
            <c:bubble3D val="0"/>
            <c:spPr>
              <a:solidFill>
                <a:schemeClr val="accent3">
                  <a:shade val="58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84E8-4ECD-95B6-9AC177DACCB7}"/>
              </c:ext>
            </c:extLst>
          </c:dPt>
          <c:dPt>
            <c:idx val="1"/>
            <c:bubble3D val="0"/>
            <c:spPr>
              <a:solidFill>
                <a:schemeClr val="accent3">
                  <a:shade val="86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84E8-4ECD-95B6-9AC177DACCB7}"/>
              </c:ext>
            </c:extLst>
          </c:dPt>
          <c:dPt>
            <c:idx val="2"/>
            <c:bubble3D val="0"/>
            <c:spPr>
              <a:solidFill>
                <a:schemeClr val="accent3">
                  <a:tint val="86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84E8-4ECD-95B6-9AC177DACCB7}"/>
              </c:ext>
            </c:extLst>
          </c:dPt>
          <c:dPt>
            <c:idx val="3"/>
            <c:bubble3D val="0"/>
            <c:spPr>
              <a:solidFill>
                <a:schemeClr val="accent3">
                  <a:tint val="58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7-84E8-4ECD-95B6-9AC177DACCB7}"/>
              </c:ext>
            </c:extLst>
          </c:dPt>
          <c:dLbls>
            <c:dLbl>
              <c:idx val="2"/>
              <c:layout>
                <c:manualLayout>
                  <c:x val="2.5797662160505115E-2"/>
                  <c:y val="-2.5277777777777777E-2"/>
                </c:manualLayout>
              </c:layout>
              <c:dLblPos val="bestFit"/>
              <c:showLegendKey val="0"/>
              <c:showVal val="1"/>
              <c:showCatName val="1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84E8-4ECD-95B6-9AC177DACCB7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de-DE"/>
              </a:p>
            </c:txPr>
            <c:dLblPos val="bestFit"/>
            <c:showLegendKey val="0"/>
            <c:showVal val="1"/>
            <c:showCatName val="1"/>
            <c:showSerName val="0"/>
            <c:showPercent val="0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Auswertung!$B$11:$B$14</c:f>
              <c:strCache>
                <c:ptCount val="4"/>
                <c:pt idx="0">
                  <c:v>Gemeinde- und Städteverantwortliche</c:v>
                </c:pt>
                <c:pt idx="1">
                  <c:v>Projektentwickler und Bauträger</c:v>
                </c:pt>
                <c:pt idx="2">
                  <c:v>Beratende und Planende</c:v>
                </c:pt>
                <c:pt idx="3">
                  <c:v>Gemischt</c:v>
                </c:pt>
              </c:strCache>
            </c:strRef>
          </c:cat>
          <c:val>
            <c:numRef>
              <c:f>Auswertung!$D$11:$D$14</c:f>
              <c:numCache>
                <c:formatCode>0%</c:formatCode>
                <c:ptCount val="4"/>
                <c:pt idx="0">
                  <c:v>0.11764705882352941</c:v>
                </c:pt>
                <c:pt idx="1">
                  <c:v>0.17647058823529413</c:v>
                </c:pt>
                <c:pt idx="2">
                  <c:v>0.41176470588235292</c:v>
                </c:pt>
                <c:pt idx="3">
                  <c:v>0.29411764705882354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84E8-4ECD-95B6-9AC177DACCB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de-DE"/>
    </a:p>
  </c:txPr>
  <c:externalData r:id="rId3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de-DE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/>
      <c:lineChart>
        <c:grouping val="percentStacked"/>
        <c:varyColors val="0"/>
        <c:ser>
          <c:idx val="0"/>
          <c:order val="0"/>
          <c:spPr>
            <a:ln>
              <a:noFill/>
            </a:ln>
          </c:spPr>
          <c:marker>
            <c:symbol val="circle"/>
            <c:size val="10"/>
            <c:spPr>
              <a:solidFill>
                <a:srgbClr val="92D050"/>
              </a:solidFill>
              <a:ln>
                <a:solidFill>
                  <a:schemeClr val="bg2"/>
                </a:solidFill>
              </a:ln>
            </c:spPr>
          </c:marker>
          <c:cat>
            <c:numRef>
              <c:f>Datenbank!$B$3:$B$42</c:f>
              <c:numCache>
                <c:formatCode>m/d/yyyy</c:formatCode>
                <c:ptCount val="40"/>
                <c:pt idx="0">
                  <c:v>45908</c:v>
                </c:pt>
                <c:pt idx="1">
                  <c:v>45960</c:v>
                </c:pt>
                <c:pt idx="2">
                  <c:v>45993</c:v>
                </c:pt>
                <c:pt idx="3">
                  <c:v>46008</c:v>
                </c:pt>
                <c:pt idx="4">
                  <c:v>46036</c:v>
                </c:pt>
              </c:numCache>
            </c:numRef>
          </c:cat>
          <c:val>
            <c:numRef>
              <c:f>Datenbank!$J$3:$J$42</c:f>
              <c:numCache>
                <c:formatCode>General</c:formatCode>
                <c:ptCount val="40"/>
                <c:pt idx="0">
                  <c:v>1</c:v>
                </c:pt>
                <c:pt idx="1">
                  <c:v>1</c:v>
                </c:pt>
                <c:pt idx="2">
                  <c:v>1</c:v>
                </c:pt>
                <c:pt idx="3">
                  <c:v>1</c:v>
                </c:pt>
                <c:pt idx="4">
                  <c:v>1</c:v>
                </c:pt>
                <c:pt idx="5">
                  <c:v>1</c:v>
                </c:pt>
                <c:pt idx="6">
                  <c:v>1</c:v>
                </c:pt>
                <c:pt idx="7">
                  <c:v>1</c:v>
                </c:pt>
                <c:pt idx="8">
                  <c:v>1</c:v>
                </c:pt>
                <c:pt idx="9">
                  <c:v>1</c:v>
                </c:pt>
                <c:pt idx="10">
                  <c:v>1</c:v>
                </c:pt>
                <c:pt idx="11">
                  <c:v>1</c:v>
                </c:pt>
                <c:pt idx="12">
                  <c:v>1</c:v>
                </c:pt>
                <c:pt idx="13">
                  <c:v>1</c:v>
                </c:pt>
                <c:pt idx="14">
                  <c:v>1</c:v>
                </c:pt>
                <c:pt idx="15">
                  <c:v>1</c:v>
                </c:pt>
                <c:pt idx="16">
                  <c:v>1</c:v>
                </c:pt>
                <c:pt idx="17">
                  <c:v>1</c:v>
                </c:pt>
                <c:pt idx="18">
                  <c:v>1</c:v>
                </c:pt>
                <c:pt idx="19">
                  <c:v>1</c:v>
                </c:pt>
                <c:pt idx="20">
                  <c:v>1</c:v>
                </c:pt>
                <c:pt idx="21">
                  <c:v>1</c:v>
                </c:pt>
                <c:pt idx="22">
                  <c:v>1</c:v>
                </c:pt>
                <c:pt idx="23">
                  <c:v>1</c:v>
                </c:pt>
                <c:pt idx="24">
                  <c:v>1</c:v>
                </c:pt>
                <c:pt idx="25">
                  <c:v>1</c:v>
                </c:pt>
                <c:pt idx="26">
                  <c:v>1</c:v>
                </c:pt>
                <c:pt idx="27">
                  <c:v>1</c:v>
                </c:pt>
                <c:pt idx="28">
                  <c:v>1</c:v>
                </c:pt>
                <c:pt idx="29">
                  <c:v>1</c:v>
                </c:pt>
                <c:pt idx="30">
                  <c:v>1</c:v>
                </c:pt>
                <c:pt idx="31">
                  <c:v>1</c:v>
                </c:pt>
                <c:pt idx="32">
                  <c:v>1</c:v>
                </c:pt>
                <c:pt idx="33">
                  <c:v>1</c:v>
                </c:pt>
                <c:pt idx="34">
                  <c:v>1</c:v>
                </c:pt>
                <c:pt idx="35">
                  <c:v>1</c:v>
                </c:pt>
                <c:pt idx="36">
                  <c:v>1</c:v>
                </c:pt>
                <c:pt idx="37">
                  <c:v>1</c:v>
                </c:pt>
                <c:pt idx="38">
                  <c:v>1</c:v>
                </c:pt>
                <c:pt idx="39">
                  <c:v>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9197-4FD9-8820-7876E1FE77C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34470272"/>
        <c:axId val="134472064"/>
      </c:lineChart>
      <c:dateAx>
        <c:axId val="134470272"/>
        <c:scaling>
          <c:orientation val="minMax"/>
          <c:max val="46022"/>
          <c:min val="45658"/>
        </c:scaling>
        <c:delete val="0"/>
        <c:axPos val="b"/>
        <c:majorGridlines/>
        <c:numFmt formatCode="mm/yyyy" sourceLinked="0"/>
        <c:majorTickMark val="out"/>
        <c:minorTickMark val="none"/>
        <c:tickLblPos val="nextTo"/>
        <c:crossAx val="134472064"/>
        <c:crosses val="autoZero"/>
        <c:auto val="1"/>
        <c:lblOffset val="100"/>
        <c:baseTimeUnit val="days"/>
        <c:majorUnit val="1"/>
        <c:majorTimeUnit val="months"/>
        <c:minorUnit val="1"/>
        <c:minorTimeUnit val="days"/>
      </c:dateAx>
      <c:valAx>
        <c:axId val="134472064"/>
        <c:scaling>
          <c:orientation val="minMax"/>
          <c:max val="2"/>
        </c:scaling>
        <c:delete val="1"/>
        <c:axPos val="l"/>
        <c:numFmt formatCode="#,##0" sourceLinked="0"/>
        <c:majorTickMark val="out"/>
        <c:minorTickMark val="none"/>
        <c:tickLblPos val="nextTo"/>
        <c:crossAx val="134470272"/>
        <c:crosses val="autoZero"/>
        <c:crossBetween val="between"/>
      </c:valAx>
    </c:plotArea>
    <c:plotVisOnly val="1"/>
    <c:dispBlanksAs val="zero"/>
    <c:showDLblsOverMax val="0"/>
  </c:chart>
  <c:externalData r:id="rId1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de-DE"/>
  <c:roundedCorners val="0"/>
  <mc:AlternateContent xmlns:mc="http://schemas.openxmlformats.org/markup-compatibility/2006">
    <mc:Choice xmlns:c14="http://schemas.microsoft.com/office/drawing/2007/8/2/chart" Requires="c14">
      <c14:style val="105"/>
    </mc:Choice>
    <mc:Fallback>
      <c:style val="5"/>
    </mc:Fallback>
  </mc:AlternateContent>
  <c:chart>
    <c:title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0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de-DE"/>
        </a:p>
      </c:txPr>
    </c:title>
    <c:autoTitleDeleted val="0"/>
    <c:plotArea>
      <c:layout/>
      <c:pieChart>
        <c:varyColors val="1"/>
        <c:ser>
          <c:idx val="0"/>
          <c:order val="0"/>
          <c:tx>
            <c:strRef>
              <c:f>Auswertung!$B$7</c:f>
              <c:strCache>
                <c:ptCount val="1"/>
                <c:pt idx="0">
                  <c:v>Art der Anfrage/Beratung</c:v>
                </c:pt>
              </c:strCache>
            </c:strRef>
          </c:tx>
          <c:dPt>
            <c:idx val="0"/>
            <c:bubble3D val="0"/>
            <c:spPr>
              <a:solidFill>
                <a:schemeClr val="accent3">
                  <a:shade val="58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46F0-45DB-B1A8-204D5F4BCB96}"/>
              </c:ext>
            </c:extLst>
          </c:dPt>
          <c:dPt>
            <c:idx val="1"/>
            <c:bubble3D val="0"/>
            <c:spPr>
              <a:solidFill>
                <a:schemeClr val="accent3">
                  <a:shade val="86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46F0-45DB-B1A8-204D5F4BCB96}"/>
              </c:ext>
            </c:extLst>
          </c:dPt>
          <c:dPt>
            <c:idx val="2"/>
            <c:bubble3D val="0"/>
            <c:spPr>
              <a:solidFill>
                <a:schemeClr val="accent3">
                  <a:tint val="86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46F0-45DB-B1A8-204D5F4BCB96}"/>
              </c:ext>
            </c:extLst>
          </c:dPt>
          <c:dPt>
            <c:idx val="3"/>
            <c:bubble3D val="0"/>
            <c:spPr>
              <a:solidFill>
                <a:schemeClr val="accent3">
                  <a:tint val="58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7-46F0-45DB-B1A8-204D5F4BCB96}"/>
              </c:ext>
            </c:extLst>
          </c:dPt>
          <c:dPt>
            <c:idx val="4"/>
            <c:bubble3D val="0"/>
            <c:spPr>
              <a:solidFill>
                <a:schemeClr val="accent3">
                  <a:tint val="54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9-46F0-45DB-B1A8-204D5F4BCB96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de-DE"/>
              </a:p>
            </c:txPr>
            <c:dLblPos val="bestFit"/>
            <c:showLegendKey val="0"/>
            <c:showVal val="1"/>
            <c:showCatName val="1"/>
            <c:showSerName val="0"/>
            <c:showPercent val="0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Auswertung!$B$8:$B$10</c:f>
              <c:strCache>
                <c:ptCount val="3"/>
                <c:pt idx="0">
                  <c:v>Mail</c:v>
                </c:pt>
                <c:pt idx="1">
                  <c:v>Telefon/Online</c:v>
                </c:pt>
                <c:pt idx="2">
                  <c:v>Persönlich</c:v>
                </c:pt>
              </c:strCache>
            </c:strRef>
          </c:cat>
          <c:val>
            <c:numRef>
              <c:f>Auswertung!$D$8:$D$10</c:f>
              <c:numCache>
                <c:formatCode>0%</c:formatCode>
                <c:ptCount val="3"/>
                <c:pt idx="0">
                  <c:v>0.4</c:v>
                </c:pt>
                <c:pt idx="1">
                  <c:v>0</c:v>
                </c:pt>
                <c:pt idx="2">
                  <c:v>0.6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A-46F0-45DB-B1A8-204D5F4BCB9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de-DE"/>
    </a:p>
  </c:txPr>
  <c:externalData r:id="rId3">
    <c:autoUpdate val="0"/>
  </c:externalData>
</c:chartSpace>
</file>

<file path=ppt/charts/chart1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de-DE"/>
  <c:roundedCorners val="0"/>
  <mc:AlternateContent xmlns:mc="http://schemas.openxmlformats.org/markup-compatibility/2006">
    <mc:Choice xmlns:c14="http://schemas.microsoft.com/office/drawing/2007/8/2/chart" Requires="c14">
      <c14:style val="105"/>
    </mc:Choice>
    <mc:Fallback>
      <c:style val="5"/>
    </mc:Fallback>
  </mc:AlternateContent>
  <c:chart>
    <c:title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0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de-DE"/>
        </a:p>
      </c:txPr>
    </c:title>
    <c:autoTitleDeleted val="0"/>
    <c:plotArea>
      <c:layout/>
      <c:pieChart>
        <c:varyColors val="1"/>
        <c:ser>
          <c:idx val="0"/>
          <c:order val="0"/>
          <c:tx>
            <c:strRef>
              <c:f>Auswertung!$B$13</c:f>
              <c:strCache>
                <c:ptCount val="1"/>
                <c:pt idx="0">
                  <c:v>Kategorie Kunde</c:v>
                </c:pt>
              </c:strCache>
            </c:strRef>
          </c:tx>
          <c:dPt>
            <c:idx val="0"/>
            <c:bubble3D val="0"/>
            <c:spPr>
              <a:solidFill>
                <a:schemeClr val="accent3">
                  <a:shade val="58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5362-4288-88CA-EAC7E8ED47F3}"/>
              </c:ext>
            </c:extLst>
          </c:dPt>
          <c:dPt>
            <c:idx val="1"/>
            <c:bubble3D val="0"/>
            <c:spPr>
              <a:solidFill>
                <a:schemeClr val="accent3">
                  <a:shade val="86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5362-4288-88CA-EAC7E8ED47F3}"/>
              </c:ext>
            </c:extLst>
          </c:dPt>
          <c:dPt>
            <c:idx val="2"/>
            <c:bubble3D val="0"/>
            <c:spPr>
              <a:solidFill>
                <a:schemeClr val="accent3">
                  <a:tint val="86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5362-4288-88CA-EAC7E8ED47F3}"/>
              </c:ext>
            </c:extLst>
          </c:dPt>
          <c:dPt>
            <c:idx val="3"/>
            <c:bubble3D val="0"/>
            <c:spPr>
              <a:solidFill>
                <a:schemeClr val="accent3">
                  <a:tint val="58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7-5362-4288-88CA-EAC7E8ED47F3}"/>
              </c:ext>
            </c:extLst>
          </c:dPt>
          <c:dPt>
            <c:idx val="4"/>
            <c:bubble3D val="0"/>
            <c:spPr>
              <a:solidFill>
                <a:schemeClr val="accent3">
                  <a:tint val="54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9-5362-4288-88CA-EAC7E8ED47F3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de-DE"/>
              </a:p>
            </c:txPr>
            <c:dLblPos val="bestFit"/>
            <c:showLegendKey val="0"/>
            <c:showVal val="1"/>
            <c:showCatName val="1"/>
            <c:showSerName val="0"/>
            <c:showPercent val="0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Auswertung!$B$14:$B$17</c:f>
              <c:strCache>
                <c:ptCount val="4"/>
                <c:pt idx="0">
                  <c:v>Gemeinde- und Städteverantwortliche</c:v>
                </c:pt>
                <c:pt idx="1">
                  <c:v>Projektentwickler und Bauträger</c:v>
                </c:pt>
                <c:pt idx="2">
                  <c:v>Beratende und Planende</c:v>
                </c:pt>
                <c:pt idx="3">
                  <c:v>Sonstige</c:v>
                </c:pt>
              </c:strCache>
            </c:strRef>
          </c:cat>
          <c:val>
            <c:numRef>
              <c:f>Auswertung!$D$14:$D$17</c:f>
              <c:numCache>
                <c:formatCode>0%</c:formatCode>
                <c:ptCount val="4"/>
                <c:pt idx="0">
                  <c:v>0</c:v>
                </c:pt>
                <c:pt idx="1">
                  <c:v>0.8</c:v>
                </c:pt>
                <c:pt idx="2">
                  <c:v>0.2</c:v>
                </c:pt>
                <c:pt idx="3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A-5362-4288-88CA-EAC7E8ED47F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de-DE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7.xml><?xml version="1.0" encoding="utf-8"?>
<cs:colorStyle xmlns:cs="http://schemas.microsoft.com/office/drawing/2012/chartStyle" xmlns:a="http://schemas.openxmlformats.org/drawingml/2006/main" meth="withinLinear" id="16">
  <a:schemeClr val="accent3"/>
</cs:colorStyle>
</file>

<file path=ppt/charts/colors8.xml><?xml version="1.0" encoding="utf-8"?>
<cs:colorStyle xmlns:cs="http://schemas.microsoft.com/office/drawing/2012/chartStyle" xmlns:a="http://schemas.openxmlformats.org/drawingml/2006/main" meth="withinLinear" id="16">
  <a:schemeClr val="accent3"/>
</cs:colorStyle>
</file>

<file path=ppt/charts/colors9.xml><?xml version="1.0" encoding="utf-8"?>
<cs:colorStyle xmlns:cs="http://schemas.microsoft.com/office/drawing/2012/chartStyle" xmlns:a="http://schemas.openxmlformats.org/drawingml/2006/main" meth="withinLinear" id="16">
  <a:schemeClr val="accent3"/>
</cs:colorStyle>
</file>

<file path=ppt/charts/colors10.xml><?xml version="1.0" encoding="utf-8"?>
<cs:colorStyle xmlns:cs="http://schemas.microsoft.com/office/drawing/2012/chartStyle" xmlns:a="http://schemas.openxmlformats.org/drawingml/2006/main" meth="withinLinear" id="16">
  <a:schemeClr val="accent3"/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33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5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6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7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8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9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0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5B92C8FA-0876-40C3-917E-91CE5F06F523}" type="doc">
      <dgm:prSet loTypeId="urn:microsoft.com/office/officeart/2005/8/layout/chevron2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de-DE"/>
        </a:p>
      </dgm:t>
    </dgm:pt>
    <dgm:pt modelId="{C4087E20-C755-4964-B655-826CD2E966D5}">
      <dgm:prSet phldrT="[Text]" phldr="0"/>
      <dgm:spPr/>
      <dgm:t>
        <a:bodyPr/>
        <a:lstStyle/>
        <a:p>
          <a:r>
            <a:rPr lang="de-AT" b="1" dirty="0"/>
            <a:t>Schritt 1</a:t>
          </a:r>
          <a:endParaRPr lang="de-DE" dirty="0"/>
        </a:p>
      </dgm:t>
    </dgm:pt>
    <dgm:pt modelId="{9354E0DB-2DCC-430B-9212-CED7E84B267E}" type="parTrans" cxnId="{1526B577-32D2-4C3A-AFEE-4CD789148AFF}">
      <dgm:prSet/>
      <dgm:spPr/>
      <dgm:t>
        <a:bodyPr/>
        <a:lstStyle/>
        <a:p>
          <a:endParaRPr lang="de-DE"/>
        </a:p>
      </dgm:t>
    </dgm:pt>
    <dgm:pt modelId="{5CCE3712-6D2D-48AE-A25D-AF2362CD3608}" type="sibTrans" cxnId="{1526B577-32D2-4C3A-AFEE-4CD789148AFF}">
      <dgm:prSet/>
      <dgm:spPr/>
      <dgm:t>
        <a:bodyPr/>
        <a:lstStyle/>
        <a:p>
          <a:endParaRPr lang="de-DE"/>
        </a:p>
      </dgm:t>
    </dgm:pt>
    <dgm:pt modelId="{EC996B6E-A983-4A31-817B-EECB540856D9}">
      <dgm:prSet phldrT="[Text]"/>
      <dgm:spPr/>
      <dgm:t>
        <a:bodyPr/>
        <a:lstStyle/>
        <a:p>
          <a:pPr>
            <a:buNone/>
          </a:pPr>
          <a:r>
            <a:rPr lang="de-AT" b="1" dirty="0"/>
            <a:t>Mindestanforderungen und Aussicht prüfen</a:t>
          </a:r>
          <a:endParaRPr lang="de-DE" dirty="0"/>
        </a:p>
      </dgm:t>
    </dgm:pt>
    <dgm:pt modelId="{5A14E9BE-C3E3-41F8-BFFA-D0C3EDD8ECB4}" type="parTrans" cxnId="{95EFE6C7-8282-4B18-B607-08311703BD19}">
      <dgm:prSet/>
      <dgm:spPr/>
      <dgm:t>
        <a:bodyPr/>
        <a:lstStyle/>
        <a:p>
          <a:endParaRPr lang="de-DE"/>
        </a:p>
      </dgm:t>
    </dgm:pt>
    <dgm:pt modelId="{60C10666-1420-45E0-814D-337319F2A068}" type="sibTrans" cxnId="{95EFE6C7-8282-4B18-B607-08311703BD19}">
      <dgm:prSet/>
      <dgm:spPr/>
      <dgm:t>
        <a:bodyPr/>
        <a:lstStyle/>
        <a:p>
          <a:endParaRPr lang="de-DE"/>
        </a:p>
      </dgm:t>
    </dgm:pt>
    <dgm:pt modelId="{7D3FC2F7-8000-4884-8AFB-A881D9514A9D}">
      <dgm:prSet phldrT="[Text]">
        <dgm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dgm:style>
      </dgm:prSet>
      <dgm:spPr>
        <a:solidFill>
          <a:schemeClr val="accent4"/>
        </a:solidFill>
        <a:ln>
          <a:solidFill>
            <a:schemeClr val="accent4">
              <a:lumMod val="60000"/>
              <a:lumOff val="40000"/>
            </a:schemeClr>
          </a:solidFill>
        </a:ln>
      </dgm:spPr>
      <dgm:t>
        <a:bodyPr/>
        <a:lstStyle/>
        <a:p>
          <a:pPr>
            <a:buNone/>
          </a:pPr>
          <a:r>
            <a:rPr lang="de-AT" b="1" dirty="0">
              <a:solidFill>
                <a:schemeClr val="bg1"/>
              </a:solidFill>
            </a:rPr>
            <a:t>Schritt 2</a:t>
          </a:r>
          <a:endParaRPr lang="de-DE" dirty="0">
            <a:solidFill>
              <a:schemeClr val="bg1"/>
            </a:solidFill>
          </a:endParaRPr>
        </a:p>
      </dgm:t>
    </dgm:pt>
    <dgm:pt modelId="{3FFCA9BF-ECED-4776-8C0C-066CE5A06488}" type="parTrans" cxnId="{7992429D-9C5D-4E69-BEE9-94FAB9DBFF63}">
      <dgm:prSet/>
      <dgm:spPr/>
      <dgm:t>
        <a:bodyPr/>
        <a:lstStyle/>
        <a:p>
          <a:endParaRPr lang="de-DE"/>
        </a:p>
      </dgm:t>
    </dgm:pt>
    <dgm:pt modelId="{C3FA95EC-A199-4B4E-8E67-3DD1BCF236A2}" type="sibTrans" cxnId="{7992429D-9C5D-4E69-BEE9-94FAB9DBFF63}">
      <dgm:prSet/>
      <dgm:spPr/>
      <dgm:t>
        <a:bodyPr/>
        <a:lstStyle/>
        <a:p>
          <a:endParaRPr lang="de-DE"/>
        </a:p>
      </dgm:t>
    </dgm:pt>
    <dgm:pt modelId="{325DA578-E2C7-4E01-97D2-ACCFEA9D68EA}">
      <dgm:prSet phldrT="[Text]" phldr="0">
        <dgm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dgm:style>
      </dgm:prSet>
      <dgm:spPr>
        <a:solidFill>
          <a:schemeClr val="accent6"/>
        </a:solidFill>
        <a:ln>
          <a:solidFill>
            <a:schemeClr val="accent6">
              <a:lumMod val="60000"/>
              <a:lumOff val="40000"/>
            </a:schemeClr>
          </a:solidFill>
        </a:ln>
      </dgm:spPr>
      <dgm:t>
        <a:bodyPr/>
        <a:lstStyle/>
        <a:p>
          <a:r>
            <a:rPr lang="de-DE" b="1" dirty="0">
              <a:solidFill>
                <a:schemeClr val="bg1"/>
              </a:solidFill>
            </a:rPr>
            <a:t>Schritt 3</a:t>
          </a:r>
        </a:p>
      </dgm:t>
    </dgm:pt>
    <dgm:pt modelId="{FF031BCB-725A-48BA-BFB4-117E0E2C8C00}" type="parTrans" cxnId="{84CD149D-83A0-4128-96B7-D64CE6DA207E}">
      <dgm:prSet/>
      <dgm:spPr/>
      <dgm:t>
        <a:bodyPr/>
        <a:lstStyle/>
        <a:p>
          <a:endParaRPr lang="de-DE"/>
        </a:p>
      </dgm:t>
    </dgm:pt>
    <dgm:pt modelId="{2BB38EBB-953F-45E1-A5D8-69B1C5FD9A9D}" type="sibTrans" cxnId="{84CD149D-83A0-4128-96B7-D64CE6DA207E}">
      <dgm:prSet/>
      <dgm:spPr/>
      <dgm:t>
        <a:bodyPr/>
        <a:lstStyle/>
        <a:p>
          <a:endParaRPr lang="de-DE"/>
        </a:p>
      </dgm:t>
    </dgm:pt>
    <dgm:pt modelId="{21531351-479E-4655-83A0-6DF9E2E48B97}">
      <dgm:prSet phldrT="[Text]"/>
      <dgm:spPr>
        <a:ln>
          <a:solidFill>
            <a:schemeClr val="accent6">
              <a:lumMod val="60000"/>
              <a:lumOff val="40000"/>
            </a:schemeClr>
          </a:solidFill>
        </a:ln>
      </dgm:spPr>
      <dgm:t>
        <a:bodyPr/>
        <a:lstStyle/>
        <a:p>
          <a:pPr>
            <a:buNone/>
          </a:pPr>
          <a:r>
            <a:rPr lang="de-AT" dirty="0"/>
            <a:t>Abschluss der Projektbegleitung</a:t>
          </a:r>
          <a:endParaRPr lang="de-DE" dirty="0"/>
        </a:p>
      </dgm:t>
    </dgm:pt>
    <dgm:pt modelId="{085547BE-869E-4D78-8A81-9CD7F82BDC53}" type="parTrans" cxnId="{F5B06E37-0FB4-4696-A56E-D5EA5AAB0038}">
      <dgm:prSet/>
      <dgm:spPr/>
      <dgm:t>
        <a:bodyPr/>
        <a:lstStyle/>
        <a:p>
          <a:endParaRPr lang="de-DE"/>
        </a:p>
      </dgm:t>
    </dgm:pt>
    <dgm:pt modelId="{635E66D9-16CB-4AD6-A1D8-6B6CA43E1505}" type="sibTrans" cxnId="{F5B06E37-0FB4-4696-A56E-D5EA5AAB0038}">
      <dgm:prSet/>
      <dgm:spPr/>
      <dgm:t>
        <a:bodyPr/>
        <a:lstStyle/>
        <a:p>
          <a:endParaRPr lang="de-DE"/>
        </a:p>
      </dgm:t>
    </dgm:pt>
    <dgm:pt modelId="{EEC83065-E479-42B8-9086-CF30064C5941}">
      <dgm:prSet/>
      <dgm:spPr/>
      <dgm:t>
        <a:bodyPr/>
        <a:lstStyle/>
        <a:p>
          <a:pPr>
            <a:buClr>
              <a:srgbClr val="B92B06"/>
            </a:buClr>
            <a:buSzPts val="1200"/>
            <a:buFont typeface="Times New Roman" panose="02020603050405020304" pitchFamily="18" charset="0"/>
            <a:buChar char="•"/>
          </a:pPr>
          <a:r>
            <a:rPr lang="de-AT"/>
            <a:t>Quick-Check durchführen  </a:t>
          </a:r>
          <a:endParaRPr lang="de-DE"/>
        </a:p>
      </dgm:t>
    </dgm:pt>
    <dgm:pt modelId="{6A988FE6-4221-41E6-91C9-CD3A77AAB99A}" type="parTrans" cxnId="{57B219DC-4246-4FFF-8D16-091BF9C576C5}">
      <dgm:prSet/>
      <dgm:spPr/>
      <dgm:t>
        <a:bodyPr/>
        <a:lstStyle/>
        <a:p>
          <a:endParaRPr lang="de-DE"/>
        </a:p>
      </dgm:t>
    </dgm:pt>
    <dgm:pt modelId="{E52FBBCD-5A05-4A1A-A1A3-9229414A9E31}" type="sibTrans" cxnId="{57B219DC-4246-4FFF-8D16-091BF9C576C5}">
      <dgm:prSet/>
      <dgm:spPr/>
      <dgm:t>
        <a:bodyPr/>
        <a:lstStyle/>
        <a:p>
          <a:endParaRPr lang="de-DE"/>
        </a:p>
      </dgm:t>
    </dgm:pt>
    <dgm:pt modelId="{274B034A-AB34-4D0F-99B7-AEFBD8959A36}">
      <dgm:prSet/>
      <dgm:spPr/>
      <dgm:t>
        <a:bodyPr/>
        <a:lstStyle/>
        <a:p>
          <a:pPr>
            <a:buClr>
              <a:srgbClr val="B92B06"/>
            </a:buClr>
            <a:buSzPts val="1200"/>
            <a:buFont typeface="Times New Roman" panose="02020603050405020304" pitchFamily="18" charset="0"/>
            <a:buChar char="•"/>
          </a:pPr>
          <a:r>
            <a:rPr lang="de-AT"/>
            <a:t>Möglichkeiten für Anpassung Ihres Grundkonzepts klären </a:t>
          </a:r>
          <a:endParaRPr lang="de-DE"/>
        </a:p>
      </dgm:t>
    </dgm:pt>
    <dgm:pt modelId="{FD4B3A35-06AF-4C69-B6BC-72374A3B5E3F}" type="parTrans" cxnId="{7D4A3339-444E-4C44-A644-8C2F69A45C04}">
      <dgm:prSet/>
      <dgm:spPr/>
      <dgm:t>
        <a:bodyPr/>
        <a:lstStyle/>
        <a:p>
          <a:endParaRPr lang="de-DE"/>
        </a:p>
      </dgm:t>
    </dgm:pt>
    <dgm:pt modelId="{D2C426F7-8572-4AD0-8519-4D2034626782}" type="sibTrans" cxnId="{7D4A3339-444E-4C44-A644-8C2F69A45C04}">
      <dgm:prSet/>
      <dgm:spPr/>
      <dgm:t>
        <a:bodyPr/>
        <a:lstStyle/>
        <a:p>
          <a:endParaRPr lang="de-DE"/>
        </a:p>
      </dgm:t>
    </dgm:pt>
    <dgm:pt modelId="{FFB4EC4A-8BBB-414F-A3A1-A05079FC49DE}">
      <dgm:prSet/>
      <dgm:spPr/>
      <dgm:t>
        <a:bodyPr/>
        <a:lstStyle/>
        <a:p>
          <a:pPr>
            <a:buClr>
              <a:srgbClr val="B92B06"/>
            </a:buClr>
            <a:buSzPts val="1200"/>
            <a:buFont typeface="Times New Roman" panose="02020603050405020304" pitchFamily="18" charset="0"/>
            <a:buChar char="•"/>
          </a:pPr>
          <a:r>
            <a:rPr lang="de-AT" dirty="0"/>
            <a:t>Zeitplan klären</a:t>
          </a:r>
          <a:endParaRPr lang="de-DE" dirty="0"/>
        </a:p>
      </dgm:t>
    </dgm:pt>
    <dgm:pt modelId="{90743353-5148-4D06-9A28-819AFC7D7EB3}" type="parTrans" cxnId="{7A041893-E4C4-4525-AF64-A362F23A6D72}">
      <dgm:prSet/>
      <dgm:spPr/>
      <dgm:t>
        <a:bodyPr/>
        <a:lstStyle/>
        <a:p>
          <a:endParaRPr lang="de-DE"/>
        </a:p>
      </dgm:t>
    </dgm:pt>
    <dgm:pt modelId="{BABB4EBF-7A4F-4662-8362-B292B8D69630}" type="sibTrans" cxnId="{7A041893-E4C4-4525-AF64-A362F23A6D72}">
      <dgm:prSet/>
      <dgm:spPr/>
      <dgm:t>
        <a:bodyPr/>
        <a:lstStyle/>
        <a:p>
          <a:endParaRPr lang="de-DE"/>
        </a:p>
      </dgm:t>
    </dgm:pt>
    <dgm:pt modelId="{639C37B6-BA75-4246-8AA9-06792A66690F}">
      <dgm:prSet/>
      <dgm:spPr>
        <a:ln>
          <a:solidFill>
            <a:schemeClr val="accent4">
              <a:lumMod val="60000"/>
              <a:lumOff val="40000"/>
            </a:schemeClr>
          </a:solidFill>
        </a:ln>
      </dgm:spPr>
      <dgm:t>
        <a:bodyPr/>
        <a:lstStyle/>
        <a:p>
          <a:pPr>
            <a:buClr>
              <a:srgbClr val="B92B06"/>
            </a:buClr>
            <a:buSzPts val="1200"/>
            <a:buFont typeface="Times New Roman" panose="02020603050405020304" pitchFamily="18" charset="0"/>
            <a:buChar char="•"/>
          </a:pPr>
          <a:r>
            <a:rPr lang="de-AT" dirty="0" err="1"/>
            <a:t>Kompetenzpartner:in</a:t>
          </a:r>
          <a:r>
            <a:rPr lang="de-AT" dirty="0"/>
            <a:t> aus Liste   auswählen</a:t>
          </a:r>
          <a:endParaRPr lang="de-DE" dirty="0"/>
        </a:p>
      </dgm:t>
    </dgm:pt>
    <dgm:pt modelId="{43B74E20-1001-4881-9BBC-458352C30943}" type="parTrans" cxnId="{7E5115F1-BDAE-45CC-81BC-7599FC004863}">
      <dgm:prSet/>
      <dgm:spPr/>
      <dgm:t>
        <a:bodyPr/>
        <a:lstStyle/>
        <a:p>
          <a:endParaRPr lang="de-DE"/>
        </a:p>
      </dgm:t>
    </dgm:pt>
    <dgm:pt modelId="{6C3FAA5B-EA3F-42C0-B061-19D549162FBF}" type="sibTrans" cxnId="{7E5115F1-BDAE-45CC-81BC-7599FC004863}">
      <dgm:prSet/>
      <dgm:spPr/>
      <dgm:t>
        <a:bodyPr/>
        <a:lstStyle/>
        <a:p>
          <a:endParaRPr lang="de-DE"/>
        </a:p>
      </dgm:t>
    </dgm:pt>
    <dgm:pt modelId="{69F0B6E1-7A47-408F-BFBA-8C46FACFE172}">
      <dgm:prSet/>
      <dgm:spPr>
        <a:ln>
          <a:solidFill>
            <a:schemeClr val="accent4">
              <a:lumMod val="60000"/>
              <a:lumOff val="40000"/>
            </a:schemeClr>
          </a:solidFill>
        </a:ln>
      </dgm:spPr>
      <dgm:t>
        <a:bodyPr/>
        <a:lstStyle/>
        <a:p>
          <a:pPr>
            <a:buClr>
              <a:srgbClr val="B92B06"/>
            </a:buClr>
            <a:buSzPts val="1200"/>
            <a:buFont typeface="Times New Roman" panose="02020603050405020304" pitchFamily="18" charset="0"/>
            <a:buChar char="•"/>
          </a:pPr>
          <a:r>
            <a:rPr lang="de-AT" dirty="0"/>
            <a:t>Fokus für Projektbegleitung festlegen (z. B. Baufelder, Projektphase)</a:t>
          </a:r>
          <a:endParaRPr lang="de-DE" dirty="0"/>
        </a:p>
      </dgm:t>
    </dgm:pt>
    <dgm:pt modelId="{14AD90CC-868D-4C0E-A35D-0EF4896A2588}" type="parTrans" cxnId="{9F564E08-0316-4DA9-9EE6-4F3F4D12FCB5}">
      <dgm:prSet/>
      <dgm:spPr/>
      <dgm:t>
        <a:bodyPr/>
        <a:lstStyle/>
        <a:p>
          <a:endParaRPr lang="de-DE"/>
        </a:p>
      </dgm:t>
    </dgm:pt>
    <dgm:pt modelId="{2EFBCADB-D1AF-49D4-9016-2AC78FB69C34}" type="sibTrans" cxnId="{9F564E08-0316-4DA9-9EE6-4F3F4D12FCB5}">
      <dgm:prSet/>
      <dgm:spPr/>
      <dgm:t>
        <a:bodyPr/>
        <a:lstStyle/>
        <a:p>
          <a:endParaRPr lang="de-DE"/>
        </a:p>
      </dgm:t>
    </dgm:pt>
    <dgm:pt modelId="{5F8830BD-75CE-4A18-A403-0D784FD3C989}">
      <dgm:prSet/>
      <dgm:spPr>
        <a:ln>
          <a:solidFill>
            <a:schemeClr val="accent4">
              <a:lumMod val="60000"/>
              <a:lumOff val="40000"/>
            </a:schemeClr>
          </a:solidFill>
        </a:ln>
      </dgm:spPr>
      <dgm:t>
        <a:bodyPr/>
        <a:lstStyle/>
        <a:p>
          <a:pPr>
            <a:buClr>
              <a:srgbClr val="B92B06"/>
            </a:buClr>
            <a:buSzPts val="1200"/>
            <a:buFont typeface="Times New Roman" panose="02020603050405020304" pitchFamily="18" charset="0"/>
            <a:buChar char="•"/>
          </a:pPr>
          <a:r>
            <a:rPr lang="de-AT" dirty="0"/>
            <a:t>Leistungsumfang klären (Beratung, Begleitung, Berechnung)</a:t>
          </a:r>
          <a:endParaRPr lang="de-DE" dirty="0"/>
        </a:p>
      </dgm:t>
    </dgm:pt>
    <dgm:pt modelId="{06FAC9FD-C752-4E18-81FB-BD870E63B617}" type="parTrans" cxnId="{98FC5528-4B10-4830-BE10-6CFF85576C25}">
      <dgm:prSet/>
      <dgm:spPr/>
      <dgm:t>
        <a:bodyPr/>
        <a:lstStyle/>
        <a:p>
          <a:endParaRPr lang="de-DE"/>
        </a:p>
      </dgm:t>
    </dgm:pt>
    <dgm:pt modelId="{A7E64A12-6612-4F59-9053-025FE1BD4886}" type="sibTrans" cxnId="{98FC5528-4B10-4830-BE10-6CFF85576C25}">
      <dgm:prSet/>
      <dgm:spPr/>
      <dgm:t>
        <a:bodyPr/>
        <a:lstStyle/>
        <a:p>
          <a:endParaRPr lang="de-DE"/>
        </a:p>
      </dgm:t>
    </dgm:pt>
    <dgm:pt modelId="{B94B8638-73B9-4BE9-81E7-76784A6D5478}">
      <dgm:prSet phldrT="[Text]"/>
      <dgm:spPr>
        <a:ln>
          <a:solidFill>
            <a:schemeClr val="accent4">
              <a:lumMod val="60000"/>
              <a:lumOff val="40000"/>
            </a:schemeClr>
          </a:solidFill>
        </a:ln>
      </dgm:spPr>
      <dgm:t>
        <a:bodyPr/>
        <a:lstStyle/>
        <a:p>
          <a:pPr>
            <a:buNone/>
          </a:pPr>
          <a:r>
            <a:rPr lang="de-AT" b="1"/>
            <a:t>Auswahl klimaaktiv Kompetenzpartner:in</a:t>
          </a:r>
          <a:endParaRPr lang="de-DE" dirty="0"/>
        </a:p>
      </dgm:t>
    </dgm:pt>
    <dgm:pt modelId="{01E732C1-B421-493F-850C-1D8CF3E3F33C}" type="parTrans" cxnId="{461DAE7E-C90F-4E45-BCA1-23FA173D90DE}">
      <dgm:prSet/>
      <dgm:spPr/>
      <dgm:t>
        <a:bodyPr/>
        <a:lstStyle/>
        <a:p>
          <a:endParaRPr lang="de-DE"/>
        </a:p>
      </dgm:t>
    </dgm:pt>
    <dgm:pt modelId="{93EE6951-971C-4CA7-852F-7C253A2CCE84}" type="sibTrans" cxnId="{461DAE7E-C90F-4E45-BCA1-23FA173D90DE}">
      <dgm:prSet/>
      <dgm:spPr/>
      <dgm:t>
        <a:bodyPr/>
        <a:lstStyle/>
        <a:p>
          <a:endParaRPr lang="de-DE"/>
        </a:p>
      </dgm:t>
    </dgm:pt>
    <dgm:pt modelId="{47D631AF-039F-41C3-9B8D-1010411D5995}">
      <dgm:prSet phldrT="[Text]"/>
      <dgm:spPr>
        <a:ln>
          <a:solidFill>
            <a:schemeClr val="accent6">
              <a:lumMod val="60000"/>
              <a:lumOff val="40000"/>
            </a:schemeClr>
          </a:solidFill>
        </a:ln>
      </dgm:spPr>
      <dgm:t>
        <a:bodyPr/>
        <a:lstStyle/>
        <a:p>
          <a:pPr>
            <a:buClr>
              <a:srgbClr val="B92B06"/>
            </a:buClr>
            <a:buSzPts val="1200"/>
            <a:buFont typeface="Times New Roman" panose="02020603050405020304" pitchFamily="18" charset="0"/>
            <a:buChar char="•"/>
          </a:pPr>
          <a:r>
            <a:rPr lang="de-AT" dirty="0"/>
            <a:t>Ergebnisse an </a:t>
          </a:r>
          <a:r>
            <a:rPr lang="de-AT" dirty="0" err="1"/>
            <a:t>Expert:innenkommission</a:t>
          </a:r>
          <a:r>
            <a:rPr lang="de-AT" dirty="0"/>
            <a:t> übermitteln</a:t>
          </a:r>
          <a:endParaRPr lang="de-DE" dirty="0"/>
        </a:p>
      </dgm:t>
    </dgm:pt>
    <dgm:pt modelId="{18C0C295-9DBB-4CF7-B79F-4F95DE5B9033}" type="parTrans" cxnId="{37F9FAAE-1563-479D-B3E4-A1B0DFF50E24}">
      <dgm:prSet/>
      <dgm:spPr/>
      <dgm:t>
        <a:bodyPr/>
        <a:lstStyle/>
        <a:p>
          <a:endParaRPr lang="de-DE"/>
        </a:p>
      </dgm:t>
    </dgm:pt>
    <dgm:pt modelId="{72E98286-D3E6-48D9-B266-D6251B9A78B1}" type="sibTrans" cxnId="{37F9FAAE-1563-479D-B3E4-A1B0DFF50E24}">
      <dgm:prSet/>
      <dgm:spPr/>
      <dgm:t>
        <a:bodyPr/>
        <a:lstStyle/>
        <a:p>
          <a:endParaRPr lang="de-DE"/>
        </a:p>
      </dgm:t>
    </dgm:pt>
    <dgm:pt modelId="{52D8D664-33F9-42F7-98AF-188B2364FAB2}">
      <dgm:prSet/>
      <dgm:spPr>
        <a:ln>
          <a:solidFill>
            <a:schemeClr val="accent6">
              <a:lumMod val="60000"/>
              <a:lumOff val="40000"/>
            </a:schemeClr>
          </a:solidFill>
        </a:ln>
      </dgm:spPr>
      <dgm:t>
        <a:bodyPr/>
        <a:lstStyle/>
        <a:p>
          <a:pPr>
            <a:buClr>
              <a:srgbClr val="B92B06"/>
            </a:buClr>
            <a:buSzPts val="1200"/>
            <a:buFont typeface="Times New Roman" panose="02020603050405020304" pitchFamily="18" charset="0"/>
            <a:buChar char="•"/>
          </a:pPr>
          <a:r>
            <a:rPr lang="de-AT"/>
            <a:t>Rückfragen zu einzelnen Inhalten beantworten</a:t>
          </a:r>
          <a:endParaRPr lang="de-DE"/>
        </a:p>
      </dgm:t>
    </dgm:pt>
    <dgm:pt modelId="{52BB2CE1-72ED-4B74-A8B3-D2B7487935F2}" type="parTrans" cxnId="{92204B5E-9517-435A-B7CE-5083B5B09DB8}">
      <dgm:prSet/>
      <dgm:spPr/>
      <dgm:t>
        <a:bodyPr/>
        <a:lstStyle/>
        <a:p>
          <a:endParaRPr lang="de-DE"/>
        </a:p>
      </dgm:t>
    </dgm:pt>
    <dgm:pt modelId="{7223E0E3-49A8-4B9A-A543-6A34CE4C2C25}" type="sibTrans" cxnId="{92204B5E-9517-435A-B7CE-5083B5B09DB8}">
      <dgm:prSet/>
      <dgm:spPr/>
      <dgm:t>
        <a:bodyPr/>
        <a:lstStyle/>
        <a:p>
          <a:endParaRPr lang="de-DE"/>
        </a:p>
      </dgm:t>
    </dgm:pt>
    <dgm:pt modelId="{CCA24536-F792-454D-9CD6-5973B5F93B91}">
      <dgm:prSet/>
      <dgm:spPr>
        <a:ln>
          <a:solidFill>
            <a:schemeClr val="accent6">
              <a:lumMod val="60000"/>
              <a:lumOff val="40000"/>
            </a:schemeClr>
          </a:solidFill>
        </a:ln>
      </dgm:spPr>
      <dgm:t>
        <a:bodyPr/>
        <a:lstStyle/>
        <a:p>
          <a:pPr>
            <a:buClr>
              <a:srgbClr val="B92B06"/>
            </a:buClr>
            <a:buSzPts val="1200"/>
            <a:buFont typeface="Times New Roman" panose="02020603050405020304" pitchFamily="18" charset="0"/>
            <a:buChar char="•"/>
          </a:pPr>
          <a:r>
            <a:rPr lang="de-AT" dirty="0"/>
            <a:t>Erhalt der Baustellentafel oder Urkunde</a:t>
          </a:r>
          <a:endParaRPr lang="de-DE" dirty="0"/>
        </a:p>
      </dgm:t>
    </dgm:pt>
    <dgm:pt modelId="{271D6DA7-37F1-4C9D-B2AE-5B7217F25601}" type="parTrans" cxnId="{9E4F7D43-98F5-46BE-A2DC-9DDBF5D59843}">
      <dgm:prSet/>
      <dgm:spPr/>
      <dgm:t>
        <a:bodyPr/>
        <a:lstStyle/>
        <a:p>
          <a:endParaRPr lang="de-DE"/>
        </a:p>
      </dgm:t>
    </dgm:pt>
    <dgm:pt modelId="{F448A69F-19AD-4EF1-BF1B-1446DD59C3D3}" type="sibTrans" cxnId="{9E4F7D43-98F5-46BE-A2DC-9DDBF5D59843}">
      <dgm:prSet/>
      <dgm:spPr/>
      <dgm:t>
        <a:bodyPr/>
        <a:lstStyle/>
        <a:p>
          <a:endParaRPr lang="de-DE"/>
        </a:p>
      </dgm:t>
    </dgm:pt>
    <dgm:pt modelId="{796883CC-F30B-49F7-89F8-E3CB44A163A9}" type="pres">
      <dgm:prSet presAssocID="{5B92C8FA-0876-40C3-917E-91CE5F06F523}" presName="linearFlow" presStyleCnt="0">
        <dgm:presLayoutVars>
          <dgm:dir/>
          <dgm:animLvl val="lvl"/>
          <dgm:resizeHandles val="exact"/>
        </dgm:presLayoutVars>
      </dgm:prSet>
      <dgm:spPr/>
    </dgm:pt>
    <dgm:pt modelId="{111125D4-490A-4CDF-85FD-6807096574DD}" type="pres">
      <dgm:prSet presAssocID="{C4087E20-C755-4964-B655-826CD2E966D5}" presName="composite" presStyleCnt="0"/>
      <dgm:spPr/>
    </dgm:pt>
    <dgm:pt modelId="{7BF4D1B0-9488-402D-B4DB-765C0C536A26}" type="pres">
      <dgm:prSet presAssocID="{C4087E20-C755-4964-B655-826CD2E966D5}" presName="parentText" presStyleLbl="alignNode1" presStyleIdx="0" presStyleCnt="3">
        <dgm:presLayoutVars>
          <dgm:chMax val="1"/>
          <dgm:bulletEnabled val="1"/>
        </dgm:presLayoutVars>
      </dgm:prSet>
      <dgm:spPr/>
    </dgm:pt>
    <dgm:pt modelId="{F2182656-AA85-4237-AC98-CE6E7498257D}" type="pres">
      <dgm:prSet presAssocID="{C4087E20-C755-4964-B655-826CD2E966D5}" presName="descendantText" presStyleLbl="alignAcc1" presStyleIdx="0" presStyleCnt="3">
        <dgm:presLayoutVars>
          <dgm:bulletEnabled val="1"/>
        </dgm:presLayoutVars>
      </dgm:prSet>
      <dgm:spPr/>
    </dgm:pt>
    <dgm:pt modelId="{A3BE6594-B081-493F-8B83-CEF902A52DCD}" type="pres">
      <dgm:prSet presAssocID="{5CCE3712-6D2D-48AE-A25D-AF2362CD3608}" presName="sp" presStyleCnt="0"/>
      <dgm:spPr/>
    </dgm:pt>
    <dgm:pt modelId="{08189CD1-CCBD-4D45-8DCC-EE1FAC80C35F}" type="pres">
      <dgm:prSet presAssocID="{7D3FC2F7-8000-4884-8AFB-A881D9514A9D}" presName="composite" presStyleCnt="0"/>
      <dgm:spPr/>
    </dgm:pt>
    <dgm:pt modelId="{6C82E433-EDD2-4948-B0E7-3FECA552FE56}" type="pres">
      <dgm:prSet presAssocID="{7D3FC2F7-8000-4884-8AFB-A881D9514A9D}" presName="parentText" presStyleLbl="alignNode1" presStyleIdx="1" presStyleCnt="3">
        <dgm:presLayoutVars>
          <dgm:chMax val="1"/>
          <dgm:bulletEnabled val="1"/>
        </dgm:presLayoutVars>
      </dgm:prSet>
      <dgm:spPr/>
    </dgm:pt>
    <dgm:pt modelId="{9D373173-EB16-454B-B773-7F0839397A80}" type="pres">
      <dgm:prSet presAssocID="{7D3FC2F7-8000-4884-8AFB-A881D9514A9D}" presName="descendantText" presStyleLbl="alignAcc1" presStyleIdx="1" presStyleCnt="3">
        <dgm:presLayoutVars>
          <dgm:bulletEnabled val="1"/>
        </dgm:presLayoutVars>
      </dgm:prSet>
      <dgm:spPr/>
    </dgm:pt>
    <dgm:pt modelId="{9AEC0CD6-C167-4907-A8CF-D0CC2B823E06}" type="pres">
      <dgm:prSet presAssocID="{C3FA95EC-A199-4B4E-8E67-3DD1BCF236A2}" presName="sp" presStyleCnt="0"/>
      <dgm:spPr/>
    </dgm:pt>
    <dgm:pt modelId="{33132291-44F5-4332-8A8C-9D961715E976}" type="pres">
      <dgm:prSet presAssocID="{325DA578-E2C7-4E01-97D2-ACCFEA9D68EA}" presName="composite" presStyleCnt="0"/>
      <dgm:spPr/>
    </dgm:pt>
    <dgm:pt modelId="{92E46BD1-35EF-48B9-A4B0-0EBF35579279}" type="pres">
      <dgm:prSet presAssocID="{325DA578-E2C7-4E01-97D2-ACCFEA9D68EA}" presName="parentText" presStyleLbl="alignNode1" presStyleIdx="2" presStyleCnt="3">
        <dgm:presLayoutVars>
          <dgm:chMax val="1"/>
          <dgm:bulletEnabled val="1"/>
        </dgm:presLayoutVars>
      </dgm:prSet>
      <dgm:spPr/>
    </dgm:pt>
    <dgm:pt modelId="{F9201961-D446-4AD7-87C4-484F4E7A425F}" type="pres">
      <dgm:prSet presAssocID="{325DA578-E2C7-4E01-97D2-ACCFEA9D68EA}" presName="descendantText" presStyleLbl="alignAcc1" presStyleIdx="2" presStyleCnt="3">
        <dgm:presLayoutVars>
          <dgm:bulletEnabled val="1"/>
        </dgm:presLayoutVars>
      </dgm:prSet>
      <dgm:spPr/>
    </dgm:pt>
  </dgm:ptLst>
  <dgm:cxnLst>
    <dgm:cxn modelId="{70B0E804-2BE0-4466-94FA-F799537F5AAE}" type="presOf" srcId="{325DA578-E2C7-4E01-97D2-ACCFEA9D68EA}" destId="{92E46BD1-35EF-48B9-A4B0-0EBF35579279}" srcOrd="0" destOrd="0" presId="urn:microsoft.com/office/officeart/2005/8/layout/chevron2"/>
    <dgm:cxn modelId="{9F564E08-0316-4DA9-9EE6-4F3F4D12FCB5}" srcId="{B94B8638-73B9-4BE9-81E7-76784A6D5478}" destId="{69F0B6E1-7A47-408F-BFBA-8C46FACFE172}" srcOrd="1" destOrd="0" parTransId="{14AD90CC-868D-4C0E-A35D-0EF4896A2588}" sibTransId="{2EFBCADB-D1AF-49D4-9016-2AC78FB69C34}"/>
    <dgm:cxn modelId="{74368119-80A5-43F3-BEEE-1FCD594CC33D}" type="presOf" srcId="{47D631AF-039F-41C3-9B8D-1010411D5995}" destId="{F9201961-D446-4AD7-87C4-484F4E7A425F}" srcOrd="0" destOrd="1" presId="urn:microsoft.com/office/officeart/2005/8/layout/chevron2"/>
    <dgm:cxn modelId="{98FC5528-4B10-4830-BE10-6CFF85576C25}" srcId="{B94B8638-73B9-4BE9-81E7-76784A6D5478}" destId="{5F8830BD-75CE-4A18-A403-0D784FD3C989}" srcOrd="2" destOrd="0" parTransId="{06FAC9FD-C752-4E18-81FB-BD870E63B617}" sibTransId="{A7E64A12-6612-4F59-9053-025FE1BD4886}"/>
    <dgm:cxn modelId="{1243C629-1879-4D29-9FE2-70560CA8824B}" type="presOf" srcId="{274B034A-AB34-4D0F-99B7-AEFBD8959A36}" destId="{F2182656-AA85-4237-AC98-CE6E7498257D}" srcOrd="0" destOrd="2" presId="urn:microsoft.com/office/officeart/2005/8/layout/chevron2"/>
    <dgm:cxn modelId="{F5B06E37-0FB4-4696-A56E-D5EA5AAB0038}" srcId="{325DA578-E2C7-4E01-97D2-ACCFEA9D68EA}" destId="{21531351-479E-4655-83A0-6DF9E2E48B97}" srcOrd="0" destOrd="0" parTransId="{085547BE-869E-4D78-8A81-9CD7F82BDC53}" sibTransId="{635E66D9-16CB-4AD6-A1D8-6B6CA43E1505}"/>
    <dgm:cxn modelId="{7D4A3339-444E-4C44-A644-8C2F69A45C04}" srcId="{EC996B6E-A983-4A31-817B-EECB540856D9}" destId="{274B034A-AB34-4D0F-99B7-AEFBD8959A36}" srcOrd="1" destOrd="0" parTransId="{FD4B3A35-06AF-4C69-B6BC-72374A3B5E3F}" sibTransId="{D2C426F7-8572-4AD0-8519-4D2034626782}"/>
    <dgm:cxn modelId="{6EB3293E-F860-4B70-B93E-B31E12E57A55}" type="presOf" srcId="{69F0B6E1-7A47-408F-BFBA-8C46FACFE172}" destId="{9D373173-EB16-454B-B773-7F0839397A80}" srcOrd="0" destOrd="2" presId="urn:microsoft.com/office/officeart/2005/8/layout/chevron2"/>
    <dgm:cxn modelId="{92204B5E-9517-435A-B7CE-5083B5B09DB8}" srcId="{21531351-479E-4655-83A0-6DF9E2E48B97}" destId="{52D8D664-33F9-42F7-98AF-188B2364FAB2}" srcOrd="1" destOrd="0" parTransId="{52BB2CE1-72ED-4B74-A8B3-D2B7487935F2}" sibTransId="{7223E0E3-49A8-4B9A-A543-6A34CE4C2C25}"/>
    <dgm:cxn modelId="{9E4F7D43-98F5-46BE-A2DC-9DDBF5D59843}" srcId="{21531351-479E-4655-83A0-6DF9E2E48B97}" destId="{CCA24536-F792-454D-9CD6-5973B5F93B91}" srcOrd="2" destOrd="0" parTransId="{271D6DA7-37F1-4C9D-B2AE-5B7217F25601}" sibTransId="{F448A69F-19AD-4EF1-BF1B-1446DD59C3D3}"/>
    <dgm:cxn modelId="{FF1D7C72-3B1A-4BF9-9AD7-156175A85D1B}" type="presOf" srcId="{21531351-479E-4655-83A0-6DF9E2E48B97}" destId="{F9201961-D446-4AD7-87C4-484F4E7A425F}" srcOrd="0" destOrd="0" presId="urn:microsoft.com/office/officeart/2005/8/layout/chevron2"/>
    <dgm:cxn modelId="{1526B577-32D2-4C3A-AFEE-4CD789148AFF}" srcId="{5B92C8FA-0876-40C3-917E-91CE5F06F523}" destId="{C4087E20-C755-4964-B655-826CD2E966D5}" srcOrd="0" destOrd="0" parTransId="{9354E0DB-2DCC-430B-9212-CED7E84B267E}" sibTransId="{5CCE3712-6D2D-48AE-A25D-AF2362CD3608}"/>
    <dgm:cxn modelId="{E2399158-A859-4540-96E0-6C05AF2E3FD7}" type="presOf" srcId="{FFB4EC4A-8BBB-414F-A3A1-A05079FC49DE}" destId="{F2182656-AA85-4237-AC98-CE6E7498257D}" srcOrd="0" destOrd="3" presId="urn:microsoft.com/office/officeart/2005/8/layout/chevron2"/>
    <dgm:cxn modelId="{FE6D6B7C-391D-4DE5-8A50-30CE7A2A4DFD}" type="presOf" srcId="{639C37B6-BA75-4246-8AA9-06792A66690F}" destId="{9D373173-EB16-454B-B773-7F0839397A80}" srcOrd="0" destOrd="1" presId="urn:microsoft.com/office/officeart/2005/8/layout/chevron2"/>
    <dgm:cxn modelId="{461DAE7E-C90F-4E45-BCA1-23FA173D90DE}" srcId="{7D3FC2F7-8000-4884-8AFB-A881D9514A9D}" destId="{B94B8638-73B9-4BE9-81E7-76784A6D5478}" srcOrd="0" destOrd="0" parTransId="{01E732C1-B421-493F-850C-1D8CF3E3F33C}" sibTransId="{93EE6951-971C-4CA7-852F-7C253A2CCE84}"/>
    <dgm:cxn modelId="{49A20E8B-0294-4F7A-86A8-B346AAE25AE3}" type="presOf" srcId="{7D3FC2F7-8000-4884-8AFB-A881D9514A9D}" destId="{6C82E433-EDD2-4948-B0E7-3FECA552FE56}" srcOrd="0" destOrd="0" presId="urn:microsoft.com/office/officeart/2005/8/layout/chevron2"/>
    <dgm:cxn modelId="{7A041893-E4C4-4525-AF64-A362F23A6D72}" srcId="{EC996B6E-A983-4A31-817B-EECB540856D9}" destId="{FFB4EC4A-8BBB-414F-A3A1-A05079FC49DE}" srcOrd="2" destOrd="0" parTransId="{90743353-5148-4D06-9A28-819AFC7D7EB3}" sibTransId="{BABB4EBF-7A4F-4662-8362-B292B8D69630}"/>
    <dgm:cxn modelId="{B519B295-E5FF-4482-B384-22BACED0BC2D}" type="presOf" srcId="{5B92C8FA-0876-40C3-917E-91CE5F06F523}" destId="{796883CC-F30B-49F7-89F8-E3CB44A163A9}" srcOrd="0" destOrd="0" presId="urn:microsoft.com/office/officeart/2005/8/layout/chevron2"/>
    <dgm:cxn modelId="{E9EAE798-5BC1-489E-8CE1-289CBBDF0499}" type="presOf" srcId="{CCA24536-F792-454D-9CD6-5973B5F93B91}" destId="{F9201961-D446-4AD7-87C4-484F4E7A425F}" srcOrd="0" destOrd="3" presId="urn:microsoft.com/office/officeart/2005/8/layout/chevron2"/>
    <dgm:cxn modelId="{84CD149D-83A0-4128-96B7-D64CE6DA207E}" srcId="{5B92C8FA-0876-40C3-917E-91CE5F06F523}" destId="{325DA578-E2C7-4E01-97D2-ACCFEA9D68EA}" srcOrd="2" destOrd="0" parTransId="{FF031BCB-725A-48BA-BFB4-117E0E2C8C00}" sibTransId="{2BB38EBB-953F-45E1-A5D8-69B1C5FD9A9D}"/>
    <dgm:cxn modelId="{7992429D-9C5D-4E69-BEE9-94FAB9DBFF63}" srcId="{5B92C8FA-0876-40C3-917E-91CE5F06F523}" destId="{7D3FC2F7-8000-4884-8AFB-A881D9514A9D}" srcOrd="1" destOrd="0" parTransId="{3FFCA9BF-ECED-4776-8C0C-066CE5A06488}" sibTransId="{C3FA95EC-A199-4B4E-8E67-3DD1BCF236A2}"/>
    <dgm:cxn modelId="{DFDA77AA-5E0E-4D1B-AE5D-7AC139557CA7}" type="presOf" srcId="{B94B8638-73B9-4BE9-81E7-76784A6D5478}" destId="{9D373173-EB16-454B-B773-7F0839397A80}" srcOrd="0" destOrd="0" presId="urn:microsoft.com/office/officeart/2005/8/layout/chevron2"/>
    <dgm:cxn modelId="{37F9FAAE-1563-479D-B3E4-A1B0DFF50E24}" srcId="{21531351-479E-4655-83A0-6DF9E2E48B97}" destId="{47D631AF-039F-41C3-9B8D-1010411D5995}" srcOrd="0" destOrd="0" parTransId="{18C0C295-9DBB-4CF7-B79F-4F95DE5B9033}" sibTransId="{72E98286-D3E6-48D9-B266-D6251B9A78B1}"/>
    <dgm:cxn modelId="{95EFE6C7-8282-4B18-B607-08311703BD19}" srcId="{C4087E20-C755-4964-B655-826CD2E966D5}" destId="{EC996B6E-A983-4A31-817B-EECB540856D9}" srcOrd="0" destOrd="0" parTransId="{5A14E9BE-C3E3-41F8-BFFA-D0C3EDD8ECB4}" sibTransId="{60C10666-1420-45E0-814D-337319F2A068}"/>
    <dgm:cxn modelId="{748DC4CA-B0F5-40A8-93AA-976A639DEEA6}" type="presOf" srcId="{C4087E20-C755-4964-B655-826CD2E966D5}" destId="{7BF4D1B0-9488-402D-B4DB-765C0C536A26}" srcOrd="0" destOrd="0" presId="urn:microsoft.com/office/officeart/2005/8/layout/chevron2"/>
    <dgm:cxn modelId="{2FE216CE-7931-48FA-93F9-44C6B63E3BD9}" type="presOf" srcId="{EC996B6E-A983-4A31-817B-EECB540856D9}" destId="{F2182656-AA85-4237-AC98-CE6E7498257D}" srcOrd="0" destOrd="0" presId="urn:microsoft.com/office/officeart/2005/8/layout/chevron2"/>
    <dgm:cxn modelId="{73EBA4DA-C40C-4CF7-9575-940BA8BEDEC1}" type="presOf" srcId="{5F8830BD-75CE-4A18-A403-0D784FD3C989}" destId="{9D373173-EB16-454B-B773-7F0839397A80}" srcOrd="0" destOrd="3" presId="urn:microsoft.com/office/officeart/2005/8/layout/chevron2"/>
    <dgm:cxn modelId="{57B219DC-4246-4FFF-8D16-091BF9C576C5}" srcId="{EC996B6E-A983-4A31-817B-EECB540856D9}" destId="{EEC83065-E479-42B8-9086-CF30064C5941}" srcOrd="0" destOrd="0" parTransId="{6A988FE6-4221-41E6-91C9-CD3A77AAB99A}" sibTransId="{E52FBBCD-5A05-4A1A-A1A3-9229414A9E31}"/>
    <dgm:cxn modelId="{287F32E4-E4A2-42A6-ADAB-BE2AA34B56BF}" type="presOf" srcId="{52D8D664-33F9-42F7-98AF-188B2364FAB2}" destId="{F9201961-D446-4AD7-87C4-484F4E7A425F}" srcOrd="0" destOrd="2" presId="urn:microsoft.com/office/officeart/2005/8/layout/chevron2"/>
    <dgm:cxn modelId="{CFF7EFEC-85BD-4F7B-9439-54D65727BDDE}" type="presOf" srcId="{EEC83065-E479-42B8-9086-CF30064C5941}" destId="{F2182656-AA85-4237-AC98-CE6E7498257D}" srcOrd="0" destOrd="1" presId="urn:microsoft.com/office/officeart/2005/8/layout/chevron2"/>
    <dgm:cxn modelId="{7E5115F1-BDAE-45CC-81BC-7599FC004863}" srcId="{B94B8638-73B9-4BE9-81E7-76784A6D5478}" destId="{639C37B6-BA75-4246-8AA9-06792A66690F}" srcOrd="0" destOrd="0" parTransId="{43B74E20-1001-4881-9BBC-458352C30943}" sibTransId="{6C3FAA5B-EA3F-42C0-B061-19D549162FBF}"/>
    <dgm:cxn modelId="{27844CD0-5013-40C5-97BD-330048417197}" type="presParOf" srcId="{796883CC-F30B-49F7-89F8-E3CB44A163A9}" destId="{111125D4-490A-4CDF-85FD-6807096574DD}" srcOrd="0" destOrd="0" presId="urn:microsoft.com/office/officeart/2005/8/layout/chevron2"/>
    <dgm:cxn modelId="{DBB4C735-E351-4C92-BA47-051D9F065114}" type="presParOf" srcId="{111125D4-490A-4CDF-85FD-6807096574DD}" destId="{7BF4D1B0-9488-402D-B4DB-765C0C536A26}" srcOrd="0" destOrd="0" presId="urn:microsoft.com/office/officeart/2005/8/layout/chevron2"/>
    <dgm:cxn modelId="{BCC3E982-B6DA-405E-AFD6-11B6A182ACE3}" type="presParOf" srcId="{111125D4-490A-4CDF-85FD-6807096574DD}" destId="{F2182656-AA85-4237-AC98-CE6E7498257D}" srcOrd="1" destOrd="0" presId="urn:microsoft.com/office/officeart/2005/8/layout/chevron2"/>
    <dgm:cxn modelId="{141686BA-C4DB-4CFC-865E-5690F66C5848}" type="presParOf" srcId="{796883CC-F30B-49F7-89F8-E3CB44A163A9}" destId="{A3BE6594-B081-493F-8B83-CEF902A52DCD}" srcOrd="1" destOrd="0" presId="urn:microsoft.com/office/officeart/2005/8/layout/chevron2"/>
    <dgm:cxn modelId="{E2CED56F-D8D4-451B-A2D1-F2A389B23149}" type="presParOf" srcId="{796883CC-F30B-49F7-89F8-E3CB44A163A9}" destId="{08189CD1-CCBD-4D45-8DCC-EE1FAC80C35F}" srcOrd="2" destOrd="0" presId="urn:microsoft.com/office/officeart/2005/8/layout/chevron2"/>
    <dgm:cxn modelId="{3562CDA1-7292-4EAC-BBDA-0C98B18E7621}" type="presParOf" srcId="{08189CD1-CCBD-4D45-8DCC-EE1FAC80C35F}" destId="{6C82E433-EDD2-4948-B0E7-3FECA552FE56}" srcOrd="0" destOrd="0" presId="urn:microsoft.com/office/officeart/2005/8/layout/chevron2"/>
    <dgm:cxn modelId="{D3EEFF7A-E640-48C9-AEAF-A7D24870099C}" type="presParOf" srcId="{08189CD1-CCBD-4D45-8DCC-EE1FAC80C35F}" destId="{9D373173-EB16-454B-B773-7F0839397A80}" srcOrd="1" destOrd="0" presId="urn:microsoft.com/office/officeart/2005/8/layout/chevron2"/>
    <dgm:cxn modelId="{09A479C0-E78C-4AD1-98DD-48BC4A8767E5}" type="presParOf" srcId="{796883CC-F30B-49F7-89F8-E3CB44A163A9}" destId="{9AEC0CD6-C167-4907-A8CF-D0CC2B823E06}" srcOrd="3" destOrd="0" presId="urn:microsoft.com/office/officeart/2005/8/layout/chevron2"/>
    <dgm:cxn modelId="{0E5C4BF4-B520-473A-9C9E-D0B124C49494}" type="presParOf" srcId="{796883CC-F30B-49F7-89F8-E3CB44A163A9}" destId="{33132291-44F5-4332-8A8C-9D961715E976}" srcOrd="4" destOrd="0" presId="urn:microsoft.com/office/officeart/2005/8/layout/chevron2"/>
    <dgm:cxn modelId="{69B18CAA-81B2-48E1-9392-90341B54E443}" type="presParOf" srcId="{33132291-44F5-4332-8A8C-9D961715E976}" destId="{92E46BD1-35EF-48B9-A4B0-0EBF35579279}" srcOrd="0" destOrd="0" presId="urn:microsoft.com/office/officeart/2005/8/layout/chevron2"/>
    <dgm:cxn modelId="{64C6FDE4-E3AC-4266-BCE6-03EE8B36958A}" type="presParOf" srcId="{33132291-44F5-4332-8A8C-9D961715E976}" destId="{F9201961-D446-4AD7-87C4-484F4E7A425F}" srcOrd="1" destOrd="0" presId="urn:microsoft.com/office/officeart/2005/8/layout/chevron2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187B487B-D9EC-4513-A83E-F05C5F1BBD6F}" type="doc">
      <dgm:prSet loTypeId="urn:microsoft.com/office/officeart/2005/8/layout/process3" loCatId="process" qsTypeId="urn:microsoft.com/office/officeart/2005/8/quickstyle/simple1" qsCatId="simple" csTypeId="urn:microsoft.com/office/officeart/2005/8/colors/colorful5" csCatId="colorful" phldr="1"/>
      <dgm:spPr/>
      <dgm:t>
        <a:bodyPr/>
        <a:lstStyle/>
        <a:p>
          <a:endParaRPr lang="de-DE"/>
        </a:p>
      </dgm:t>
    </dgm:pt>
    <dgm:pt modelId="{155E313A-92E2-4EF4-BDAE-9F9F72617814}">
      <dgm:prSet phldrT="[Text]"/>
      <dgm:spPr/>
      <dgm:t>
        <a:bodyPr/>
        <a:lstStyle/>
        <a:p>
          <a:r>
            <a:rPr lang="de-DE" dirty="0"/>
            <a:t>🧭Planungsdeklaration </a:t>
          </a:r>
        </a:p>
      </dgm:t>
    </dgm:pt>
    <dgm:pt modelId="{3B5F1ECA-1521-4A52-B830-54F47A1B0034}" type="parTrans" cxnId="{4FD0225D-C230-4390-992D-3C06EED3A90E}">
      <dgm:prSet/>
      <dgm:spPr/>
      <dgm:t>
        <a:bodyPr/>
        <a:lstStyle/>
        <a:p>
          <a:endParaRPr lang="de-DE"/>
        </a:p>
      </dgm:t>
    </dgm:pt>
    <dgm:pt modelId="{423D37AF-90EE-42A4-8EB9-44D64500869F}" type="sibTrans" cxnId="{4FD0225D-C230-4390-992D-3C06EED3A90E}">
      <dgm:prSet/>
      <dgm:spPr/>
      <dgm:t>
        <a:bodyPr/>
        <a:lstStyle/>
        <a:p>
          <a:endParaRPr lang="de-DE"/>
        </a:p>
      </dgm:t>
    </dgm:pt>
    <dgm:pt modelId="{F1D313A6-673E-4824-872C-528BEDF40269}">
      <dgm:prSet phldrT="[Text]" phldr="0"/>
      <dgm:spPr/>
      <dgm:t>
        <a:bodyPr/>
        <a:lstStyle/>
        <a:p>
          <a:r>
            <a:rPr lang="de-DE" dirty="0"/>
            <a:t>🏗️Fertigstellungsdeklaration</a:t>
          </a:r>
        </a:p>
      </dgm:t>
    </dgm:pt>
    <dgm:pt modelId="{FB27AC00-D604-4FE9-90D3-8F5230A5CCB7}" type="parTrans" cxnId="{26149798-21FD-4B04-8B02-555BEB5C2C6B}">
      <dgm:prSet/>
      <dgm:spPr/>
      <dgm:t>
        <a:bodyPr/>
        <a:lstStyle/>
        <a:p>
          <a:endParaRPr lang="de-DE"/>
        </a:p>
      </dgm:t>
    </dgm:pt>
    <dgm:pt modelId="{2D9F04BE-7466-4C62-8C15-B697F20E4486}" type="sibTrans" cxnId="{26149798-21FD-4B04-8B02-555BEB5C2C6B}">
      <dgm:prSet/>
      <dgm:spPr/>
      <dgm:t>
        <a:bodyPr/>
        <a:lstStyle/>
        <a:p>
          <a:endParaRPr lang="de-DE"/>
        </a:p>
      </dgm:t>
    </dgm:pt>
    <dgm:pt modelId="{AC025970-C052-4406-8118-96138D2E8C74}">
      <dgm:prSet phldrT="[Text]" phldr="0"/>
      <dgm:spPr/>
      <dgm:t>
        <a:bodyPr/>
        <a:lstStyle/>
        <a:p>
          <a:r>
            <a:rPr lang="de-DE" dirty="0"/>
            <a:t>Nach erfolgter  </a:t>
          </a:r>
          <a:r>
            <a:rPr lang="de-DE" b="1" dirty="0"/>
            <a:t>Ausführung</a:t>
          </a:r>
          <a:r>
            <a:rPr lang="de-DE" dirty="0"/>
            <a:t> des Bauvorhabens gemäß Deklaration</a:t>
          </a:r>
        </a:p>
      </dgm:t>
    </dgm:pt>
    <dgm:pt modelId="{955CC951-B60E-487F-8148-73988BECC0E8}" type="parTrans" cxnId="{F9D1AA99-3420-4241-8CAC-FAFB1CF3C4A7}">
      <dgm:prSet/>
      <dgm:spPr/>
      <dgm:t>
        <a:bodyPr/>
        <a:lstStyle/>
        <a:p>
          <a:endParaRPr lang="de-DE"/>
        </a:p>
      </dgm:t>
    </dgm:pt>
    <dgm:pt modelId="{F1489E5B-D40C-4019-B5CD-7AB2FA070EBE}" type="sibTrans" cxnId="{F9D1AA99-3420-4241-8CAC-FAFB1CF3C4A7}">
      <dgm:prSet/>
      <dgm:spPr/>
      <dgm:t>
        <a:bodyPr/>
        <a:lstStyle/>
        <a:p>
          <a:endParaRPr lang="de-DE"/>
        </a:p>
      </dgm:t>
    </dgm:pt>
    <dgm:pt modelId="{398F8BF8-ED54-40C9-8FED-EA6AC1E18C8D}">
      <dgm:prSet phldrT="[Text]" phldr="0"/>
      <dgm:spPr/>
      <dgm:t>
        <a:bodyPr/>
        <a:lstStyle/>
        <a:p>
          <a:r>
            <a:rPr lang="de-DE" dirty="0"/>
            <a:t>📐Betriebsdeklaration</a:t>
          </a:r>
        </a:p>
      </dgm:t>
    </dgm:pt>
    <dgm:pt modelId="{16DC792A-46E8-4290-A1CC-090B2609BDB9}" type="parTrans" cxnId="{4D80701E-E073-4E15-81AE-E94D87A03A0E}">
      <dgm:prSet/>
      <dgm:spPr/>
      <dgm:t>
        <a:bodyPr/>
        <a:lstStyle/>
        <a:p>
          <a:endParaRPr lang="de-DE"/>
        </a:p>
      </dgm:t>
    </dgm:pt>
    <dgm:pt modelId="{86C1E7B0-D339-469B-9AFD-8D303C13B3F9}" type="sibTrans" cxnId="{4D80701E-E073-4E15-81AE-E94D87A03A0E}">
      <dgm:prSet/>
      <dgm:spPr/>
      <dgm:t>
        <a:bodyPr/>
        <a:lstStyle/>
        <a:p>
          <a:endParaRPr lang="de-DE"/>
        </a:p>
      </dgm:t>
    </dgm:pt>
    <dgm:pt modelId="{F8C8BAA8-91E7-4B78-B5AD-C2EF9F910432}">
      <dgm:prSet phldrT="[Text]" phldr="0"/>
      <dgm:spPr/>
      <dgm:t>
        <a:bodyPr/>
        <a:lstStyle/>
        <a:p>
          <a:r>
            <a:rPr lang="de-DE" dirty="0"/>
            <a:t>Nach min. 1-Jähriger Monitoring-Phase</a:t>
          </a:r>
        </a:p>
      </dgm:t>
    </dgm:pt>
    <dgm:pt modelId="{F645AD18-3760-457E-95F4-D6AE0FBEE5C3}" type="parTrans" cxnId="{293A8FDB-D1A6-4F9F-B785-02D1D0C083E0}">
      <dgm:prSet/>
      <dgm:spPr/>
      <dgm:t>
        <a:bodyPr/>
        <a:lstStyle/>
        <a:p>
          <a:endParaRPr lang="de-DE"/>
        </a:p>
      </dgm:t>
    </dgm:pt>
    <dgm:pt modelId="{8378D8C5-BCC0-4A89-9F81-35C0F9FBA795}" type="sibTrans" cxnId="{293A8FDB-D1A6-4F9F-B785-02D1D0C083E0}">
      <dgm:prSet/>
      <dgm:spPr/>
      <dgm:t>
        <a:bodyPr/>
        <a:lstStyle/>
        <a:p>
          <a:endParaRPr lang="de-DE"/>
        </a:p>
      </dgm:t>
    </dgm:pt>
    <dgm:pt modelId="{22A96C28-5FCF-4226-9E75-5EBC8C287E27}">
      <dgm:prSet phldrT="[Text]" phldr="0"/>
      <dgm:spPr/>
      <dgm:t>
        <a:bodyPr/>
        <a:lstStyle/>
        <a:p>
          <a:r>
            <a:rPr lang="de-DE" b="1" dirty="0"/>
            <a:t>Optionaler</a:t>
          </a:r>
          <a:r>
            <a:rPr lang="de-DE" dirty="0"/>
            <a:t> Deklarationsschritt zur Orientierung</a:t>
          </a:r>
        </a:p>
      </dgm:t>
    </dgm:pt>
    <dgm:pt modelId="{097F17A4-8208-4266-8E1E-D84FD1B45E03}" type="parTrans" cxnId="{CC5B78D9-F3DF-4119-A25F-C17D4BEEACEF}">
      <dgm:prSet/>
      <dgm:spPr/>
      <dgm:t>
        <a:bodyPr/>
        <a:lstStyle/>
        <a:p>
          <a:endParaRPr lang="de-DE"/>
        </a:p>
      </dgm:t>
    </dgm:pt>
    <dgm:pt modelId="{BC67269E-276B-4F71-9A72-7CE0A61C2DC1}" type="sibTrans" cxnId="{CC5B78D9-F3DF-4119-A25F-C17D4BEEACEF}">
      <dgm:prSet/>
      <dgm:spPr/>
      <dgm:t>
        <a:bodyPr/>
        <a:lstStyle/>
        <a:p>
          <a:endParaRPr lang="de-DE"/>
        </a:p>
      </dgm:t>
    </dgm:pt>
    <dgm:pt modelId="{89DD7AFD-E13D-4CD0-9140-ADEEF641741E}">
      <dgm:prSet phldrT="[Text]" phldr="0"/>
      <dgm:spPr/>
      <dgm:t>
        <a:bodyPr/>
        <a:lstStyle/>
        <a:p>
          <a:r>
            <a:rPr lang="de-DE" dirty="0"/>
            <a:t>Falls die Erreichung des Standards erst innerhalb der nächsten 5 Jahre plausibilisiert werden kann: Deklaration </a:t>
          </a:r>
          <a:r>
            <a:rPr lang="de-DE" b="1" dirty="0"/>
            <a:t>„Auf dem Weg zum …“ PEQ</a:t>
          </a:r>
          <a:endParaRPr lang="de-DE" dirty="0"/>
        </a:p>
      </dgm:t>
    </dgm:pt>
    <dgm:pt modelId="{F3D589C6-278C-4C31-81E8-99ACE4D5BB9F}" type="parTrans" cxnId="{C89FDBED-6A71-458E-B3D0-6EE18506E549}">
      <dgm:prSet/>
      <dgm:spPr/>
      <dgm:t>
        <a:bodyPr/>
        <a:lstStyle/>
        <a:p>
          <a:endParaRPr lang="de-DE"/>
        </a:p>
      </dgm:t>
    </dgm:pt>
    <dgm:pt modelId="{A146FCC1-437B-4F6C-85EC-60F5AE3446B7}" type="sibTrans" cxnId="{C89FDBED-6A71-458E-B3D0-6EE18506E549}">
      <dgm:prSet/>
      <dgm:spPr/>
      <dgm:t>
        <a:bodyPr/>
        <a:lstStyle/>
        <a:p>
          <a:endParaRPr lang="de-DE"/>
        </a:p>
      </dgm:t>
    </dgm:pt>
    <dgm:pt modelId="{ED9F587C-2275-48DD-AA5C-7B2FB158E60C}">
      <dgm:prSet phldrT="[Text]" phldr="0"/>
      <dgm:spPr/>
      <dgm:t>
        <a:bodyPr/>
        <a:lstStyle/>
        <a:p>
          <a:r>
            <a:rPr lang="de-DE" dirty="0"/>
            <a:t>Deklaration für Planung, </a:t>
          </a:r>
          <a:r>
            <a:rPr lang="de-DE" b="1" dirty="0"/>
            <a:t>muss nicht umgesetzt werden</a:t>
          </a:r>
        </a:p>
      </dgm:t>
    </dgm:pt>
    <dgm:pt modelId="{564644AF-418B-4EE0-9265-82E6CE487612}" type="parTrans" cxnId="{D7BFEB4C-3BEC-488E-BB2A-6A8596254E1F}">
      <dgm:prSet/>
      <dgm:spPr/>
      <dgm:t>
        <a:bodyPr/>
        <a:lstStyle/>
        <a:p>
          <a:endParaRPr lang="de-DE"/>
        </a:p>
      </dgm:t>
    </dgm:pt>
    <dgm:pt modelId="{4B3F602F-8A42-4A33-A70E-2A252FCC9B39}" type="sibTrans" cxnId="{D7BFEB4C-3BEC-488E-BB2A-6A8596254E1F}">
      <dgm:prSet/>
      <dgm:spPr/>
      <dgm:t>
        <a:bodyPr/>
        <a:lstStyle/>
        <a:p>
          <a:endParaRPr lang="de-DE"/>
        </a:p>
      </dgm:t>
    </dgm:pt>
    <dgm:pt modelId="{1D6290F2-0138-484E-937D-935492B298C5}">
      <dgm:prSet phldrT="[Text]" phldr="0"/>
      <dgm:spPr/>
      <dgm:t>
        <a:bodyPr/>
        <a:lstStyle/>
        <a:p>
          <a:r>
            <a:rPr lang="de-DE" dirty="0"/>
            <a:t>Auszeichnung für die Erarbeitung von </a:t>
          </a:r>
          <a:r>
            <a:rPr lang="de-DE" b="1" dirty="0"/>
            <a:t>Planungsvarianten</a:t>
          </a:r>
          <a:r>
            <a:rPr lang="de-DE" dirty="0"/>
            <a:t>, die den Standard erreichen könnten</a:t>
          </a:r>
        </a:p>
      </dgm:t>
    </dgm:pt>
    <dgm:pt modelId="{2D0EA653-87A2-44DD-B224-2EE36DCBC600}" type="parTrans" cxnId="{B6EDA250-FFF3-413F-B9AD-27346B30067D}">
      <dgm:prSet/>
      <dgm:spPr/>
      <dgm:t>
        <a:bodyPr/>
        <a:lstStyle/>
        <a:p>
          <a:endParaRPr lang="de-DE"/>
        </a:p>
      </dgm:t>
    </dgm:pt>
    <dgm:pt modelId="{A7BA9C76-684E-4521-8CD6-A705C2E9CD31}" type="sibTrans" cxnId="{B6EDA250-FFF3-413F-B9AD-27346B30067D}">
      <dgm:prSet/>
      <dgm:spPr/>
      <dgm:t>
        <a:bodyPr/>
        <a:lstStyle/>
        <a:p>
          <a:endParaRPr lang="de-DE"/>
        </a:p>
      </dgm:t>
    </dgm:pt>
    <dgm:pt modelId="{9E35D670-E4CA-4486-BEDE-C1AB32EE7127}">
      <dgm:prSet phldrT="[Text]" phldr="0"/>
      <dgm:spPr/>
      <dgm:t>
        <a:bodyPr/>
        <a:lstStyle/>
        <a:p>
          <a:r>
            <a:rPr lang="de-DE" dirty="0"/>
            <a:t>Identifikation von Performance-Gaps und</a:t>
          </a:r>
        </a:p>
      </dgm:t>
    </dgm:pt>
    <dgm:pt modelId="{55804B8A-E6FF-4812-AA75-CE157984AFC1}" type="parTrans" cxnId="{DA951E1A-C94D-4481-B18B-5994FE79774F}">
      <dgm:prSet/>
      <dgm:spPr/>
      <dgm:t>
        <a:bodyPr/>
        <a:lstStyle/>
        <a:p>
          <a:endParaRPr lang="de-DE"/>
        </a:p>
      </dgm:t>
    </dgm:pt>
    <dgm:pt modelId="{906DFBD4-3DA8-4ED0-8307-4E478A9B820B}" type="sibTrans" cxnId="{DA951E1A-C94D-4481-B18B-5994FE79774F}">
      <dgm:prSet/>
      <dgm:spPr/>
      <dgm:t>
        <a:bodyPr/>
        <a:lstStyle/>
        <a:p>
          <a:endParaRPr lang="de-DE"/>
        </a:p>
      </dgm:t>
    </dgm:pt>
    <dgm:pt modelId="{4812B62C-C09F-40F7-8344-EFDC83403717}" type="pres">
      <dgm:prSet presAssocID="{187B487B-D9EC-4513-A83E-F05C5F1BBD6F}" presName="linearFlow" presStyleCnt="0">
        <dgm:presLayoutVars>
          <dgm:dir/>
          <dgm:animLvl val="lvl"/>
          <dgm:resizeHandles val="exact"/>
        </dgm:presLayoutVars>
      </dgm:prSet>
      <dgm:spPr/>
    </dgm:pt>
    <dgm:pt modelId="{CD400B70-76C4-467A-B1C7-8488E28CC5F2}" type="pres">
      <dgm:prSet presAssocID="{155E313A-92E2-4EF4-BDAE-9F9F72617814}" presName="composite" presStyleCnt="0"/>
      <dgm:spPr/>
    </dgm:pt>
    <dgm:pt modelId="{C978A12A-CB2C-4355-804D-311009CF3E00}" type="pres">
      <dgm:prSet presAssocID="{155E313A-92E2-4EF4-BDAE-9F9F72617814}" presName="parTx" presStyleLbl="node1" presStyleIdx="0" presStyleCnt="3">
        <dgm:presLayoutVars>
          <dgm:chMax val="0"/>
          <dgm:chPref val="0"/>
          <dgm:bulletEnabled val="1"/>
        </dgm:presLayoutVars>
      </dgm:prSet>
      <dgm:spPr/>
    </dgm:pt>
    <dgm:pt modelId="{846FED41-F313-4F52-8F10-95DD9F9F795F}" type="pres">
      <dgm:prSet presAssocID="{155E313A-92E2-4EF4-BDAE-9F9F72617814}" presName="parSh" presStyleLbl="node1" presStyleIdx="0" presStyleCnt="3" custScaleY="177032"/>
      <dgm:spPr/>
    </dgm:pt>
    <dgm:pt modelId="{C7C49C11-A2B5-4CBB-A6EC-D160EFC3434E}" type="pres">
      <dgm:prSet presAssocID="{155E313A-92E2-4EF4-BDAE-9F9F72617814}" presName="desTx" presStyleLbl="fgAcc1" presStyleIdx="0" presStyleCnt="3">
        <dgm:presLayoutVars>
          <dgm:bulletEnabled val="1"/>
        </dgm:presLayoutVars>
      </dgm:prSet>
      <dgm:spPr/>
    </dgm:pt>
    <dgm:pt modelId="{9D582EC6-1145-42C5-A794-43E1707BFA7A}" type="pres">
      <dgm:prSet presAssocID="{423D37AF-90EE-42A4-8EB9-44D64500869F}" presName="sibTrans" presStyleLbl="sibTrans2D1" presStyleIdx="0" presStyleCnt="2"/>
      <dgm:spPr/>
    </dgm:pt>
    <dgm:pt modelId="{2EB2CCC0-351C-4690-BC42-87F213012115}" type="pres">
      <dgm:prSet presAssocID="{423D37AF-90EE-42A4-8EB9-44D64500869F}" presName="connTx" presStyleLbl="sibTrans2D1" presStyleIdx="0" presStyleCnt="2"/>
      <dgm:spPr/>
    </dgm:pt>
    <dgm:pt modelId="{94BC05A7-3069-4441-8B17-63336379CDC4}" type="pres">
      <dgm:prSet presAssocID="{F1D313A6-673E-4824-872C-528BEDF40269}" presName="composite" presStyleCnt="0"/>
      <dgm:spPr/>
    </dgm:pt>
    <dgm:pt modelId="{9F611799-4E09-4C0E-82C4-22646B1C7E8C}" type="pres">
      <dgm:prSet presAssocID="{F1D313A6-673E-4824-872C-528BEDF40269}" presName="parTx" presStyleLbl="node1" presStyleIdx="0" presStyleCnt="3">
        <dgm:presLayoutVars>
          <dgm:chMax val="0"/>
          <dgm:chPref val="0"/>
          <dgm:bulletEnabled val="1"/>
        </dgm:presLayoutVars>
      </dgm:prSet>
      <dgm:spPr/>
    </dgm:pt>
    <dgm:pt modelId="{BE0975F9-3B90-4D47-ABE7-40CD06844B72}" type="pres">
      <dgm:prSet presAssocID="{F1D313A6-673E-4824-872C-528BEDF40269}" presName="parSh" presStyleLbl="node1" presStyleIdx="1" presStyleCnt="3" custScaleY="177032"/>
      <dgm:spPr/>
    </dgm:pt>
    <dgm:pt modelId="{1A52B0DE-8F15-46CB-B7E0-F40968E410AE}" type="pres">
      <dgm:prSet presAssocID="{F1D313A6-673E-4824-872C-528BEDF40269}" presName="desTx" presStyleLbl="fgAcc1" presStyleIdx="1" presStyleCnt="3" custLinFactNeighborX="1066">
        <dgm:presLayoutVars>
          <dgm:bulletEnabled val="1"/>
        </dgm:presLayoutVars>
      </dgm:prSet>
      <dgm:spPr/>
    </dgm:pt>
    <dgm:pt modelId="{102D6CB6-9AC6-4433-8046-492D9D047A51}" type="pres">
      <dgm:prSet presAssocID="{2D9F04BE-7466-4C62-8C15-B697F20E4486}" presName="sibTrans" presStyleLbl="sibTrans2D1" presStyleIdx="1" presStyleCnt="2"/>
      <dgm:spPr/>
    </dgm:pt>
    <dgm:pt modelId="{DC91E044-3A77-48D3-A855-053A4EF00E92}" type="pres">
      <dgm:prSet presAssocID="{2D9F04BE-7466-4C62-8C15-B697F20E4486}" presName="connTx" presStyleLbl="sibTrans2D1" presStyleIdx="1" presStyleCnt="2"/>
      <dgm:spPr/>
    </dgm:pt>
    <dgm:pt modelId="{350E50B9-DA8A-451A-8F5F-6AFA9597C9AA}" type="pres">
      <dgm:prSet presAssocID="{398F8BF8-ED54-40C9-8FED-EA6AC1E18C8D}" presName="composite" presStyleCnt="0"/>
      <dgm:spPr/>
    </dgm:pt>
    <dgm:pt modelId="{2B5B2FE1-B95D-4655-8581-949A41E679A0}" type="pres">
      <dgm:prSet presAssocID="{398F8BF8-ED54-40C9-8FED-EA6AC1E18C8D}" presName="parTx" presStyleLbl="node1" presStyleIdx="1" presStyleCnt="3">
        <dgm:presLayoutVars>
          <dgm:chMax val="0"/>
          <dgm:chPref val="0"/>
          <dgm:bulletEnabled val="1"/>
        </dgm:presLayoutVars>
      </dgm:prSet>
      <dgm:spPr/>
    </dgm:pt>
    <dgm:pt modelId="{A178B6F2-CDCF-43C6-8E2A-3180B70C7D39}" type="pres">
      <dgm:prSet presAssocID="{398F8BF8-ED54-40C9-8FED-EA6AC1E18C8D}" presName="parSh" presStyleLbl="node1" presStyleIdx="2" presStyleCnt="3" custScaleY="177032"/>
      <dgm:spPr/>
    </dgm:pt>
    <dgm:pt modelId="{2F3085CD-96F4-4F02-8853-47496701210C}" type="pres">
      <dgm:prSet presAssocID="{398F8BF8-ED54-40C9-8FED-EA6AC1E18C8D}" presName="desTx" presStyleLbl="fgAcc1" presStyleIdx="2" presStyleCnt="3">
        <dgm:presLayoutVars>
          <dgm:bulletEnabled val="1"/>
        </dgm:presLayoutVars>
      </dgm:prSet>
      <dgm:spPr/>
    </dgm:pt>
  </dgm:ptLst>
  <dgm:cxnLst>
    <dgm:cxn modelId="{6841D215-D20E-48AD-A789-DCC241B6A204}" type="presOf" srcId="{1D6290F2-0138-484E-937D-935492B298C5}" destId="{C7C49C11-A2B5-4CBB-A6EC-D160EFC3434E}" srcOrd="0" destOrd="1" presId="urn:microsoft.com/office/officeart/2005/8/layout/process3"/>
    <dgm:cxn modelId="{DA951E1A-C94D-4481-B18B-5994FE79774F}" srcId="{398F8BF8-ED54-40C9-8FED-EA6AC1E18C8D}" destId="{9E35D670-E4CA-4486-BEDE-C1AB32EE7127}" srcOrd="1" destOrd="0" parTransId="{55804B8A-E6FF-4812-AA75-CE157984AFC1}" sibTransId="{906DFBD4-3DA8-4ED0-8307-4E478A9B820B}"/>
    <dgm:cxn modelId="{4D80701E-E073-4E15-81AE-E94D87A03A0E}" srcId="{187B487B-D9EC-4513-A83E-F05C5F1BBD6F}" destId="{398F8BF8-ED54-40C9-8FED-EA6AC1E18C8D}" srcOrd="2" destOrd="0" parTransId="{16DC792A-46E8-4290-A1CC-090B2609BDB9}" sibTransId="{86C1E7B0-D339-469B-9AFD-8D303C13B3F9}"/>
    <dgm:cxn modelId="{4FD0225D-C230-4390-992D-3C06EED3A90E}" srcId="{187B487B-D9EC-4513-A83E-F05C5F1BBD6F}" destId="{155E313A-92E2-4EF4-BDAE-9F9F72617814}" srcOrd="0" destOrd="0" parTransId="{3B5F1ECA-1521-4A52-B830-54F47A1B0034}" sibTransId="{423D37AF-90EE-42A4-8EB9-44D64500869F}"/>
    <dgm:cxn modelId="{2CC9F560-A8EE-46F0-A691-AD9644385404}" type="presOf" srcId="{155E313A-92E2-4EF4-BDAE-9F9F72617814}" destId="{C978A12A-CB2C-4355-804D-311009CF3E00}" srcOrd="0" destOrd="0" presId="urn:microsoft.com/office/officeart/2005/8/layout/process3"/>
    <dgm:cxn modelId="{BD8B3A67-D399-43E5-9DBD-29893ABA4A3F}" type="presOf" srcId="{F1D313A6-673E-4824-872C-528BEDF40269}" destId="{9F611799-4E09-4C0E-82C4-22646B1C7E8C}" srcOrd="0" destOrd="0" presId="urn:microsoft.com/office/officeart/2005/8/layout/process3"/>
    <dgm:cxn modelId="{D7BFEB4C-3BEC-488E-BB2A-6A8596254E1F}" srcId="{155E313A-92E2-4EF4-BDAE-9F9F72617814}" destId="{ED9F587C-2275-48DD-AA5C-7B2FB158E60C}" srcOrd="2" destOrd="0" parTransId="{564644AF-418B-4EE0-9265-82E6CE487612}" sibTransId="{4B3F602F-8A42-4A33-A70E-2A252FCC9B39}"/>
    <dgm:cxn modelId="{B6EDA250-FFF3-413F-B9AD-27346B30067D}" srcId="{155E313A-92E2-4EF4-BDAE-9F9F72617814}" destId="{1D6290F2-0138-484E-937D-935492B298C5}" srcOrd="1" destOrd="0" parTransId="{2D0EA653-87A2-44DD-B224-2EE36DCBC600}" sibTransId="{A7BA9C76-684E-4521-8CD6-A705C2E9CD31}"/>
    <dgm:cxn modelId="{DB20D870-095A-41EA-9306-577E601D5D41}" type="presOf" srcId="{AC025970-C052-4406-8118-96138D2E8C74}" destId="{1A52B0DE-8F15-46CB-B7E0-F40968E410AE}" srcOrd="0" destOrd="0" presId="urn:microsoft.com/office/officeart/2005/8/layout/process3"/>
    <dgm:cxn modelId="{D6D10171-A0AA-45AC-B0BD-622AC769C79E}" type="presOf" srcId="{89DD7AFD-E13D-4CD0-9140-ADEEF641741E}" destId="{1A52B0DE-8F15-46CB-B7E0-F40968E410AE}" srcOrd="0" destOrd="1" presId="urn:microsoft.com/office/officeart/2005/8/layout/process3"/>
    <dgm:cxn modelId="{512C2072-67DB-44ED-86A5-911AC1E2EADD}" type="presOf" srcId="{155E313A-92E2-4EF4-BDAE-9F9F72617814}" destId="{846FED41-F313-4F52-8F10-95DD9F9F795F}" srcOrd="1" destOrd="0" presId="urn:microsoft.com/office/officeart/2005/8/layout/process3"/>
    <dgm:cxn modelId="{3B232457-356E-4532-BBE0-91935EAE9574}" type="presOf" srcId="{398F8BF8-ED54-40C9-8FED-EA6AC1E18C8D}" destId="{2B5B2FE1-B95D-4655-8581-949A41E679A0}" srcOrd="0" destOrd="0" presId="urn:microsoft.com/office/officeart/2005/8/layout/process3"/>
    <dgm:cxn modelId="{26B1EF79-1820-44BB-B216-7478A5A171E9}" type="presOf" srcId="{423D37AF-90EE-42A4-8EB9-44D64500869F}" destId="{9D582EC6-1145-42C5-A794-43E1707BFA7A}" srcOrd="0" destOrd="0" presId="urn:microsoft.com/office/officeart/2005/8/layout/process3"/>
    <dgm:cxn modelId="{51F6E07B-E58F-4049-8069-019283A64EF7}" type="presOf" srcId="{9E35D670-E4CA-4486-BEDE-C1AB32EE7127}" destId="{2F3085CD-96F4-4F02-8853-47496701210C}" srcOrd="0" destOrd="1" presId="urn:microsoft.com/office/officeart/2005/8/layout/process3"/>
    <dgm:cxn modelId="{D9B74D8D-03F6-4B4D-BA99-B566C08270A1}" type="presOf" srcId="{F8C8BAA8-91E7-4B78-B5AD-C2EF9F910432}" destId="{2F3085CD-96F4-4F02-8853-47496701210C}" srcOrd="0" destOrd="0" presId="urn:microsoft.com/office/officeart/2005/8/layout/process3"/>
    <dgm:cxn modelId="{86A5408F-6607-415D-9CAD-112B858356F1}" type="presOf" srcId="{187B487B-D9EC-4513-A83E-F05C5F1BBD6F}" destId="{4812B62C-C09F-40F7-8344-EFDC83403717}" srcOrd="0" destOrd="0" presId="urn:microsoft.com/office/officeart/2005/8/layout/process3"/>
    <dgm:cxn modelId="{26149798-21FD-4B04-8B02-555BEB5C2C6B}" srcId="{187B487B-D9EC-4513-A83E-F05C5F1BBD6F}" destId="{F1D313A6-673E-4824-872C-528BEDF40269}" srcOrd="1" destOrd="0" parTransId="{FB27AC00-D604-4FE9-90D3-8F5230A5CCB7}" sibTransId="{2D9F04BE-7466-4C62-8C15-B697F20E4486}"/>
    <dgm:cxn modelId="{F9D1AA99-3420-4241-8CAC-FAFB1CF3C4A7}" srcId="{F1D313A6-673E-4824-872C-528BEDF40269}" destId="{AC025970-C052-4406-8118-96138D2E8C74}" srcOrd="0" destOrd="0" parTransId="{955CC951-B60E-487F-8148-73988BECC0E8}" sibTransId="{F1489E5B-D40C-4019-B5CD-7AB2FA070EBE}"/>
    <dgm:cxn modelId="{C34369A7-F209-4F9A-893E-AD96FDD21C2A}" type="presOf" srcId="{423D37AF-90EE-42A4-8EB9-44D64500869F}" destId="{2EB2CCC0-351C-4690-BC42-87F213012115}" srcOrd="1" destOrd="0" presId="urn:microsoft.com/office/officeart/2005/8/layout/process3"/>
    <dgm:cxn modelId="{145BA1AD-453F-48AB-BDE6-008F91DDFC51}" type="presOf" srcId="{22A96C28-5FCF-4226-9E75-5EBC8C287E27}" destId="{C7C49C11-A2B5-4CBB-A6EC-D160EFC3434E}" srcOrd="0" destOrd="0" presId="urn:microsoft.com/office/officeart/2005/8/layout/process3"/>
    <dgm:cxn modelId="{7CCCAAB3-CEBD-4DB5-AF12-60C4B815D18D}" type="presOf" srcId="{398F8BF8-ED54-40C9-8FED-EA6AC1E18C8D}" destId="{A178B6F2-CDCF-43C6-8E2A-3180B70C7D39}" srcOrd="1" destOrd="0" presId="urn:microsoft.com/office/officeart/2005/8/layout/process3"/>
    <dgm:cxn modelId="{94CD38C6-00AD-4D99-9882-6D29ECB78AFB}" type="presOf" srcId="{ED9F587C-2275-48DD-AA5C-7B2FB158E60C}" destId="{C7C49C11-A2B5-4CBB-A6EC-D160EFC3434E}" srcOrd="0" destOrd="2" presId="urn:microsoft.com/office/officeart/2005/8/layout/process3"/>
    <dgm:cxn modelId="{CC5B78D9-F3DF-4119-A25F-C17D4BEEACEF}" srcId="{155E313A-92E2-4EF4-BDAE-9F9F72617814}" destId="{22A96C28-5FCF-4226-9E75-5EBC8C287E27}" srcOrd="0" destOrd="0" parTransId="{097F17A4-8208-4266-8E1E-D84FD1B45E03}" sibTransId="{BC67269E-276B-4F71-9A72-7CE0A61C2DC1}"/>
    <dgm:cxn modelId="{293A8FDB-D1A6-4F9F-B785-02D1D0C083E0}" srcId="{398F8BF8-ED54-40C9-8FED-EA6AC1E18C8D}" destId="{F8C8BAA8-91E7-4B78-B5AD-C2EF9F910432}" srcOrd="0" destOrd="0" parTransId="{F645AD18-3760-457E-95F4-D6AE0FBEE5C3}" sibTransId="{8378D8C5-BCC0-4A89-9F81-35C0F9FBA795}"/>
    <dgm:cxn modelId="{DABEE3EB-88C0-4D2B-931F-2BFA28154135}" type="presOf" srcId="{2D9F04BE-7466-4C62-8C15-B697F20E4486}" destId="{102D6CB6-9AC6-4433-8046-492D9D047A51}" srcOrd="0" destOrd="0" presId="urn:microsoft.com/office/officeart/2005/8/layout/process3"/>
    <dgm:cxn modelId="{C89FDBED-6A71-458E-B3D0-6EE18506E549}" srcId="{AC025970-C052-4406-8118-96138D2E8C74}" destId="{89DD7AFD-E13D-4CD0-9140-ADEEF641741E}" srcOrd="0" destOrd="0" parTransId="{F3D589C6-278C-4C31-81E8-99ACE4D5BB9F}" sibTransId="{A146FCC1-437B-4F6C-85EC-60F5AE3446B7}"/>
    <dgm:cxn modelId="{16BACEF3-7DED-46DF-A328-D57C1A5EE1C7}" type="presOf" srcId="{2D9F04BE-7466-4C62-8C15-B697F20E4486}" destId="{DC91E044-3A77-48D3-A855-053A4EF00E92}" srcOrd="1" destOrd="0" presId="urn:microsoft.com/office/officeart/2005/8/layout/process3"/>
    <dgm:cxn modelId="{81A4E0FA-776A-4CA7-BAEF-FE31DCA75573}" type="presOf" srcId="{F1D313A6-673E-4824-872C-528BEDF40269}" destId="{BE0975F9-3B90-4D47-ABE7-40CD06844B72}" srcOrd="1" destOrd="0" presId="urn:microsoft.com/office/officeart/2005/8/layout/process3"/>
    <dgm:cxn modelId="{EBA41915-E746-4284-AACC-0F3F5A259931}" type="presParOf" srcId="{4812B62C-C09F-40F7-8344-EFDC83403717}" destId="{CD400B70-76C4-467A-B1C7-8488E28CC5F2}" srcOrd="0" destOrd="0" presId="urn:microsoft.com/office/officeart/2005/8/layout/process3"/>
    <dgm:cxn modelId="{F3F93D89-41BF-40E2-B329-89F2268D0144}" type="presParOf" srcId="{CD400B70-76C4-467A-B1C7-8488E28CC5F2}" destId="{C978A12A-CB2C-4355-804D-311009CF3E00}" srcOrd="0" destOrd="0" presId="urn:microsoft.com/office/officeart/2005/8/layout/process3"/>
    <dgm:cxn modelId="{86428BFC-8C3E-48B9-A912-FC60F55CD293}" type="presParOf" srcId="{CD400B70-76C4-467A-B1C7-8488E28CC5F2}" destId="{846FED41-F313-4F52-8F10-95DD9F9F795F}" srcOrd="1" destOrd="0" presId="urn:microsoft.com/office/officeart/2005/8/layout/process3"/>
    <dgm:cxn modelId="{66437FE2-CA00-47F3-BAEB-B0468C03FE93}" type="presParOf" srcId="{CD400B70-76C4-467A-B1C7-8488E28CC5F2}" destId="{C7C49C11-A2B5-4CBB-A6EC-D160EFC3434E}" srcOrd="2" destOrd="0" presId="urn:microsoft.com/office/officeart/2005/8/layout/process3"/>
    <dgm:cxn modelId="{9530DFBF-7C1F-4E94-8553-5D4F1E145755}" type="presParOf" srcId="{4812B62C-C09F-40F7-8344-EFDC83403717}" destId="{9D582EC6-1145-42C5-A794-43E1707BFA7A}" srcOrd="1" destOrd="0" presId="urn:microsoft.com/office/officeart/2005/8/layout/process3"/>
    <dgm:cxn modelId="{8B69CAB5-67EB-4DD4-AAC8-928DF5D6B095}" type="presParOf" srcId="{9D582EC6-1145-42C5-A794-43E1707BFA7A}" destId="{2EB2CCC0-351C-4690-BC42-87F213012115}" srcOrd="0" destOrd="0" presId="urn:microsoft.com/office/officeart/2005/8/layout/process3"/>
    <dgm:cxn modelId="{F1B65DB5-7C69-4662-87A2-03F95C0D85A1}" type="presParOf" srcId="{4812B62C-C09F-40F7-8344-EFDC83403717}" destId="{94BC05A7-3069-4441-8B17-63336379CDC4}" srcOrd="2" destOrd="0" presId="urn:microsoft.com/office/officeart/2005/8/layout/process3"/>
    <dgm:cxn modelId="{D958A8A9-D5E4-425E-AF6E-EFAFF05AD6AF}" type="presParOf" srcId="{94BC05A7-3069-4441-8B17-63336379CDC4}" destId="{9F611799-4E09-4C0E-82C4-22646B1C7E8C}" srcOrd="0" destOrd="0" presId="urn:microsoft.com/office/officeart/2005/8/layout/process3"/>
    <dgm:cxn modelId="{8E686548-99C4-415C-816A-56A244D452DB}" type="presParOf" srcId="{94BC05A7-3069-4441-8B17-63336379CDC4}" destId="{BE0975F9-3B90-4D47-ABE7-40CD06844B72}" srcOrd="1" destOrd="0" presId="urn:microsoft.com/office/officeart/2005/8/layout/process3"/>
    <dgm:cxn modelId="{2689E238-80E3-44A8-AA81-9B2FE81A7B7B}" type="presParOf" srcId="{94BC05A7-3069-4441-8B17-63336379CDC4}" destId="{1A52B0DE-8F15-46CB-B7E0-F40968E410AE}" srcOrd="2" destOrd="0" presId="urn:microsoft.com/office/officeart/2005/8/layout/process3"/>
    <dgm:cxn modelId="{E5B29446-162F-4DB2-8439-5522EED481EB}" type="presParOf" srcId="{4812B62C-C09F-40F7-8344-EFDC83403717}" destId="{102D6CB6-9AC6-4433-8046-492D9D047A51}" srcOrd="3" destOrd="0" presId="urn:microsoft.com/office/officeart/2005/8/layout/process3"/>
    <dgm:cxn modelId="{FDA53369-6078-4094-BBDA-77C138EE6EB0}" type="presParOf" srcId="{102D6CB6-9AC6-4433-8046-492D9D047A51}" destId="{DC91E044-3A77-48D3-A855-053A4EF00E92}" srcOrd="0" destOrd="0" presId="urn:microsoft.com/office/officeart/2005/8/layout/process3"/>
    <dgm:cxn modelId="{6E893830-1214-455A-AAF5-C5463D830E05}" type="presParOf" srcId="{4812B62C-C09F-40F7-8344-EFDC83403717}" destId="{350E50B9-DA8A-451A-8F5F-6AFA9597C9AA}" srcOrd="4" destOrd="0" presId="urn:microsoft.com/office/officeart/2005/8/layout/process3"/>
    <dgm:cxn modelId="{0FDD2938-18F3-408B-B74F-E2C8BD442C64}" type="presParOf" srcId="{350E50B9-DA8A-451A-8F5F-6AFA9597C9AA}" destId="{2B5B2FE1-B95D-4655-8581-949A41E679A0}" srcOrd="0" destOrd="0" presId="urn:microsoft.com/office/officeart/2005/8/layout/process3"/>
    <dgm:cxn modelId="{50F076A9-0531-44FE-B0FF-ED1210F29495}" type="presParOf" srcId="{350E50B9-DA8A-451A-8F5F-6AFA9597C9AA}" destId="{A178B6F2-CDCF-43C6-8E2A-3180B70C7D39}" srcOrd="1" destOrd="0" presId="urn:microsoft.com/office/officeart/2005/8/layout/process3"/>
    <dgm:cxn modelId="{23739817-1379-4D2F-A3CA-497C3783B14F}" type="presParOf" srcId="{350E50B9-DA8A-451A-8F5F-6AFA9597C9AA}" destId="{2F3085CD-96F4-4F02-8853-47496701210C}" srcOrd="2" destOrd="0" presId="urn:microsoft.com/office/officeart/2005/8/layout/process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EDAFD2BE-15C3-4173-8A5C-78ABAB0C3E91}" type="doc">
      <dgm:prSet loTypeId="urn:microsoft.com/office/officeart/2005/8/layout/venn1" loCatId="relationship" qsTypeId="urn:microsoft.com/office/officeart/2005/8/quickstyle/simple1" qsCatId="simple" csTypeId="urn:microsoft.com/office/officeart/2005/8/colors/colorful1" csCatId="colorful" phldr="1"/>
      <dgm:spPr/>
    </dgm:pt>
    <dgm:pt modelId="{691EBDF7-5795-4838-A9AF-F9C63D098FBE}">
      <dgm:prSet phldrT="[Text]" custT="1"/>
      <dgm:spPr>
        <a:solidFill>
          <a:srgbClr val="FFC000">
            <a:alpha val="50000"/>
          </a:srgbClr>
        </a:solidFill>
      </dgm:spPr>
      <dgm:t>
        <a:bodyPr/>
        <a:lstStyle/>
        <a:p>
          <a:r>
            <a:rPr lang="de-DE" sz="1800"/>
            <a:t>Energie-Effizienz</a:t>
          </a:r>
          <a:endParaRPr lang="de-AT" sz="1800"/>
        </a:p>
      </dgm:t>
    </dgm:pt>
    <dgm:pt modelId="{5E7C8A92-C986-467D-A937-F7E9A1F24308}" type="parTrans" cxnId="{A42B4260-7162-4858-9422-3A2AD02C9FE9}">
      <dgm:prSet/>
      <dgm:spPr/>
      <dgm:t>
        <a:bodyPr/>
        <a:lstStyle/>
        <a:p>
          <a:endParaRPr lang="de-AT" sz="4000"/>
        </a:p>
      </dgm:t>
    </dgm:pt>
    <dgm:pt modelId="{29733952-C4E2-433F-8CAF-2B055D6143E9}" type="sibTrans" cxnId="{A42B4260-7162-4858-9422-3A2AD02C9FE9}">
      <dgm:prSet/>
      <dgm:spPr/>
      <dgm:t>
        <a:bodyPr/>
        <a:lstStyle/>
        <a:p>
          <a:endParaRPr lang="de-AT" sz="4000"/>
        </a:p>
      </dgm:t>
    </dgm:pt>
    <dgm:pt modelId="{E1264775-A9B4-40D8-B4DA-502031C307A7}">
      <dgm:prSet phldrT="[Text]" custT="1"/>
      <dgm:spPr>
        <a:solidFill>
          <a:srgbClr val="00B050">
            <a:alpha val="50000"/>
          </a:srgbClr>
        </a:solidFill>
      </dgm:spPr>
      <dgm:t>
        <a:bodyPr/>
        <a:lstStyle/>
        <a:p>
          <a:r>
            <a:rPr lang="de-DE" sz="1800"/>
            <a:t>Lokale Erneuerbare</a:t>
          </a:r>
          <a:endParaRPr lang="de-AT" sz="1800"/>
        </a:p>
      </dgm:t>
    </dgm:pt>
    <dgm:pt modelId="{59BD89FD-5A59-4F3A-9AB0-8BFFA80F7712}" type="parTrans" cxnId="{14E6F039-7876-4C52-9698-891778C03995}">
      <dgm:prSet/>
      <dgm:spPr/>
      <dgm:t>
        <a:bodyPr/>
        <a:lstStyle/>
        <a:p>
          <a:endParaRPr lang="de-AT" sz="4000"/>
        </a:p>
      </dgm:t>
    </dgm:pt>
    <dgm:pt modelId="{486DF9A0-150F-4D85-B46D-13BFB9E3C2AA}" type="sibTrans" cxnId="{14E6F039-7876-4C52-9698-891778C03995}">
      <dgm:prSet/>
      <dgm:spPr/>
      <dgm:t>
        <a:bodyPr/>
        <a:lstStyle/>
        <a:p>
          <a:endParaRPr lang="de-AT" sz="4000"/>
        </a:p>
      </dgm:t>
    </dgm:pt>
    <dgm:pt modelId="{17ECC22F-9CB5-4C2F-8688-2096766723B6}">
      <dgm:prSet phldrT="[Text]" custT="1"/>
      <dgm:spPr>
        <a:solidFill>
          <a:schemeClr val="accent6">
            <a:alpha val="50000"/>
          </a:schemeClr>
        </a:solidFill>
      </dgm:spPr>
      <dgm:t>
        <a:bodyPr/>
        <a:lstStyle/>
        <a:p>
          <a:r>
            <a:rPr lang="de-DE" sz="1800"/>
            <a:t>Energie-Flexibilität</a:t>
          </a:r>
          <a:endParaRPr lang="de-AT" sz="1800"/>
        </a:p>
      </dgm:t>
    </dgm:pt>
    <dgm:pt modelId="{0BED84E7-0E59-46E9-9F57-DB835FB88912}" type="parTrans" cxnId="{0C3EC4C8-B893-4F82-94F5-E3833302885B}">
      <dgm:prSet/>
      <dgm:spPr/>
      <dgm:t>
        <a:bodyPr/>
        <a:lstStyle/>
        <a:p>
          <a:endParaRPr lang="de-AT" sz="4000"/>
        </a:p>
      </dgm:t>
    </dgm:pt>
    <dgm:pt modelId="{2CFF4030-22C2-439D-A0A9-0B7219B428F0}" type="sibTrans" cxnId="{0C3EC4C8-B893-4F82-94F5-E3833302885B}">
      <dgm:prSet/>
      <dgm:spPr/>
      <dgm:t>
        <a:bodyPr/>
        <a:lstStyle/>
        <a:p>
          <a:endParaRPr lang="de-AT" sz="4000"/>
        </a:p>
      </dgm:t>
    </dgm:pt>
    <dgm:pt modelId="{365EB426-3717-4045-B9D3-D68B997E6135}" type="pres">
      <dgm:prSet presAssocID="{EDAFD2BE-15C3-4173-8A5C-78ABAB0C3E91}" presName="compositeShape" presStyleCnt="0">
        <dgm:presLayoutVars>
          <dgm:chMax val="7"/>
          <dgm:dir/>
          <dgm:resizeHandles val="exact"/>
        </dgm:presLayoutVars>
      </dgm:prSet>
      <dgm:spPr/>
    </dgm:pt>
    <dgm:pt modelId="{4D6ACCBC-D777-4A80-AD7C-32896A385EC5}" type="pres">
      <dgm:prSet presAssocID="{691EBDF7-5795-4838-A9AF-F9C63D098FBE}" presName="circ1" presStyleLbl="vennNode1" presStyleIdx="0" presStyleCnt="3"/>
      <dgm:spPr/>
    </dgm:pt>
    <dgm:pt modelId="{67732F96-F7B8-40C7-AB0A-938D3ED4ED11}" type="pres">
      <dgm:prSet presAssocID="{691EBDF7-5795-4838-A9AF-F9C63D098FBE}" presName="circ1Tx" presStyleLbl="revTx" presStyleIdx="0" presStyleCnt="0">
        <dgm:presLayoutVars>
          <dgm:chMax val="0"/>
          <dgm:chPref val="0"/>
          <dgm:bulletEnabled val="1"/>
        </dgm:presLayoutVars>
      </dgm:prSet>
      <dgm:spPr/>
    </dgm:pt>
    <dgm:pt modelId="{514C21FB-1370-4E60-8D71-EFA75EE04E05}" type="pres">
      <dgm:prSet presAssocID="{E1264775-A9B4-40D8-B4DA-502031C307A7}" presName="circ2" presStyleLbl="vennNode1" presStyleIdx="1" presStyleCnt="3"/>
      <dgm:spPr/>
    </dgm:pt>
    <dgm:pt modelId="{85E33DEE-6C0A-4AC9-9348-AB23A26FB692}" type="pres">
      <dgm:prSet presAssocID="{E1264775-A9B4-40D8-B4DA-502031C307A7}" presName="circ2Tx" presStyleLbl="revTx" presStyleIdx="0" presStyleCnt="0">
        <dgm:presLayoutVars>
          <dgm:chMax val="0"/>
          <dgm:chPref val="0"/>
          <dgm:bulletEnabled val="1"/>
        </dgm:presLayoutVars>
      </dgm:prSet>
      <dgm:spPr/>
    </dgm:pt>
    <dgm:pt modelId="{7DD6B2C5-926D-42BF-A056-71F5ACDDD758}" type="pres">
      <dgm:prSet presAssocID="{17ECC22F-9CB5-4C2F-8688-2096766723B6}" presName="circ3" presStyleLbl="vennNode1" presStyleIdx="2" presStyleCnt="3"/>
      <dgm:spPr/>
    </dgm:pt>
    <dgm:pt modelId="{C6F8BBA5-51E8-44ED-A5B6-A8255B5BDD37}" type="pres">
      <dgm:prSet presAssocID="{17ECC22F-9CB5-4C2F-8688-2096766723B6}" presName="circ3Tx" presStyleLbl="revTx" presStyleIdx="0" presStyleCnt="0">
        <dgm:presLayoutVars>
          <dgm:chMax val="0"/>
          <dgm:chPref val="0"/>
          <dgm:bulletEnabled val="1"/>
        </dgm:presLayoutVars>
      </dgm:prSet>
      <dgm:spPr/>
    </dgm:pt>
  </dgm:ptLst>
  <dgm:cxnLst>
    <dgm:cxn modelId="{0AAD7926-9B82-4C03-B3B1-767FEE521D77}" type="presOf" srcId="{691EBDF7-5795-4838-A9AF-F9C63D098FBE}" destId="{4D6ACCBC-D777-4A80-AD7C-32896A385EC5}" srcOrd="0" destOrd="0" presId="urn:microsoft.com/office/officeart/2005/8/layout/venn1"/>
    <dgm:cxn modelId="{14E6F039-7876-4C52-9698-891778C03995}" srcId="{EDAFD2BE-15C3-4173-8A5C-78ABAB0C3E91}" destId="{E1264775-A9B4-40D8-B4DA-502031C307A7}" srcOrd="1" destOrd="0" parTransId="{59BD89FD-5A59-4F3A-9AB0-8BFFA80F7712}" sibTransId="{486DF9A0-150F-4D85-B46D-13BFB9E3C2AA}"/>
    <dgm:cxn modelId="{A91D9F5C-ED43-47B3-8287-9B267455C6BD}" type="presOf" srcId="{EDAFD2BE-15C3-4173-8A5C-78ABAB0C3E91}" destId="{365EB426-3717-4045-B9D3-D68B997E6135}" srcOrd="0" destOrd="0" presId="urn:microsoft.com/office/officeart/2005/8/layout/venn1"/>
    <dgm:cxn modelId="{A42B4260-7162-4858-9422-3A2AD02C9FE9}" srcId="{EDAFD2BE-15C3-4173-8A5C-78ABAB0C3E91}" destId="{691EBDF7-5795-4838-A9AF-F9C63D098FBE}" srcOrd="0" destOrd="0" parTransId="{5E7C8A92-C986-467D-A937-F7E9A1F24308}" sibTransId="{29733952-C4E2-433F-8CAF-2B055D6143E9}"/>
    <dgm:cxn modelId="{B31FB745-9812-4276-AF31-FC1F9D2F9AE5}" type="presOf" srcId="{17ECC22F-9CB5-4C2F-8688-2096766723B6}" destId="{7DD6B2C5-926D-42BF-A056-71F5ACDDD758}" srcOrd="0" destOrd="0" presId="urn:microsoft.com/office/officeart/2005/8/layout/venn1"/>
    <dgm:cxn modelId="{65C09D8D-1C46-465C-8659-5E9A3A25EE35}" type="presOf" srcId="{E1264775-A9B4-40D8-B4DA-502031C307A7}" destId="{514C21FB-1370-4E60-8D71-EFA75EE04E05}" srcOrd="0" destOrd="0" presId="urn:microsoft.com/office/officeart/2005/8/layout/venn1"/>
    <dgm:cxn modelId="{C95E129F-98C7-4C34-85E2-0B9D229BA1A1}" type="presOf" srcId="{E1264775-A9B4-40D8-B4DA-502031C307A7}" destId="{85E33DEE-6C0A-4AC9-9348-AB23A26FB692}" srcOrd="1" destOrd="0" presId="urn:microsoft.com/office/officeart/2005/8/layout/venn1"/>
    <dgm:cxn modelId="{8D8618A6-0D68-4139-BB81-D630AF950E1E}" type="presOf" srcId="{691EBDF7-5795-4838-A9AF-F9C63D098FBE}" destId="{67732F96-F7B8-40C7-AB0A-938D3ED4ED11}" srcOrd="1" destOrd="0" presId="urn:microsoft.com/office/officeart/2005/8/layout/venn1"/>
    <dgm:cxn modelId="{0C3EC4C8-B893-4F82-94F5-E3833302885B}" srcId="{EDAFD2BE-15C3-4173-8A5C-78ABAB0C3E91}" destId="{17ECC22F-9CB5-4C2F-8688-2096766723B6}" srcOrd="2" destOrd="0" parTransId="{0BED84E7-0E59-46E9-9F57-DB835FB88912}" sibTransId="{2CFF4030-22C2-439D-A0A9-0B7219B428F0}"/>
    <dgm:cxn modelId="{A04313EE-497D-47EA-8698-CB882B5748FE}" type="presOf" srcId="{17ECC22F-9CB5-4C2F-8688-2096766723B6}" destId="{C6F8BBA5-51E8-44ED-A5B6-A8255B5BDD37}" srcOrd="1" destOrd="0" presId="urn:microsoft.com/office/officeart/2005/8/layout/venn1"/>
    <dgm:cxn modelId="{4D12507E-4A6B-4563-93BD-4799709DF530}" type="presParOf" srcId="{365EB426-3717-4045-B9D3-D68B997E6135}" destId="{4D6ACCBC-D777-4A80-AD7C-32896A385EC5}" srcOrd="0" destOrd="0" presId="urn:microsoft.com/office/officeart/2005/8/layout/venn1"/>
    <dgm:cxn modelId="{89E496DD-3034-4B0F-8AAF-D67C12707D81}" type="presParOf" srcId="{365EB426-3717-4045-B9D3-D68B997E6135}" destId="{67732F96-F7B8-40C7-AB0A-938D3ED4ED11}" srcOrd="1" destOrd="0" presId="urn:microsoft.com/office/officeart/2005/8/layout/venn1"/>
    <dgm:cxn modelId="{E70A4D87-1181-46E5-805F-6E7B43505F37}" type="presParOf" srcId="{365EB426-3717-4045-B9D3-D68B997E6135}" destId="{514C21FB-1370-4E60-8D71-EFA75EE04E05}" srcOrd="2" destOrd="0" presId="urn:microsoft.com/office/officeart/2005/8/layout/venn1"/>
    <dgm:cxn modelId="{B59969CE-1227-44E0-8E68-BC419E5FF493}" type="presParOf" srcId="{365EB426-3717-4045-B9D3-D68B997E6135}" destId="{85E33DEE-6C0A-4AC9-9348-AB23A26FB692}" srcOrd="3" destOrd="0" presId="urn:microsoft.com/office/officeart/2005/8/layout/venn1"/>
    <dgm:cxn modelId="{39190BF6-12EA-4BCA-8382-ECF56566FA92}" type="presParOf" srcId="{365EB426-3717-4045-B9D3-D68B997E6135}" destId="{7DD6B2C5-926D-42BF-A056-71F5ACDDD758}" srcOrd="4" destOrd="0" presId="urn:microsoft.com/office/officeart/2005/8/layout/venn1"/>
    <dgm:cxn modelId="{E5107ADB-B173-4CF0-B87A-FF7790528D6B}" type="presParOf" srcId="{365EB426-3717-4045-B9D3-D68B997E6135}" destId="{C6F8BBA5-51E8-44ED-A5B6-A8255B5BDD37}" srcOrd="5" destOrd="0" presId="urn:microsoft.com/office/officeart/2005/8/layout/venn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BF4D1B0-9488-402D-B4DB-765C0C536A26}">
      <dsp:nvSpPr>
        <dsp:cNvPr id="0" name=""/>
        <dsp:cNvSpPr/>
      </dsp:nvSpPr>
      <dsp:spPr>
        <a:xfrm rot="5400000">
          <a:off x="-209581" y="210780"/>
          <a:ext cx="1397209" cy="978046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642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335" tIns="13335" rIns="13335" bIns="13335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AT" sz="2100" b="1" kern="1200" dirty="0"/>
            <a:t>Schritt 1</a:t>
          </a:r>
          <a:endParaRPr lang="de-DE" sz="2100" kern="1200" dirty="0"/>
        </a:p>
      </dsp:txBody>
      <dsp:txXfrm rot="-5400000">
        <a:off x="1" y="490221"/>
        <a:ext cx="978046" cy="419163"/>
      </dsp:txXfrm>
    </dsp:sp>
    <dsp:sp modelId="{F2182656-AA85-4237-AC98-CE6E7498257D}">
      <dsp:nvSpPr>
        <dsp:cNvPr id="0" name=""/>
        <dsp:cNvSpPr/>
      </dsp:nvSpPr>
      <dsp:spPr>
        <a:xfrm rot="5400000">
          <a:off x="4562013" y="-3582768"/>
          <a:ext cx="908186" cy="8076120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642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5344" tIns="7620" rIns="7620" bIns="7620" numCol="1" spcCol="1270" anchor="ctr" anchorCtr="0">
          <a:noAutofit/>
        </a:bodyPr>
        <a:lstStyle/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de-AT" sz="1200" b="1" kern="1200" dirty="0"/>
            <a:t>Mindestanforderungen und Aussicht prüfen</a:t>
          </a:r>
          <a:endParaRPr lang="de-DE" sz="1200" kern="1200" dirty="0"/>
        </a:p>
        <a:p>
          <a:pPr marL="228600" lvl="2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lr>
              <a:srgbClr val="B92B06"/>
            </a:buClr>
            <a:buSzPts val="1200"/>
            <a:buFont typeface="Times New Roman" panose="02020603050405020304" pitchFamily="18" charset="0"/>
            <a:buChar char="•"/>
          </a:pPr>
          <a:r>
            <a:rPr lang="de-AT" sz="1200" kern="1200"/>
            <a:t>Quick-Check durchführen  </a:t>
          </a:r>
          <a:endParaRPr lang="de-DE" sz="1200" kern="1200"/>
        </a:p>
        <a:p>
          <a:pPr marL="228600" lvl="2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lr>
              <a:srgbClr val="B92B06"/>
            </a:buClr>
            <a:buSzPts val="1200"/>
            <a:buFont typeface="Times New Roman" panose="02020603050405020304" pitchFamily="18" charset="0"/>
            <a:buChar char="•"/>
          </a:pPr>
          <a:r>
            <a:rPr lang="de-AT" sz="1200" kern="1200"/>
            <a:t>Möglichkeiten für Anpassung Ihres Grundkonzepts klären </a:t>
          </a:r>
          <a:endParaRPr lang="de-DE" sz="1200" kern="1200"/>
        </a:p>
        <a:p>
          <a:pPr marL="228600" lvl="2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lr>
              <a:srgbClr val="B92B06"/>
            </a:buClr>
            <a:buSzPts val="1200"/>
            <a:buFont typeface="Times New Roman" panose="02020603050405020304" pitchFamily="18" charset="0"/>
            <a:buChar char="•"/>
          </a:pPr>
          <a:r>
            <a:rPr lang="de-AT" sz="1200" kern="1200" dirty="0"/>
            <a:t>Zeitplan klären</a:t>
          </a:r>
          <a:endParaRPr lang="de-DE" sz="1200" kern="1200" dirty="0"/>
        </a:p>
      </dsp:txBody>
      <dsp:txXfrm rot="-5400000">
        <a:off x="978046" y="45533"/>
        <a:ext cx="8031786" cy="819518"/>
      </dsp:txXfrm>
    </dsp:sp>
    <dsp:sp modelId="{6C82E433-EDD2-4948-B0E7-3FECA552FE56}">
      <dsp:nvSpPr>
        <dsp:cNvPr id="0" name=""/>
        <dsp:cNvSpPr/>
      </dsp:nvSpPr>
      <dsp:spPr>
        <a:xfrm rot="5400000">
          <a:off x="-209581" y="1411033"/>
          <a:ext cx="1397209" cy="978046"/>
        </a:xfrm>
        <a:prstGeom prst="chevron">
          <a:avLst/>
        </a:prstGeom>
        <a:solidFill>
          <a:schemeClr val="accent4"/>
        </a:solidFill>
        <a:ln w="26425" cap="flat" cmpd="sng" algn="ctr">
          <a:solidFill>
            <a:schemeClr val="accent4">
              <a:lumMod val="60000"/>
              <a:lumOff val="40000"/>
            </a:schemeClr>
          </a:solidFill>
          <a:prstDash val="solid"/>
        </a:ln>
        <a:effectLst/>
      </dsp:spPr>
      <dsp:style>
        <a:lnRef idx="2">
          <a:schemeClr val="accent4"/>
        </a:lnRef>
        <a:fillRef idx="1">
          <a:schemeClr val="lt1"/>
        </a:fillRef>
        <a:effectRef idx="0">
          <a:schemeClr val="accent4"/>
        </a:effectRef>
        <a:fontRef idx="minor">
          <a:schemeClr val="dk1"/>
        </a:fontRef>
      </dsp:style>
      <dsp:txBody>
        <a:bodyPr spcFirstLastPara="0" vert="horz" wrap="square" lIns="13335" tIns="13335" rIns="13335" bIns="13335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AT" sz="2100" b="1" kern="1200" dirty="0">
              <a:solidFill>
                <a:schemeClr val="bg1"/>
              </a:solidFill>
            </a:rPr>
            <a:t>Schritt 2</a:t>
          </a:r>
          <a:endParaRPr lang="de-DE" sz="2100" kern="1200" dirty="0">
            <a:solidFill>
              <a:schemeClr val="bg1"/>
            </a:solidFill>
          </a:endParaRPr>
        </a:p>
      </dsp:txBody>
      <dsp:txXfrm rot="-5400000">
        <a:off x="1" y="1690474"/>
        <a:ext cx="978046" cy="419163"/>
      </dsp:txXfrm>
    </dsp:sp>
    <dsp:sp modelId="{9D373173-EB16-454B-B773-7F0839397A80}">
      <dsp:nvSpPr>
        <dsp:cNvPr id="0" name=""/>
        <dsp:cNvSpPr/>
      </dsp:nvSpPr>
      <dsp:spPr>
        <a:xfrm rot="5400000">
          <a:off x="4562013" y="-2382514"/>
          <a:ext cx="908186" cy="8076120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6425" cap="flat" cmpd="sng" algn="ctr">
          <a:solidFill>
            <a:schemeClr val="accent4">
              <a:lumMod val="60000"/>
              <a:lumOff val="4000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5344" tIns="7620" rIns="7620" bIns="7620" numCol="1" spcCol="1270" anchor="ctr" anchorCtr="0">
          <a:noAutofit/>
        </a:bodyPr>
        <a:lstStyle/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de-AT" sz="1200" b="1" kern="1200"/>
            <a:t>Auswahl klimaaktiv Kompetenzpartner:in</a:t>
          </a:r>
          <a:endParaRPr lang="de-DE" sz="1200" kern="1200" dirty="0"/>
        </a:p>
        <a:p>
          <a:pPr marL="228600" lvl="2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lr>
              <a:srgbClr val="B92B06"/>
            </a:buClr>
            <a:buSzPts val="1200"/>
            <a:buFont typeface="Times New Roman" panose="02020603050405020304" pitchFamily="18" charset="0"/>
            <a:buChar char="•"/>
          </a:pPr>
          <a:r>
            <a:rPr lang="de-AT" sz="1200" kern="1200" dirty="0" err="1"/>
            <a:t>Kompetenzpartner:in</a:t>
          </a:r>
          <a:r>
            <a:rPr lang="de-AT" sz="1200" kern="1200" dirty="0"/>
            <a:t> aus Liste   auswählen</a:t>
          </a:r>
          <a:endParaRPr lang="de-DE" sz="1200" kern="1200" dirty="0"/>
        </a:p>
        <a:p>
          <a:pPr marL="228600" lvl="2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lr>
              <a:srgbClr val="B92B06"/>
            </a:buClr>
            <a:buSzPts val="1200"/>
            <a:buFont typeface="Times New Roman" panose="02020603050405020304" pitchFamily="18" charset="0"/>
            <a:buChar char="•"/>
          </a:pPr>
          <a:r>
            <a:rPr lang="de-AT" sz="1200" kern="1200" dirty="0"/>
            <a:t>Fokus für Projektbegleitung festlegen (z. B. Baufelder, Projektphase)</a:t>
          </a:r>
          <a:endParaRPr lang="de-DE" sz="1200" kern="1200" dirty="0"/>
        </a:p>
        <a:p>
          <a:pPr marL="228600" lvl="2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lr>
              <a:srgbClr val="B92B06"/>
            </a:buClr>
            <a:buSzPts val="1200"/>
            <a:buFont typeface="Times New Roman" panose="02020603050405020304" pitchFamily="18" charset="0"/>
            <a:buChar char="•"/>
          </a:pPr>
          <a:r>
            <a:rPr lang="de-AT" sz="1200" kern="1200" dirty="0"/>
            <a:t>Leistungsumfang klären (Beratung, Begleitung, Berechnung)</a:t>
          </a:r>
          <a:endParaRPr lang="de-DE" sz="1200" kern="1200" dirty="0"/>
        </a:p>
      </dsp:txBody>
      <dsp:txXfrm rot="-5400000">
        <a:off x="978046" y="1245787"/>
        <a:ext cx="8031786" cy="819518"/>
      </dsp:txXfrm>
    </dsp:sp>
    <dsp:sp modelId="{92E46BD1-35EF-48B9-A4B0-0EBF35579279}">
      <dsp:nvSpPr>
        <dsp:cNvPr id="0" name=""/>
        <dsp:cNvSpPr/>
      </dsp:nvSpPr>
      <dsp:spPr>
        <a:xfrm rot="5400000">
          <a:off x="-209581" y="2611286"/>
          <a:ext cx="1397209" cy="978046"/>
        </a:xfrm>
        <a:prstGeom prst="chevron">
          <a:avLst/>
        </a:prstGeom>
        <a:solidFill>
          <a:schemeClr val="accent6"/>
        </a:solidFill>
        <a:ln w="26425" cap="flat" cmpd="sng" algn="ctr">
          <a:solidFill>
            <a:schemeClr val="accent6">
              <a:lumMod val="60000"/>
              <a:lumOff val="40000"/>
            </a:schemeClr>
          </a:solidFill>
          <a:prstDash val="solid"/>
        </a:ln>
        <a:effectLst/>
      </dsp:spPr>
      <dsp:style>
        <a:lnRef idx="2">
          <a:schemeClr val="accent3"/>
        </a:lnRef>
        <a:fillRef idx="1">
          <a:schemeClr val="lt1"/>
        </a:fillRef>
        <a:effectRef idx="0">
          <a:schemeClr val="accent3"/>
        </a:effectRef>
        <a:fontRef idx="minor">
          <a:schemeClr val="dk1"/>
        </a:fontRef>
      </dsp:style>
      <dsp:txBody>
        <a:bodyPr spcFirstLastPara="0" vert="horz" wrap="square" lIns="13335" tIns="13335" rIns="13335" bIns="13335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2100" b="1" kern="1200" dirty="0">
              <a:solidFill>
                <a:schemeClr val="bg1"/>
              </a:solidFill>
            </a:rPr>
            <a:t>Schritt 3</a:t>
          </a:r>
        </a:p>
      </dsp:txBody>
      <dsp:txXfrm rot="-5400000">
        <a:off x="1" y="2890727"/>
        <a:ext cx="978046" cy="419163"/>
      </dsp:txXfrm>
    </dsp:sp>
    <dsp:sp modelId="{F9201961-D446-4AD7-87C4-484F4E7A425F}">
      <dsp:nvSpPr>
        <dsp:cNvPr id="0" name=""/>
        <dsp:cNvSpPr/>
      </dsp:nvSpPr>
      <dsp:spPr>
        <a:xfrm rot="5400000">
          <a:off x="4562013" y="-1182261"/>
          <a:ext cx="908186" cy="8076120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6425" cap="flat" cmpd="sng" algn="ctr">
          <a:solidFill>
            <a:schemeClr val="accent6">
              <a:lumMod val="60000"/>
              <a:lumOff val="4000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5344" tIns="7620" rIns="7620" bIns="7620" numCol="1" spcCol="1270" anchor="ctr" anchorCtr="0">
          <a:noAutofit/>
        </a:bodyPr>
        <a:lstStyle/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de-AT" sz="1200" kern="1200" dirty="0"/>
            <a:t>Abschluss der Projektbegleitung</a:t>
          </a:r>
          <a:endParaRPr lang="de-DE" sz="1200" kern="1200" dirty="0"/>
        </a:p>
        <a:p>
          <a:pPr marL="228600" lvl="2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lr>
              <a:srgbClr val="B92B06"/>
            </a:buClr>
            <a:buSzPts val="1200"/>
            <a:buFont typeface="Times New Roman" panose="02020603050405020304" pitchFamily="18" charset="0"/>
            <a:buChar char="•"/>
          </a:pPr>
          <a:r>
            <a:rPr lang="de-AT" sz="1200" kern="1200" dirty="0"/>
            <a:t>Ergebnisse an </a:t>
          </a:r>
          <a:r>
            <a:rPr lang="de-AT" sz="1200" kern="1200" dirty="0" err="1"/>
            <a:t>Expert:innenkommission</a:t>
          </a:r>
          <a:r>
            <a:rPr lang="de-AT" sz="1200" kern="1200" dirty="0"/>
            <a:t> übermitteln</a:t>
          </a:r>
          <a:endParaRPr lang="de-DE" sz="1200" kern="1200" dirty="0"/>
        </a:p>
        <a:p>
          <a:pPr marL="228600" lvl="2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lr>
              <a:srgbClr val="B92B06"/>
            </a:buClr>
            <a:buSzPts val="1200"/>
            <a:buFont typeface="Times New Roman" panose="02020603050405020304" pitchFamily="18" charset="0"/>
            <a:buChar char="•"/>
          </a:pPr>
          <a:r>
            <a:rPr lang="de-AT" sz="1200" kern="1200"/>
            <a:t>Rückfragen zu einzelnen Inhalten beantworten</a:t>
          </a:r>
          <a:endParaRPr lang="de-DE" sz="1200" kern="1200"/>
        </a:p>
        <a:p>
          <a:pPr marL="228600" lvl="2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lr>
              <a:srgbClr val="B92B06"/>
            </a:buClr>
            <a:buSzPts val="1200"/>
            <a:buFont typeface="Times New Roman" panose="02020603050405020304" pitchFamily="18" charset="0"/>
            <a:buChar char="•"/>
          </a:pPr>
          <a:r>
            <a:rPr lang="de-AT" sz="1200" kern="1200" dirty="0"/>
            <a:t>Erhalt der Baustellentafel oder Urkunde</a:t>
          </a:r>
          <a:endParaRPr lang="de-DE" sz="1200" kern="1200" dirty="0"/>
        </a:p>
      </dsp:txBody>
      <dsp:txXfrm rot="-5400000">
        <a:off x="978046" y="2446040"/>
        <a:ext cx="8031786" cy="819518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46FED41-F313-4F52-8F10-95DD9F9F795F}">
      <dsp:nvSpPr>
        <dsp:cNvPr id="0" name=""/>
        <dsp:cNvSpPr/>
      </dsp:nvSpPr>
      <dsp:spPr>
        <a:xfrm>
          <a:off x="5290" y="388446"/>
          <a:ext cx="2405712" cy="1070689"/>
        </a:xfrm>
        <a:prstGeom prst="roundRect">
          <a:avLst>
            <a:gd name="adj" fmla="val 1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 w="2642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568" tIns="99568" rIns="99568" bIns="53340" numCol="1" spcCol="1270" anchor="t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1400" kern="1200" dirty="0"/>
            <a:t>🧭Planungsdeklaration </a:t>
          </a:r>
        </a:p>
      </dsp:txBody>
      <dsp:txXfrm>
        <a:off x="5290" y="388446"/>
        <a:ext cx="2405712" cy="713793"/>
      </dsp:txXfrm>
    </dsp:sp>
    <dsp:sp modelId="{C7C49C11-A2B5-4CBB-A6EC-D160EFC3434E}">
      <dsp:nvSpPr>
        <dsp:cNvPr id="0" name=""/>
        <dsp:cNvSpPr/>
      </dsp:nvSpPr>
      <dsp:spPr>
        <a:xfrm>
          <a:off x="498027" y="1024590"/>
          <a:ext cx="2405712" cy="2570400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6425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9568" tIns="99568" rIns="99568" bIns="99568" numCol="1" spcCol="1270" anchor="t" anchorCtr="0">
          <a:noAutofit/>
        </a:bodyPr>
        <a:lstStyle/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de-DE" sz="1400" b="1" kern="1200" dirty="0"/>
            <a:t>Optionaler</a:t>
          </a:r>
          <a:r>
            <a:rPr lang="de-DE" sz="1400" kern="1200" dirty="0"/>
            <a:t> Deklarationsschritt zur Orientierung</a:t>
          </a:r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de-DE" sz="1400" kern="1200" dirty="0"/>
            <a:t>Auszeichnung für die Erarbeitung von </a:t>
          </a:r>
          <a:r>
            <a:rPr lang="de-DE" sz="1400" b="1" kern="1200" dirty="0"/>
            <a:t>Planungsvarianten</a:t>
          </a:r>
          <a:r>
            <a:rPr lang="de-DE" sz="1400" kern="1200" dirty="0"/>
            <a:t>, die den Standard erreichen könnten</a:t>
          </a:r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de-DE" sz="1400" kern="1200" dirty="0"/>
            <a:t>Deklaration für Planung, </a:t>
          </a:r>
          <a:r>
            <a:rPr lang="de-DE" sz="1400" b="1" kern="1200" dirty="0"/>
            <a:t>muss nicht umgesetzt werden</a:t>
          </a:r>
        </a:p>
      </dsp:txBody>
      <dsp:txXfrm>
        <a:off x="568488" y="1095051"/>
        <a:ext cx="2264790" cy="2429478"/>
      </dsp:txXfrm>
    </dsp:sp>
    <dsp:sp modelId="{9D582EC6-1145-42C5-A794-43E1707BFA7A}">
      <dsp:nvSpPr>
        <dsp:cNvPr id="0" name=""/>
        <dsp:cNvSpPr/>
      </dsp:nvSpPr>
      <dsp:spPr>
        <a:xfrm>
          <a:off x="2775700" y="445866"/>
          <a:ext cx="773158" cy="598952"/>
        </a:xfrm>
        <a:prstGeom prst="rightArrow">
          <a:avLst>
            <a:gd name="adj1" fmla="val 60000"/>
            <a:gd name="adj2" fmla="val 5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de-DE" sz="1100" kern="1200"/>
        </a:p>
      </dsp:txBody>
      <dsp:txXfrm>
        <a:off x="2775700" y="565656"/>
        <a:ext cx="593472" cy="359372"/>
      </dsp:txXfrm>
    </dsp:sp>
    <dsp:sp modelId="{BE0975F9-3B90-4D47-ABE7-40CD06844B72}">
      <dsp:nvSpPr>
        <dsp:cNvPr id="0" name=""/>
        <dsp:cNvSpPr/>
      </dsp:nvSpPr>
      <dsp:spPr>
        <a:xfrm>
          <a:off x="3869792" y="388446"/>
          <a:ext cx="2405712" cy="1070689"/>
        </a:xfrm>
        <a:prstGeom prst="roundRect">
          <a:avLst>
            <a:gd name="adj" fmla="val 10000"/>
          </a:avLst>
        </a:prstGeom>
        <a:solidFill>
          <a:schemeClr val="accent5">
            <a:hueOff val="-4675748"/>
            <a:satOff val="-22711"/>
            <a:lumOff val="4411"/>
            <a:alphaOff val="0"/>
          </a:schemeClr>
        </a:solidFill>
        <a:ln w="2642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568" tIns="99568" rIns="99568" bIns="53340" numCol="1" spcCol="1270" anchor="t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1400" kern="1200" dirty="0"/>
            <a:t>🏗️Fertigstellungsdeklaration</a:t>
          </a:r>
        </a:p>
      </dsp:txBody>
      <dsp:txXfrm>
        <a:off x="3869792" y="388446"/>
        <a:ext cx="2405712" cy="713793"/>
      </dsp:txXfrm>
    </dsp:sp>
    <dsp:sp modelId="{1A52B0DE-8F15-46CB-B7E0-F40968E410AE}">
      <dsp:nvSpPr>
        <dsp:cNvPr id="0" name=""/>
        <dsp:cNvSpPr/>
      </dsp:nvSpPr>
      <dsp:spPr>
        <a:xfrm>
          <a:off x="4388173" y="1024590"/>
          <a:ext cx="2405712" cy="2570400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6425" cap="flat" cmpd="sng" algn="ctr">
          <a:solidFill>
            <a:schemeClr val="accent5">
              <a:hueOff val="-4675748"/>
              <a:satOff val="-22711"/>
              <a:lumOff val="4411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9568" tIns="99568" rIns="99568" bIns="99568" numCol="1" spcCol="1270" anchor="t" anchorCtr="0">
          <a:noAutofit/>
        </a:bodyPr>
        <a:lstStyle/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de-DE" sz="1400" kern="1200" dirty="0"/>
            <a:t>Nach erfolgter  </a:t>
          </a:r>
          <a:r>
            <a:rPr lang="de-DE" sz="1400" b="1" kern="1200" dirty="0"/>
            <a:t>Ausführung</a:t>
          </a:r>
          <a:r>
            <a:rPr lang="de-DE" sz="1400" kern="1200" dirty="0"/>
            <a:t> des Bauvorhabens gemäß Deklaration</a:t>
          </a:r>
        </a:p>
        <a:p>
          <a:pPr marL="228600" lvl="2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de-DE" sz="1400" kern="1200" dirty="0"/>
            <a:t>Falls die Erreichung des Standards erst innerhalb der nächsten 5 Jahre plausibilisiert werden kann: Deklaration </a:t>
          </a:r>
          <a:r>
            <a:rPr lang="de-DE" sz="1400" b="1" kern="1200" dirty="0"/>
            <a:t>„Auf dem Weg zum …“ PEQ</a:t>
          </a:r>
          <a:endParaRPr lang="de-DE" sz="1400" kern="1200" dirty="0"/>
        </a:p>
      </dsp:txBody>
      <dsp:txXfrm>
        <a:off x="4458634" y="1095051"/>
        <a:ext cx="2264790" cy="2429478"/>
      </dsp:txXfrm>
    </dsp:sp>
    <dsp:sp modelId="{102D6CB6-9AC6-4433-8046-492D9D047A51}">
      <dsp:nvSpPr>
        <dsp:cNvPr id="0" name=""/>
        <dsp:cNvSpPr/>
      </dsp:nvSpPr>
      <dsp:spPr>
        <a:xfrm>
          <a:off x="6640201" y="445866"/>
          <a:ext cx="773158" cy="598952"/>
        </a:xfrm>
        <a:prstGeom prst="rightArrow">
          <a:avLst>
            <a:gd name="adj1" fmla="val 60000"/>
            <a:gd name="adj2" fmla="val 50000"/>
          </a:avLst>
        </a:prstGeom>
        <a:solidFill>
          <a:schemeClr val="accent5">
            <a:hueOff val="-9351497"/>
            <a:satOff val="-45422"/>
            <a:lumOff val="8822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de-DE" sz="1100" kern="1200"/>
        </a:p>
      </dsp:txBody>
      <dsp:txXfrm>
        <a:off x="6640201" y="565656"/>
        <a:ext cx="593472" cy="359372"/>
      </dsp:txXfrm>
    </dsp:sp>
    <dsp:sp modelId="{A178B6F2-CDCF-43C6-8E2A-3180B70C7D39}">
      <dsp:nvSpPr>
        <dsp:cNvPr id="0" name=""/>
        <dsp:cNvSpPr/>
      </dsp:nvSpPr>
      <dsp:spPr>
        <a:xfrm>
          <a:off x="7734293" y="388446"/>
          <a:ext cx="2405712" cy="1070689"/>
        </a:xfrm>
        <a:prstGeom prst="roundRect">
          <a:avLst>
            <a:gd name="adj" fmla="val 10000"/>
          </a:avLst>
        </a:prstGeom>
        <a:solidFill>
          <a:schemeClr val="accent5">
            <a:hueOff val="-9351497"/>
            <a:satOff val="-45422"/>
            <a:lumOff val="8822"/>
            <a:alphaOff val="0"/>
          </a:schemeClr>
        </a:solidFill>
        <a:ln w="2642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568" tIns="99568" rIns="99568" bIns="53340" numCol="1" spcCol="1270" anchor="t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1400" kern="1200" dirty="0"/>
            <a:t>📐Betriebsdeklaration</a:t>
          </a:r>
        </a:p>
      </dsp:txBody>
      <dsp:txXfrm>
        <a:off x="7734293" y="388446"/>
        <a:ext cx="2405712" cy="713793"/>
      </dsp:txXfrm>
    </dsp:sp>
    <dsp:sp modelId="{2F3085CD-96F4-4F02-8853-47496701210C}">
      <dsp:nvSpPr>
        <dsp:cNvPr id="0" name=""/>
        <dsp:cNvSpPr/>
      </dsp:nvSpPr>
      <dsp:spPr>
        <a:xfrm>
          <a:off x="8227029" y="1024590"/>
          <a:ext cx="2405712" cy="2570400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6425" cap="flat" cmpd="sng" algn="ctr">
          <a:solidFill>
            <a:schemeClr val="accent5">
              <a:hueOff val="-9351497"/>
              <a:satOff val="-45422"/>
              <a:lumOff val="8822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9568" tIns="99568" rIns="99568" bIns="99568" numCol="1" spcCol="1270" anchor="t" anchorCtr="0">
          <a:noAutofit/>
        </a:bodyPr>
        <a:lstStyle/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de-DE" sz="1400" kern="1200" dirty="0"/>
            <a:t>Nach min. 1-Jähriger Monitoring-Phase</a:t>
          </a:r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de-DE" sz="1400" kern="1200" dirty="0"/>
            <a:t>Identifikation von Performance-Gaps und</a:t>
          </a:r>
        </a:p>
      </dsp:txBody>
      <dsp:txXfrm>
        <a:off x="8297490" y="1095051"/>
        <a:ext cx="2264790" cy="2429478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D6ACCBC-D777-4A80-AD7C-32896A385EC5}">
      <dsp:nvSpPr>
        <dsp:cNvPr id="0" name=""/>
        <dsp:cNvSpPr/>
      </dsp:nvSpPr>
      <dsp:spPr>
        <a:xfrm>
          <a:off x="1574261" y="44185"/>
          <a:ext cx="2120920" cy="2120920"/>
        </a:xfrm>
        <a:prstGeom prst="ellipse">
          <a:avLst/>
        </a:prstGeom>
        <a:solidFill>
          <a:srgbClr val="FFC000">
            <a:alpha val="50000"/>
          </a:srgbClr>
        </a:solidFill>
        <a:ln w="2642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1800" kern="1200"/>
            <a:t>Energie-Effizienz</a:t>
          </a:r>
          <a:endParaRPr lang="de-AT" sz="1800" kern="1200"/>
        </a:p>
      </dsp:txBody>
      <dsp:txXfrm>
        <a:off x="1857050" y="415346"/>
        <a:ext cx="1555341" cy="954414"/>
      </dsp:txXfrm>
    </dsp:sp>
    <dsp:sp modelId="{514C21FB-1370-4E60-8D71-EFA75EE04E05}">
      <dsp:nvSpPr>
        <dsp:cNvPr id="0" name=""/>
        <dsp:cNvSpPr/>
      </dsp:nvSpPr>
      <dsp:spPr>
        <a:xfrm>
          <a:off x="2339560" y="1369760"/>
          <a:ext cx="2120920" cy="2120920"/>
        </a:xfrm>
        <a:prstGeom prst="ellipse">
          <a:avLst/>
        </a:prstGeom>
        <a:solidFill>
          <a:srgbClr val="00B050">
            <a:alpha val="50000"/>
          </a:srgbClr>
        </a:solidFill>
        <a:ln w="2642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1800" kern="1200"/>
            <a:t>Lokale Erneuerbare</a:t>
          </a:r>
          <a:endParaRPr lang="de-AT" sz="1800" kern="1200"/>
        </a:p>
      </dsp:txBody>
      <dsp:txXfrm>
        <a:off x="2988208" y="1917665"/>
        <a:ext cx="1272552" cy="1166506"/>
      </dsp:txXfrm>
    </dsp:sp>
    <dsp:sp modelId="{7DD6B2C5-926D-42BF-A056-71F5ACDDD758}">
      <dsp:nvSpPr>
        <dsp:cNvPr id="0" name=""/>
        <dsp:cNvSpPr/>
      </dsp:nvSpPr>
      <dsp:spPr>
        <a:xfrm>
          <a:off x="808962" y="1369760"/>
          <a:ext cx="2120920" cy="2120920"/>
        </a:xfrm>
        <a:prstGeom prst="ellipse">
          <a:avLst/>
        </a:prstGeom>
        <a:solidFill>
          <a:schemeClr val="accent6">
            <a:alpha val="50000"/>
          </a:schemeClr>
        </a:solidFill>
        <a:ln w="2642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1800" kern="1200"/>
            <a:t>Energie-Flexibilität</a:t>
          </a:r>
          <a:endParaRPr lang="de-AT" sz="1800" kern="1200"/>
        </a:p>
      </dsp:txBody>
      <dsp:txXfrm>
        <a:off x="1008682" y="1917665"/>
        <a:ext cx="1272552" cy="1166506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chevron2">
  <dgm:title val=""/>
  <dgm:desc val=""/>
  <dgm:catLst>
    <dgm:cat type="process" pri="12000"/>
    <dgm:cat type="list" pri="16000"/>
    <dgm:cat type="convert" pri="1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</dgm:ptLst>
      <dgm:cxnLst>
        <dgm:cxn modelId="4" srcId="0" destId="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linearFlow">
    <dgm:varLst>
      <dgm:dir/>
      <dgm:animLvl val="lvl"/>
      <dgm:resizeHandles val="exact"/>
    </dgm:varLst>
    <dgm:alg type="lin">
      <dgm:param type="linDir" val="fromT"/>
      <dgm:param type="nodeHorzAlign" val="l"/>
    </dgm:alg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h" for="des" forName="parentText" op="equ"/>
      <dgm:constr type="h" for="ch" forName="sp" val="-14.88"/>
      <dgm:constr type="h" for="ch" forName="sp" refType="w" refFor="des" refForName="parentText" op="gte" fact="-0.3"/>
      <dgm:constr type="primFontSz" for="des" forName="parentText" op="equ" val="65"/>
      <dgm:constr type="primFontSz" for="des" forName="descendantText" op="equ" val="65"/>
    </dgm:constrLst>
    <dgm:ruleLst/>
    <dgm:forEach name="Name0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Name1">
          <dgm:if name="Name2" func="var" arg="dir" op="equ" val="norm">
            <dgm:constrLst>
              <dgm:constr type="t" for="ch" forName="parentText"/>
              <dgm:constr type="l" for="ch" forName="parentText"/>
              <dgm:constr type="w" for="ch" forName="parentText" refType="w" fact="0.4"/>
              <dgm:constr type="h" for="ch" forName="parentText" refType="h"/>
              <dgm:constr type="w" for="ch" forName="parentText" refType="w" op="lte" fact="0.5"/>
              <dgm:constr type="w" for="ch" forName="parentText" refType="h" refFor="ch" refForName="parentText" op="lte" fact="0.7"/>
              <dgm:constr type="h" for="ch" forName="parentText" refType="w" refFor="ch" refForName="parentText" op="lte" fact="3"/>
              <dgm:constr type="l" for="ch" forName="descendantText" refType="w" refFor="ch" refForName="parentText"/>
              <dgm:constr type="w" for="ch" forName="descendantText" refType="w"/>
              <dgm:constr type="wOff" for="ch" forName="descendantText" refType="w" refFor="ch" refForName="parentText" fact="-1"/>
              <dgm:constr type="t" for="ch" forName="descendantText"/>
              <dgm:constr type="b" for="ch" forName="descendantText" refType="h" refFor="ch" refForName="parentText"/>
              <dgm:constr type="bOff" for="ch" forName="descendantText" refType="w" refFor="ch" refForName="parentText" fact="-0.5"/>
            </dgm:constrLst>
          </dgm:if>
          <dgm:else name="Name3">
            <dgm:constrLst>
              <dgm:constr type="t" for="ch" forName="parentText"/>
              <dgm:constr type="r" for="ch" forName="parentText" refType="w"/>
              <dgm:constr type="w" for="ch" forName="parentText" refType="w" fact="0.4"/>
              <dgm:constr type="h" for="ch" forName="parentText" refType="h"/>
              <dgm:constr type="w" for="ch" forName="parentText" refType="w" op="lte" fact="0.5"/>
              <dgm:constr type="w" for="ch" forName="parentText" refType="h" refFor="ch" refForName="parentText" op="lte" fact="0.7"/>
              <dgm:constr type="h" for="ch" forName="parentText" refType="w" refFor="ch" refForName="parentText" op="lte" fact="3"/>
              <dgm:constr type="l" for="ch" forName="descendantText"/>
              <dgm:constr type="w" for="ch" forName="descendantText" refType="w"/>
              <dgm:constr type="wOff" for="ch" forName="descendantText" refType="w" refFor="ch" refForName="parentText" fact="-1"/>
              <dgm:constr type="t" for="ch" forName="descendantText"/>
              <dgm:constr type="b" for="ch" forName="descendantText" refType="h" refFor="ch" refForName="parentText"/>
              <dgm:constr type="bOff" for="ch" forName="descendantText" refType="w" refFor="ch" refForName="parentText" fact="-0.5"/>
            </dgm:constrLst>
          </dgm:else>
        </dgm:choose>
        <dgm:ruleLst/>
        <dgm:layoutNode name="parentText" styleLbl="alignNode1">
          <dgm:varLst>
            <dgm:chMax val="1"/>
            <dgm:bulletEnabled val="1"/>
          </dgm:varLst>
          <dgm:alg type="tx"/>
          <dgm:shape xmlns:r="http://schemas.openxmlformats.org/officeDocument/2006/relationships" rot="90" type="chevron" r:blip="">
            <dgm:adjLst/>
          </dgm:shape>
          <dgm:presOf axis="self" ptType="node"/>
          <dgm:constrLst>
            <dgm:constr type="lMarg" refType="primFontSz" fact="0.05"/>
            <dgm:constr type="rMarg" refType="primFontSz" fact="0.05"/>
            <dgm:constr type="tMarg" refType="primFontSz" fact="0.05"/>
            <dgm:constr type="bMarg" refType="primFontSz" fact="0.05"/>
          </dgm:constrLst>
          <dgm:ruleLst>
            <dgm:rule type="h" val="100" fact="NaN" max="NaN"/>
            <dgm:rule type="primFontSz" val="24" fact="NaN" max="NaN"/>
            <dgm:rule type="h" val="110" fact="NaN" max="NaN"/>
            <dgm:rule type="primFontSz" val="18" fact="NaN" max="NaN"/>
            <dgm:rule type="h" val="INF" fact="NaN" max="NaN"/>
            <dgm:rule type="primFontSz" val="5" fact="NaN" max="NaN"/>
          </dgm:ruleLst>
        </dgm:layoutNode>
        <dgm:layoutNode name="descendantText" styleLbl="alignAcc1">
          <dgm:varLst>
            <dgm:bulletEnabled val="1"/>
          </dgm:varLst>
          <dgm:choose name="Name4">
            <dgm:if name="Name5" func="var" arg="dir" op="equ" val="norm">
              <dgm:alg type="tx">
                <dgm:param type="stBulletLvl" val="1"/>
                <dgm:param type="txAnchorVertCh" val="mid"/>
              </dgm:alg>
              <dgm:shape xmlns:r="http://schemas.openxmlformats.org/officeDocument/2006/relationships" rot="90" type="round2SameRect" r:blip="">
                <dgm:adjLst/>
              </dgm:shape>
            </dgm:if>
            <dgm:else name="Name6">
              <dgm:alg type="tx">
                <dgm:param type="stBulletLvl" val="1"/>
                <dgm:param type="txAnchorVertCh" val="mid"/>
              </dgm:alg>
              <dgm:shape xmlns:r="http://schemas.openxmlformats.org/officeDocument/2006/relationships" rot="-90" type="round2SameRect" r:blip="">
                <dgm:adjLst/>
              </dgm:shape>
            </dgm:else>
          </dgm:choose>
          <dgm:presOf axis="des" ptType="node"/>
          <dgm:choose name="Name7">
            <dgm:if name="Name8" func="var" arg="dir" op="equ" val="norm">
              <dgm:constrLst>
                <dgm:constr type="secFontSz" refType="primFontSz"/>
                <dgm:constr type="tMarg" refType="primFontSz" fact="0.05"/>
                <dgm:constr type="bMarg" refType="primFontSz" fact="0.05"/>
                <dgm:constr type="rMarg" refType="primFontSz" fact="0.05"/>
              </dgm:constrLst>
            </dgm:if>
            <dgm:else name="Name9">
              <dgm:constrLst>
                <dgm:constr type="secFontSz" refType="primFontSz"/>
                <dgm:constr type="tMarg" refType="primFontSz" fact="0.05"/>
                <dgm:constr type="bMarg" refType="primFontSz" fact="0.05"/>
                <dgm:constr type="lMarg" refType="primFontSz" fact="0.05"/>
              </dgm:constrLst>
            </dgm:else>
          </dgm:choose>
          <dgm:ruleLst>
            <dgm:rule type="primFontSz" val="5" fact="NaN" max="NaN"/>
          </dgm:ruleLst>
        </dgm:layoutNode>
      </dgm:layoutNode>
      <dgm:forEach name="Name10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 axis="self"/>
          <dgm:constrLst>
            <dgm:constr type="w" val="1"/>
            <dgm:constr type="h" val="37.5"/>
          </dgm:constrLst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process3">
  <dgm:title val=""/>
  <dgm:desc val=""/>
  <dgm:catLst>
    <dgm:cat type="process" pri="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3" destOrd="0"/>
        <dgm:cxn modelId="12" srcId="1" destId="11" srcOrd="0" destOrd="0"/>
        <dgm:cxn modelId="23" srcId="2" destId="21" srcOrd="0" destOrd="0"/>
        <dgm:cxn modelId="34" srcId="3" destId="31" srcOrd="0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  <dgm:pt modelId="3">
          <dgm:prSet phldr="1"/>
        </dgm:pt>
        <dgm:pt modelId="31">
          <dgm:prSet phldr="1"/>
        </dgm:pt>
        <dgm:pt modelId="4">
          <dgm:prSet phldr="1"/>
        </dgm:pt>
        <dgm:pt modelId="41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linearFlow">
    <dgm:varLst>
      <dgm:dir/>
      <dgm:animLvl val="lvl"/>
      <dgm:resizeHandles val="exact"/>
    </dgm:varLst>
    <dgm:choose name="Name0">
      <dgm:if name="Name1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composite" refType="w"/>
      <dgm:constr type="w" for="ch" ptType="sibTrans" refType="w" refFor="ch" refForName="composite" fact="0.3333"/>
      <dgm:constr type="w" for="des" forName="parTx"/>
      <dgm:constr type="h" for="des" forName="parTx" op="equ"/>
      <dgm:constr type="h" for="des" forName="parSh" op="equ"/>
      <dgm:constr type="w" for="des" forName="desTx"/>
      <dgm:constr type="h" for="des" forName="desTx" op="equ"/>
      <dgm:constr type="w" for="des" forName="parSh"/>
      <dgm:constr type="primFontSz" for="des" forName="parTx" val="65"/>
      <dgm:constr type="secFontSz" for="des" forName="desTx" refType="primFontSz" refFor="des" refForName="parTx" op="equ"/>
      <dgm:constr type="primFontSz" for="des" forName="connTx" refType="primFontSz" refFor="des" refForName="parTx" fact="0.8"/>
      <dgm:constr type="primFontSz" for="des" forName="connTx" refType="primFontSz" refFor="des" refForName="parTx" op="lte" fact="0.8"/>
      <dgm:constr type="h" for="des" forName="parTx" refType="primFontSz" refFor="des" refForName="parTx" fact="0.8"/>
      <dgm:constr type="h" for="des" forName="parSh" refType="primFontSz" refFor="des" refForName="parTx" fact="1.2"/>
      <dgm:constr type="h" for="des" forName="desTx" refType="primFontSz" refFor="des" refForName="parTx" fact="1.6"/>
      <dgm:constr type="h" for="des" forName="parSh" refType="h" refFor="des" refForName="parTx" op="lte" fact="1.5"/>
      <dgm:constr type="h" for="des" forName="parSh" refType="h" refFor="des" refForName="parTx" op="gte" fact="1.5"/>
    </dgm:constrLst>
    <dgm:ruleLst>
      <dgm:rule type="w" for="ch" forName="composite" val="0" fact="NaN" max="NaN"/>
      <dgm:rule type="primFontSz" for="des" forName="parTx" val="5" fact="NaN" max="NaN"/>
    </dgm:ruleLst>
    <dgm:forEach name="Name3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Name4">
          <dgm:if name="Name5" func="var" arg="dir" op="equ" val="norm">
            <dgm:constrLst>
              <dgm:constr type="h" refType="w" fact="1000"/>
              <dgm:constr type="l" for="ch" forName="parTx"/>
              <dgm:constr type="w" for="ch" forName="parTx" refType="w" fact="0.83"/>
              <dgm:constr type="t" for="ch" forName="parTx"/>
              <dgm:constr type="l" for="ch" forName="parSh"/>
              <dgm:constr type="w" for="ch" forName="parSh" refType="w" refFor="ch" refForName="parTx"/>
              <dgm:constr type="t" for="ch" forName="parSh"/>
              <dgm:constr type="l" for="ch" forName="desTx" refType="w" fact="0.17"/>
              <dgm:constr type="w" for="ch" forName="desTx" refType="w" refFor="ch" refForName="parTx"/>
              <dgm:constr type="t" for="ch" forName="desTx" refType="h" refFor="ch" refForName="parTx"/>
            </dgm:constrLst>
          </dgm:if>
          <dgm:else name="Name6">
            <dgm:constrLst>
              <dgm:constr type="h" refType="w" fact="1000"/>
              <dgm:constr type="l" for="ch" forName="parTx" refType="w" fact="0.17"/>
              <dgm:constr type="w" for="ch" forName="parTx" refType="w" fact="0.83"/>
              <dgm:constr type="t" for="ch" forName="parTx"/>
              <dgm:constr type="l" for="ch" forName="parSh" refType="w" fact="0.15"/>
              <dgm:constr type="w" for="ch" forName="parSh" refType="w" refFor="ch" refForName="parTx"/>
              <dgm:constr type="t" for="ch" forName="parSh"/>
              <dgm:constr type="l" for="ch" forName="desTx"/>
              <dgm:constr type="w" for="ch" forName="desTx" refType="w" refFor="ch" refForName="parTx"/>
              <dgm:constr type="t" for="ch" forName="desTx" refType="h" refFor="ch" refForName="parTx"/>
            </dgm:constrLst>
          </dgm:else>
        </dgm:choose>
        <dgm:ruleLst>
          <dgm:rule type="h" val="INF" fact="NaN" max="NaN"/>
        </dgm:ruleLst>
        <dgm:layoutNode name="parTx">
          <dgm:varLst>
            <dgm:chMax val="0"/>
            <dgm:chPref val="0"/>
            <dgm:bulletEnabled val="1"/>
          </dgm:varLst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 zOrderOff="1" hideGeom="1">
            <dgm:adjLst>
              <dgm:adj idx="1" val="0.1"/>
            </dgm:adjLst>
          </dgm:shape>
          <dgm:presOf axis="self" ptType="node"/>
          <dgm:constrLst>
            <dgm:constr type="h" refType="w" op="lte" fact="0.4"/>
            <dgm:constr type="bMarg" refType="primFontSz" fact="0.3"/>
            <dgm:constr type="h"/>
          </dgm:constrLst>
          <dgm:ruleLst>
            <dgm:rule type="h" val="INF" fact="NaN" max="NaN"/>
          </dgm:ruleLst>
        </dgm:layoutNode>
        <dgm:layoutNode name="parSh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 axis="self" ptType="node"/>
          <dgm:constrLst>
            <dgm:constr type="h"/>
          </dgm:constrLst>
          <dgm:ruleLst/>
        </dgm:layoutNode>
        <dgm:layoutNode name="desTx" styleLbl="fgAcc1">
          <dgm:varLst>
            <dgm:bulletEnabled val="1"/>
          </dgm:varLst>
          <dgm:alg type="tx">
            <dgm:param type="stBulletLvl" val="1"/>
          </dgm:alg>
          <dgm:shape xmlns:r="http://schemas.openxmlformats.org/officeDocument/2006/relationships" type="roundRect" r:blip="">
            <dgm:adjLst>
              <dgm:adj idx="1" val="0.1"/>
            </dgm:adjLst>
          </dgm:shape>
          <dgm:presOf axis="des" ptType="node"/>
          <dgm:constrLst>
            <dgm:constr type="secFontSz" val="65"/>
            <dgm:constr type="primFontSz" refType="secFontSz"/>
            <dgm:constr type="h"/>
          </dgm:constrLst>
          <dgm:ruleLst>
            <dgm:rule type="h" val="INF" fact="NaN" max="NaN"/>
          </dgm:ruleLst>
        </dgm:layoutNode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  <dgm:param type="srcNode" val="parTx"/>
            <dgm:param type="dstNode" val="parTx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  <dgm:constr type="begPad" refType="connDist" fact="0.25"/>
            <dgm:constr type="endPad" refType="connDist" fact="0.22"/>
          </dgm:constrLst>
          <dgm:ruleLst/>
          <dgm:layoutNode name="connTx">
            <dgm:alg type="tx">
              <dgm:param type="autoTxRot" val="grav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venn1">
  <dgm:title val=""/>
  <dgm:desc val=""/>
  <dgm:catLst>
    <dgm:cat type="relationship" pri="28000"/>
    <dgm:cat type="convert" pri="190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</dgm:cxnLst>
      <dgm:bg/>
      <dgm:whole/>
    </dgm:dataModel>
  </dgm:clrData>
  <dgm:layoutNode name="compositeShape">
    <dgm:varLst>
      <dgm:chMax val="7"/>
      <dgm:dir/>
      <dgm:resizeHandles val="exact"/>
    </dgm:varLst>
    <dgm:choose name="Name0">
      <dgm:if name="Name1" axis="ch" ptType="node" func="cnt" op="equ" val="1">
        <dgm:alg type="composite">
          <dgm:param type="ar" val="1"/>
        </dgm:alg>
      </dgm:if>
      <dgm:if name="Name2" axis="ch" ptType="node" func="cnt" op="equ" val="2">
        <dgm:alg type="composite">
          <dgm:param type="ar" val="1.792"/>
        </dgm:alg>
      </dgm:if>
      <dgm:if name="Name3" axis="ch" ptType="node" func="cnt" op="equ" val="3">
        <dgm:alg type="composite">
          <dgm:param type="ar" val="1"/>
        </dgm:alg>
      </dgm:if>
      <dgm:if name="Name4" axis="ch" ptType="node" func="cnt" op="equ" val="4">
        <dgm:alg type="composite">
          <dgm:param type="ar" val="1"/>
        </dgm:alg>
      </dgm:if>
      <dgm:if name="Name5" axis="ch" ptType="node" func="cnt" op="equ" val="5">
        <dgm:alg type="composite">
          <dgm:param type="ar" val="1.4"/>
        </dgm:alg>
      </dgm:if>
      <dgm:if name="Name6" axis="ch" ptType="node" func="cnt" op="equ" val="6">
        <dgm:alg type="composite">
          <dgm:param type="ar" val="1.285"/>
        </dgm:alg>
      </dgm:if>
      <dgm:if name="Name7" axis="ch" ptType="node" func="cnt" op="equ" val="7">
        <dgm:alg type="composite">
          <dgm:param type="ar" val="1.359"/>
        </dgm:alg>
      </dgm:if>
      <dgm:else name="Name8">
        <dgm:alg type="composite">
          <dgm:param type="ar" val="1.359"/>
        </dgm:alg>
      </dgm:else>
    </dgm:choose>
    <dgm:shape xmlns:r="http://schemas.openxmlformats.org/officeDocument/2006/relationships" r:blip="">
      <dgm:adjLst/>
    </dgm:shape>
    <dgm:presOf/>
    <dgm:choose name="Name9">
      <dgm:if name="Name10" axis="ch" ptType="node" func="cnt" op="equ" val="1">
        <dgm:constrLst>
          <dgm:constr type="ctrX" for="ch" forName="circ1TxSh" refType="w" fact="0.5"/>
          <dgm:constr type="ctrY" for="ch" forName="circ1TxSh" refType="h" fact="0.5"/>
          <dgm:constr type="w" for="ch" forName="circ1TxSh" refType="w"/>
          <dgm:constr type="h" for="ch" forName="circ1TxSh" refType="h"/>
          <dgm:constr type="primFontSz" for="ch" ptType="node" op="equ"/>
        </dgm:constrLst>
      </dgm:if>
      <dgm:if name="Name11" axis="ch" ptType="node" func="cnt" op="equ" val="2">
        <dgm:constrLst>
          <dgm:constr type="ctrX" for="ch" forName="circ1" refType="w" fact="0.3"/>
          <dgm:constr type="ctrY" for="ch" forName="circ1" refType="h" fact="0.5"/>
          <dgm:constr type="w" for="ch" forName="circ1" refType="w" fact="0.555"/>
          <dgm:constr type="h" for="ch" forName="circ1" refType="h" fact="0.99456"/>
          <dgm:constr type="l" for="ch" forName="circ1Tx" refType="w" fact="0.1"/>
          <dgm:constr type="t" for="ch" forName="circ1Tx" refType="h" fact="0.12"/>
          <dgm:constr type="w" for="ch" forName="circ1Tx" refType="w" fact="0.32"/>
          <dgm:constr type="h" for="ch" forName="circ1Tx" refType="h" fact="0.76"/>
          <dgm:constr type="ctrX" for="ch" forName="circ2" refType="w" fact="0.7"/>
          <dgm:constr type="ctrY" for="ch" forName="circ2" refType="h" fact="0.5"/>
          <dgm:constr type="w" for="ch" forName="circ2" refType="w" fact="0.555"/>
          <dgm:constr type="h" for="ch" forName="circ2" refType="h" fact="0.99456"/>
          <dgm:constr type="l" for="ch" forName="circ2Tx" refType="w" fact="0.58"/>
          <dgm:constr type="t" for="ch" forName="circ2Tx" refType="h" fact="0.12"/>
          <dgm:constr type="w" for="ch" forName="circ2Tx" refType="w" fact="0.32"/>
          <dgm:constr type="h" for="ch" forName="circ2Tx" refType="h" fact="0.76"/>
          <dgm:constr type="primFontSz" for="ch" ptType="node" op="equ"/>
        </dgm:constrLst>
      </dgm:if>
      <dgm:if name="Name12" axis="ch" ptType="node" func="cnt" op="equ" val="3">
        <dgm:constrLst>
          <dgm:constr type="ctrX" for="ch" forName="circ1" refType="w" fact="0.5"/>
          <dgm:constr type="ctrY" for="ch" forName="circ1" refType="w" fact="0.25"/>
          <dgm:constr type="w" for="ch" forName="circ1" refType="w" fact="0.6"/>
          <dgm:constr type="h" for="ch" forName="circ1" refType="h" fact="0.6"/>
          <dgm:constr type="l" for="ch" forName="circ1Tx" refType="w" fact="0.28"/>
          <dgm:constr type="t" for="ch" forName="circ1Tx" refType="h" fact="0.055"/>
          <dgm:constr type="w" for="ch" forName="circ1Tx" refType="w" fact="0.44"/>
          <dgm:constr type="h" for="ch" forName="circ1Tx" refType="h" fact="0.27"/>
          <dgm:constr type="ctrX" for="ch" forName="circ2" refType="w" fact="0.7165"/>
          <dgm:constr type="ctrY" for="ch" forName="circ2" refType="w" fact="0.625"/>
          <dgm:constr type="w" for="ch" forName="circ2" refType="w" fact="0.6"/>
          <dgm:constr type="h" for="ch" forName="circ2" refType="h" fact="0.6"/>
          <dgm:constr type="l" for="ch" forName="circ2Tx" refType="w" fact="0.6"/>
          <dgm:constr type="t" for="ch" forName="circ2Tx" refType="h" fact="0.48"/>
          <dgm:constr type="w" for="ch" forName="circ2Tx" refType="w" fact="0.36"/>
          <dgm:constr type="h" for="ch" forName="circ2Tx" refType="h" fact="0.33"/>
          <dgm:constr type="ctrX" for="ch" forName="circ3" refType="w" fact="0.2835"/>
          <dgm:constr type="ctrY" for="ch" forName="circ3" refType="w" fact="0.625"/>
          <dgm:constr type="w" for="ch" forName="circ3" refType="w" fact="0.6"/>
          <dgm:constr type="h" for="ch" forName="circ3" refType="h" fact="0.6"/>
          <dgm:constr type="l" for="ch" forName="circ3Tx" refType="w" fact="0.04"/>
          <dgm:constr type="t" for="ch" forName="circ3Tx" refType="h" fact="0.48"/>
          <dgm:constr type="w" for="ch" forName="circ3Tx" refType="w" fact="0.36"/>
          <dgm:constr type="h" for="ch" forName="circ3Tx" refType="h" fact="0.33"/>
          <dgm:constr type="primFontSz" for="ch" ptType="node" op="equ"/>
        </dgm:constrLst>
      </dgm:if>
      <dgm:if name="Name13" axis="ch" ptType="node" func="cnt" op="equ" val="4">
        <dgm:constrLst>
          <dgm:constr type="ctrX" for="ch" forName="circ1" refType="w" fact="0.5"/>
          <dgm:constr type="ctrY" for="ch" forName="circ1" refType="w" fact="0.27"/>
          <dgm:constr type="w" for="ch" forName="circ1" refType="w" fact="0.52"/>
          <dgm:constr type="h" for="ch" forName="circ1" refType="h" fact="0.52"/>
          <dgm:constr type="l" for="ch" forName="circ1Tx" refType="w" fact="0.3"/>
          <dgm:constr type="t" for="ch" forName="circ1Tx" refType="h" fact="0.08"/>
          <dgm:constr type="w" for="ch" forName="circ1Tx" refType="w" fact="0.4"/>
          <dgm:constr type="h" for="ch" forName="circ1Tx" refType="h" fact="0.165"/>
          <dgm:constr type="ctrX" for="ch" forName="circ2" refType="w" fact="0.73"/>
          <dgm:constr type="ctrY" for="ch" forName="circ2" refType="w" fact="0.5"/>
          <dgm:constr type="w" for="ch" forName="circ2" refType="w" fact="0.52"/>
          <dgm:constr type="h" for="ch" forName="circ2" refType="h" fact="0.52"/>
          <dgm:constr type="r" for="ch" forName="circ2Tx" refType="w" fact="0.95"/>
          <dgm:constr type="t" for="ch" forName="circ2Tx" refType="h" fact="0.3"/>
          <dgm:constr type="w" for="ch" forName="circ2Tx" refType="w" fact="0.2"/>
          <dgm:constr type="h" for="ch" forName="circ2Tx" refType="h" fact="0.4"/>
          <dgm:constr type="ctrX" for="ch" forName="circ3" refType="w" fact="0.5"/>
          <dgm:constr type="ctrY" for="ch" forName="circ3" refType="w" fact="0.73"/>
          <dgm:constr type="w" for="ch" forName="circ3" refType="w" fact="0.52"/>
          <dgm:constr type="h" for="ch" forName="circ3" refType="h" fact="0.52"/>
          <dgm:constr type="l" for="ch" forName="circ3Tx" refType="w" fact="0.3"/>
          <dgm:constr type="b" for="ch" forName="circ3Tx" refType="h" fact="0.92"/>
          <dgm:constr type="w" for="ch" forName="circ3Tx" refType="w" fact="0.4"/>
          <dgm:constr type="h" for="ch" forName="circ3Tx" refType="h" fact="0.165"/>
          <dgm:constr type="ctrX" for="ch" forName="circ4" refType="w" fact="0.27"/>
          <dgm:constr type="ctrY" for="ch" forName="circ4" refType="h" fact="0.5"/>
          <dgm:constr type="w" for="ch" forName="circ4" refType="w" fact="0.52"/>
          <dgm:constr type="h" for="ch" forName="circ4" refType="h" fact="0.52"/>
          <dgm:constr type="l" for="ch" forName="circ4Tx" refType="w" fact="0.05"/>
          <dgm:constr type="t" for="ch" forName="circ4Tx" refType="h" fact="0.3"/>
          <dgm:constr type="w" for="ch" forName="circ4Tx" refType="w" fact="0.2"/>
          <dgm:constr type="h" for="ch" forName="circ4Tx" refType="h" fact="0.4"/>
          <dgm:constr type="primFontSz" for="ch" ptType="node" op="equ"/>
        </dgm:constrLst>
      </dgm:if>
      <dgm:if name="Name14" axis="ch" ptType="node" func="cnt" op="equ" val="5">
        <dgm:constrLst>
          <dgm:constr type="ctrX" for="ch" forName="circ1" refType="w" fact="0.5"/>
          <dgm:constr type="ctrY" for="ch" forName="circ1" refType="h" fact="0.46"/>
          <dgm:constr type="w" for="ch" forName="circ1" refType="w" fact="0.25"/>
          <dgm:constr type="h" for="ch" forName="circ1" refType="h" fact="0.35"/>
          <dgm:constr type="l" for="ch" forName="circ1Tx" refType="w" fact="0.355"/>
          <dgm:constr type="t" for="ch" forName="circ1Tx"/>
          <dgm:constr type="w" for="ch" forName="circ1Tx" refType="w" fact="0.29"/>
          <dgm:constr type="h" for="ch" forName="circ1Tx" refType="h" fact="0.235"/>
          <dgm:constr type="ctrX" for="ch" forName="circ2" refType="w" fact="0.5951"/>
          <dgm:constr type="ctrY" for="ch" forName="circ2" refType="h" fact="0.5567"/>
          <dgm:constr type="w" for="ch" forName="circ2" refType="w" fact="0.25"/>
          <dgm:constr type="h" for="ch" forName="circ2" refType="h" fact="0.35"/>
          <dgm:constr type="l" for="ch" forName="circ2Tx" refType="w" fact="0.74"/>
          <dgm:constr type="t" for="ch" forName="circ2Tx" refType="h" fact="0.31"/>
          <dgm:constr type="w" for="ch" forName="circ2Tx" refType="w" fact="0.26"/>
          <dgm:constr type="h" for="ch" forName="circ2Tx" refType="h" fact="0.255"/>
          <dgm:constr type="ctrX" for="ch" forName="circ3" refType="w" fact="0.5588"/>
          <dgm:constr type="ctrY" for="ch" forName="circ3" refType="h" fact="0.7133"/>
          <dgm:constr type="w" for="ch" forName="circ3" refType="w" fact="0.25"/>
          <dgm:constr type="h" for="ch" forName="circ3" refType="h" fact="0.35"/>
          <dgm:constr type="l" for="ch" forName="circ3Tx" refType="w" fact="0.7"/>
          <dgm:constr type="t" for="ch" forName="circ3Tx" refType="h" fact="0.745"/>
          <dgm:constr type="w" for="ch" forName="circ3Tx" refType="w" fact="0.26"/>
          <dgm:constr type="h" for="ch" forName="circ3Tx" refType="h" fact="0.255"/>
          <dgm:constr type="ctrX" for="ch" forName="circ4" refType="w" fact="0.4412"/>
          <dgm:constr type="ctrY" for="ch" forName="circ4" refType="h" fact="0.7133"/>
          <dgm:constr type="w" for="ch" forName="circ4" refType="w" fact="0.25"/>
          <dgm:constr type="h" for="ch" forName="circ4" refType="h" fact="0.35"/>
          <dgm:constr type="l" for="ch" forName="circ4Tx" refType="w" fact="0.04"/>
          <dgm:constr type="t" for="ch" forName="circ4Tx" refType="h" fact="0.745"/>
          <dgm:constr type="w" for="ch" forName="circ4Tx" refType="w" fact="0.26"/>
          <dgm:constr type="h" for="ch" forName="circ4Tx" refType="h" fact="0.255"/>
          <dgm:constr type="ctrX" for="ch" forName="circ5" refType="w" fact="0.4049"/>
          <dgm:constr type="ctrY" for="ch" forName="circ5" refType="h" fact="0.5567"/>
          <dgm:constr type="w" for="ch" forName="circ5" refType="w" fact="0.25"/>
          <dgm:constr type="h" for="ch" forName="circ5" refType="h" fact="0.35"/>
          <dgm:constr type="l" for="ch" forName="circ5Tx"/>
          <dgm:constr type="t" for="ch" forName="circ5Tx" refType="h" fact="0.31"/>
          <dgm:constr type="w" for="ch" forName="circ5Tx" refType="w" fact="0.26"/>
          <dgm:constr type="h" for="ch" forName="circ5Tx" refType="h" fact="0.255"/>
          <dgm:constr type="primFontSz" for="ch" ptType="node" op="equ"/>
        </dgm:constrLst>
      </dgm:if>
      <dgm:if name="Name15" axis="ch" ptType="node" func="cnt" op="equ" val="6">
        <dgm:constrLst>
          <dgm:constr type="ctrX" for="ch" forName="circ1" refType="w" fact="0.5"/>
          <dgm:constr type="ctrY" for="ch" forName="circ1" refType="h" fact="0.3844"/>
          <dgm:constr type="w" for="ch" forName="circ1" refType="w" fact="0.24"/>
          <dgm:constr type="h" for="ch" forName="circ1" refType="h" fact="0.3084"/>
          <dgm:constr type="l" for="ch" forName="circ1Tx" refType="w" fact="0.35"/>
          <dgm:constr type="t" for="ch" forName="circ1Tx"/>
          <dgm:constr type="w" for="ch" forName="circ1Tx" refType="w" fact="0.3"/>
          <dgm:constr type="h" for="ch" forName="circ1Tx" refType="h" fact="0.21"/>
          <dgm:constr type="ctrX" for="ch" forName="circ2" refType="w" fact="0.5779"/>
          <dgm:constr type="ctrY" for="ch" forName="circ2" refType="h" fact="0.4422"/>
          <dgm:constr type="w" for="ch" forName="circ2" refType="w" fact="0.24"/>
          <dgm:constr type="h" for="ch" forName="circ2" refType="h" fact="0.3084"/>
          <dgm:constr type="l" for="ch" forName="circ2Tx" refType="w" fact="0.7157"/>
          <dgm:constr type="t" for="ch" forName="circ2Tx" refType="h" fact="0.2"/>
          <dgm:constr type="w" for="ch" forName="circ2Tx" refType="w" fact="0.2843"/>
          <dgm:constr type="h" for="ch" forName="circ2Tx" refType="h" fact="0.23"/>
          <dgm:constr type="ctrX" for="ch" forName="circ3" refType="w" fact="0.5779"/>
          <dgm:constr type="ctrY" for="ch" forName="circ3" refType="h" fact="0.5578"/>
          <dgm:constr type="w" for="ch" forName="circ3" refType="w" fact="0.24"/>
          <dgm:constr type="h" for="ch" forName="circ3" refType="h" fact="0.3084"/>
          <dgm:constr type="l" for="ch" forName="circ3Tx" refType="w" fact="0.7157"/>
          <dgm:constr type="t" for="ch" forName="circ3Tx" refType="h" fact="0.543"/>
          <dgm:constr type="w" for="ch" forName="circ3Tx" refType="w" fact="0.2843"/>
          <dgm:constr type="h" for="ch" forName="circ3Tx" refType="h" fact="0.257"/>
          <dgm:constr type="ctrX" for="ch" forName="circ4" refType="w" fact="0.5"/>
          <dgm:constr type="ctrY" for="ch" forName="circ4" refType="h" fact="0.6157"/>
          <dgm:constr type="w" for="ch" forName="circ4" refType="w" fact="0.24"/>
          <dgm:constr type="h" for="ch" forName="circ4" refType="h" fact="0.3084"/>
          <dgm:constr type="l" for="ch" forName="circ4Tx" refType="w" fact="0.35"/>
          <dgm:constr type="t" for="ch" forName="circ4Tx" refType="h" fact="0.79"/>
          <dgm:constr type="w" for="ch" forName="circ4Tx" refType="w" fact="0.3"/>
          <dgm:constr type="h" for="ch" forName="circ4Tx" refType="h" fact="0.21"/>
          <dgm:constr type="ctrX" for="ch" forName="circ5" refType="w" fact="0.4221"/>
          <dgm:constr type="ctrY" for="ch" forName="circ5" refType="h" fact="0.5578"/>
          <dgm:constr type="w" for="ch" forName="circ5" refType="w" fact="0.24"/>
          <dgm:constr type="h" for="ch" forName="circ5" refType="h" fact="0.3084"/>
          <dgm:constr type="l" for="ch" forName="circ5Tx" refType="w" fact="0"/>
          <dgm:constr type="t" for="ch" forName="circ5Tx" refType="h" fact="0.543"/>
          <dgm:constr type="w" for="ch" forName="circ5Tx" refType="w" fact="0.2843"/>
          <dgm:constr type="h" for="ch" forName="circ5Tx" refType="h" fact="0.257"/>
          <dgm:constr type="ctrX" for="ch" forName="circ6" refType="w" fact="0.4221"/>
          <dgm:constr type="ctrY" for="ch" forName="circ6" refType="h" fact="0.4422"/>
          <dgm:constr type="w" for="ch" forName="circ6" refType="w" fact="0.24"/>
          <dgm:constr type="h" for="ch" forName="circ6" refType="h" fact="0.3084"/>
          <dgm:constr type="l" for="ch" forName="circ6Tx" refType="w" fact="0"/>
          <dgm:constr type="t" for="ch" forName="circ6Tx" refType="h" fact="0.2"/>
          <dgm:constr type="w" for="ch" forName="circ6Tx" refType="w" fact="0.2843"/>
          <dgm:constr type="h" for="ch" forName="circ6Tx" refType="h" fact="0.257"/>
          <dgm:constr type="primFontSz" for="ch" ptType="node" op="equ"/>
        </dgm:constrLst>
      </dgm:if>
      <dgm:else name="Name16">
        <dgm:constrLst>
          <dgm:constr type="ctrX" for="ch" forName="circ1" refType="w" fact="0.5"/>
          <dgm:constr type="ctrY" for="ch" forName="circ1" refType="h" fact="0.4177"/>
          <dgm:constr type="w" for="ch" forName="circ1" refType="w" fact="0.24"/>
          <dgm:constr type="h" for="ch" forName="circ1" refType="h" fact="0.3262"/>
          <dgm:constr type="l" for="ch" forName="circ1Tx" refType="w" fact="0.3625"/>
          <dgm:constr type="t" for="ch" forName="circ1Tx"/>
          <dgm:constr type="w" for="ch" forName="circ1Tx" refType="w" fact="0.275"/>
          <dgm:constr type="h" for="ch" forName="circ1Tx" refType="h" fact="0.2"/>
          <dgm:constr type="ctrX" for="ch" forName="circ2" refType="w" fact="0.5704"/>
          <dgm:constr type="ctrY" for="ch" forName="circ2" refType="h" fact="0.4637"/>
          <dgm:constr type="w" for="ch" forName="circ2" refType="w" fact="0.24"/>
          <dgm:constr type="h" for="ch" forName="circ2" refType="h" fact="0.3262"/>
          <dgm:constr type="l" for="ch" forName="circ2Tx" refType="w" fact="0.72"/>
          <dgm:constr type="t" for="ch" forName="circ2Tx" refType="h" fact="0.19"/>
          <dgm:constr type="w" for="ch" forName="circ2Tx" refType="w" fact="0.26"/>
          <dgm:constr type="h" for="ch" forName="circ2Tx" refType="h" fact="0.22"/>
          <dgm:constr type="ctrX" for="ch" forName="circ3" refType="w" fact="0.5877"/>
          <dgm:constr type="ctrY" for="ch" forName="circ3" refType="h" fact="0.5672"/>
          <dgm:constr type="w" for="ch" forName="circ3" refType="w" fact="0.24"/>
          <dgm:constr type="h" for="ch" forName="circ3" refType="h" fact="0.3262"/>
          <dgm:constr type="l" for="ch" forName="circ3Tx" refType="w" fact="0.745"/>
          <dgm:constr type="t" for="ch" forName="circ3Tx" refType="h" fact="0.47"/>
          <dgm:constr type="w" for="ch" forName="circ3Tx" refType="w" fact="0.255"/>
          <dgm:constr type="h" for="ch" forName="circ3Tx" refType="h" fact="0.235"/>
          <dgm:constr type="ctrX" for="ch" forName="circ4" refType="w" fact="0.539"/>
          <dgm:constr type="ctrY" for="ch" forName="circ4" refType="h" fact="0.6502"/>
          <dgm:constr type="w" for="ch" forName="circ4" refType="w" fact="0.24"/>
          <dgm:constr type="h" for="ch" forName="circ4" refType="h" fact="0.3262"/>
          <dgm:constr type="l" for="ch" forName="circ4Tx" refType="w" fact="0.635"/>
          <dgm:constr type="t" for="ch" forName="circ4Tx" refType="h" fact="0.785"/>
          <dgm:constr type="w" for="ch" forName="circ4Tx" refType="w" fact="0.275"/>
          <dgm:constr type="h" for="ch" forName="circ4Tx" refType="h" fact="0.215"/>
          <dgm:constr type="ctrX" for="ch" forName="circ5" refType="w" fact="0.461"/>
          <dgm:constr type="ctrY" for="ch" forName="circ5" refType="h" fact="0.6502"/>
          <dgm:constr type="w" for="ch" forName="circ5" refType="w" fact="0.24"/>
          <dgm:constr type="h" for="ch" forName="circ5" refType="h" fact="0.3262"/>
          <dgm:constr type="l" for="ch" forName="circ5Tx" refType="w" fact="0.09"/>
          <dgm:constr type="t" for="ch" forName="circ5Tx" refType="h" fact="0.785"/>
          <dgm:constr type="w" for="ch" forName="circ5Tx" refType="w" fact="0.275"/>
          <dgm:constr type="h" for="ch" forName="circ5Tx" refType="h" fact="0.215"/>
          <dgm:constr type="ctrX" for="ch" forName="circ6" refType="w" fact="0.4123"/>
          <dgm:constr type="ctrY" for="ch" forName="circ6" refType="h" fact="0.5672"/>
          <dgm:constr type="w" for="ch" forName="circ6" refType="w" fact="0.24"/>
          <dgm:constr type="h" for="ch" forName="circ6" refType="h" fact="0.3262"/>
          <dgm:constr type="l" for="ch" forName="circ6Tx"/>
          <dgm:constr type="t" for="ch" forName="circ6Tx" refType="h" fact="0.47"/>
          <dgm:constr type="w" for="ch" forName="circ6Tx" refType="w" fact="0.255"/>
          <dgm:constr type="h" for="ch" forName="circ6Tx" refType="h" fact="0.235"/>
          <dgm:constr type="ctrX" for="ch" forName="circ7" refType="w" fact="0.4296"/>
          <dgm:constr type="ctrY" for="ch" forName="circ7" refType="h" fact="0.4637"/>
          <dgm:constr type="w" for="ch" forName="circ7" refType="w" fact="0.24"/>
          <dgm:constr type="h" for="ch" forName="circ7" refType="h" fact="0.3262"/>
          <dgm:constr type="l" for="ch" forName="circ7Tx" refType="w" fact="0.02"/>
          <dgm:constr type="t" for="ch" forName="circ7Tx" refType="h" fact="0.19"/>
          <dgm:constr type="w" for="ch" forName="circ7Tx" refType="w" fact="0.26"/>
          <dgm:constr type="h" for="ch" forName="circ7Tx" refType="h" fact="0.22"/>
          <dgm:constr type="primFontSz" for="ch" ptType="node" op="equ"/>
        </dgm:constrLst>
      </dgm:else>
    </dgm:choose>
    <dgm:ruleLst/>
    <dgm:forEach name="Name17" axis="ch" ptType="node" cnt="1">
      <dgm:choose name="Name18">
        <dgm:if name="Name19" axis="root ch" ptType="all node" func="cnt" op="equ" val="1">
          <dgm:layoutNode name="circ1TxSh" styleLbl="vennNode1">
            <dgm:alg type="tx">
              <dgm:param type="txAnchorHorzCh" val="ctr"/>
              <dgm:param type="txAnchorVertCh" val="mid"/>
            </dgm:alg>
            <dgm:shape xmlns:r="http://schemas.openxmlformats.org/officeDocument/2006/relationships" type="ellipse" r:blip="">
              <dgm:adjLst/>
            </dgm:shape>
            <dgm:choose name="Name20">
              <dgm:if name="Name21" func="var" arg="dir" op="equ" val="norm">
                <dgm:choose name="Name22">
                  <dgm:if name="Name23" axis="root ch" ptType="all node" func="cnt" op="lte" val="4">
                    <dgm:presOf axis="desOrSelf" ptType="node"/>
                  </dgm:if>
                  <dgm:else name="Name24">
                    <dgm:presOf/>
                  </dgm:else>
                </dgm:choose>
              </dgm:if>
              <dgm:else name="Name25">
                <dgm:choose name="Name26">
                  <dgm:if name="Name27" axis="root ch" ptType="all node" func="cnt" op="equ" val="2">
                    <dgm:presOf axis="root ch desOrSelf" ptType="all node node" st="1 2 1" cnt="1 1 0"/>
                  </dgm:if>
                  <dgm:else name="Name28">
                    <dgm:presOf axis="desOrSelf" ptType="node"/>
                  </dgm:else>
                </dgm:choose>
              </dgm:else>
            </dgm:choose>
            <dgm:constrLst>
              <dgm:constr type="tMarg"/>
              <dgm:constr type="bMarg"/>
              <dgm:constr type="lMarg"/>
              <dgm:constr type="rMarg"/>
              <dgm:constr type="primFontSz" val="65"/>
            </dgm:constrLst>
            <dgm:ruleLst>
              <dgm:rule type="primFontSz" val="5" fact="NaN" max="NaN"/>
            </dgm:ruleLst>
          </dgm:layoutNode>
        </dgm:if>
        <dgm:else name="Name29">
          <dgm:layoutNode name="circ1" styleLbl="vennNode1">
            <dgm:alg type="sp"/>
            <dgm:shape xmlns:r="http://schemas.openxmlformats.org/officeDocument/2006/relationships" type="ellipse" r:blip="">
              <dgm:adjLst/>
            </dgm:shape>
            <dgm:choose name="Name30">
              <dgm:if name="Name31" func="var" arg="dir" op="equ" val="norm">
                <dgm:choose name="Name32">
                  <dgm:if name="Name33" axis="root ch" ptType="all node" func="cnt" op="lte" val="4">
                    <dgm:presOf axis="desOrSelf" ptType="node"/>
                  </dgm:if>
                  <dgm:else name="Name34">
                    <dgm:presOf/>
                  </dgm:else>
                </dgm:choose>
              </dgm:if>
              <dgm:else name="Name35">
                <dgm:choose name="Name36">
                  <dgm:if name="Name37" axis="root ch" ptType="all node" func="cnt" op="equ" val="2">
                    <dgm:presOf axis="root ch desOrSelf" ptType="all node node" st="1 2 1" cnt="1 1 0"/>
                  </dgm:if>
                  <dgm:else name="Name38">
                    <dgm:choose name="Name39">
                      <dgm:if name="Name40" axis="root ch" ptType="all node" func="cnt" op="lte" val="4">
                        <dgm:presOf axis="desOrSelf" ptType="node"/>
                      </dgm:if>
                      <dgm:else name="Name41">
                        <dgm:presOf/>
                      </dgm:else>
                    </dgm:choose>
                  </dgm:else>
                </dgm:choose>
              </dgm:else>
            </dgm:choose>
            <dgm:constrLst/>
            <dgm:ruleLst/>
          </dgm:layoutNode>
          <dgm:layoutNode name="circ1Tx" styleLbl="revTx">
            <dgm:varLst>
              <dgm:chMax val="0"/>
              <dgm:chPref val="0"/>
              <dgm:bulletEnabled val="1"/>
            </dgm:varLst>
            <dgm:alg type="tx">
              <dgm:param type="txAnchorHorzCh" val="ctr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choose name="Name42">
              <dgm:if name="Name43" func="var" arg="dir" op="equ" val="norm">
                <dgm:presOf axis="desOrSelf" ptType="node"/>
              </dgm:if>
              <dgm:else name="Name44">
                <dgm:choose name="Name45">
                  <dgm:if name="Name46" axis="root ch" ptType="all node" func="cnt" op="equ" val="2">
                    <dgm:presOf axis="root ch desOrSelf" ptType="all node node" st="1 2 1" cnt="1 1 0"/>
                  </dgm:if>
                  <dgm:else name="Name47">
                    <dgm:presOf axis="desOrSelf" ptType="node"/>
                  </dgm:else>
                </dgm:choose>
              </dgm:else>
            </dgm:choose>
            <dgm:constrLst>
              <dgm:constr type="tMarg"/>
              <dgm:constr type="bMarg"/>
              <dgm:constr type="lMarg"/>
              <dgm:constr type="rMarg"/>
              <dgm:constr type="primFontSz" val="65"/>
            </dgm:constrLst>
            <dgm:ruleLst>
              <dgm:rule type="primFontSz" val="5" fact="NaN" max="NaN"/>
            </dgm:ruleLst>
          </dgm:layoutNode>
        </dgm:else>
      </dgm:choose>
    </dgm:forEach>
    <dgm:forEach name="Name48" axis="ch" ptType="node" st="2" cnt="1">
      <dgm:layoutNode name="circ2" styleLbl="vennNode1">
        <dgm:alg type="sp"/>
        <dgm:shape xmlns:r="http://schemas.openxmlformats.org/officeDocument/2006/relationships" type="ellipse" r:blip="">
          <dgm:adjLst/>
        </dgm:shape>
        <dgm:choose name="Name49">
          <dgm:if name="Name50" func="var" arg="dir" op="equ" val="norm">
            <dgm:choose name="Name51">
              <dgm:if name="Name52" axis="root ch" ptType="all node" func="cnt" op="lte" val="4">
                <dgm:presOf axis="desOrSelf" ptType="node"/>
              </dgm:if>
              <dgm:else name="Name53">
                <dgm:presOf/>
              </dgm:else>
            </dgm:choose>
          </dgm:if>
          <dgm:else name="Name54">
            <dgm:choose name="Name55">
              <dgm:if name="Name56" axis="root ch" ptType="all node" func="cnt" op="equ" val="2">
                <dgm:presOf axis="root ch desOrSelf" ptType="all node node" st="1 1 1" cnt="1 1 0"/>
              </dgm:if>
              <dgm:if name="Name57" axis="root ch" ptType="all node" func="cnt" op="equ" val="3">
                <dgm:presOf axis="root ch desOrSelf" ptType="all node node" st="1 3 1" cnt="1 1 0"/>
              </dgm:if>
              <dgm:if name="Name58" axis="root ch" ptType="all node" func="cnt" op="equ" val="4">
                <dgm:presOf axis="root ch desOrSelf" ptType="all node node" st="1 4 1" cnt="1 1 0"/>
              </dgm:if>
              <dgm:else name="Name59">
                <dgm:presOf/>
              </dgm:else>
            </dgm:choose>
          </dgm:else>
        </dgm:choose>
        <dgm:constrLst/>
        <dgm:ruleLst/>
      </dgm:layoutNode>
      <dgm:layoutNode name="circ2Tx" styleLbl="revTx">
        <dgm:varLst>
          <dgm:chMax val="0"/>
          <dgm:chPref val="0"/>
          <dgm:bulletEnabled val="1"/>
        </dgm:varLst>
        <dgm:alg type="tx">
          <dgm:param type="txAnchorHorz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choose name="Name60">
          <dgm:if name="Name61" func="var" arg="dir" op="equ" val="norm">
            <dgm:presOf axis="desOrSelf" ptType="node"/>
          </dgm:if>
          <dgm:else name="Name62">
            <dgm:choose name="Name63">
              <dgm:if name="Name64" axis="root ch" ptType="all node" func="cnt" op="equ" val="2">
                <dgm:presOf axis="root ch desOrSelf" ptType="all node node" st="1 1 1" cnt="1 1 0"/>
              </dgm:if>
              <dgm:if name="Name65" axis="root ch" ptType="all node" func="cnt" op="equ" val="3">
                <dgm:presOf axis="root ch desOrSelf" ptType="all node node" st="1 3 1" cnt="1 1 0"/>
              </dgm:if>
              <dgm:if name="Name66" axis="root ch" ptType="all node" func="cnt" op="equ" val="4">
                <dgm:presOf axis="root ch desOrSelf" ptType="all node node" st="1 4 1" cnt="1 1 0"/>
              </dgm:if>
              <dgm:if name="Name67" axis="root ch" ptType="all node" func="cnt" op="equ" val="5">
                <dgm:presOf axis="root ch desOrSelf" ptType="all node node" st="1 5 1" cnt="1 1 0"/>
              </dgm:if>
              <dgm:if name="Name68" axis="root ch" ptType="all node" func="cnt" op="equ" val="6">
                <dgm:presOf axis="root ch desOrSelf" ptType="all node node" st="1 6 1" cnt="1 1 0"/>
              </dgm:if>
              <dgm:else name="Name69">
                <dgm:presOf axis="root ch desOrSelf" ptType="all node node" st="1 7 1" cnt="1 1 0"/>
              </dgm:else>
            </dgm:choose>
          </dgm:else>
        </dgm:choose>
        <dgm:constrLst>
          <dgm:constr type="tMarg"/>
          <dgm:constr type="bMarg"/>
          <dgm:constr type="lMarg"/>
          <dgm:constr type="rMarg"/>
          <dgm:constr type="primFontSz" val="65"/>
        </dgm:constrLst>
        <dgm:ruleLst>
          <dgm:rule type="primFontSz" val="5" fact="NaN" max="NaN"/>
        </dgm:ruleLst>
      </dgm:layoutNode>
    </dgm:forEach>
    <dgm:forEach name="Name70" axis="ch" ptType="node" st="3" cnt="1">
      <dgm:layoutNode name="circ3" styleLbl="vennNode1">
        <dgm:alg type="sp"/>
        <dgm:shape xmlns:r="http://schemas.openxmlformats.org/officeDocument/2006/relationships" type="ellipse" r:blip="">
          <dgm:adjLst/>
        </dgm:shape>
        <dgm:choose name="Name71">
          <dgm:if name="Name72" func="var" arg="dir" op="equ" val="norm">
            <dgm:choose name="Name73">
              <dgm:if name="Name74" axis="root ch" ptType="all node" func="cnt" op="lte" val="4">
                <dgm:presOf axis="desOrSelf" ptType="node"/>
              </dgm:if>
              <dgm:else name="Name75">
                <dgm:presOf/>
              </dgm:else>
            </dgm:choose>
          </dgm:if>
          <dgm:else name="Name76">
            <dgm:choose name="Name77">
              <dgm:if name="Name78" axis="root ch" ptType="all node" func="cnt" op="equ" val="3">
                <dgm:presOf axis="root ch desOrSelf" ptType="all node node" st="1 2 1" cnt="1 1 0"/>
              </dgm:if>
              <dgm:if name="Name79" axis="root ch" ptType="all node" func="cnt" op="equ" val="4">
                <dgm:presOf axis="root ch desOrSelf" ptType="all node node" st="1 3 1" cnt="1 1 0"/>
              </dgm:if>
              <dgm:else name="Name80">
                <dgm:presOf/>
              </dgm:else>
            </dgm:choose>
          </dgm:else>
        </dgm:choose>
        <dgm:constrLst/>
        <dgm:ruleLst/>
      </dgm:layoutNode>
      <dgm:layoutNode name="circ3Tx" styleLbl="revTx">
        <dgm:varLst>
          <dgm:chMax val="0"/>
          <dgm:chPref val="0"/>
          <dgm:bulletEnabled val="1"/>
        </dgm:varLst>
        <dgm:alg type="tx">
          <dgm:param type="txAnchorHorz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choose name="Name81">
          <dgm:if name="Name82" func="var" arg="dir" op="equ" val="norm">
            <dgm:presOf axis="desOrSelf" ptType="node"/>
          </dgm:if>
          <dgm:else name="Name83">
            <dgm:choose name="Name84">
              <dgm:if name="Name85" axis="root ch" ptType="all node" func="cnt" op="equ" val="3">
                <dgm:presOf axis="root ch desOrSelf" ptType="all node node" st="1 2 1" cnt="1 1 0"/>
              </dgm:if>
              <dgm:if name="Name86" axis="root ch" ptType="all node" func="cnt" op="equ" val="4">
                <dgm:presOf axis="root ch desOrSelf" ptType="all node node" st="1 3 1" cnt="1 1 0"/>
              </dgm:if>
              <dgm:if name="Name87" axis="root ch" ptType="all node" func="cnt" op="equ" val="5">
                <dgm:presOf axis="root ch desOrSelf" ptType="all node node" st="1 4 1" cnt="1 1 0"/>
              </dgm:if>
              <dgm:if name="Name88" axis="root ch" ptType="all node" func="cnt" op="equ" val="6">
                <dgm:presOf axis="root ch desOrSelf" ptType="all node node" st="1 5 1" cnt="1 1 0"/>
              </dgm:if>
              <dgm:else name="Name89">
                <dgm:presOf axis="root ch desOrSelf" ptType="all node node" st="1 6 1" cnt="1 1 0"/>
              </dgm:else>
            </dgm:choose>
          </dgm:else>
        </dgm:choose>
        <dgm:constrLst>
          <dgm:constr type="tMarg"/>
          <dgm:constr type="bMarg"/>
          <dgm:constr type="lMarg"/>
          <dgm:constr type="rMarg"/>
          <dgm:constr type="primFontSz" val="65"/>
        </dgm:constrLst>
        <dgm:ruleLst>
          <dgm:rule type="primFontSz" val="5" fact="NaN" max="NaN"/>
        </dgm:ruleLst>
      </dgm:layoutNode>
    </dgm:forEach>
    <dgm:forEach name="Name90" axis="ch" ptType="node" st="4" cnt="1">
      <dgm:layoutNode name="circ4" styleLbl="vennNode1">
        <dgm:alg type="sp"/>
        <dgm:shape xmlns:r="http://schemas.openxmlformats.org/officeDocument/2006/relationships" type="ellipse" r:blip="">
          <dgm:adjLst/>
        </dgm:shape>
        <dgm:choose name="Name91">
          <dgm:if name="Name92" func="var" arg="dir" op="equ" val="norm">
            <dgm:choose name="Name93">
              <dgm:if name="Name94" axis="root ch" ptType="all node" func="cnt" op="lte" val="4">
                <dgm:presOf axis="desOrSelf" ptType="node"/>
              </dgm:if>
              <dgm:else name="Name95">
                <dgm:presOf/>
              </dgm:else>
            </dgm:choose>
          </dgm:if>
          <dgm:else name="Name96">
            <dgm:choose name="Name97">
              <dgm:if name="Name98" axis="root ch" ptType="all node" func="cnt" op="equ" val="4">
                <dgm:presOf axis="root ch desOrSelf" ptType="all node node" st="1 2 1" cnt="1 1 0"/>
              </dgm:if>
              <dgm:else name="Name99">
                <dgm:presOf/>
              </dgm:else>
            </dgm:choose>
          </dgm:else>
        </dgm:choose>
        <dgm:constrLst/>
        <dgm:ruleLst/>
      </dgm:layoutNode>
      <dgm:layoutNode name="circ4Tx" styleLbl="revTx">
        <dgm:varLst>
          <dgm:chMax val="0"/>
          <dgm:chPref val="0"/>
          <dgm:bulletEnabled val="1"/>
        </dgm:varLst>
        <dgm:alg type="tx">
          <dgm:param type="txAnchorHorz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choose name="Name100">
          <dgm:if name="Name101" func="var" arg="dir" op="equ" val="norm">
            <dgm:presOf axis="desOrSelf" ptType="node"/>
          </dgm:if>
          <dgm:else name="Name102">
            <dgm:choose name="Name103">
              <dgm:if name="Name104" axis="root ch" ptType="all node" func="cnt" op="equ" val="4">
                <dgm:presOf axis="root ch desOrSelf" ptType="all node node" st="1 2 1" cnt="1 1 0"/>
              </dgm:if>
              <dgm:if name="Name105" axis="root ch" ptType="all node" func="cnt" op="equ" val="5">
                <dgm:presOf axis="root ch desOrSelf" ptType="all node node" st="1 3 1" cnt="1 1 0"/>
              </dgm:if>
              <dgm:if name="Name106" axis="root ch" ptType="all node" func="cnt" op="equ" val="6">
                <dgm:presOf axis="root ch desOrSelf" ptType="all node node" st="1 4 1" cnt="1 1 0"/>
              </dgm:if>
              <dgm:else name="Name107">
                <dgm:presOf axis="root ch desOrSelf" ptType="all node node" st="1 5 1" cnt="1 1 0"/>
              </dgm:else>
            </dgm:choose>
          </dgm:else>
        </dgm:choose>
        <dgm:constrLst>
          <dgm:constr type="tMarg"/>
          <dgm:constr type="bMarg"/>
          <dgm:constr type="lMarg"/>
          <dgm:constr type="rMarg"/>
          <dgm:constr type="primFontSz" val="65"/>
        </dgm:constrLst>
        <dgm:ruleLst>
          <dgm:rule type="primFontSz" val="5" fact="NaN" max="NaN"/>
        </dgm:ruleLst>
      </dgm:layoutNode>
    </dgm:forEach>
    <dgm:forEach name="Name108" axis="ch" ptType="node" st="5" cnt="1">
      <dgm:layoutNode name="circ5" styleLbl="vennNode1">
        <dgm:alg type="sp"/>
        <dgm:shape xmlns:r="http://schemas.openxmlformats.org/officeDocument/2006/relationships" type="ellipse" r:blip="">
          <dgm:adjLst/>
        </dgm:shape>
        <dgm:presOf/>
        <dgm:constrLst/>
        <dgm:ruleLst/>
      </dgm:layoutNode>
      <dgm:layoutNode name="circ5Tx" styleLbl="revTx">
        <dgm:varLst>
          <dgm:chMax val="0"/>
          <dgm:chPref val="0"/>
          <dgm:bulletEnabled val="1"/>
        </dgm:varLst>
        <dgm:alg type="tx">
          <dgm:param type="txAnchorHorz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choose name="Name109">
          <dgm:if name="Name110" func="var" arg="dir" op="equ" val="norm">
            <dgm:presOf axis="desOrSelf" ptType="node"/>
          </dgm:if>
          <dgm:else name="Name111">
            <dgm:choose name="Name112">
              <dgm:if name="Name113" axis="root ch" ptType="all node" func="cnt" op="equ" val="5">
                <dgm:presOf axis="root ch desOrSelf" ptType="all node node" st="1 2 1" cnt="1 1 0"/>
              </dgm:if>
              <dgm:if name="Name114" axis="root ch" ptType="all node" func="cnt" op="equ" val="6">
                <dgm:presOf axis="root ch desOrSelf" ptType="all node node" st="1 3 1" cnt="1 1 0"/>
              </dgm:if>
              <dgm:else name="Name115">
                <dgm:presOf axis="root ch desOrSelf" ptType="all node node" st="1 4 1" cnt="1 1 0"/>
              </dgm:else>
            </dgm:choose>
          </dgm:else>
        </dgm:choose>
        <dgm:constrLst>
          <dgm:constr type="tMarg"/>
          <dgm:constr type="bMarg"/>
          <dgm:constr type="lMarg"/>
          <dgm:constr type="rMarg"/>
          <dgm:constr type="primFontSz" val="65"/>
        </dgm:constrLst>
        <dgm:ruleLst>
          <dgm:rule type="primFontSz" val="5" fact="NaN" max="NaN"/>
        </dgm:ruleLst>
      </dgm:layoutNode>
    </dgm:forEach>
    <dgm:forEach name="Name116" axis="ch" ptType="node" st="6" cnt="1">
      <dgm:layoutNode name="circ6" styleLbl="vennNode1">
        <dgm:alg type="sp"/>
        <dgm:shape xmlns:r="http://schemas.openxmlformats.org/officeDocument/2006/relationships" type="ellipse" r:blip="">
          <dgm:adjLst/>
        </dgm:shape>
        <dgm:presOf/>
        <dgm:constrLst/>
        <dgm:ruleLst/>
      </dgm:layoutNode>
      <dgm:layoutNode name="circ6Tx" styleLbl="revTx">
        <dgm:varLst>
          <dgm:chMax val="0"/>
          <dgm:chPref val="0"/>
          <dgm:bulletEnabled val="1"/>
        </dgm:varLst>
        <dgm:alg type="tx">
          <dgm:param type="txAnchorHorz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choose name="Name117">
          <dgm:if name="Name118" func="var" arg="dir" op="equ" val="norm">
            <dgm:presOf axis="desOrSelf" ptType="node"/>
          </dgm:if>
          <dgm:else name="Name119">
            <dgm:choose name="Name120">
              <dgm:if name="Name121" axis="root ch" ptType="all node" func="cnt" op="equ" val="6">
                <dgm:presOf axis="root ch desOrSelf" ptType="all node node" st="1 2 1" cnt="1 1 0"/>
              </dgm:if>
              <dgm:else name="Name122">
                <dgm:presOf axis="root ch desOrSelf" ptType="all node node" st="1 3 1" cnt="1 1 0"/>
              </dgm:else>
            </dgm:choose>
          </dgm:else>
        </dgm:choose>
        <dgm:constrLst>
          <dgm:constr type="tMarg"/>
          <dgm:constr type="bMarg"/>
          <dgm:constr type="lMarg"/>
          <dgm:constr type="rMarg"/>
          <dgm:constr type="primFontSz" val="65"/>
        </dgm:constrLst>
        <dgm:ruleLst>
          <dgm:rule type="primFontSz" val="5" fact="NaN" max="NaN"/>
        </dgm:ruleLst>
      </dgm:layoutNode>
    </dgm:forEach>
    <dgm:forEach name="Name123" axis="ch" ptType="node" st="7" cnt="1">
      <dgm:layoutNode name="circ7" styleLbl="vennNode1">
        <dgm:alg type="sp"/>
        <dgm:shape xmlns:r="http://schemas.openxmlformats.org/officeDocument/2006/relationships" type="ellipse" r:blip="">
          <dgm:adjLst/>
        </dgm:shape>
        <dgm:presOf/>
        <dgm:constrLst/>
        <dgm:ruleLst/>
      </dgm:layoutNode>
      <dgm:layoutNode name="circ7Tx" styleLbl="revTx">
        <dgm:varLst>
          <dgm:chMax val="0"/>
          <dgm:chPref val="0"/>
          <dgm:bulletEnabled val="1"/>
        </dgm:varLst>
        <dgm:alg type="tx">
          <dgm:param type="txAnchorHorz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choose name="Name124">
          <dgm:if name="Name125" func="var" arg="dir" op="equ" val="norm">
            <dgm:presOf axis="desOrSelf" ptType="node"/>
          </dgm:if>
          <dgm:else name="Name126">
            <dgm:presOf axis="root ch desOrSelf" ptType="all node node" st="1 2 1" cnt="1 1 0"/>
          </dgm:else>
        </dgm:choose>
        <dgm:constrLst>
          <dgm:constr type="tMarg"/>
          <dgm:constr type="bMarg"/>
          <dgm:constr type="lMarg"/>
          <dgm:constr type="rMarg"/>
          <dgm:constr type="primFontSz" val="65"/>
        </dgm:constrLst>
        <dgm:ruleLst>
          <dgm:rule type="primFontSz" val="5" fact="NaN" max="NaN"/>
        </dgm:ruleLst>
      </dgm:layoutNod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1" y="0"/>
            <a:ext cx="2063750" cy="435849"/>
          </a:xfrm>
          <a:prstGeom prst="rect">
            <a:avLst/>
          </a:prstGeom>
        </p:spPr>
        <p:txBody>
          <a:bodyPr vert="horz" lIns="73408" tIns="36704" rIns="73408" bIns="36704" rtlCol="0"/>
          <a:lstStyle>
            <a:lvl1pPr algn="l">
              <a:defRPr sz="900"/>
            </a:lvl1pPr>
          </a:lstStyle>
          <a:p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sz="quarter" idx="1"/>
          </p:nvPr>
        </p:nvSpPr>
        <p:spPr>
          <a:xfrm>
            <a:off x="2697648" y="0"/>
            <a:ext cx="2063750" cy="435849"/>
          </a:xfrm>
          <a:prstGeom prst="rect">
            <a:avLst/>
          </a:prstGeom>
        </p:spPr>
        <p:txBody>
          <a:bodyPr vert="horz" lIns="73408" tIns="36704" rIns="73408" bIns="36704" rtlCol="0"/>
          <a:lstStyle>
            <a:lvl1pPr algn="r">
              <a:defRPr sz="900"/>
            </a:lvl1pPr>
          </a:lstStyle>
          <a:p>
            <a:fld id="{E2AF8261-D3FF-41F6-9DE9-1CF22005ABD8}" type="datetimeFigureOut">
              <a:rPr lang="de-DE" smtClean="0"/>
              <a:t>29.06.2026</a:t>
            </a:fld>
            <a:endParaRPr lang="de-DE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2"/>
          </p:nvPr>
        </p:nvSpPr>
        <p:spPr>
          <a:xfrm>
            <a:off x="1" y="8250954"/>
            <a:ext cx="2063750" cy="435848"/>
          </a:xfrm>
          <a:prstGeom prst="rect">
            <a:avLst/>
          </a:prstGeom>
        </p:spPr>
        <p:txBody>
          <a:bodyPr vert="horz" lIns="73408" tIns="36704" rIns="73408" bIns="36704" rtlCol="0" anchor="b"/>
          <a:lstStyle>
            <a:lvl1pPr algn="l">
              <a:defRPr sz="900"/>
            </a:lvl1pPr>
          </a:lstStyle>
          <a:p>
            <a:endParaRPr lang="de-DE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3"/>
          </p:nvPr>
        </p:nvSpPr>
        <p:spPr>
          <a:xfrm>
            <a:off x="2697648" y="8250954"/>
            <a:ext cx="2063750" cy="435848"/>
          </a:xfrm>
          <a:prstGeom prst="rect">
            <a:avLst/>
          </a:prstGeom>
        </p:spPr>
        <p:txBody>
          <a:bodyPr vert="horz" lIns="73408" tIns="36704" rIns="73408" bIns="36704" rtlCol="0" anchor="b"/>
          <a:lstStyle>
            <a:lvl1pPr algn="r">
              <a:defRPr sz="900"/>
            </a:lvl1pPr>
          </a:lstStyle>
          <a:p>
            <a:fld id="{41476BC4-EDDD-4C7B-8D9D-3659BD6BE372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944035843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1" y="0"/>
            <a:ext cx="2063750" cy="435849"/>
          </a:xfrm>
          <a:prstGeom prst="rect">
            <a:avLst/>
          </a:prstGeom>
        </p:spPr>
        <p:txBody>
          <a:bodyPr vert="horz" lIns="73408" tIns="36704" rIns="73408" bIns="36704" rtlCol="0"/>
          <a:lstStyle>
            <a:lvl1pPr algn="l">
              <a:defRPr sz="900"/>
            </a:lvl1pPr>
          </a:lstStyle>
          <a:p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2697648" y="0"/>
            <a:ext cx="2063750" cy="435849"/>
          </a:xfrm>
          <a:prstGeom prst="rect">
            <a:avLst/>
          </a:prstGeom>
        </p:spPr>
        <p:txBody>
          <a:bodyPr vert="horz" lIns="73408" tIns="36704" rIns="73408" bIns="36704" rtlCol="0"/>
          <a:lstStyle>
            <a:lvl1pPr algn="r">
              <a:defRPr sz="900"/>
            </a:lvl1pPr>
          </a:lstStyle>
          <a:p>
            <a:fld id="{117DD2C6-C20B-40C5-81AA-2CE8686D716E}" type="datetimeFigureOut">
              <a:rPr lang="de-DE" smtClean="0"/>
              <a:t>29.06.2026</a:t>
            </a:fld>
            <a:endParaRPr lang="de-DE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-223838" y="1085850"/>
            <a:ext cx="5210176" cy="2932113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73408" tIns="36704" rIns="73408" bIns="36704" rtlCol="0" anchor="ctr"/>
          <a:lstStyle/>
          <a:p>
            <a:endParaRPr lang="de-DE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476251" y="4180523"/>
            <a:ext cx="3810000" cy="3420427"/>
          </a:xfrm>
          <a:prstGeom prst="rect">
            <a:avLst/>
          </a:prstGeom>
        </p:spPr>
        <p:txBody>
          <a:bodyPr vert="horz" lIns="73408" tIns="36704" rIns="73408" bIns="36704" rtlCol="0"/>
          <a:lstStyle/>
          <a:p>
            <a:pPr lvl="0"/>
            <a:r>
              <a:rPr lang="de-DE"/>
              <a:t>Formatvorlagen des Textmasters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1" y="8250954"/>
            <a:ext cx="2063750" cy="435848"/>
          </a:xfrm>
          <a:prstGeom prst="rect">
            <a:avLst/>
          </a:prstGeom>
        </p:spPr>
        <p:txBody>
          <a:bodyPr vert="horz" lIns="73408" tIns="36704" rIns="73408" bIns="36704" rtlCol="0" anchor="b"/>
          <a:lstStyle>
            <a:lvl1pPr algn="l">
              <a:defRPr sz="900"/>
            </a:lvl1pPr>
          </a:lstStyle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2697648" y="8250954"/>
            <a:ext cx="2063750" cy="435848"/>
          </a:xfrm>
          <a:prstGeom prst="rect">
            <a:avLst/>
          </a:prstGeom>
        </p:spPr>
        <p:txBody>
          <a:bodyPr vert="horz" lIns="73408" tIns="36704" rIns="73408" bIns="36704" rtlCol="0" anchor="b"/>
          <a:lstStyle>
            <a:lvl1pPr algn="r">
              <a:defRPr sz="900"/>
            </a:lvl1pPr>
          </a:lstStyle>
          <a:p>
            <a:fld id="{A8EDB8ED-BFAA-47E0-A0F3-2E779EB54340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585865807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hteck 8"/>
          <p:cNvSpPr/>
          <p:nvPr userDrawn="1"/>
        </p:nvSpPr>
        <p:spPr>
          <a:xfrm>
            <a:off x="1" y="1171699"/>
            <a:ext cx="12192001" cy="5686301"/>
          </a:xfrm>
          <a:prstGeom prst="rect">
            <a:avLst/>
          </a:prstGeom>
          <a:solidFill>
            <a:srgbClr val="EBF0F4"/>
          </a:solidFill>
          <a:ln>
            <a:solidFill>
              <a:srgbClr val="EBF0F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AT" sz="2400"/>
          </a:p>
        </p:txBody>
      </p:sp>
      <p:sp>
        <p:nvSpPr>
          <p:cNvPr id="2" name="Titel 1"/>
          <p:cNvSpPr>
            <a:spLocks noGrp="1"/>
          </p:cNvSpPr>
          <p:nvPr>
            <p:ph type="ctrTitle" hasCustomPrompt="1"/>
          </p:nvPr>
        </p:nvSpPr>
        <p:spPr>
          <a:xfrm>
            <a:off x="719999" y="1564358"/>
            <a:ext cx="10638035" cy="1329055"/>
          </a:xfrm>
        </p:spPr>
        <p:txBody>
          <a:bodyPr anchor="b" anchorCtr="0"/>
          <a:lstStyle>
            <a:lvl1pPr>
              <a:lnSpc>
                <a:spcPts val="5333"/>
              </a:lnSpc>
              <a:defRPr sz="480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de-DE" dirty="0"/>
              <a:t>Titelmasterformat </a:t>
            </a:r>
            <a:br>
              <a:rPr lang="de-DE" dirty="0"/>
            </a:br>
            <a:r>
              <a:rPr lang="de-DE" dirty="0"/>
              <a:t>durch Klicken bearbeiten</a:t>
            </a:r>
            <a:endParaRPr lang="de-AT" dirty="0"/>
          </a:p>
        </p:txBody>
      </p:sp>
      <p:sp>
        <p:nvSpPr>
          <p:cNvPr id="3" name="Untertitel 1"/>
          <p:cNvSpPr>
            <a:spLocks noGrp="1"/>
          </p:cNvSpPr>
          <p:nvPr>
            <p:ph type="subTitle" idx="1"/>
          </p:nvPr>
        </p:nvSpPr>
        <p:spPr>
          <a:xfrm>
            <a:off x="719999" y="2983763"/>
            <a:ext cx="10638035" cy="1853851"/>
          </a:xfrm>
        </p:spPr>
        <p:txBody>
          <a:bodyPr/>
          <a:lstStyle>
            <a:lvl1pPr marL="0" indent="0" algn="l">
              <a:lnSpc>
                <a:spcPts val="5333"/>
              </a:lnSpc>
              <a:spcBef>
                <a:spcPts val="0"/>
              </a:spcBef>
              <a:buNone/>
              <a:defRPr sz="4000">
                <a:solidFill>
                  <a:schemeClr val="tx1"/>
                </a:solidFill>
              </a:defRPr>
            </a:lvl1pPr>
            <a:lvl2pPr marL="60958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1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33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92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70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6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de-DE"/>
              <a:t>Formatvorlage des Untertitelmasters durch Klicken bearbeiten</a:t>
            </a:r>
            <a:endParaRPr lang="de-AT" dirty="0"/>
          </a:p>
        </p:txBody>
      </p:sp>
      <p:sp>
        <p:nvSpPr>
          <p:cNvPr id="5" name="Textplatzhalter 4"/>
          <p:cNvSpPr>
            <a:spLocks noGrp="1"/>
          </p:cNvSpPr>
          <p:nvPr>
            <p:ph type="body" sz="quarter" idx="10"/>
          </p:nvPr>
        </p:nvSpPr>
        <p:spPr>
          <a:xfrm>
            <a:off x="719667" y="5588001"/>
            <a:ext cx="4563533" cy="554039"/>
          </a:xfrm>
        </p:spPr>
        <p:txBody>
          <a:bodyPr anchor="b" anchorCtr="0"/>
          <a:lstStyle>
            <a:lvl1pPr marL="0" indent="0">
              <a:lnSpc>
                <a:spcPts val="2400"/>
              </a:lnSpc>
              <a:spcAft>
                <a:spcPts val="0"/>
              </a:spcAft>
              <a:buNone/>
              <a:defRPr sz="1867"/>
            </a:lvl1pPr>
          </a:lstStyle>
          <a:p>
            <a:pPr lvl="0"/>
            <a:r>
              <a:rPr lang="de-DE"/>
              <a:t>Formatvorlagen des Textmasters bearbeiten</a:t>
            </a:r>
          </a:p>
        </p:txBody>
      </p:sp>
    </p:spTree>
    <p:extLst>
      <p:ext uri="{BB962C8B-B14F-4D97-AF65-F5344CB8AC3E}">
        <p14:creationId xmlns:p14="http://schemas.microsoft.com/office/powerpoint/2010/main" val="171182327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ctrTitle" hasCustomPrompt="1"/>
          </p:nvPr>
        </p:nvSpPr>
        <p:spPr>
          <a:xfrm>
            <a:off x="719999" y="1564358"/>
            <a:ext cx="10638035" cy="1329055"/>
          </a:xfrm>
        </p:spPr>
        <p:txBody>
          <a:bodyPr anchor="b" anchorCtr="0"/>
          <a:lstStyle>
            <a:lvl1pPr>
              <a:lnSpc>
                <a:spcPts val="5333"/>
              </a:lnSpc>
              <a:defRPr sz="480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de-DE" dirty="0"/>
              <a:t>Titelmasterformat </a:t>
            </a:r>
            <a:br>
              <a:rPr lang="de-DE" dirty="0"/>
            </a:br>
            <a:r>
              <a:rPr lang="de-DE" dirty="0"/>
              <a:t>durch Klicken bearbeiten</a:t>
            </a:r>
            <a:endParaRPr lang="de-AT" dirty="0"/>
          </a:p>
        </p:txBody>
      </p:sp>
      <p:sp>
        <p:nvSpPr>
          <p:cNvPr id="3" name="Untertitel 1"/>
          <p:cNvSpPr>
            <a:spLocks noGrp="1"/>
          </p:cNvSpPr>
          <p:nvPr>
            <p:ph type="subTitle" idx="1"/>
          </p:nvPr>
        </p:nvSpPr>
        <p:spPr>
          <a:xfrm>
            <a:off x="719999" y="2983763"/>
            <a:ext cx="10638035" cy="1853851"/>
          </a:xfrm>
        </p:spPr>
        <p:txBody>
          <a:bodyPr/>
          <a:lstStyle>
            <a:lvl1pPr marL="0" indent="0" algn="l">
              <a:lnSpc>
                <a:spcPts val="5333"/>
              </a:lnSpc>
              <a:spcBef>
                <a:spcPts val="0"/>
              </a:spcBef>
              <a:buNone/>
              <a:defRPr sz="4000">
                <a:solidFill>
                  <a:schemeClr val="tx1"/>
                </a:solidFill>
              </a:defRPr>
            </a:lvl1pPr>
            <a:lvl2pPr marL="60958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1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33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92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70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6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de-DE"/>
              <a:t>Formatvorlage des Untertitelmasters durch Klicken bearbeiten</a:t>
            </a:r>
            <a:endParaRPr lang="de-AT" dirty="0"/>
          </a:p>
        </p:txBody>
      </p:sp>
      <p:sp>
        <p:nvSpPr>
          <p:cNvPr id="5" name="Textplatzhalter 4"/>
          <p:cNvSpPr>
            <a:spLocks noGrp="1"/>
          </p:cNvSpPr>
          <p:nvPr>
            <p:ph type="body" sz="quarter" idx="10"/>
          </p:nvPr>
        </p:nvSpPr>
        <p:spPr>
          <a:xfrm>
            <a:off x="719667" y="5588001"/>
            <a:ext cx="4563533" cy="554039"/>
          </a:xfrm>
        </p:spPr>
        <p:txBody>
          <a:bodyPr anchor="b" anchorCtr="0"/>
          <a:lstStyle>
            <a:lvl1pPr marL="0" indent="0">
              <a:lnSpc>
                <a:spcPts val="2400"/>
              </a:lnSpc>
              <a:spcAft>
                <a:spcPts val="0"/>
              </a:spcAft>
              <a:buNone/>
              <a:defRPr sz="1867"/>
            </a:lvl1pPr>
          </a:lstStyle>
          <a:p>
            <a:pPr lvl="0"/>
            <a:r>
              <a:rPr lang="de-DE"/>
              <a:t>Formatvorlagen des Textmasters bearbeiten</a:t>
            </a:r>
          </a:p>
        </p:txBody>
      </p:sp>
    </p:spTree>
    <p:extLst>
      <p:ext uri="{BB962C8B-B14F-4D97-AF65-F5344CB8AC3E}">
        <p14:creationId xmlns:p14="http://schemas.microsoft.com/office/powerpoint/2010/main" val="26847531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folie mit 1-zeiligem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Titelmasterformat durch Klicken bearbeiten</a:t>
            </a:r>
            <a:endParaRPr lang="de-DE" dirty="0"/>
          </a:p>
        </p:txBody>
      </p:sp>
      <p:sp>
        <p:nvSpPr>
          <p:cNvPr id="8" name="Textplatzhalter 7"/>
          <p:cNvSpPr>
            <a:spLocks noGrp="1"/>
          </p:cNvSpPr>
          <p:nvPr>
            <p:ph type="body" sz="quarter" idx="13"/>
          </p:nvPr>
        </p:nvSpPr>
        <p:spPr>
          <a:xfrm>
            <a:off x="719669" y="2164801"/>
            <a:ext cx="10638367" cy="3977767"/>
          </a:xfrm>
        </p:spPr>
        <p:txBody>
          <a:bodyPr/>
          <a:lstStyle/>
          <a:p>
            <a:pPr lvl="0"/>
            <a:r>
              <a:rPr lang="de-DE"/>
              <a:t>Formatvorlagen des Textmasters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AT"/>
              <a:t>Präsentationstitel</a:t>
            </a:r>
            <a:endParaRPr lang="de-AT" dirty="0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2"/>
          </p:nvPr>
        </p:nvSpPr>
        <p:spPr>
          <a:xfrm>
            <a:off x="10272004" y="6387003"/>
            <a:ext cx="1086029" cy="266700"/>
          </a:xfrm>
        </p:spPr>
        <p:txBody>
          <a:bodyPr/>
          <a:lstStyle/>
          <a:p>
            <a:fld id="{1206269C-C24E-4E80-9A4B-E7E19BB59A67}" type="slidenum">
              <a:rPr lang="de-AT" smtClean="0"/>
              <a:pPr/>
              <a:t>‹Nr.›</a:t>
            </a:fld>
            <a:endParaRPr lang="de-AT" dirty="0"/>
          </a:p>
        </p:txBody>
      </p:sp>
    </p:spTree>
    <p:extLst>
      <p:ext uri="{BB962C8B-B14F-4D97-AF65-F5344CB8AC3E}">
        <p14:creationId xmlns:p14="http://schemas.microsoft.com/office/powerpoint/2010/main" val="10874999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720002" y="1406401"/>
            <a:ext cx="10638033" cy="829455"/>
          </a:xfrm>
        </p:spPr>
        <p:txBody>
          <a:bodyPr/>
          <a:lstStyle/>
          <a:p>
            <a:r>
              <a:rPr lang="de-DE"/>
              <a:t>Titelmasterformat durch Klicken bearbeiten</a:t>
            </a:r>
            <a:endParaRPr lang="de-DE" dirty="0"/>
          </a:p>
        </p:txBody>
      </p:sp>
      <p:sp>
        <p:nvSpPr>
          <p:cNvPr id="7" name="Bildplatzhalter 6"/>
          <p:cNvSpPr>
            <a:spLocks noGrp="1"/>
          </p:cNvSpPr>
          <p:nvPr>
            <p:ph type="pic" sz="quarter" idx="13"/>
          </p:nvPr>
        </p:nvSpPr>
        <p:spPr>
          <a:xfrm>
            <a:off x="719669" y="2174401"/>
            <a:ext cx="10638367" cy="3968167"/>
          </a:xfrm>
        </p:spPr>
        <p:txBody>
          <a:bodyPr/>
          <a:lstStyle/>
          <a:p>
            <a:r>
              <a:rPr lang="de-DE"/>
              <a:t>Bild durch Klicken auf Symbol hinzufügen</a:t>
            </a:r>
            <a:endParaRPr lang="de-DE" dirty="0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AT"/>
              <a:t>Präsentationstitel</a:t>
            </a:r>
            <a:endParaRPr lang="de-AT" dirty="0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06269C-C24E-4E80-9A4B-E7E19BB59A67}" type="slidenum">
              <a:rPr lang="de-AT" smtClean="0"/>
              <a:pPr/>
              <a:t>‹Nr.›</a:t>
            </a:fld>
            <a:endParaRPr lang="de-AT" dirty="0"/>
          </a:p>
        </p:txBody>
      </p:sp>
    </p:spTree>
    <p:extLst>
      <p:ext uri="{BB962C8B-B14F-4D97-AF65-F5344CB8AC3E}">
        <p14:creationId xmlns:p14="http://schemas.microsoft.com/office/powerpoint/2010/main" val="386363637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ld + Text nebeneinan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Titelmasterformat durch Klicken bearbeiten</a:t>
            </a:r>
            <a:endParaRPr lang="de-DE" dirty="0"/>
          </a:p>
        </p:txBody>
      </p:sp>
      <p:sp>
        <p:nvSpPr>
          <p:cNvPr id="3" name="Fußzeilenplatzhalter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de-AT"/>
              <a:t>Präsentationstitel</a:t>
            </a:r>
            <a:endParaRPr lang="de-AT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206269C-C24E-4E80-9A4B-E7E19BB59A67}" type="slidenum">
              <a:rPr lang="de-AT" smtClean="0"/>
              <a:pPr/>
              <a:t>‹Nr.›</a:t>
            </a:fld>
            <a:endParaRPr lang="de-AT" dirty="0"/>
          </a:p>
        </p:txBody>
      </p:sp>
      <p:sp>
        <p:nvSpPr>
          <p:cNvPr id="5" name="Bildplatzhalter 6"/>
          <p:cNvSpPr>
            <a:spLocks noGrp="1"/>
          </p:cNvSpPr>
          <p:nvPr>
            <p:ph type="pic" sz="quarter" idx="13"/>
          </p:nvPr>
        </p:nvSpPr>
        <p:spPr>
          <a:xfrm>
            <a:off x="719668" y="2174401"/>
            <a:ext cx="5084233" cy="3968167"/>
          </a:xfrm>
        </p:spPr>
        <p:txBody>
          <a:bodyPr/>
          <a:lstStyle/>
          <a:p>
            <a:r>
              <a:rPr lang="de-DE"/>
              <a:t>Bild durch Klicken auf Symbol hinzufügen</a:t>
            </a:r>
            <a:endParaRPr lang="de-DE" dirty="0"/>
          </a:p>
        </p:txBody>
      </p:sp>
      <p:sp>
        <p:nvSpPr>
          <p:cNvPr id="7" name="Textplatzhalter 6"/>
          <p:cNvSpPr>
            <a:spLocks noGrp="1"/>
          </p:cNvSpPr>
          <p:nvPr>
            <p:ph type="body" sz="quarter" idx="14"/>
          </p:nvPr>
        </p:nvSpPr>
        <p:spPr>
          <a:xfrm>
            <a:off x="6274833" y="2174401"/>
            <a:ext cx="5083200" cy="3968167"/>
          </a:xfrm>
        </p:spPr>
        <p:txBody>
          <a:bodyPr/>
          <a:lstStyle/>
          <a:p>
            <a:pPr lvl="0"/>
            <a:r>
              <a:rPr lang="de-DE"/>
              <a:t>Formatvorlagen des Textmasters bearbeiten</a:t>
            </a:r>
          </a:p>
        </p:txBody>
      </p:sp>
    </p:spTree>
    <p:extLst>
      <p:ext uri="{BB962C8B-B14F-4D97-AF65-F5344CB8AC3E}">
        <p14:creationId xmlns:p14="http://schemas.microsoft.com/office/powerpoint/2010/main" val="404790025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Inhalte beliebig - nebeneinan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Titelmasterformat durch Klicken bearbeiten</a:t>
            </a:r>
          </a:p>
        </p:txBody>
      </p:sp>
      <p:sp>
        <p:nvSpPr>
          <p:cNvPr id="3" name="Fußzeilenplatzhalter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de-AT"/>
              <a:t>Präsentationstitel</a:t>
            </a:r>
            <a:endParaRPr lang="de-AT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206269C-C24E-4E80-9A4B-E7E19BB59A67}" type="slidenum">
              <a:rPr lang="de-AT" smtClean="0"/>
              <a:pPr/>
              <a:t>‹Nr.›</a:t>
            </a:fld>
            <a:endParaRPr lang="de-AT" dirty="0"/>
          </a:p>
        </p:txBody>
      </p:sp>
      <p:sp>
        <p:nvSpPr>
          <p:cNvPr id="8" name="Inhaltsplatzhalter 7"/>
          <p:cNvSpPr>
            <a:spLocks noGrp="1"/>
          </p:cNvSpPr>
          <p:nvPr>
            <p:ph sz="quarter" idx="15"/>
          </p:nvPr>
        </p:nvSpPr>
        <p:spPr>
          <a:xfrm>
            <a:off x="720001" y="2174401"/>
            <a:ext cx="5118100" cy="3968167"/>
          </a:xfrm>
        </p:spPr>
        <p:txBody>
          <a:bodyPr/>
          <a:lstStyle/>
          <a:p>
            <a:pPr lvl="0"/>
            <a:r>
              <a:rPr lang="de-DE"/>
              <a:t>Formatvorlagen des Textmasters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</p:txBody>
      </p:sp>
      <p:sp>
        <p:nvSpPr>
          <p:cNvPr id="9" name="Inhaltsplatzhalter 7"/>
          <p:cNvSpPr>
            <a:spLocks noGrp="1"/>
          </p:cNvSpPr>
          <p:nvPr>
            <p:ph sz="quarter" idx="16"/>
          </p:nvPr>
        </p:nvSpPr>
        <p:spPr>
          <a:xfrm>
            <a:off x="6239935" y="2174401"/>
            <a:ext cx="5118100" cy="3968167"/>
          </a:xfrm>
        </p:spPr>
        <p:txBody>
          <a:bodyPr/>
          <a:lstStyle/>
          <a:p>
            <a:pPr lvl="0"/>
            <a:r>
              <a:rPr lang="de-DE"/>
              <a:t>Formatvorlagen des Textmasters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</p:txBody>
      </p:sp>
    </p:spTree>
    <p:extLst>
      <p:ext uri="{BB962C8B-B14F-4D97-AF65-F5344CB8AC3E}">
        <p14:creationId xmlns:p14="http://schemas.microsoft.com/office/powerpoint/2010/main" val="77181718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halt-beliebig mit 1-zeiligem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Titelmasterformat durch Klicken bearbeiten</a:t>
            </a:r>
          </a:p>
        </p:txBody>
      </p:sp>
      <p:sp>
        <p:nvSpPr>
          <p:cNvPr id="9" name="Inhaltsplatzhalter 8"/>
          <p:cNvSpPr>
            <a:spLocks noGrp="1"/>
          </p:cNvSpPr>
          <p:nvPr>
            <p:ph sz="quarter" idx="13"/>
          </p:nvPr>
        </p:nvSpPr>
        <p:spPr>
          <a:xfrm>
            <a:off x="719669" y="2174401"/>
            <a:ext cx="10638367" cy="3968167"/>
          </a:xfrm>
        </p:spPr>
        <p:txBody>
          <a:bodyPr/>
          <a:lstStyle/>
          <a:p>
            <a:pPr lvl="0"/>
            <a:r>
              <a:rPr lang="de-DE"/>
              <a:t>Formatvorlagen des Textmasters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AT"/>
              <a:t>Präsentationstitel</a:t>
            </a:r>
            <a:endParaRPr lang="de-AT" dirty="0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06269C-C24E-4E80-9A4B-E7E19BB59A67}" type="slidenum">
              <a:rPr lang="de-AT" smtClean="0"/>
              <a:pPr/>
              <a:t>‹Nr.›</a:t>
            </a:fld>
            <a:endParaRPr lang="de-AT" dirty="0"/>
          </a:p>
        </p:txBody>
      </p:sp>
    </p:spTree>
    <p:extLst>
      <p:ext uri="{BB962C8B-B14F-4D97-AF65-F5344CB8AC3E}">
        <p14:creationId xmlns:p14="http://schemas.microsoft.com/office/powerpoint/2010/main" val="381976698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>
          <a:xfrm>
            <a:off x="719999" y="1339240"/>
            <a:ext cx="7185600" cy="1417608"/>
          </a:xfrm>
        </p:spPr>
        <p:txBody>
          <a:bodyPr/>
          <a:lstStyle>
            <a:lvl1pPr>
              <a:lnSpc>
                <a:spcPts val="5333"/>
              </a:lnSpc>
              <a:defRPr sz="4000" b="0">
                <a:solidFill>
                  <a:schemeClr val="tx1"/>
                </a:solidFill>
              </a:defRPr>
            </a:lvl1pPr>
          </a:lstStyle>
          <a:p>
            <a:r>
              <a:rPr lang="de-DE" dirty="0"/>
              <a:t>Titelmasterformat durch Klicken </a:t>
            </a:r>
            <a:br>
              <a:rPr lang="de-DE" dirty="0"/>
            </a:br>
            <a:r>
              <a:rPr lang="de-DE" dirty="0"/>
              <a:t>bearbeiten</a:t>
            </a:r>
          </a:p>
        </p:txBody>
      </p:sp>
      <p:sp>
        <p:nvSpPr>
          <p:cNvPr id="9" name="Textplatzhalter 8"/>
          <p:cNvSpPr>
            <a:spLocks noGrp="1"/>
          </p:cNvSpPr>
          <p:nvPr>
            <p:ph type="body" sz="quarter" idx="10"/>
          </p:nvPr>
        </p:nvSpPr>
        <p:spPr>
          <a:xfrm>
            <a:off x="719667" y="4857751"/>
            <a:ext cx="4564800" cy="1284288"/>
          </a:xfrm>
        </p:spPr>
        <p:txBody>
          <a:bodyPr anchor="b" anchorCtr="0"/>
          <a:lstStyle>
            <a:lvl1pPr marL="0" indent="0">
              <a:lnSpc>
                <a:spcPts val="2400"/>
              </a:lnSpc>
              <a:spcAft>
                <a:spcPts val="0"/>
              </a:spcAft>
              <a:buNone/>
              <a:defRPr sz="1867"/>
            </a:lvl1pPr>
          </a:lstStyle>
          <a:p>
            <a:pPr lvl="0"/>
            <a:r>
              <a:rPr lang="de-DE"/>
              <a:t>Formatvorlagen des Textmasters bearbeiten</a:t>
            </a:r>
          </a:p>
        </p:txBody>
      </p:sp>
    </p:spTree>
    <p:extLst>
      <p:ext uri="{BB962C8B-B14F-4D97-AF65-F5344CB8AC3E}">
        <p14:creationId xmlns:p14="http://schemas.microsoft.com/office/powerpoint/2010/main" val="239415368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Inhalt-beliebig mit 1-zeiligem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de-DE"/>
              <a:t>Titelmasterformat durch Klicken bearbeiten</a:t>
            </a:r>
            <a:endParaRPr lang="de-DE" dirty="0"/>
          </a:p>
        </p:txBody>
      </p:sp>
      <p:sp>
        <p:nvSpPr>
          <p:cNvPr id="9" name="Inhaltsplatzhalter 8"/>
          <p:cNvSpPr>
            <a:spLocks noGrp="1"/>
          </p:cNvSpPr>
          <p:nvPr>
            <p:ph sz="quarter" idx="13"/>
          </p:nvPr>
        </p:nvSpPr>
        <p:spPr>
          <a:xfrm>
            <a:off x="719669" y="2390400"/>
            <a:ext cx="10638367" cy="375360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de-DE"/>
              <a:t>Formatvorlagen des Textmasters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r>
              <a:rPr lang="de-AT" dirty="0"/>
              <a:t>Präsentationstitel</a:t>
            </a:r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1206269C-C24E-4E80-9A4B-E7E19BB59A67}" type="slidenum">
              <a:rPr lang="de-AT" smtClean="0"/>
              <a:pPr/>
              <a:t>‹Nr.›</a:t>
            </a:fld>
            <a:endParaRPr lang="de-AT" dirty="0"/>
          </a:p>
        </p:txBody>
      </p:sp>
    </p:spTree>
    <p:extLst>
      <p:ext uri="{BB962C8B-B14F-4D97-AF65-F5344CB8AC3E}">
        <p14:creationId xmlns:p14="http://schemas.microsoft.com/office/powerpoint/2010/main" val="394506253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userDrawn="1">
  <p:cSld name="Interne/formlose Foli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" name="Titel 1"/>
          <p:cNvSpPr>
            <a:spLocks noGrp="1"/>
          </p:cNvSpPr>
          <p:nvPr>
            <p:ph type="title" hasCustomPrompt="1"/>
          </p:nvPr>
        </p:nvSpPr>
        <p:spPr bwMode="auto">
          <a:xfrm>
            <a:off x="239711" y="317214"/>
            <a:ext cx="11671393" cy="622300"/>
          </a:xfrm>
        </p:spPr>
        <p:txBody>
          <a:bodyPr lIns="0"/>
          <a:lstStyle>
            <a:lvl1pPr>
              <a:defRPr>
                <a:solidFill>
                  <a:schemeClr val="tx1"/>
                </a:solidFill>
                <a:latin typeface="Bahnschrift" panose="020B0502040204020203" pitchFamily="34" charset="0"/>
              </a:defRPr>
            </a:lvl1pPr>
          </a:lstStyle>
          <a:p>
            <a:pPr>
              <a:defRPr/>
            </a:pPr>
            <a:r>
              <a:rPr lang="de-DE"/>
              <a:t>Interne / formlose Präsentation</a:t>
            </a:r>
            <a:endParaRPr lang="de-AT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0"/>
          </p:nvPr>
        </p:nvSpPr>
        <p:spPr bwMode="auto">
          <a:xfrm>
            <a:off x="8110082" y="6327238"/>
            <a:ext cx="1237031" cy="476250"/>
          </a:xfrm>
          <a:ln/>
        </p:spPr>
        <p:txBody>
          <a:bodyPr/>
          <a:lstStyle>
            <a:lvl1pPr>
              <a:defRPr sz="1000">
                <a:solidFill>
                  <a:schemeClr val="tx1"/>
                </a:solidFill>
                <a:latin typeface="+mj-lt"/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AT" sz="10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 Light"/>
              <a:ea typeface="+mn-ea"/>
              <a:cs typeface="Arial"/>
            </a:endParaRPr>
          </a:p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DF1416F-3104-4888-B9E3-BED4C99BC5D9}" type="slidenum">
              <a:rPr kumimoji="0" lang="de-AT" sz="800" b="0" i="0" u="none" strike="noStrike" kern="0" cap="none" spc="0" normalizeH="0" baseline="0" noProof="0">
                <a:ln>
                  <a:noFill/>
                </a:ln>
                <a:solidFill>
                  <a:srgbClr val="626B71"/>
                </a:solidFill>
                <a:effectLst/>
                <a:uLnTx/>
                <a:uFillTx/>
                <a:latin typeface="Calibri Light"/>
                <a:ea typeface="+mn-ea"/>
                <a:cs typeface="Arial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‹Nr.›</a:t>
            </a:fld>
            <a:endParaRPr kumimoji="0" lang="de-AT" sz="800" b="0" i="0" u="none" strike="noStrike" kern="0" cap="none" spc="0" normalizeH="0" baseline="0" noProof="0">
              <a:ln>
                <a:noFill/>
              </a:ln>
              <a:solidFill>
                <a:srgbClr val="626B71"/>
              </a:solidFill>
              <a:effectLst/>
              <a:uLnTx/>
              <a:uFillTx/>
              <a:latin typeface="Calibri Light"/>
              <a:ea typeface="+mn-ea"/>
              <a:cs typeface="Arial"/>
            </a:endParaRPr>
          </a:p>
        </p:txBody>
      </p:sp>
      <p:pic>
        <p:nvPicPr>
          <p:cNvPr id="10" name="Grafik 8"/>
          <p:cNvPicPr>
            <a:picLocks noChangeAspect="1"/>
          </p:cNvPicPr>
          <p:nvPr userDrawn="1"/>
        </p:nvPicPr>
        <p:blipFill>
          <a:blip r:embed="rId2"/>
          <a:stretch/>
        </p:blipFill>
        <p:spPr bwMode="auto">
          <a:xfrm>
            <a:off x="11126832" y="6280362"/>
            <a:ext cx="1053216" cy="570003"/>
          </a:xfrm>
          <a:prstGeom prst="rect">
            <a:avLst/>
          </a:prstGeom>
        </p:spPr>
      </p:pic>
      <p:pic>
        <p:nvPicPr>
          <p:cNvPr id="3" name="Grafik 2">
            <a:extLst>
              <a:ext uri="{FF2B5EF4-FFF2-40B4-BE49-F238E27FC236}">
                <a16:creationId xmlns:a16="http://schemas.microsoft.com/office/drawing/2014/main" id="{7A032F0F-416B-70E8-56F4-FC924B6FB8AF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28009" y="6295496"/>
            <a:ext cx="1598823" cy="490579"/>
          </a:xfrm>
          <a:prstGeom prst="rect">
            <a:avLst/>
          </a:prstGeom>
        </p:spPr>
      </p:pic>
      <p:sp>
        <p:nvSpPr>
          <p:cNvPr id="11" name="Inhaltsplatzhalter 2">
            <a:extLst>
              <a:ext uri="{FF2B5EF4-FFF2-40B4-BE49-F238E27FC236}">
                <a16:creationId xmlns:a16="http://schemas.microsoft.com/office/drawing/2014/main" id="{BCA78159-342C-BCF6-F117-116DD689D753}"/>
              </a:ext>
            </a:extLst>
          </p:cNvPr>
          <p:cNvSpPr>
            <a:spLocks noGrp="1"/>
          </p:cNvSpPr>
          <p:nvPr>
            <p:ph idx="1"/>
          </p:nvPr>
        </p:nvSpPr>
        <p:spPr bwMode="auto">
          <a:xfrm>
            <a:off x="239712" y="1628800"/>
            <a:ext cx="11952288" cy="4391003"/>
          </a:xfrm>
        </p:spPr>
        <p:txBody>
          <a:bodyPr/>
          <a:lstStyle>
            <a:lvl1pPr marL="342900" indent="-342900">
              <a:lnSpc>
                <a:spcPct val="150000"/>
              </a:lnSpc>
              <a:buClr>
                <a:schemeClr val="accent6"/>
              </a:buClr>
              <a:buFont typeface="Calibri"/>
              <a:buChar char="⌂"/>
              <a:defRPr>
                <a:solidFill>
                  <a:schemeClr val="tx1"/>
                </a:solidFill>
                <a:latin typeface="Bahnschrift" panose="020B0502040204020203" pitchFamily="34" charset="0"/>
              </a:defRPr>
            </a:lvl1pPr>
            <a:lvl2pPr marL="742950" indent="-285750">
              <a:lnSpc>
                <a:spcPct val="150000"/>
              </a:lnSpc>
              <a:buClr>
                <a:schemeClr val="accent6"/>
              </a:buClr>
              <a:buFontTx/>
              <a:buChar char="►"/>
              <a:defRPr>
                <a:solidFill>
                  <a:schemeClr val="tx1"/>
                </a:solidFill>
                <a:latin typeface="Bahnschrift" panose="020B0502040204020203" pitchFamily="34" charset="0"/>
              </a:defRPr>
            </a:lvl2pPr>
            <a:lvl3pPr>
              <a:lnSpc>
                <a:spcPct val="150000"/>
              </a:lnSpc>
              <a:buClr>
                <a:schemeClr val="accent6"/>
              </a:buClr>
              <a:buSzPct val="120000"/>
              <a:defRPr>
                <a:solidFill>
                  <a:schemeClr val="tx1"/>
                </a:solidFill>
                <a:latin typeface="Bahnschrift" panose="020B0502040204020203" pitchFamily="34" charset="0"/>
              </a:defRPr>
            </a:lvl3pPr>
            <a:lvl4pPr>
              <a:lnSpc>
                <a:spcPct val="150000"/>
              </a:lnSpc>
              <a:buClr>
                <a:schemeClr val="accent6"/>
              </a:buClr>
              <a:defRPr>
                <a:solidFill>
                  <a:schemeClr val="tx1"/>
                </a:solidFill>
                <a:latin typeface="Bahnschrift" panose="020B0502040204020203" pitchFamily="34" charset="0"/>
              </a:defRPr>
            </a:lvl4pPr>
            <a:lvl5pPr>
              <a:lnSpc>
                <a:spcPct val="150000"/>
              </a:lnSpc>
              <a:buClr>
                <a:schemeClr val="accent6"/>
              </a:buClr>
              <a:defRPr>
                <a:solidFill>
                  <a:schemeClr val="tx1"/>
                </a:solidFill>
                <a:latin typeface="Bahnschrift" panose="020B0502040204020203" pitchFamily="34" charset="0"/>
              </a:defRPr>
            </a:lvl5pPr>
          </a:lstStyle>
          <a:p>
            <a:pPr lvl="0">
              <a:defRPr/>
            </a:pPr>
            <a:r>
              <a:rPr lang="de-DE"/>
              <a:t>Textmasterformat bearbeiten</a:t>
            </a:r>
            <a:endParaRPr/>
          </a:p>
          <a:p>
            <a:pPr lvl="1">
              <a:defRPr/>
            </a:pPr>
            <a:r>
              <a:rPr lang="de-DE"/>
              <a:t>Zweite Ebene</a:t>
            </a:r>
            <a:endParaRPr/>
          </a:p>
          <a:p>
            <a:pPr lvl="2">
              <a:defRPr/>
            </a:pPr>
            <a:r>
              <a:rPr lang="de-DE"/>
              <a:t>Dritte Ebene</a:t>
            </a:r>
            <a:endParaRPr/>
          </a:p>
          <a:p>
            <a:pPr lvl="3">
              <a:defRPr/>
            </a:pPr>
            <a:r>
              <a:rPr lang="de-DE"/>
              <a:t>Vierte Ebene</a:t>
            </a:r>
            <a:endParaRPr/>
          </a:p>
          <a:p>
            <a:pPr lvl="4">
              <a:defRPr/>
            </a:pPr>
            <a:r>
              <a:rPr lang="de-DE"/>
              <a:t>Fünfte Ebene</a:t>
            </a:r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201443666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2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/>
          <p:cNvSpPr>
            <a:spLocks noGrp="1"/>
          </p:cNvSpPr>
          <p:nvPr>
            <p:ph type="title"/>
          </p:nvPr>
        </p:nvSpPr>
        <p:spPr>
          <a:xfrm>
            <a:off x="720002" y="1406526"/>
            <a:ext cx="10638033" cy="829455"/>
          </a:xfrm>
          <a:prstGeom prst="rect">
            <a:avLst/>
          </a:prstGeom>
        </p:spPr>
        <p:txBody>
          <a:bodyPr vert="horz" wrap="none" lIns="0" tIns="0" rIns="0" bIns="0" rtlCol="0" anchor="t" anchorCtr="0">
            <a:noAutofit/>
          </a:bodyPr>
          <a:lstStyle/>
          <a:p>
            <a:r>
              <a:rPr lang="de-DE" dirty="0"/>
              <a:t>Titelmasterformat durch Klicken bearbeiten</a:t>
            </a:r>
            <a:endParaRPr lang="de-AT" dirty="0"/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720002" y="2164768"/>
            <a:ext cx="10638033" cy="3977799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de-DE" dirty="0"/>
              <a:t>Textmasterformat bearbeiten </a:t>
            </a:r>
            <a:br>
              <a:rPr lang="de-DE" dirty="0"/>
            </a:br>
            <a:r>
              <a:rPr lang="de-DE" dirty="0"/>
              <a:t>Erste Ebene </a:t>
            </a:r>
          </a:p>
          <a:p>
            <a:pPr lvl="1"/>
            <a:r>
              <a:rPr lang="de-DE" dirty="0"/>
              <a:t>Zweite Ebene – wie Ebene zuvor</a:t>
            </a:r>
          </a:p>
          <a:p>
            <a:pPr lvl="2"/>
            <a:r>
              <a:rPr lang="de-DE" dirty="0"/>
              <a:t>Dritte Ebene – wie Ebene zuvor</a:t>
            </a:r>
          </a:p>
        </p:txBody>
      </p:sp>
      <p:sp>
        <p:nvSpPr>
          <p:cNvPr id="9" name="Fußzeilenplatzhalter 12"/>
          <p:cNvSpPr>
            <a:spLocks noGrp="1"/>
          </p:cNvSpPr>
          <p:nvPr>
            <p:ph type="ftr" sz="quarter" idx="3"/>
          </p:nvPr>
        </p:nvSpPr>
        <p:spPr>
          <a:xfrm>
            <a:off x="720000" y="6387003"/>
            <a:ext cx="9167888" cy="2667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1867">
                <a:solidFill>
                  <a:schemeClr val="tx1"/>
                </a:solidFill>
              </a:defRPr>
            </a:lvl1pPr>
          </a:lstStyle>
          <a:p>
            <a:r>
              <a:rPr lang="de-AT" dirty="0"/>
              <a:t>Präsentationstitel</a:t>
            </a:r>
          </a:p>
        </p:txBody>
      </p:sp>
      <p:sp>
        <p:nvSpPr>
          <p:cNvPr id="20" name="Foliennummernplatzhalter 13"/>
          <p:cNvSpPr>
            <a:spLocks noGrp="1"/>
          </p:cNvSpPr>
          <p:nvPr>
            <p:ph type="sldNum" sz="quarter" idx="4"/>
          </p:nvPr>
        </p:nvSpPr>
        <p:spPr>
          <a:xfrm>
            <a:off x="10077601" y="6387003"/>
            <a:ext cx="1280432" cy="2667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867">
                <a:solidFill>
                  <a:schemeClr val="tx1"/>
                </a:solidFill>
              </a:defRPr>
            </a:lvl1pPr>
          </a:lstStyle>
          <a:p>
            <a:fld id="{1206269C-C24E-4E80-9A4B-E7E19BB59A67}" type="slidenum">
              <a:rPr lang="de-AT" smtClean="0"/>
              <a:pPr/>
              <a:t>‹Nr.›</a:t>
            </a:fld>
            <a:endParaRPr lang="de-AT" dirty="0"/>
          </a:p>
        </p:txBody>
      </p:sp>
      <p:sp>
        <p:nvSpPr>
          <p:cNvPr id="10" name="Textfeld 9"/>
          <p:cNvSpPr txBox="1"/>
          <p:nvPr userDrawn="1"/>
        </p:nvSpPr>
        <p:spPr>
          <a:xfrm>
            <a:off x="8869003" y="273600"/>
            <a:ext cx="2933699" cy="49244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de-AT" sz="1600" dirty="0">
                <a:solidFill>
                  <a:srgbClr val="003D84"/>
                </a:solidFill>
              </a:rPr>
              <a:t>Bmluk.gv.at</a:t>
            </a:r>
          </a:p>
          <a:p>
            <a:pPr algn="r"/>
            <a:r>
              <a:rPr lang="de-AT" sz="1600" dirty="0">
                <a:solidFill>
                  <a:srgbClr val="003D84"/>
                </a:solidFill>
              </a:rPr>
              <a:t>klimaaktiv.at</a:t>
            </a:r>
          </a:p>
        </p:txBody>
      </p:sp>
      <p:pic>
        <p:nvPicPr>
          <p:cNvPr id="11" name="Grafik 10"/>
          <p:cNvPicPr>
            <a:picLocks noChangeAspect="1"/>
          </p:cNvPicPr>
          <p:nvPr userDrawn="1"/>
        </p:nvPicPr>
        <p:blipFill>
          <a:blip r:embed="rId12"/>
          <a:stretch>
            <a:fillRect/>
          </a:stretch>
        </p:blipFill>
        <p:spPr>
          <a:xfrm>
            <a:off x="2775491" y="333805"/>
            <a:ext cx="1616323" cy="492443"/>
          </a:xfrm>
          <a:prstGeom prst="rect">
            <a:avLst/>
          </a:prstGeom>
        </p:spPr>
      </p:pic>
      <p:pic>
        <p:nvPicPr>
          <p:cNvPr id="7" name="Grafik 6">
            <a:extLst>
              <a:ext uri="{FF2B5EF4-FFF2-40B4-BE49-F238E27FC236}">
                <a16:creationId xmlns:a16="http://schemas.microsoft.com/office/drawing/2014/main" id="{B6204EA7-48FE-2E6D-0FE5-D5178B2FF4C5}"/>
              </a:ext>
            </a:extLst>
          </p:cNvPr>
          <p:cNvPicPr>
            <a:picLocks noChangeAspect="1"/>
          </p:cNvPicPr>
          <p:nvPr userDrawn="1"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4469" y="272477"/>
            <a:ext cx="2417735" cy="7634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65742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60" r:id="rId9"/>
    <p:sldLayoutId id="2147483670" r:id="rId10"/>
  </p:sldLayoutIdLst>
  <p:hf hdr="0" dt="0"/>
  <p:txStyles>
    <p:titleStyle>
      <a:lvl1pPr algn="l" defTabSz="1219170" rtl="0" eaLnBrk="1" latinLnBrk="0" hangingPunct="1">
        <a:lnSpc>
          <a:spcPts val="4000"/>
        </a:lnSpc>
        <a:spcBef>
          <a:spcPct val="0"/>
        </a:spcBef>
        <a:buNone/>
        <a:defRPr sz="3200" b="1" kern="1200">
          <a:solidFill>
            <a:srgbClr val="003D84"/>
          </a:solidFill>
          <a:latin typeface="+mj-lt"/>
          <a:ea typeface="+mj-ea"/>
          <a:cs typeface="+mj-cs"/>
        </a:defRPr>
      </a:lvl1pPr>
    </p:titleStyle>
    <p:bodyStyle>
      <a:lvl1pPr marL="335992" marR="0" indent="-335992" algn="l" defTabSz="1219170" rtl="0" eaLnBrk="1" fontAlgn="auto" latinLnBrk="0" hangingPunct="1">
        <a:lnSpc>
          <a:spcPts val="3200"/>
        </a:lnSpc>
        <a:spcBef>
          <a:spcPts val="0"/>
        </a:spcBef>
        <a:spcAft>
          <a:spcPts val="1900"/>
        </a:spcAft>
        <a:buClr>
          <a:srgbClr val="003D84"/>
        </a:buClr>
        <a:buSzTx/>
        <a:buFont typeface="Arial" panose="020B0604020202020204" pitchFamily="34" charset="0"/>
        <a:buChar char="•"/>
        <a:tabLst/>
        <a:defRPr sz="2400" kern="1200">
          <a:solidFill>
            <a:schemeClr val="bg1">
              <a:lumMod val="10000"/>
            </a:schemeClr>
          </a:solidFill>
          <a:latin typeface="+mn-lt"/>
          <a:ea typeface="+mn-ea"/>
          <a:cs typeface="+mn-cs"/>
        </a:defRPr>
      </a:lvl1pPr>
      <a:lvl2pPr marL="671983" marR="0" indent="-335992" algn="l" defTabSz="1219170" rtl="0" eaLnBrk="1" fontAlgn="auto" latinLnBrk="0" hangingPunct="1">
        <a:lnSpc>
          <a:spcPts val="3200"/>
        </a:lnSpc>
        <a:spcBef>
          <a:spcPts val="0"/>
        </a:spcBef>
        <a:spcAft>
          <a:spcPts val="1900"/>
        </a:spcAft>
        <a:buClrTx/>
        <a:buSzTx/>
        <a:buFont typeface="Corbel" panose="020B0503020204020204" pitchFamily="34" charset="0"/>
        <a:buChar char="−"/>
        <a:tabLst/>
        <a:defRPr sz="2400" kern="1200">
          <a:solidFill>
            <a:schemeClr val="bg1">
              <a:lumMod val="10000"/>
            </a:schemeClr>
          </a:solidFill>
          <a:latin typeface="+mn-lt"/>
          <a:ea typeface="+mn-ea"/>
          <a:cs typeface="+mn-cs"/>
        </a:defRPr>
      </a:lvl2pPr>
      <a:lvl3pPr marL="1007975" indent="-335992" algn="l" defTabSz="1219170" rtl="0" eaLnBrk="1" latinLnBrk="0" hangingPunct="1">
        <a:lnSpc>
          <a:spcPts val="3200"/>
        </a:lnSpc>
        <a:spcBef>
          <a:spcPts val="0"/>
        </a:spcBef>
        <a:spcAft>
          <a:spcPts val="1900"/>
        </a:spcAft>
        <a:buClr>
          <a:srgbClr val="003D84"/>
        </a:buClr>
        <a:buFont typeface="Arial" pitchFamily="34" charset="0"/>
        <a:buChar char="•"/>
        <a:defRPr sz="2400" kern="1200">
          <a:solidFill>
            <a:schemeClr val="bg1">
              <a:lumMod val="10000"/>
            </a:schemeClr>
          </a:solidFill>
          <a:latin typeface="+mn-lt"/>
          <a:ea typeface="+mn-ea"/>
          <a:cs typeface="+mn-cs"/>
        </a:defRPr>
      </a:lvl3pPr>
      <a:lvl4pPr marL="2133547" indent="-304792" algn="l" defTabSz="1219170" rtl="0" eaLnBrk="1" latinLnBrk="0" hangingPunct="1">
        <a:lnSpc>
          <a:spcPct val="90000"/>
        </a:lnSpc>
        <a:spcBef>
          <a:spcPts val="800"/>
        </a:spcBef>
        <a:buClr>
          <a:schemeClr val="tx2"/>
        </a:buClr>
        <a:buFont typeface="Arial" pitchFamily="34" charset="0"/>
        <a:buChar char="–"/>
        <a:defRPr sz="2400" kern="1200">
          <a:solidFill>
            <a:schemeClr val="bg1">
              <a:lumMod val="10000"/>
            </a:schemeClr>
          </a:solidFill>
          <a:latin typeface="+mn-lt"/>
          <a:ea typeface="+mn-ea"/>
          <a:cs typeface="+mn-cs"/>
        </a:defRPr>
      </a:lvl4pPr>
      <a:lvl5pPr marL="2743131" indent="-304792" algn="l" defTabSz="1219170" rtl="0" eaLnBrk="1" latinLnBrk="0" hangingPunct="1">
        <a:lnSpc>
          <a:spcPct val="90000"/>
        </a:lnSpc>
        <a:spcBef>
          <a:spcPts val="533"/>
        </a:spcBef>
        <a:buClr>
          <a:schemeClr val="tx2"/>
        </a:buClr>
        <a:buFont typeface="Arial" pitchFamily="34" charset="0"/>
        <a:buChar char="»"/>
        <a:defRPr sz="2400" kern="1200">
          <a:solidFill>
            <a:schemeClr val="bg1">
              <a:lumMod val="10000"/>
            </a:schemeClr>
          </a:solidFill>
          <a:latin typeface="+mn-lt"/>
          <a:ea typeface="+mn-ea"/>
          <a:cs typeface="+mn-cs"/>
        </a:defRPr>
      </a:lvl5pPr>
      <a:lvl6pPr marL="3352716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6pPr>
      <a:lvl7pPr marL="3962301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7pPr>
      <a:lvl8pPr marL="4571886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8pPr>
      <a:lvl9pPr marL="5181470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hyperlink" Target="http://www.klimaaktiv.at/" TargetMode="Externa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8" Type="http://schemas.microsoft.com/office/2007/relationships/diagramDrawing" Target="../diagrams/drawing1.xml"/><Relationship Id="rId3" Type="http://schemas.openxmlformats.org/officeDocument/2006/relationships/slideLayout" Target="../slideLayouts/slideLayout3.xml"/><Relationship Id="rId7" Type="http://schemas.openxmlformats.org/officeDocument/2006/relationships/diagramColors" Target="../diagrams/colors1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6" Type="http://schemas.openxmlformats.org/officeDocument/2006/relationships/diagramQuickStyle" Target="../diagrams/quickStyle1.xml"/><Relationship Id="rId11" Type="http://schemas.openxmlformats.org/officeDocument/2006/relationships/image" Target="../media/image11.png"/><Relationship Id="rId5" Type="http://schemas.openxmlformats.org/officeDocument/2006/relationships/diagramLayout" Target="../diagrams/layout1.xml"/><Relationship Id="rId10" Type="http://schemas.openxmlformats.org/officeDocument/2006/relationships/image" Target="../media/image10.png"/><Relationship Id="rId4" Type="http://schemas.openxmlformats.org/officeDocument/2006/relationships/diagramData" Target="../diagrams/data1.xml"/><Relationship Id="rId9" Type="http://schemas.openxmlformats.org/officeDocument/2006/relationships/image" Target="../media/image9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3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3.xml"/><Relationship Id="rId7" Type="http://schemas.microsoft.com/office/2007/relationships/diagramDrawing" Target="../diagrams/drawing3.xml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4.xml"/><Relationship Id="rId6" Type="http://schemas.openxmlformats.org/officeDocument/2006/relationships/diagramColors" Target="../diagrams/colors3.xml"/><Relationship Id="rId5" Type="http://schemas.openxmlformats.org/officeDocument/2006/relationships/diagramQuickStyle" Target="../diagrams/quickStyle3.xml"/><Relationship Id="rId4" Type="http://schemas.openxmlformats.org/officeDocument/2006/relationships/diagramLayout" Target="../diagrams/layout3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4" Type="http://schemas.openxmlformats.org/officeDocument/2006/relationships/image" Target="../media/image16.sv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hyperlink" Target="https://doi.org/10.3390/buildings13051210" TargetMode="External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9.pn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tags" Target="../tags/tag12.xml"/><Relationship Id="rId13" Type="http://schemas.openxmlformats.org/officeDocument/2006/relationships/tags" Target="../tags/tag17.xml"/><Relationship Id="rId18" Type="http://schemas.openxmlformats.org/officeDocument/2006/relationships/slideLayout" Target="../slideLayouts/slideLayout3.xml"/><Relationship Id="rId3" Type="http://schemas.openxmlformats.org/officeDocument/2006/relationships/tags" Target="../tags/tag7.xml"/><Relationship Id="rId21" Type="http://schemas.openxmlformats.org/officeDocument/2006/relationships/hyperlink" Target="https://svgsilh.com/de/image/2541651.html" TargetMode="External"/><Relationship Id="rId7" Type="http://schemas.openxmlformats.org/officeDocument/2006/relationships/tags" Target="../tags/tag11.xml"/><Relationship Id="rId12" Type="http://schemas.openxmlformats.org/officeDocument/2006/relationships/tags" Target="../tags/tag16.xml"/><Relationship Id="rId17" Type="http://schemas.openxmlformats.org/officeDocument/2006/relationships/tags" Target="../tags/tag21.xml"/><Relationship Id="rId2" Type="http://schemas.openxmlformats.org/officeDocument/2006/relationships/tags" Target="../tags/tag6.xml"/><Relationship Id="rId16" Type="http://schemas.openxmlformats.org/officeDocument/2006/relationships/tags" Target="../tags/tag20.xml"/><Relationship Id="rId20" Type="http://schemas.openxmlformats.org/officeDocument/2006/relationships/image" Target="../media/image23.svg"/><Relationship Id="rId1" Type="http://schemas.openxmlformats.org/officeDocument/2006/relationships/tags" Target="../tags/tag5.xml"/><Relationship Id="rId6" Type="http://schemas.openxmlformats.org/officeDocument/2006/relationships/tags" Target="../tags/tag10.xml"/><Relationship Id="rId11" Type="http://schemas.openxmlformats.org/officeDocument/2006/relationships/tags" Target="../tags/tag15.xml"/><Relationship Id="rId5" Type="http://schemas.openxmlformats.org/officeDocument/2006/relationships/tags" Target="../tags/tag9.xml"/><Relationship Id="rId15" Type="http://schemas.openxmlformats.org/officeDocument/2006/relationships/tags" Target="../tags/tag19.xml"/><Relationship Id="rId10" Type="http://schemas.openxmlformats.org/officeDocument/2006/relationships/tags" Target="../tags/tag14.xml"/><Relationship Id="rId19" Type="http://schemas.openxmlformats.org/officeDocument/2006/relationships/image" Target="../media/image22.png"/><Relationship Id="rId4" Type="http://schemas.openxmlformats.org/officeDocument/2006/relationships/tags" Target="../tags/tag8.xml"/><Relationship Id="rId9" Type="http://schemas.openxmlformats.org/officeDocument/2006/relationships/tags" Target="../tags/tag13.xml"/><Relationship Id="rId14" Type="http://schemas.openxmlformats.org/officeDocument/2006/relationships/tags" Target="../tags/tag18.xml"/><Relationship Id="rId22" Type="http://schemas.openxmlformats.org/officeDocument/2006/relationships/image" Target="../media/image24.sv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hyperlink" Target="https://doi.org/10.3390/designs9060123" TargetMode="External"/><Relationship Id="rId2" Type="http://schemas.openxmlformats.org/officeDocument/2006/relationships/chart" Target="../charts/chart2.xml"/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jpeg"/><Relationship Id="rId1" Type="http://schemas.openxmlformats.org/officeDocument/2006/relationships/slideLayout" Target="../slideLayouts/slideLayout3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slideLayout" Target="../slideLayouts/slideLayout3.xml"/><Relationship Id="rId1" Type="http://schemas.openxmlformats.org/officeDocument/2006/relationships/tags" Target="../tags/tag22.xml"/><Relationship Id="rId5" Type="http://schemas.openxmlformats.org/officeDocument/2006/relationships/image" Target="../media/image26.png"/><Relationship Id="rId4" Type="http://schemas.openxmlformats.org/officeDocument/2006/relationships/image" Target="../media/image28.png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3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tags" Target="../tags/tag24.xml"/><Relationship Id="rId1" Type="http://schemas.openxmlformats.org/officeDocument/2006/relationships/tags" Target="../tags/tag23.xml"/><Relationship Id="rId6" Type="http://schemas.openxmlformats.org/officeDocument/2006/relationships/image" Target="../media/image26.png"/><Relationship Id="rId5" Type="http://schemas.openxmlformats.org/officeDocument/2006/relationships/image" Target="../media/image28.png"/><Relationship Id="rId4" Type="http://schemas.openxmlformats.org/officeDocument/2006/relationships/image" Target="../media/image27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tags" Target="../tags/tag26.xml"/><Relationship Id="rId1" Type="http://schemas.openxmlformats.org/officeDocument/2006/relationships/tags" Target="../tags/tag25.xml"/><Relationship Id="rId6" Type="http://schemas.openxmlformats.org/officeDocument/2006/relationships/image" Target="../media/image26.png"/><Relationship Id="rId5" Type="http://schemas.openxmlformats.org/officeDocument/2006/relationships/image" Target="../media/image28.png"/><Relationship Id="rId4" Type="http://schemas.openxmlformats.org/officeDocument/2006/relationships/image" Target="../media/image27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3.xml"/><Relationship Id="rId4" Type="http://schemas.openxmlformats.org/officeDocument/2006/relationships/chart" Target="../charts/chart3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4.xml"/><Relationship Id="rId2" Type="http://schemas.openxmlformats.org/officeDocument/2006/relationships/slideLayout" Target="../slideLayouts/slideLayout3.xml"/><Relationship Id="rId1" Type="http://schemas.openxmlformats.org/officeDocument/2006/relationships/tags" Target="../tags/tag27.xml"/><Relationship Id="rId4" Type="http://schemas.openxmlformats.org/officeDocument/2006/relationships/image" Target="../media/image31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chart" Target="../charts/chart5.xml"/><Relationship Id="rId1" Type="http://schemas.openxmlformats.org/officeDocument/2006/relationships/slideLayout" Target="../slideLayouts/slideLayout3.xml"/></Relationships>
</file>

<file path=ppt/slides/_rels/slide3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2.png"/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33.png"/><Relationship Id="rId2" Type="http://schemas.openxmlformats.org/officeDocument/2006/relationships/tags" Target="../tags/tag29.xml"/><Relationship Id="rId1" Type="http://schemas.openxmlformats.org/officeDocument/2006/relationships/tags" Target="../tags/tag28.xml"/><Relationship Id="rId6" Type="http://schemas.openxmlformats.org/officeDocument/2006/relationships/image" Target="../media/image26.png"/><Relationship Id="rId5" Type="http://schemas.openxmlformats.org/officeDocument/2006/relationships/image" Target="../media/image31.png"/><Relationship Id="rId4" Type="http://schemas.openxmlformats.org/officeDocument/2006/relationships/chart" Target="../charts/chart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9.xml.rels><?xml version="1.0" encoding="UTF-8" standalone="yes"?>
<Relationships xmlns="http://schemas.openxmlformats.org/package/2006/relationships"><Relationship Id="rId26" Type="http://schemas.openxmlformats.org/officeDocument/2006/relationships/tags" Target="../tags/tag55.xml"/><Relationship Id="rId21" Type="http://schemas.openxmlformats.org/officeDocument/2006/relationships/tags" Target="../tags/tag50.xml"/><Relationship Id="rId34" Type="http://schemas.openxmlformats.org/officeDocument/2006/relationships/tags" Target="../tags/tag63.xml"/><Relationship Id="rId42" Type="http://schemas.openxmlformats.org/officeDocument/2006/relationships/tags" Target="../tags/tag71.xml"/><Relationship Id="rId47" Type="http://schemas.openxmlformats.org/officeDocument/2006/relationships/tags" Target="../tags/tag76.xml"/><Relationship Id="rId50" Type="http://schemas.openxmlformats.org/officeDocument/2006/relationships/tags" Target="../tags/tag79.xml"/><Relationship Id="rId55" Type="http://schemas.openxmlformats.org/officeDocument/2006/relationships/tags" Target="../tags/tag84.xml"/><Relationship Id="rId63" Type="http://schemas.openxmlformats.org/officeDocument/2006/relationships/tags" Target="../tags/tag92.xml"/><Relationship Id="rId68" Type="http://schemas.openxmlformats.org/officeDocument/2006/relationships/image" Target="../media/image35.png"/><Relationship Id="rId7" Type="http://schemas.openxmlformats.org/officeDocument/2006/relationships/tags" Target="../tags/tag36.xml"/><Relationship Id="rId2" Type="http://schemas.openxmlformats.org/officeDocument/2006/relationships/tags" Target="../tags/tag31.xml"/><Relationship Id="rId16" Type="http://schemas.openxmlformats.org/officeDocument/2006/relationships/tags" Target="../tags/tag45.xml"/><Relationship Id="rId29" Type="http://schemas.openxmlformats.org/officeDocument/2006/relationships/tags" Target="../tags/tag58.xml"/><Relationship Id="rId11" Type="http://schemas.openxmlformats.org/officeDocument/2006/relationships/tags" Target="../tags/tag40.xml"/><Relationship Id="rId24" Type="http://schemas.openxmlformats.org/officeDocument/2006/relationships/tags" Target="../tags/tag53.xml"/><Relationship Id="rId32" Type="http://schemas.openxmlformats.org/officeDocument/2006/relationships/tags" Target="../tags/tag61.xml"/><Relationship Id="rId37" Type="http://schemas.openxmlformats.org/officeDocument/2006/relationships/tags" Target="../tags/tag66.xml"/><Relationship Id="rId40" Type="http://schemas.openxmlformats.org/officeDocument/2006/relationships/tags" Target="../tags/tag69.xml"/><Relationship Id="rId45" Type="http://schemas.openxmlformats.org/officeDocument/2006/relationships/tags" Target="../tags/tag74.xml"/><Relationship Id="rId53" Type="http://schemas.openxmlformats.org/officeDocument/2006/relationships/tags" Target="../tags/tag82.xml"/><Relationship Id="rId58" Type="http://schemas.openxmlformats.org/officeDocument/2006/relationships/tags" Target="../tags/tag87.xml"/><Relationship Id="rId66" Type="http://schemas.openxmlformats.org/officeDocument/2006/relationships/hyperlink" Target="mailto:Simon.schneider@technikum-wien.at" TargetMode="External"/><Relationship Id="rId5" Type="http://schemas.openxmlformats.org/officeDocument/2006/relationships/tags" Target="../tags/tag34.xml"/><Relationship Id="rId61" Type="http://schemas.openxmlformats.org/officeDocument/2006/relationships/tags" Target="../tags/tag90.xml"/><Relationship Id="rId19" Type="http://schemas.openxmlformats.org/officeDocument/2006/relationships/tags" Target="../tags/tag48.xml"/><Relationship Id="rId14" Type="http://schemas.openxmlformats.org/officeDocument/2006/relationships/tags" Target="../tags/tag43.xml"/><Relationship Id="rId22" Type="http://schemas.openxmlformats.org/officeDocument/2006/relationships/tags" Target="../tags/tag51.xml"/><Relationship Id="rId27" Type="http://schemas.openxmlformats.org/officeDocument/2006/relationships/tags" Target="../tags/tag56.xml"/><Relationship Id="rId30" Type="http://schemas.openxmlformats.org/officeDocument/2006/relationships/tags" Target="../tags/tag59.xml"/><Relationship Id="rId35" Type="http://schemas.openxmlformats.org/officeDocument/2006/relationships/tags" Target="../tags/tag64.xml"/><Relationship Id="rId43" Type="http://schemas.openxmlformats.org/officeDocument/2006/relationships/tags" Target="../tags/tag72.xml"/><Relationship Id="rId48" Type="http://schemas.openxmlformats.org/officeDocument/2006/relationships/tags" Target="../tags/tag77.xml"/><Relationship Id="rId56" Type="http://schemas.openxmlformats.org/officeDocument/2006/relationships/tags" Target="../tags/tag85.xml"/><Relationship Id="rId64" Type="http://schemas.openxmlformats.org/officeDocument/2006/relationships/tags" Target="../tags/tag93.xml"/><Relationship Id="rId8" Type="http://schemas.openxmlformats.org/officeDocument/2006/relationships/tags" Target="../tags/tag37.xml"/><Relationship Id="rId51" Type="http://schemas.openxmlformats.org/officeDocument/2006/relationships/tags" Target="../tags/tag80.xml"/><Relationship Id="rId3" Type="http://schemas.openxmlformats.org/officeDocument/2006/relationships/tags" Target="../tags/tag32.xml"/><Relationship Id="rId12" Type="http://schemas.openxmlformats.org/officeDocument/2006/relationships/tags" Target="../tags/tag41.xml"/><Relationship Id="rId17" Type="http://schemas.openxmlformats.org/officeDocument/2006/relationships/tags" Target="../tags/tag46.xml"/><Relationship Id="rId25" Type="http://schemas.openxmlformats.org/officeDocument/2006/relationships/tags" Target="../tags/tag54.xml"/><Relationship Id="rId33" Type="http://schemas.openxmlformats.org/officeDocument/2006/relationships/tags" Target="../tags/tag62.xml"/><Relationship Id="rId38" Type="http://schemas.openxmlformats.org/officeDocument/2006/relationships/tags" Target="../tags/tag67.xml"/><Relationship Id="rId46" Type="http://schemas.openxmlformats.org/officeDocument/2006/relationships/tags" Target="../tags/tag75.xml"/><Relationship Id="rId59" Type="http://schemas.openxmlformats.org/officeDocument/2006/relationships/tags" Target="../tags/tag88.xml"/><Relationship Id="rId67" Type="http://schemas.openxmlformats.org/officeDocument/2006/relationships/image" Target="../media/image34.png"/><Relationship Id="rId20" Type="http://schemas.openxmlformats.org/officeDocument/2006/relationships/tags" Target="../tags/tag49.xml"/><Relationship Id="rId41" Type="http://schemas.openxmlformats.org/officeDocument/2006/relationships/tags" Target="../tags/tag70.xml"/><Relationship Id="rId54" Type="http://schemas.openxmlformats.org/officeDocument/2006/relationships/tags" Target="../tags/tag83.xml"/><Relationship Id="rId62" Type="http://schemas.openxmlformats.org/officeDocument/2006/relationships/tags" Target="../tags/tag91.xml"/><Relationship Id="rId1" Type="http://schemas.openxmlformats.org/officeDocument/2006/relationships/tags" Target="../tags/tag30.xml"/><Relationship Id="rId6" Type="http://schemas.openxmlformats.org/officeDocument/2006/relationships/tags" Target="../tags/tag35.xml"/><Relationship Id="rId15" Type="http://schemas.openxmlformats.org/officeDocument/2006/relationships/tags" Target="../tags/tag44.xml"/><Relationship Id="rId23" Type="http://schemas.openxmlformats.org/officeDocument/2006/relationships/tags" Target="../tags/tag52.xml"/><Relationship Id="rId28" Type="http://schemas.openxmlformats.org/officeDocument/2006/relationships/tags" Target="../tags/tag57.xml"/><Relationship Id="rId36" Type="http://schemas.openxmlformats.org/officeDocument/2006/relationships/tags" Target="../tags/tag65.xml"/><Relationship Id="rId49" Type="http://schemas.openxmlformats.org/officeDocument/2006/relationships/tags" Target="../tags/tag78.xml"/><Relationship Id="rId57" Type="http://schemas.openxmlformats.org/officeDocument/2006/relationships/tags" Target="../tags/tag86.xml"/><Relationship Id="rId10" Type="http://schemas.openxmlformats.org/officeDocument/2006/relationships/tags" Target="../tags/tag39.xml"/><Relationship Id="rId31" Type="http://schemas.openxmlformats.org/officeDocument/2006/relationships/tags" Target="../tags/tag60.xml"/><Relationship Id="rId44" Type="http://schemas.openxmlformats.org/officeDocument/2006/relationships/tags" Target="../tags/tag73.xml"/><Relationship Id="rId52" Type="http://schemas.openxmlformats.org/officeDocument/2006/relationships/tags" Target="../tags/tag81.xml"/><Relationship Id="rId60" Type="http://schemas.openxmlformats.org/officeDocument/2006/relationships/tags" Target="../tags/tag89.xml"/><Relationship Id="rId65" Type="http://schemas.openxmlformats.org/officeDocument/2006/relationships/slideLayout" Target="../slideLayouts/slideLayout8.xml"/><Relationship Id="rId4" Type="http://schemas.openxmlformats.org/officeDocument/2006/relationships/tags" Target="../tags/tag33.xml"/><Relationship Id="rId9" Type="http://schemas.openxmlformats.org/officeDocument/2006/relationships/tags" Target="../tags/tag38.xml"/><Relationship Id="rId13" Type="http://schemas.openxmlformats.org/officeDocument/2006/relationships/tags" Target="../tags/tag42.xml"/><Relationship Id="rId18" Type="http://schemas.openxmlformats.org/officeDocument/2006/relationships/tags" Target="../tags/tag47.xml"/><Relationship Id="rId39" Type="http://schemas.openxmlformats.org/officeDocument/2006/relationships/tags" Target="../tags/tag68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simonschaluppe/peexcel/" TargetMode="External"/><Relationship Id="rId1" Type="http://schemas.openxmlformats.org/officeDocument/2006/relationships/slideLayout" Target="../slideLayouts/slideLayout3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chart" Target="../charts/chart8.xml"/><Relationship Id="rId2" Type="http://schemas.openxmlformats.org/officeDocument/2006/relationships/chart" Target="../charts/chart7.xml"/><Relationship Id="rId1" Type="http://schemas.openxmlformats.org/officeDocument/2006/relationships/slideLayout" Target="../slideLayouts/slideLayout9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0.xml"/><Relationship Id="rId2" Type="http://schemas.openxmlformats.org/officeDocument/2006/relationships/chart" Target="../charts/chart9.xml"/><Relationship Id="rId1" Type="http://schemas.openxmlformats.org/officeDocument/2006/relationships/slideLayout" Target="../slideLayouts/slideLayout3.xml"/><Relationship Id="rId4" Type="http://schemas.openxmlformats.org/officeDocument/2006/relationships/chart" Target="../charts/chart11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E506452-FFCB-A224-B9E3-8039121A7C1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de-AT" dirty="0"/>
              <a:t>Teil 1: Die Anlaufstelle</a:t>
            </a:r>
            <a:br>
              <a:rPr lang="de-AT" dirty="0"/>
            </a:br>
            <a:r>
              <a:rPr lang="de-AT" dirty="0"/>
              <a:t>Teil 2: Der Plus-Energie-Standard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0722D227-0AD4-A9B0-9752-B6653260A6B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de-AT" dirty="0"/>
              <a:t>Grundlage für die Planung, Bewertung und Qualitätssicherung von Plus-Energie-Quartieren</a:t>
            </a:r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18FFA89A-34E0-26B9-DD6E-1AE845D1A44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de-AT" dirty="0"/>
              <a:t>Wien, Juni 2026</a:t>
            </a:r>
          </a:p>
        </p:txBody>
      </p:sp>
    </p:spTree>
    <p:extLst>
      <p:ext uri="{BB962C8B-B14F-4D97-AF65-F5344CB8AC3E}">
        <p14:creationId xmlns:p14="http://schemas.microsoft.com/office/powerpoint/2010/main" val="421407805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3BECA66-4B51-97A3-6C0C-25B2ECCEFA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klimaaktiv | Die Klimaschutzinitiative der österr. Bundesregierung</a:t>
            </a:r>
            <a:endParaRPr lang="de-AT" dirty="0"/>
          </a:p>
        </p:txBody>
      </p:sp>
      <p:sp>
        <p:nvSpPr>
          <p:cNvPr id="3" name="Bildplatzhalter 2">
            <a:extLst>
              <a:ext uri="{FF2B5EF4-FFF2-40B4-BE49-F238E27FC236}">
                <a16:creationId xmlns:a16="http://schemas.microsoft.com/office/drawing/2014/main" id="{37C52ABC-CD02-E1C3-0E8E-E18317F0200D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/>
        <p:txBody>
          <a:bodyPr/>
          <a:lstStyle/>
          <a:p>
            <a:pPr marL="0" indent="0">
              <a:buNone/>
            </a:pPr>
            <a:r>
              <a:rPr lang="de-DE" dirty="0"/>
              <a:t>Vermittelt das „Gewusst wie“ zum Klimaschutz rund um die Themen Energiesparen, klimafitte Gebäude, erneuerbare Energieträger, umweltfreundliche Mobilität und Klimakommunikation. klima</a:t>
            </a:r>
            <a:r>
              <a:rPr lang="de-DE" b="1" dirty="0"/>
              <a:t>aktiv</a:t>
            </a:r>
            <a:r>
              <a:rPr lang="de-DE" dirty="0"/>
              <a:t> trägt so zur Erreichung der Klimaneutralität sowie zur Umsetzung des Nationalen Energie- und Klimaplans in Österreich bei. Programme:</a:t>
            </a:r>
          </a:p>
          <a:p>
            <a:endParaRPr lang="de-AT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0CCDF6CE-9625-31DD-AAE9-BDFBF3B5DF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AT" dirty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BF84AD4A-5C7D-189C-C95C-EDAAAE873A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06269C-C24E-4E80-9A4B-E7E19BB59A67}" type="slidenum">
              <a:rPr lang="de-AT" smtClean="0"/>
              <a:pPr/>
              <a:t>2</a:t>
            </a:fld>
            <a:endParaRPr lang="de-AT" dirty="0"/>
          </a:p>
        </p:txBody>
      </p:sp>
      <p:pic>
        <p:nvPicPr>
          <p:cNvPr id="6" name="Grafik 5">
            <a:extLst>
              <a:ext uri="{FF2B5EF4-FFF2-40B4-BE49-F238E27FC236}">
                <a16:creationId xmlns:a16="http://schemas.microsoft.com/office/drawing/2014/main" id="{D0523D5D-F749-BA6C-10E6-6C99B628F36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42489" y="273158"/>
            <a:ext cx="1739082" cy="603142"/>
          </a:xfrm>
          <a:prstGeom prst="rect">
            <a:avLst/>
          </a:prstGeom>
        </p:spPr>
      </p:pic>
      <p:pic>
        <p:nvPicPr>
          <p:cNvPr id="7" name="Grafik 6">
            <a:extLst>
              <a:ext uri="{FF2B5EF4-FFF2-40B4-BE49-F238E27FC236}">
                <a16:creationId xmlns:a16="http://schemas.microsoft.com/office/drawing/2014/main" id="{98347943-31ED-7FF5-FEA0-536E864AFD2F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7129947" y="147235"/>
            <a:ext cx="1620017" cy="850509"/>
          </a:xfrm>
          <a:prstGeom prst="rect">
            <a:avLst/>
          </a:prstGeom>
        </p:spPr>
      </p:pic>
      <p:sp>
        <p:nvSpPr>
          <p:cNvPr id="8" name="Rechteck: abgerundete Ecken 7">
            <a:extLst>
              <a:ext uri="{FF2B5EF4-FFF2-40B4-BE49-F238E27FC236}">
                <a16:creationId xmlns:a16="http://schemas.microsoft.com/office/drawing/2014/main" id="{F201E517-483B-FECD-D0F3-9042CC01CA47}"/>
              </a:ext>
            </a:extLst>
          </p:cNvPr>
          <p:cNvSpPr/>
          <p:nvPr/>
        </p:nvSpPr>
        <p:spPr>
          <a:xfrm>
            <a:off x="4905376" y="5532908"/>
            <a:ext cx="2266950" cy="621839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AT" sz="2000" dirty="0"/>
              <a:t>klimaaktiv Gebäude</a:t>
            </a:r>
          </a:p>
        </p:txBody>
      </p:sp>
      <p:sp>
        <p:nvSpPr>
          <p:cNvPr id="9" name="Rechteck: abgerundete Ecken 8">
            <a:extLst>
              <a:ext uri="{FF2B5EF4-FFF2-40B4-BE49-F238E27FC236}">
                <a16:creationId xmlns:a16="http://schemas.microsoft.com/office/drawing/2014/main" id="{E9B309F8-FE3A-CE4B-1F77-9C8EF1F8A502}"/>
              </a:ext>
            </a:extLst>
          </p:cNvPr>
          <p:cNvSpPr/>
          <p:nvPr/>
        </p:nvSpPr>
        <p:spPr>
          <a:xfrm>
            <a:off x="719669" y="4809038"/>
            <a:ext cx="2462806" cy="621839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AT" sz="2000" dirty="0"/>
              <a:t>klimaaktiv Klimadialog</a:t>
            </a:r>
          </a:p>
        </p:txBody>
      </p:sp>
      <p:sp>
        <p:nvSpPr>
          <p:cNvPr id="10" name="Rechteck: abgerundete Ecken 9">
            <a:extLst>
              <a:ext uri="{FF2B5EF4-FFF2-40B4-BE49-F238E27FC236}">
                <a16:creationId xmlns:a16="http://schemas.microsoft.com/office/drawing/2014/main" id="{3E83345D-3163-29BE-C651-A1FFD4C5DC2B}"/>
              </a:ext>
            </a:extLst>
          </p:cNvPr>
          <p:cNvSpPr/>
          <p:nvPr/>
        </p:nvSpPr>
        <p:spPr>
          <a:xfrm>
            <a:off x="3440982" y="4809038"/>
            <a:ext cx="3871914" cy="621839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AT" sz="2000" dirty="0"/>
              <a:t>klimaaktiv Heizwerke und Wärmenetze</a:t>
            </a:r>
          </a:p>
        </p:txBody>
      </p:sp>
      <p:sp>
        <p:nvSpPr>
          <p:cNvPr id="11" name="Rechteck: abgerundete Ecken 10">
            <a:extLst>
              <a:ext uri="{FF2B5EF4-FFF2-40B4-BE49-F238E27FC236}">
                <a16:creationId xmlns:a16="http://schemas.microsoft.com/office/drawing/2014/main" id="{4048A295-6014-DE32-2564-BDDD01120FE7}"/>
              </a:ext>
            </a:extLst>
          </p:cNvPr>
          <p:cNvSpPr/>
          <p:nvPr/>
        </p:nvSpPr>
        <p:spPr>
          <a:xfrm>
            <a:off x="719669" y="4000500"/>
            <a:ext cx="2359749" cy="621839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AT" sz="2000" dirty="0"/>
              <a:t>klimaaktiv Gemeinden</a:t>
            </a:r>
          </a:p>
        </p:txBody>
      </p:sp>
      <p:sp>
        <p:nvSpPr>
          <p:cNvPr id="12" name="Rechteck: abgerundete Ecken 11">
            <a:extLst>
              <a:ext uri="{FF2B5EF4-FFF2-40B4-BE49-F238E27FC236}">
                <a16:creationId xmlns:a16="http://schemas.microsoft.com/office/drawing/2014/main" id="{D432FEB6-9395-C681-911D-7AA98EDD73CB}"/>
              </a:ext>
            </a:extLst>
          </p:cNvPr>
          <p:cNvSpPr/>
          <p:nvPr/>
        </p:nvSpPr>
        <p:spPr>
          <a:xfrm>
            <a:off x="9579459" y="4000500"/>
            <a:ext cx="1759675" cy="621839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AT" sz="2000" dirty="0"/>
              <a:t>klimaaktiv mobil</a:t>
            </a:r>
          </a:p>
        </p:txBody>
      </p:sp>
      <p:sp>
        <p:nvSpPr>
          <p:cNvPr id="13" name="Rechteck: abgerundete Ecken 12">
            <a:extLst>
              <a:ext uri="{FF2B5EF4-FFF2-40B4-BE49-F238E27FC236}">
                <a16:creationId xmlns:a16="http://schemas.microsoft.com/office/drawing/2014/main" id="{51A6B47E-1EFB-E5F9-E695-DE612BE03A83}"/>
              </a:ext>
            </a:extLst>
          </p:cNvPr>
          <p:cNvSpPr/>
          <p:nvPr/>
        </p:nvSpPr>
        <p:spPr>
          <a:xfrm>
            <a:off x="4060977" y="4000500"/>
            <a:ext cx="4536924" cy="621839"/>
          </a:xfrm>
          <a:prstGeom prst="roundRect">
            <a:avLst/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de-AT" sz="2000" dirty="0"/>
              <a:t>klimaaktiv Siedlungen und Quartiere</a:t>
            </a:r>
          </a:p>
        </p:txBody>
      </p:sp>
      <p:sp>
        <p:nvSpPr>
          <p:cNvPr id="14" name="Rechteck: abgerundete Ecken 13">
            <a:extLst>
              <a:ext uri="{FF2B5EF4-FFF2-40B4-BE49-F238E27FC236}">
                <a16:creationId xmlns:a16="http://schemas.microsoft.com/office/drawing/2014/main" id="{2A41E3CB-618D-039E-53C1-1D86DCC235D0}"/>
              </a:ext>
            </a:extLst>
          </p:cNvPr>
          <p:cNvSpPr/>
          <p:nvPr/>
        </p:nvSpPr>
        <p:spPr>
          <a:xfrm>
            <a:off x="7571403" y="4809038"/>
            <a:ext cx="3767731" cy="621839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AT" sz="2000" dirty="0"/>
              <a:t>klimaaktiv erneuerbare Energiewende</a:t>
            </a:r>
          </a:p>
        </p:txBody>
      </p:sp>
      <p:sp>
        <p:nvSpPr>
          <p:cNvPr id="15" name="Rechteck: abgerundete Ecken 14">
            <a:extLst>
              <a:ext uri="{FF2B5EF4-FFF2-40B4-BE49-F238E27FC236}">
                <a16:creationId xmlns:a16="http://schemas.microsoft.com/office/drawing/2014/main" id="{1D84F371-9E76-FFE5-A9E7-BBA7C8E59F5F}"/>
              </a:ext>
            </a:extLst>
          </p:cNvPr>
          <p:cNvSpPr/>
          <p:nvPr/>
        </p:nvSpPr>
        <p:spPr>
          <a:xfrm>
            <a:off x="8895227" y="5532908"/>
            <a:ext cx="2462806" cy="621839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AT" sz="2000" dirty="0"/>
              <a:t>klimaaktiv Betriebe</a:t>
            </a:r>
          </a:p>
        </p:txBody>
      </p:sp>
      <p:sp>
        <p:nvSpPr>
          <p:cNvPr id="16" name="Rechteck: abgerundete Ecken 15">
            <a:extLst>
              <a:ext uri="{FF2B5EF4-FFF2-40B4-BE49-F238E27FC236}">
                <a16:creationId xmlns:a16="http://schemas.microsoft.com/office/drawing/2014/main" id="{9866FC70-BBDE-9EA6-E7E7-895D425BBCB1}"/>
              </a:ext>
            </a:extLst>
          </p:cNvPr>
          <p:cNvSpPr/>
          <p:nvPr/>
        </p:nvSpPr>
        <p:spPr>
          <a:xfrm>
            <a:off x="719669" y="5532908"/>
            <a:ext cx="2462806" cy="621839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AT" sz="2000" dirty="0"/>
              <a:t>klimaaktiv Haushalte</a:t>
            </a:r>
          </a:p>
        </p:txBody>
      </p:sp>
      <p:sp>
        <p:nvSpPr>
          <p:cNvPr id="17" name="Rechteck: abgerundete Ecken 16">
            <a:extLst>
              <a:ext uri="{FF2B5EF4-FFF2-40B4-BE49-F238E27FC236}">
                <a16:creationId xmlns:a16="http://schemas.microsoft.com/office/drawing/2014/main" id="{290EF796-9173-72F2-9AAC-5F2DA62C745C}"/>
              </a:ext>
            </a:extLst>
          </p:cNvPr>
          <p:cNvSpPr/>
          <p:nvPr/>
        </p:nvSpPr>
        <p:spPr>
          <a:xfrm>
            <a:off x="4350657" y="4400569"/>
            <a:ext cx="4761927" cy="352425"/>
          </a:xfrm>
          <a:prstGeom prst="round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AT" dirty="0"/>
              <a:t>klimaaktiv klimaneutrale Plus-Energie-Quartiere</a:t>
            </a:r>
          </a:p>
        </p:txBody>
      </p:sp>
    </p:spTree>
    <p:extLst>
      <p:ext uri="{BB962C8B-B14F-4D97-AF65-F5344CB8AC3E}">
        <p14:creationId xmlns:p14="http://schemas.microsoft.com/office/powerpoint/2010/main" val="181506775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D5BF664-41D2-8AAE-6912-0801D530FC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AT" dirty="0"/>
              <a:t>Angebote</a:t>
            </a:r>
          </a:p>
        </p:txBody>
      </p:sp>
      <p:sp>
        <p:nvSpPr>
          <p:cNvPr id="3" name="Bildplatzhalter 2">
            <a:extLst>
              <a:ext uri="{FF2B5EF4-FFF2-40B4-BE49-F238E27FC236}">
                <a16:creationId xmlns:a16="http://schemas.microsoft.com/office/drawing/2014/main" id="{54455086-E56C-A0B7-385B-AA6FE83C48C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/>
        <p:txBody>
          <a:bodyPr/>
          <a:lstStyle/>
          <a:p>
            <a:pPr marL="0" indent="0">
              <a:buNone/>
            </a:pPr>
            <a:r>
              <a:rPr lang="de-DE" dirty="0"/>
              <a:t>Dazu bietet klima</a:t>
            </a:r>
            <a:r>
              <a:rPr lang="de-DE" b="1" dirty="0"/>
              <a:t>aktiv</a:t>
            </a:r>
            <a:r>
              <a:rPr lang="de-DE" dirty="0"/>
              <a:t> ein stetig wachsendes Spektrum praxistauglicher </a:t>
            </a:r>
            <a:r>
              <a:rPr lang="de-DE" b="1" dirty="0">
                <a:solidFill>
                  <a:srgbClr val="980053"/>
                </a:solidFill>
              </a:rPr>
              <a:t>Informationen und Werkzeuge</a:t>
            </a:r>
            <a:r>
              <a:rPr lang="de-DE" dirty="0"/>
              <a:t>, die die Klima-, Energie- und Mobilitätswende für Gemeinden, Unternehmen und Privatpersonen erleichtern. klima</a:t>
            </a:r>
            <a:r>
              <a:rPr lang="de-DE" b="1" dirty="0"/>
              <a:t>aktiv</a:t>
            </a:r>
            <a:r>
              <a:rPr lang="de-DE" dirty="0"/>
              <a:t> zeigt, dass jede Tat zählt: Jede und jeder in Kommunen, Unternehmen, Vereinen und Haushalten kann einen aktiven Beitrag zur Erreichung der Klimaziele leisten. </a:t>
            </a:r>
          </a:p>
          <a:p>
            <a:pPr marL="0" indent="0">
              <a:buNone/>
            </a:pPr>
            <a:r>
              <a:rPr lang="de-DE" dirty="0"/>
              <a:t>Näheres unter </a:t>
            </a:r>
            <a:r>
              <a:rPr lang="de-DE" dirty="0">
                <a:hlinkClick r:id="rId2"/>
              </a:rPr>
              <a:t>klimaaktiv.at</a:t>
            </a:r>
            <a:endParaRPr lang="de-DE" dirty="0"/>
          </a:p>
          <a:p>
            <a:endParaRPr lang="de-AT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D46B9151-D1E6-1365-BA8D-462C82F900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AT" dirty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5162545B-53BA-7821-9807-6D55A25E9C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06269C-C24E-4E80-9A4B-E7E19BB59A67}" type="slidenum">
              <a:rPr lang="de-AT" smtClean="0"/>
              <a:pPr/>
              <a:t>3</a:t>
            </a:fld>
            <a:endParaRPr lang="de-AT" dirty="0"/>
          </a:p>
        </p:txBody>
      </p:sp>
    </p:spTree>
    <p:extLst>
      <p:ext uri="{BB962C8B-B14F-4D97-AF65-F5344CB8AC3E}">
        <p14:creationId xmlns:p14="http://schemas.microsoft.com/office/powerpoint/2010/main" val="420930581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0849881-643C-DC77-0D5F-110727D8D8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AT" dirty="0"/>
              <a:t>Das Programm klimaaktiv Siedlungen und Quartiere</a:t>
            </a:r>
          </a:p>
        </p:txBody>
      </p:sp>
      <p:sp>
        <p:nvSpPr>
          <p:cNvPr id="3" name="Bildplatzhalter 2">
            <a:extLst>
              <a:ext uri="{FF2B5EF4-FFF2-40B4-BE49-F238E27FC236}">
                <a16:creationId xmlns:a16="http://schemas.microsoft.com/office/drawing/2014/main" id="{37004AFE-1DCB-F417-9607-39330BC4158F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/>
        <p:txBody>
          <a:bodyPr/>
          <a:lstStyle/>
          <a:p>
            <a:r>
              <a:rPr lang="de-DE" dirty="0"/>
              <a:t>Das Programm leistet einen substanziellen Beitrag zur Erfüllung der Ziele des österreichischen Regierungsprogramms, insbesondere in den Bereichen </a:t>
            </a:r>
            <a:r>
              <a:rPr lang="de-DE" b="1" dirty="0">
                <a:solidFill>
                  <a:srgbClr val="980053"/>
                </a:solidFill>
              </a:rPr>
              <a:t>aktiver Klimaschutz, nachhaltige Raumordnung und leistbares Wohnen.</a:t>
            </a:r>
          </a:p>
          <a:p>
            <a:r>
              <a:rPr lang="de-DE" dirty="0"/>
              <a:t>klima</a:t>
            </a:r>
            <a:r>
              <a:rPr lang="de-DE" b="1" dirty="0"/>
              <a:t>aktiv</a:t>
            </a:r>
            <a:r>
              <a:rPr lang="de-DE" dirty="0"/>
              <a:t> Siedlungen und Quartiere ist ein strategisches Umsetzungsinstrument der Klimapolitik Österreichs und trägt direkt zur operativen Umsetzung des Regierungsprogramms bei. Es verbindet </a:t>
            </a:r>
            <a:r>
              <a:rPr lang="de-DE" b="1" dirty="0">
                <a:solidFill>
                  <a:srgbClr val="980053"/>
                </a:solidFill>
              </a:rPr>
              <a:t>technische Exzellenz mit sozialem Anspruch </a:t>
            </a:r>
            <a:r>
              <a:rPr lang="de-DE" dirty="0"/>
              <a:t>und wirkt somit auf mehreren Ebenen gleichzeitig – ökologisch, ökonomisch und sozial.</a:t>
            </a:r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6481EC4A-C4A1-1CC8-7C51-ECE88C7141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AT" dirty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07461866-5D96-D78D-B31C-331699C92A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06269C-C24E-4E80-9A4B-E7E19BB59A67}" type="slidenum">
              <a:rPr lang="de-AT" smtClean="0"/>
              <a:pPr/>
              <a:t>4</a:t>
            </a:fld>
            <a:endParaRPr lang="de-AT" dirty="0"/>
          </a:p>
        </p:txBody>
      </p:sp>
    </p:spTree>
    <p:extLst>
      <p:ext uri="{BB962C8B-B14F-4D97-AF65-F5344CB8AC3E}">
        <p14:creationId xmlns:p14="http://schemas.microsoft.com/office/powerpoint/2010/main" val="3063202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9E44C70-63AF-E9A7-C66A-C0193BD268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AT" dirty="0"/>
              <a:t>Die Anlaufstelle für Plus-Energie-Quartiere</a:t>
            </a:r>
          </a:p>
        </p:txBody>
      </p:sp>
      <p:sp>
        <p:nvSpPr>
          <p:cNvPr id="3" name="Bildplatzhalter 2">
            <a:extLst>
              <a:ext uri="{FF2B5EF4-FFF2-40B4-BE49-F238E27FC236}">
                <a16:creationId xmlns:a16="http://schemas.microsoft.com/office/drawing/2014/main" id="{0CF3D47F-17D1-843D-EF15-9D2B0BCA798C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/>
        <p:txBody>
          <a:bodyPr/>
          <a:lstStyle/>
          <a:p>
            <a:r>
              <a:rPr lang="de-AT" dirty="0"/>
              <a:t>Teil des klima</a:t>
            </a:r>
            <a:r>
              <a:rPr lang="de-AT" b="1" dirty="0"/>
              <a:t>aktiv</a:t>
            </a:r>
            <a:r>
              <a:rPr lang="de-AT" dirty="0"/>
              <a:t> Programms für Siedlungen und Quartiere</a:t>
            </a:r>
          </a:p>
          <a:p>
            <a:r>
              <a:rPr lang="de-DE" dirty="0"/>
              <a:t>Die Anlaufstelle unterstützt die Umsetzung von Plus-Energie-Quartieren, die bereits 2022 als </a:t>
            </a:r>
            <a:r>
              <a:rPr lang="de-DE" b="1" dirty="0">
                <a:solidFill>
                  <a:srgbClr val="980053"/>
                </a:solidFill>
              </a:rPr>
              <a:t>zukunftsfähige Ansätze </a:t>
            </a:r>
            <a:r>
              <a:rPr lang="de-DE" dirty="0"/>
              <a:t>zur Umsetzung der klima- und energiepolitischen Ziele betrachtet wurden. Dementsprechend wurde im Umsetzungsplan der österreichischen Energieforschungsinitiative in der </a:t>
            </a:r>
            <a:r>
              <a:rPr lang="de-DE" b="1" dirty="0">
                <a:solidFill>
                  <a:srgbClr val="980053"/>
                </a:solidFill>
              </a:rPr>
              <a:t>Klima- und Energiestra­tegie </a:t>
            </a:r>
            <a:r>
              <a:rPr lang="de-DE" dirty="0"/>
              <a:t>deren Entwicklung als </a:t>
            </a:r>
            <a:r>
              <a:rPr lang="de-DE" b="1" dirty="0">
                <a:solidFill>
                  <a:srgbClr val="980053"/>
                </a:solidFill>
              </a:rPr>
              <a:t>Mission</a:t>
            </a:r>
            <a:r>
              <a:rPr lang="de-DE" dirty="0"/>
              <a:t> festgelegt und soll bis 2025 in drei Modellstädten realisiert und getestet werden.</a:t>
            </a:r>
            <a:endParaRPr lang="de-AT" dirty="0"/>
          </a:p>
          <a:p>
            <a:endParaRPr lang="de-AT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2B267046-B489-F3A8-6AB1-F5030D75DC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AT" dirty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84543BE1-962D-88D1-6E25-7D0F1ACC56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06269C-C24E-4E80-9A4B-E7E19BB59A67}" type="slidenum">
              <a:rPr lang="de-AT" smtClean="0"/>
              <a:pPr/>
              <a:t>5</a:t>
            </a:fld>
            <a:endParaRPr lang="de-AT" dirty="0"/>
          </a:p>
        </p:txBody>
      </p:sp>
    </p:spTree>
    <p:extLst>
      <p:ext uri="{BB962C8B-B14F-4D97-AF65-F5344CB8AC3E}">
        <p14:creationId xmlns:p14="http://schemas.microsoft.com/office/powerpoint/2010/main" val="89832149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7C5C42F-26CF-51A1-94C7-B1F33CD348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AT" dirty="0"/>
              <a:t>Vision: Effizient, erneuerbar und flexibel versorgt</a:t>
            </a:r>
          </a:p>
        </p:txBody>
      </p:sp>
      <p:sp>
        <p:nvSpPr>
          <p:cNvPr id="3" name="Bildplatzhalter 2">
            <a:extLst>
              <a:ext uri="{FF2B5EF4-FFF2-40B4-BE49-F238E27FC236}">
                <a16:creationId xmlns:a16="http://schemas.microsoft.com/office/drawing/2014/main" id="{E755F423-148B-DC96-F9CA-D9C395BC3DA0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/>
        <p:txBody>
          <a:bodyPr/>
          <a:lstStyle/>
          <a:p>
            <a:endParaRPr lang="de-AT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CF02598D-1D60-A96B-61E0-746C37811B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AT" dirty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201B09F3-D9B1-3402-7CE5-B39EB76CF4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06269C-C24E-4E80-9A4B-E7E19BB59A67}" type="slidenum">
              <a:rPr lang="de-AT" smtClean="0"/>
              <a:pPr/>
              <a:t>6</a:t>
            </a:fld>
            <a:endParaRPr lang="de-AT" dirty="0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F5044B22-0776-41FD-F38E-EED7E705635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9668" y="2183925"/>
            <a:ext cx="9019729" cy="44697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extfeld 7">
            <a:extLst>
              <a:ext uri="{FF2B5EF4-FFF2-40B4-BE49-F238E27FC236}">
                <a16:creationId xmlns:a16="http://schemas.microsoft.com/office/drawing/2014/main" id="{F8ED4597-776A-2ED8-202C-E4E49046C12B}"/>
              </a:ext>
            </a:extLst>
          </p:cNvPr>
          <p:cNvSpPr txBox="1"/>
          <p:nvPr/>
        </p:nvSpPr>
        <p:spPr>
          <a:xfrm>
            <a:off x="7824872" y="6017670"/>
            <a:ext cx="19145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AT" dirty="0"/>
              <a:t>© Robert Six rb6</a:t>
            </a:r>
          </a:p>
        </p:txBody>
      </p:sp>
    </p:spTree>
    <p:extLst>
      <p:ext uri="{BB962C8B-B14F-4D97-AF65-F5344CB8AC3E}">
        <p14:creationId xmlns:p14="http://schemas.microsoft.com/office/powerpoint/2010/main" val="393687549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EB33372-24BA-7319-0177-870317DF7B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AT" dirty="0"/>
              <a:t>Angebote</a:t>
            </a:r>
          </a:p>
        </p:txBody>
      </p:sp>
      <p:sp>
        <p:nvSpPr>
          <p:cNvPr id="3" name="Bildplatzhalter 2">
            <a:extLst>
              <a:ext uri="{FF2B5EF4-FFF2-40B4-BE49-F238E27FC236}">
                <a16:creationId xmlns:a16="http://schemas.microsoft.com/office/drawing/2014/main" id="{507AC617-4916-D5A1-5706-663B721AC414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/>
        <p:txBody>
          <a:bodyPr/>
          <a:lstStyle/>
          <a:p>
            <a:r>
              <a:rPr lang="de-DE" dirty="0"/>
              <a:t>Öffentlich zugänglichen Standard als Orientierungshilfe</a:t>
            </a:r>
          </a:p>
          <a:p>
            <a:r>
              <a:rPr lang="de-DE" dirty="0"/>
              <a:t>Kostenfreies Informations- und Beratungsangebot</a:t>
            </a:r>
          </a:p>
          <a:p>
            <a:r>
              <a:rPr lang="de-DE" dirty="0"/>
              <a:t>Projektbegleitung von der ersten Idee bis zur Nutzung</a:t>
            </a:r>
          </a:p>
          <a:p>
            <a:r>
              <a:rPr lang="de-DE" dirty="0"/>
              <a:t>Transparenter Auditprozess</a:t>
            </a:r>
          </a:p>
          <a:p>
            <a:r>
              <a:rPr lang="de-AT" dirty="0"/>
              <a:t>Auszeichnung</a:t>
            </a:r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C56A0B6B-F377-068D-363E-FF52F10383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AT" dirty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3DE6B6C9-6802-2A24-73B6-7FDDC45D21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06269C-C24E-4E80-9A4B-E7E19BB59A67}" type="slidenum">
              <a:rPr lang="de-AT" smtClean="0"/>
              <a:pPr/>
              <a:t>7</a:t>
            </a:fld>
            <a:endParaRPr lang="de-AT" dirty="0"/>
          </a:p>
        </p:txBody>
      </p:sp>
    </p:spTree>
    <p:extLst>
      <p:ext uri="{BB962C8B-B14F-4D97-AF65-F5344CB8AC3E}">
        <p14:creationId xmlns:p14="http://schemas.microsoft.com/office/powerpoint/2010/main" val="96744111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el 7">
            <a:extLst>
              <a:ext uri="{FF2B5EF4-FFF2-40B4-BE49-F238E27FC236}">
                <a16:creationId xmlns:a16="http://schemas.microsoft.com/office/drawing/2014/main" id="{F8EFA6CB-327A-FF1C-5B31-F1F5B42EB6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0002" y="1152660"/>
            <a:ext cx="10638033" cy="1083322"/>
          </a:xfrm>
        </p:spPr>
        <p:txBody>
          <a:bodyPr/>
          <a:lstStyle/>
          <a:p>
            <a:r>
              <a:rPr lang="de-AT" dirty="0"/>
              <a:t>Das klimaaktiv Programmteam</a:t>
            </a: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48477D4D-DD7B-7FDA-C4B0-164D066FD3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2882773" y="6393309"/>
            <a:ext cx="1086029" cy="266700"/>
          </a:xfrm>
        </p:spPr>
        <p:txBody>
          <a:bodyPr/>
          <a:lstStyle/>
          <a:p>
            <a:fld id="{1206269C-C24E-4E80-9A4B-E7E19BB59A67}" type="slidenum">
              <a:rPr lang="de-AT" smtClean="0"/>
              <a:pPr/>
              <a:t>8</a:t>
            </a:fld>
            <a:endParaRPr lang="de-AT" dirty="0"/>
          </a:p>
        </p:txBody>
      </p:sp>
      <p:pic>
        <p:nvPicPr>
          <p:cNvPr id="10" name="Grafik 9">
            <a:extLst>
              <a:ext uri="{FF2B5EF4-FFF2-40B4-BE49-F238E27FC236}">
                <a16:creationId xmlns:a16="http://schemas.microsoft.com/office/drawing/2014/main" id="{55E6B797-2EC5-B14C-F4D7-A30648D9B48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19785" y="2196582"/>
            <a:ext cx="8293190" cy="4537331"/>
          </a:xfrm>
          <a:prstGeom prst="rect">
            <a:avLst/>
          </a:prstGeom>
        </p:spPr>
      </p:pic>
      <p:sp>
        <p:nvSpPr>
          <p:cNvPr id="13" name="Pfeil: Fünfeck 12">
            <a:extLst>
              <a:ext uri="{FF2B5EF4-FFF2-40B4-BE49-F238E27FC236}">
                <a16:creationId xmlns:a16="http://schemas.microsoft.com/office/drawing/2014/main" id="{D3878BD5-7A84-785A-16DD-96CE34A2D5D8}"/>
              </a:ext>
            </a:extLst>
          </p:cNvPr>
          <p:cNvSpPr/>
          <p:nvPr/>
        </p:nvSpPr>
        <p:spPr>
          <a:xfrm>
            <a:off x="719668" y="2333516"/>
            <a:ext cx="1876048" cy="571500"/>
          </a:xfrm>
          <a:prstGeom prst="homePlat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AT" dirty="0"/>
              <a:t>Informieren / Beraten</a:t>
            </a:r>
          </a:p>
        </p:txBody>
      </p:sp>
      <p:sp>
        <p:nvSpPr>
          <p:cNvPr id="14" name="Pfeil: Fünfeck 13">
            <a:extLst>
              <a:ext uri="{FF2B5EF4-FFF2-40B4-BE49-F238E27FC236}">
                <a16:creationId xmlns:a16="http://schemas.microsoft.com/office/drawing/2014/main" id="{08CFD184-10CF-1CC0-5B3F-182C0D92D4AB}"/>
              </a:ext>
            </a:extLst>
          </p:cNvPr>
          <p:cNvSpPr/>
          <p:nvPr/>
        </p:nvSpPr>
        <p:spPr>
          <a:xfrm>
            <a:off x="719668" y="3564126"/>
            <a:ext cx="1876048" cy="571500"/>
          </a:xfrm>
          <a:prstGeom prst="homePlate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AT" dirty="0"/>
              <a:t>Beraten / Bewerten</a:t>
            </a:r>
          </a:p>
        </p:txBody>
      </p:sp>
      <p:sp>
        <p:nvSpPr>
          <p:cNvPr id="16" name="Pfeil: Fünfeck 15">
            <a:extLst>
              <a:ext uri="{FF2B5EF4-FFF2-40B4-BE49-F238E27FC236}">
                <a16:creationId xmlns:a16="http://schemas.microsoft.com/office/drawing/2014/main" id="{44B9DAE7-3B09-A73D-A9B9-B93D91A02A01}"/>
              </a:ext>
            </a:extLst>
          </p:cNvPr>
          <p:cNvSpPr/>
          <p:nvPr/>
        </p:nvSpPr>
        <p:spPr>
          <a:xfrm flipH="1">
            <a:off x="8623508" y="1821253"/>
            <a:ext cx="1876048" cy="571500"/>
          </a:xfrm>
          <a:prstGeom prst="homePlate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AT" dirty="0"/>
              <a:t>Qualitäts-</a:t>
            </a:r>
          </a:p>
          <a:p>
            <a:pPr algn="ctr"/>
            <a:r>
              <a:rPr lang="de-AT" dirty="0"/>
              <a:t>Sicherung</a:t>
            </a:r>
          </a:p>
        </p:txBody>
      </p:sp>
      <p:sp>
        <p:nvSpPr>
          <p:cNvPr id="2" name="Sprechblase: rechteckig mit abgerundeten Ecken 1">
            <a:extLst>
              <a:ext uri="{FF2B5EF4-FFF2-40B4-BE49-F238E27FC236}">
                <a16:creationId xmlns:a16="http://schemas.microsoft.com/office/drawing/2014/main" id="{38B8FF91-F4E4-521E-E574-76EC2DE8D9BD}"/>
              </a:ext>
            </a:extLst>
          </p:cNvPr>
          <p:cNvSpPr/>
          <p:nvPr/>
        </p:nvSpPr>
        <p:spPr>
          <a:xfrm>
            <a:off x="6917276" y="3336507"/>
            <a:ext cx="2102627" cy="974236"/>
          </a:xfrm>
          <a:prstGeom prst="wedgeRoundRectCallout">
            <a:avLst>
              <a:gd name="adj1" fmla="val -69128"/>
              <a:gd name="adj2" fmla="val -9637"/>
              <a:gd name="adj3" fmla="val 16667"/>
            </a:avLst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400" dirty="0"/>
              <a:t>Ausbildungsangebot zum Kompetenzpartner im Aufbau</a:t>
            </a:r>
          </a:p>
        </p:txBody>
      </p:sp>
    </p:spTree>
    <p:extLst>
      <p:ext uri="{BB962C8B-B14F-4D97-AF65-F5344CB8AC3E}">
        <p14:creationId xmlns:p14="http://schemas.microsoft.com/office/powerpoint/2010/main" val="83539007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4C9BF87-79EC-6945-3228-4B52D5EEE0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0002" y="1406526"/>
            <a:ext cx="10638033" cy="829455"/>
          </a:xfrm>
        </p:spPr>
        <p:txBody>
          <a:bodyPr/>
          <a:lstStyle/>
          <a:p>
            <a:r>
              <a:rPr lang="de-DE" dirty="0"/>
              <a:t>Ihr Weg zum Plus-Energie-Quartier</a:t>
            </a: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77FA050C-F4A2-52BC-FA29-4689FD5844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06269C-C24E-4E80-9A4B-E7E19BB59A67}" type="slidenum">
              <a:rPr lang="de-AT" smtClean="0"/>
              <a:pPr/>
              <a:t>9</a:t>
            </a:fld>
            <a:endParaRPr lang="de-AT" dirty="0"/>
          </a:p>
        </p:txBody>
      </p:sp>
      <p:graphicFrame>
        <p:nvGraphicFramePr>
          <p:cNvPr id="6" name="Diagramm 5">
            <a:extLst>
              <a:ext uri="{FF2B5EF4-FFF2-40B4-BE49-F238E27FC236}">
                <a16:creationId xmlns:a16="http://schemas.microsoft.com/office/drawing/2014/main" id="{9BCBE637-1F01-B431-3885-D54368B55D61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03844243"/>
              </p:ext>
            </p:extLst>
          </p:nvPr>
        </p:nvGraphicFramePr>
        <p:xfrm>
          <a:off x="1099876" y="2066570"/>
          <a:ext cx="9054167" cy="380011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  <p:sp>
        <p:nvSpPr>
          <p:cNvPr id="8" name="Textfeld 7">
            <a:extLst>
              <a:ext uri="{FF2B5EF4-FFF2-40B4-BE49-F238E27FC236}">
                <a16:creationId xmlns:a16="http://schemas.microsoft.com/office/drawing/2014/main" id="{99EAF8FD-E3EB-8C20-18C7-3D88FE534147}"/>
              </a:ext>
            </a:extLst>
          </p:cNvPr>
          <p:cNvSpPr txBox="1"/>
          <p:nvPr/>
        </p:nvSpPr>
        <p:spPr>
          <a:xfrm>
            <a:off x="7447210" y="1406526"/>
            <a:ext cx="6094948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sz="3200" b="1" dirty="0">
                <a:solidFill>
                  <a:srgbClr val="003D84"/>
                </a:solidFill>
                <a:latin typeface="+mj-lt"/>
                <a:ea typeface="+mj-ea"/>
                <a:cs typeface="+mj-cs"/>
              </a:rPr>
              <a:t>Ansprechpartner</a:t>
            </a:r>
          </a:p>
        </p:txBody>
      </p:sp>
      <p:grpSp>
        <p:nvGrpSpPr>
          <p:cNvPr id="39" name="Gruppieren 38">
            <a:extLst>
              <a:ext uri="{FF2B5EF4-FFF2-40B4-BE49-F238E27FC236}">
                <a16:creationId xmlns:a16="http://schemas.microsoft.com/office/drawing/2014/main" id="{549347B6-487E-90D9-C50D-34189E5FF8B5}"/>
              </a:ext>
            </a:extLst>
          </p:cNvPr>
          <p:cNvGrpSpPr/>
          <p:nvPr/>
        </p:nvGrpSpPr>
        <p:grpSpPr>
          <a:xfrm>
            <a:off x="5974080" y="1991301"/>
            <a:ext cx="4407437" cy="3435845"/>
            <a:chOff x="5974080" y="2098422"/>
            <a:chExt cx="4407437" cy="3829895"/>
          </a:xfrm>
        </p:grpSpPr>
        <p:pic>
          <p:nvPicPr>
            <p:cNvPr id="14" name="Grafik 13" descr="Ein Bild, das Text, Screenshot, Schrift enthält.&#10;&#10;KI-generierte Inhalte können fehlerhaft sein.">
              <a:extLst>
                <a:ext uri="{FF2B5EF4-FFF2-40B4-BE49-F238E27FC236}">
                  <a16:creationId xmlns:a16="http://schemas.microsoft.com/office/drawing/2014/main" id="{25FB7C0D-81C8-9D1F-8848-E39A5FDC2D9E}"/>
                </a:ext>
              </a:extLst>
            </p:cNvPr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8070778" y="2098422"/>
              <a:ext cx="2298787" cy="1177427"/>
            </a:xfrm>
            <a:prstGeom prst="rect">
              <a:avLst/>
            </a:prstGeom>
          </p:spPr>
        </p:pic>
        <p:pic>
          <p:nvPicPr>
            <p:cNvPr id="16" name="Grafik 15" descr="Ein Bild, das Text, Schrift, Screenshot, weiß enthält.&#10;&#10;KI-generierte Inhalte können fehlerhaft sein.">
              <a:extLst>
                <a:ext uri="{FF2B5EF4-FFF2-40B4-BE49-F238E27FC236}">
                  <a16:creationId xmlns:a16="http://schemas.microsoft.com/office/drawing/2014/main" id="{472B374D-4383-E1B2-1AA0-6FB21F124760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/>
            <a:srcRect/>
            <a:stretch>
              <a:fillRect/>
            </a:stretch>
          </p:blipFill>
          <p:spPr>
            <a:xfrm>
              <a:off x="8106761" y="3448686"/>
              <a:ext cx="2274756" cy="1153397"/>
            </a:xfrm>
            <a:prstGeom prst="rect">
              <a:avLst/>
            </a:prstGeom>
          </p:spPr>
        </p:pic>
        <p:pic>
          <p:nvPicPr>
            <p:cNvPr id="18" name="Grafik 17" descr="Ein Bild, das Text, Schrift, Marke, Screenshot enthält.&#10;&#10;KI-generierte Inhalte können fehlerhaft sein.">
              <a:extLst>
                <a:ext uri="{FF2B5EF4-FFF2-40B4-BE49-F238E27FC236}">
                  <a16:creationId xmlns:a16="http://schemas.microsoft.com/office/drawing/2014/main" id="{2DC9BBD4-3D43-F9DE-03AF-1BA7D130D2E1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/>
            <a:stretch>
              <a:fillRect/>
            </a:stretch>
          </p:blipFill>
          <p:spPr>
            <a:xfrm>
              <a:off x="5974080" y="4774920"/>
              <a:ext cx="4407437" cy="1153397"/>
            </a:xfrm>
            <a:prstGeom prst="rect">
              <a:avLst/>
            </a:prstGeom>
          </p:spPr>
        </p:pic>
      </p:grpSp>
      <p:grpSp>
        <p:nvGrpSpPr>
          <p:cNvPr id="27" name="Gruppieren 26">
            <a:extLst>
              <a:ext uri="{FF2B5EF4-FFF2-40B4-BE49-F238E27FC236}">
                <a16:creationId xmlns:a16="http://schemas.microsoft.com/office/drawing/2014/main" id="{F5ED9CBD-2AA7-35CA-F2A6-38BF5D96D016}"/>
              </a:ext>
            </a:extLst>
          </p:cNvPr>
          <p:cNvGrpSpPr/>
          <p:nvPr/>
        </p:nvGrpSpPr>
        <p:grpSpPr>
          <a:xfrm>
            <a:off x="1984008" y="5360480"/>
            <a:ext cx="1847342" cy="1094218"/>
            <a:chOff x="9624656" y="925240"/>
            <a:chExt cx="1847342" cy="1094218"/>
          </a:xfrm>
        </p:grpSpPr>
        <p:sp>
          <p:nvSpPr>
            <p:cNvPr id="28" name="Band: nach unten gekippt 27">
              <a:extLst>
                <a:ext uri="{FF2B5EF4-FFF2-40B4-BE49-F238E27FC236}">
                  <a16:creationId xmlns:a16="http://schemas.microsoft.com/office/drawing/2014/main" id="{55E25FCF-56FB-CD2D-DEDD-6763E6963570}"/>
                </a:ext>
              </a:extLst>
            </p:cNvPr>
            <p:cNvSpPr/>
            <p:nvPr/>
          </p:nvSpPr>
          <p:spPr bwMode="auto">
            <a:xfrm>
              <a:off x="9624656" y="1450474"/>
              <a:ext cx="1775199" cy="540000"/>
            </a:xfrm>
            <a:prstGeom prst="ribbon">
              <a:avLst>
                <a:gd name="adj1" fmla="val 19017"/>
                <a:gd name="adj2" fmla="val 75000"/>
              </a:avLst>
            </a:prstGeom>
            <a:solidFill>
              <a:srgbClr val="F59C00">
                <a:lumMod val="60000"/>
                <a:lumOff val="40000"/>
              </a:srgbClr>
            </a:solidFill>
            <a:ln w="635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de-DE" sz="1400" b="0" i="0" u="none" strike="noStrike" kern="0" cap="none" spc="0" normalizeH="0" baseline="0" noProof="1">
                <a:ln>
                  <a:noFill/>
                </a:ln>
                <a:solidFill>
                  <a:srgbClr val="E6EFF3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9" name="Rechteck 28">
              <a:extLst>
                <a:ext uri="{FF2B5EF4-FFF2-40B4-BE49-F238E27FC236}">
                  <a16:creationId xmlns:a16="http://schemas.microsoft.com/office/drawing/2014/main" id="{2827E856-2B3E-9D12-C3C5-102D4EC5755A}"/>
                </a:ext>
              </a:extLst>
            </p:cNvPr>
            <p:cNvSpPr/>
            <p:nvPr/>
          </p:nvSpPr>
          <p:spPr bwMode="auto">
            <a:xfrm>
              <a:off x="9687606" y="1603960"/>
              <a:ext cx="1784392" cy="415498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0" marR="0" lvl="0" indent="0" algn="ctr" defTabSz="914377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de-DE" sz="1050" b="1" i="0" u="none" strike="noStrike" kern="1200" cap="none" spc="0" normalizeH="0" baseline="0" noProof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Bahnschrift" panose="020B0502040204020203" pitchFamily="34" charset="0"/>
                  <a:ea typeface="+mn-ea"/>
                  <a:cs typeface="+mn-cs"/>
                </a:rPr>
                <a:t>Plus-Energie-Quartier</a:t>
              </a:r>
            </a:p>
            <a:p>
              <a:pPr marL="0" marR="0" lvl="0" indent="0" algn="ctr" defTabSz="914377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de-DE" sz="1050" b="1" i="0" u="none" strike="noStrike" kern="1200" cap="none" spc="0" normalizeH="0" baseline="0" noProof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Bahnschrift" panose="020B0502040204020203" pitchFamily="34" charset="0"/>
                  <a:ea typeface="+mn-ea"/>
                  <a:cs typeface="+mn-cs"/>
                </a:rPr>
                <a:t>Mit Mobilität</a:t>
              </a:r>
            </a:p>
          </p:txBody>
        </p:sp>
        <p:grpSp>
          <p:nvGrpSpPr>
            <p:cNvPr id="30" name="Gruppieren 29">
              <a:extLst>
                <a:ext uri="{FF2B5EF4-FFF2-40B4-BE49-F238E27FC236}">
                  <a16:creationId xmlns:a16="http://schemas.microsoft.com/office/drawing/2014/main" id="{2432C33D-2283-DEBC-ACBD-F130A717D06D}"/>
                </a:ext>
              </a:extLst>
            </p:cNvPr>
            <p:cNvGrpSpPr/>
            <p:nvPr/>
          </p:nvGrpSpPr>
          <p:grpSpPr>
            <a:xfrm>
              <a:off x="10161463" y="925240"/>
              <a:ext cx="700101" cy="694145"/>
              <a:chOff x="4399640" y="1143095"/>
              <a:chExt cx="785172" cy="778492"/>
            </a:xfrm>
            <a:solidFill>
              <a:srgbClr val="F59C00"/>
            </a:solidFill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grpSpPr>
          <p:sp>
            <p:nvSpPr>
              <p:cNvPr id="31" name="Stern: 10 Zacken 30">
                <a:extLst>
                  <a:ext uri="{FF2B5EF4-FFF2-40B4-BE49-F238E27FC236}">
                    <a16:creationId xmlns:a16="http://schemas.microsoft.com/office/drawing/2014/main" id="{4ED6051A-5F05-35FC-6711-20CDC53F46F0}"/>
                  </a:ext>
                </a:extLst>
              </p:cNvPr>
              <p:cNvSpPr/>
              <p:nvPr/>
            </p:nvSpPr>
            <p:spPr>
              <a:xfrm>
                <a:off x="4399640" y="1143095"/>
                <a:ext cx="785172" cy="778492"/>
              </a:xfrm>
              <a:prstGeom prst="star10">
                <a:avLst>
                  <a:gd name="adj" fmla="val 44491"/>
                  <a:gd name="hf" fmla="val 105146"/>
                </a:avLst>
              </a:prstGeom>
              <a:grpFill/>
              <a:ln w="19050" cap="flat" cmpd="sng" algn="ctr">
                <a:solidFill>
                  <a:srgbClr val="F59C00"/>
                </a:solidFill>
                <a:prstDash val="solid"/>
                <a:miter lim="800000"/>
              </a:ln>
              <a:effectLst>
                <a:innerShdw blurRad="63500" dist="50800" dir="13500000">
                  <a:srgbClr val="F59C00">
                    <a:alpha val="77000"/>
                  </a:srgbClr>
                </a:innerShdw>
              </a:effectLst>
            </p:spPr>
            <p:txBody>
              <a:bodyPr rtlCol="0" anchor="ctr"/>
              <a:lstStyle/>
              <a:p>
                <a:pPr marL="0" marR="0" lvl="0" indent="0" algn="ctr" defTabSz="121917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de-DE" sz="1400" b="0" i="0" u="none" strike="noStrike" kern="0" cap="none" spc="0" normalizeH="0" baseline="0" noProof="1">
                  <a:ln>
                    <a:noFill/>
                  </a:ln>
                  <a:solidFill>
                    <a:srgbClr val="E6EFF3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32" name="Zehneck 31">
                <a:extLst>
                  <a:ext uri="{FF2B5EF4-FFF2-40B4-BE49-F238E27FC236}">
                    <a16:creationId xmlns:a16="http://schemas.microsoft.com/office/drawing/2014/main" id="{F4468293-3F0F-D6C0-6567-2795DD7E048E}"/>
                  </a:ext>
                </a:extLst>
              </p:cNvPr>
              <p:cNvSpPr/>
              <p:nvPr/>
            </p:nvSpPr>
            <p:spPr>
              <a:xfrm>
                <a:off x="4476265" y="1217862"/>
                <a:ext cx="620528" cy="620529"/>
              </a:xfrm>
              <a:prstGeom prst="decagon">
                <a:avLst/>
              </a:prstGeom>
              <a:solidFill>
                <a:srgbClr val="950F53"/>
              </a:solidFill>
              <a:ln w="12700" cap="flat" cmpd="sng" algn="ctr">
                <a:solidFill>
                  <a:srgbClr val="950F53"/>
                </a:solidFill>
                <a:prstDash val="solid"/>
                <a:miter lim="800000"/>
              </a:ln>
              <a:effectLst>
                <a:innerShdw blurRad="63500" dist="50800" dir="13500000">
                  <a:srgbClr val="F59C00">
                    <a:lumMod val="20000"/>
                    <a:lumOff val="80000"/>
                    <a:alpha val="72000"/>
                  </a:srgbClr>
                </a:innerShdw>
              </a:effectLst>
            </p:spPr>
            <p:txBody>
              <a:bodyPr rtlCol="0" anchor="ctr"/>
              <a:lstStyle/>
              <a:p>
                <a:pPr marL="0" marR="0" lvl="0" indent="0" algn="ctr" defTabSz="121917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de-DE" sz="1400" b="0" i="0" u="none" strike="noStrike" kern="0" cap="none" spc="0" normalizeH="0" baseline="0" noProof="1">
                  <a:ln>
                    <a:noFill/>
                  </a:ln>
                  <a:solidFill>
                    <a:srgbClr val="E6EFF3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33" name="Building5" descr="{&quot;Key&quot;:&quot;POWER_USER_SHAPE_ICON&quot;,&quot;Value&quot;:&quot;POWER_USER_SHAPE_ICON_STYLE_1&quot;}">
                <a:extLst>
                  <a:ext uri="{FF2B5EF4-FFF2-40B4-BE49-F238E27FC236}">
                    <a16:creationId xmlns:a16="http://schemas.microsoft.com/office/drawing/2014/main" id="{E8D5F29D-B8A1-B61F-F1A6-3E3A354FDFE2}"/>
                  </a:ext>
                </a:extLst>
              </p:cNvPr>
              <p:cNvSpPr>
                <a:spLocks noChangeAspect="1" noEditPoints="1"/>
              </p:cNvSpPr>
              <p:nvPr>
                <p:custDataLst>
                  <p:tags r:id="rId2"/>
                </p:custDataLst>
              </p:nvPr>
            </p:nvSpPr>
            <p:spPr bwMode="auto">
              <a:xfrm>
                <a:off x="4550947" y="1301271"/>
                <a:ext cx="461320" cy="410937"/>
              </a:xfrm>
              <a:custGeom>
                <a:avLst/>
                <a:gdLst>
                  <a:gd name="T0" fmla="*/ 915 w 1250"/>
                  <a:gd name="T1" fmla="*/ 250 h 1187"/>
                  <a:gd name="T2" fmla="*/ 915 w 1250"/>
                  <a:gd name="T3" fmla="*/ 1053 h 1187"/>
                  <a:gd name="T4" fmla="*/ 848 w 1250"/>
                  <a:gd name="T5" fmla="*/ 1053 h 1187"/>
                  <a:gd name="T6" fmla="*/ 850 w 1250"/>
                  <a:gd name="T7" fmla="*/ 0 h 1187"/>
                  <a:gd name="T8" fmla="*/ 448 w 1250"/>
                  <a:gd name="T9" fmla="*/ 0 h 1187"/>
                  <a:gd name="T10" fmla="*/ 446 w 1250"/>
                  <a:gd name="T11" fmla="*/ 1053 h 1187"/>
                  <a:gd name="T12" fmla="*/ 379 w 1250"/>
                  <a:gd name="T13" fmla="*/ 1053 h 1187"/>
                  <a:gd name="T14" fmla="*/ 379 w 1250"/>
                  <a:gd name="T15" fmla="*/ 361 h 1187"/>
                  <a:gd name="T16" fmla="*/ 0 w 1250"/>
                  <a:gd name="T17" fmla="*/ 361 h 1187"/>
                  <a:gd name="T18" fmla="*/ 0 w 1250"/>
                  <a:gd name="T19" fmla="*/ 1187 h 1187"/>
                  <a:gd name="T20" fmla="*/ 1250 w 1250"/>
                  <a:gd name="T21" fmla="*/ 1187 h 1187"/>
                  <a:gd name="T22" fmla="*/ 1250 w 1250"/>
                  <a:gd name="T23" fmla="*/ 250 h 1187"/>
                  <a:gd name="T24" fmla="*/ 915 w 1250"/>
                  <a:gd name="T25" fmla="*/ 250 h 1187"/>
                  <a:gd name="T26" fmla="*/ 982 w 1250"/>
                  <a:gd name="T27" fmla="*/ 339 h 1187"/>
                  <a:gd name="T28" fmla="*/ 1183 w 1250"/>
                  <a:gd name="T29" fmla="*/ 339 h 1187"/>
                  <a:gd name="T30" fmla="*/ 1183 w 1250"/>
                  <a:gd name="T31" fmla="*/ 584 h 1187"/>
                  <a:gd name="T32" fmla="*/ 982 w 1250"/>
                  <a:gd name="T33" fmla="*/ 584 h 1187"/>
                  <a:gd name="T34" fmla="*/ 982 w 1250"/>
                  <a:gd name="T35" fmla="*/ 339 h 1187"/>
                  <a:gd name="T36" fmla="*/ 982 w 1250"/>
                  <a:gd name="T37" fmla="*/ 674 h 1187"/>
                  <a:gd name="T38" fmla="*/ 1183 w 1250"/>
                  <a:gd name="T39" fmla="*/ 674 h 1187"/>
                  <a:gd name="T40" fmla="*/ 1183 w 1250"/>
                  <a:gd name="T41" fmla="*/ 919 h 1187"/>
                  <a:gd name="T42" fmla="*/ 982 w 1250"/>
                  <a:gd name="T43" fmla="*/ 919 h 1187"/>
                  <a:gd name="T44" fmla="*/ 982 w 1250"/>
                  <a:gd name="T45" fmla="*/ 674 h 1187"/>
                  <a:gd name="T46" fmla="*/ 513 w 1250"/>
                  <a:gd name="T47" fmla="*/ 71 h 1187"/>
                  <a:gd name="T48" fmla="*/ 781 w 1250"/>
                  <a:gd name="T49" fmla="*/ 71 h 1187"/>
                  <a:gd name="T50" fmla="*/ 781 w 1250"/>
                  <a:gd name="T51" fmla="*/ 183 h 1187"/>
                  <a:gd name="T52" fmla="*/ 513 w 1250"/>
                  <a:gd name="T53" fmla="*/ 183 h 1187"/>
                  <a:gd name="T54" fmla="*/ 513 w 1250"/>
                  <a:gd name="T55" fmla="*/ 71 h 1187"/>
                  <a:gd name="T56" fmla="*/ 513 w 1250"/>
                  <a:gd name="T57" fmla="*/ 294 h 1187"/>
                  <a:gd name="T58" fmla="*/ 781 w 1250"/>
                  <a:gd name="T59" fmla="*/ 294 h 1187"/>
                  <a:gd name="T60" fmla="*/ 781 w 1250"/>
                  <a:gd name="T61" fmla="*/ 406 h 1187"/>
                  <a:gd name="T62" fmla="*/ 513 w 1250"/>
                  <a:gd name="T63" fmla="*/ 406 h 1187"/>
                  <a:gd name="T64" fmla="*/ 513 w 1250"/>
                  <a:gd name="T65" fmla="*/ 294 h 1187"/>
                  <a:gd name="T66" fmla="*/ 513 w 1250"/>
                  <a:gd name="T67" fmla="*/ 517 h 1187"/>
                  <a:gd name="T68" fmla="*/ 781 w 1250"/>
                  <a:gd name="T69" fmla="*/ 517 h 1187"/>
                  <a:gd name="T70" fmla="*/ 781 w 1250"/>
                  <a:gd name="T71" fmla="*/ 629 h 1187"/>
                  <a:gd name="T72" fmla="*/ 513 w 1250"/>
                  <a:gd name="T73" fmla="*/ 629 h 1187"/>
                  <a:gd name="T74" fmla="*/ 513 w 1250"/>
                  <a:gd name="T75" fmla="*/ 517 h 1187"/>
                  <a:gd name="T76" fmla="*/ 513 w 1250"/>
                  <a:gd name="T77" fmla="*/ 741 h 1187"/>
                  <a:gd name="T78" fmla="*/ 781 w 1250"/>
                  <a:gd name="T79" fmla="*/ 741 h 1187"/>
                  <a:gd name="T80" fmla="*/ 781 w 1250"/>
                  <a:gd name="T81" fmla="*/ 852 h 1187"/>
                  <a:gd name="T82" fmla="*/ 513 w 1250"/>
                  <a:gd name="T83" fmla="*/ 852 h 1187"/>
                  <a:gd name="T84" fmla="*/ 513 w 1250"/>
                  <a:gd name="T85" fmla="*/ 741 h 1187"/>
                  <a:gd name="T86" fmla="*/ 67 w 1250"/>
                  <a:gd name="T87" fmla="*/ 450 h 1187"/>
                  <a:gd name="T88" fmla="*/ 156 w 1250"/>
                  <a:gd name="T89" fmla="*/ 450 h 1187"/>
                  <a:gd name="T90" fmla="*/ 156 w 1250"/>
                  <a:gd name="T91" fmla="*/ 607 h 1187"/>
                  <a:gd name="T92" fmla="*/ 67 w 1250"/>
                  <a:gd name="T93" fmla="*/ 607 h 1187"/>
                  <a:gd name="T94" fmla="*/ 67 w 1250"/>
                  <a:gd name="T95" fmla="*/ 450 h 1187"/>
                  <a:gd name="T96" fmla="*/ 223 w 1250"/>
                  <a:gd name="T97" fmla="*/ 450 h 1187"/>
                  <a:gd name="T98" fmla="*/ 313 w 1250"/>
                  <a:gd name="T99" fmla="*/ 450 h 1187"/>
                  <a:gd name="T100" fmla="*/ 313 w 1250"/>
                  <a:gd name="T101" fmla="*/ 607 h 1187"/>
                  <a:gd name="T102" fmla="*/ 223 w 1250"/>
                  <a:gd name="T103" fmla="*/ 607 h 1187"/>
                  <a:gd name="T104" fmla="*/ 223 w 1250"/>
                  <a:gd name="T105" fmla="*/ 450 h 1187"/>
                  <a:gd name="T106" fmla="*/ 67 w 1250"/>
                  <a:gd name="T107" fmla="*/ 718 h 1187"/>
                  <a:gd name="T108" fmla="*/ 156 w 1250"/>
                  <a:gd name="T109" fmla="*/ 718 h 1187"/>
                  <a:gd name="T110" fmla="*/ 156 w 1250"/>
                  <a:gd name="T111" fmla="*/ 875 h 1187"/>
                  <a:gd name="T112" fmla="*/ 67 w 1250"/>
                  <a:gd name="T113" fmla="*/ 875 h 1187"/>
                  <a:gd name="T114" fmla="*/ 67 w 1250"/>
                  <a:gd name="T115" fmla="*/ 718 h 1187"/>
                  <a:gd name="T116" fmla="*/ 223 w 1250"/>
                  <a:gd name="T117" fmla="*/ 718 h 1187"/>
                  <a:gd name="T118" fmla="*/ 313 w 1250"/>
                  <a:gd name="T119" fmla="*/ 718 h 1187"/>
                  <a:gd name="T120" fmla="*/ 313 w 1250"/>
                  <a:gd name="T121" fmla="*/ 875 h 1187"/>
                  <a:gd name="T122" fmla="*/ 223 w 1250"/>
                  <a:gd name="T123" fmla="*/ 875 h 1187"/>
                  <a:gd name="T124" fmla="*/ 223 w 1250"/>
                  <a:gd name="T125" fmla="*/ 718 h 118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  <a:cxn ang="0">
                    <a:pos x="T122" y="T123"/>
                  </a:cxn>
                  <a:cxn ang="0">
                    <a:pos x="T124" y="T125"/>
                  </a:cxn>
                </a:cxnLst>
                <a:rect l="0" t="0" r="r" b="b"/>
                <a:pathLst>
                  <a:path w="1250" h="1187">
                    <a:moveTo>
                      <a:pt x="915" y="250"/>
                    </a:moveTo>
                    <a:lnTo>
                      <a:pt x="915" y="1053"/>
                    </a:lnTo>
                    <a:lnTo>
                      <a:pt x="848" y="1053"/>
                    </a:lnTo>
                    <a:lnTo>
                      <a:pt x="850" y="0"/>
                    </a:lnTo>
                    <a:lnTo>
                      <a:pt x="448" y="0"/>
                    </a:lnTo>
                    <a:lnTo>
                      <a:pt x="446" y="1053"/>
                    </a:lnTo>
                    <a:lnTo>
                      <a:pt x="379" y="1053"/>
                    </a:lnTo>
                    <a:lnTo>
                      <a:pt x="379" y="361"/>
                    </a:lnTo>
                    <a:lnTo>
                      <a:pt x="0" y="361"/>
                    </a:lnTo>
                    <a:lnTo>
                      <a:pt x="0" y="1187"/>
                    </a:lnTo>
                    <a:lnTo>
                      <a:pt x="1250" y="1187"/>
                    </a:lnTo>
                    <a:lnTo>
                      <a:pt x="1250" y="250"/>
                    </a:lnTo>
                    <a:lnTo>
                      <a:pt x="915" y="250"/>
                    </a:lnTo>
                    <a:close/>
                    <a:moveTo>
                      <a:pt x="982" y="339"/>
                    </a:moveTo>
                    <a:lnTo>
                      <a:pt x="1183" y="339"/>
                    </a:lnTo>
                    <a:lnTo>
                      <a:pt x="1183" y="584"/>
                    </a:lnTo>
                    <a:lnTo>
                      <a:pt x="982" y="584"/>
                    </a:lnTo>
                    <a:lnTo>
                      <a:pt x="982" y="339"/>
                    </a:lnTo>
                    <a:close/>
                    <a:moveTo>
                      <a:pt x="982" y="674"/>
                    </a:moveTo>
                    <a:lnTo>
                      <a:pt x="1183" y="674"/>
                    </a:lnTo>
                    <a:lnTo>
                      <a:pt x="1183" y="919"/>
                    </a:lnTo>
                    <a:lnTo>
                      <a:pt x="982" y="919"/>
                    </a:lnTo>
                    <a:lnTo>
                      <a:pt x="982" y="674"/>
                    </a:lnTo>
                    <a:close/>
                    <a:moveTo>
                      <a:pt x="513" y="71"/>
                    </a:moveTo>
                    <a:lnTo>
                      <a:pt x="781" y="71"/>
                    </a:lnTo>
                    <a:lnTo>
                      <a:pt x="781" y="183"/>
                    </a:lnTo>
                    <a:lnTo>
                      <a:pt x="513" y="183"/>
                    </a:lnTo>
                    <a:lnTo>
                      <a:pt x="513" y="71"/>
                    </a:lnTo>
                    <a:close/>
                    <a:moveTo>
                      <a:pt x="513" y="294"/>
                    </a:moveTo>
                    <a:lnTo>
                      <a:pt x="781" y="294"/>
                    </a:lnTo>
                    <a:lnTo>
                      <a:pt x="781" y="406"/>
                    </a:lnTo>
                    <a:lnTo>
                      <a:pt x="513" y="406"/>
                    </a:lnTo>
                    <a:lnTo>
                      <a:pt x="513" y="294"/>
                    </a:lnTo>
                    <a:close/>
                    <a:moveTo>
                      <a:pt x="513" y="517"/>
                    </a:moveTo>
                    <a:lnTo>
                      <a:pt x="781" y="517"/>
                    </a:lnTo>
                    <a:lnTo>
                      <a:pt x="781" y="629"/>
                    </a:lnTo>
                    <a:lnTo>
                      <a:pt x="513" y="629"/>
                    </a:lnTo>
                    <a:lnTo>
                      <a:pt x="513" y="517"/>
                    </a:lnTo>
                    <a:close/>
                    <a:moveTo>
                      <a:pt x="513" y="741"/>
                    </a:moveTo>
                    <a:lnTo>
                      <a:pt x="781" y="741"/>
                    </a:lnTo>
                    <a:lnTo>
                      <a:pt x="781" y="852"/>
                    </a:lnTo>
                    <a:lnTo>
                      <a:pt x="513" y="852"/>
                    </a:lnTo>
                    <a:lnTo>
                      <a:pt x="513" y="741"/>
                    </a:lnTo>
                    <a:close/>
                    <a:moveTo>
                      <a:pt x="67" y="450"/>
                    </a:moveTo>
                    <a:lnTo>
                      <a:pt x="156" y="450"/>
                    </a:lnTo>
                    <a:lnTo>
                      <a:pt x="156" y="607"/>
                    </a:lnTo>
                    <a:lnTo>
                      <a:pt x="67" y="607"/>
                    </a:lnTo>
                    <a:lnTo>
                      <a:pt x="67" y="450"/>
                    </a:lnTo>
                    <a:close/>
                    <a:moveTo>
                      <a:pt x="223" y="450"/>
                    </a:moveTo>
                    <a:lnTo>
                      <a:pt x="313" y="450"/>
                    </a:lnTo>
                    <a:lnTo>
                      <a:pt x="313" y="607"/>
                    </a:lnTo>
                    <a:lnTo>
                      <a:pt x="223" y="607"/>
                    </a:lnTo>
                    <a:lnTo>
                      <a:pt x="223" y="450"/>
                    </a:lnTo>
                    <a:close/>
                    <a:moveTo>
                      <a:pt x="67" y="718"/>
                    </a:moveTo>
                    <a:lnTo>
                      <a:pt x="156" y="718"/>
                    </a:lnTo>
                    <a:lnTo>
                      <a:pt x="156" y="875"/>
                    </a:lnTo>
                    <a:lnTo>
                      <a:pt x="67" y="875"/>
                    </a:lnTo>
                    <a:lnTo>
                      <a:pt x="67" y="718"/>
                    </a:lnTo>
                    <a:close/>
                    <a:moveTo>
                      <a:pt x="223" y="718"/>
                    </a:moveTo>
                    <a:lnTo>
                      <a:pt x="313" y="718"/>
                    </a:lnTo>
                    <a:lnTo>
                      <a:pt x="313" y="875"/>
                    </a:lnTo>
                    <a:lnTo>
                      <a:pt x="223" y="875"/>
                    </a:lnTo>
                    <a:lnTo>
                      <a:pt x="223" y="718"/>
                    </a:lnTo>
                    <a:close/>
                  </a:path>
                </a:pathLst>
              </a:custGeom>
              <a:solidFill>
                <a:srgbClr val="F59C00"/>
              </a:solidFill>
              <a:ln>
                <a:noFill/>
              </a:ln>
              <a:effectLst>
                <a:glow rad="76200">
                  <a:srgbClr val="F59C00">
                    <a:lumMod val="20000"/>
                    <a:lumOff val="80000"/>
                    <a:alpha val="88000"/>
                  </a:srgbClr>
                </a:glow>
              </a:effec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377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de-DE" sz="1200" b="0" i="0" u="none" strike="noStrike" kern="0" cap="none" spc="0" normalizeH="0" baseline="0" noProof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</p:grpSp>
      <p:sp>
        <p:nvSpPr>
          <p:cNvPr id="34" name="Band: nach unten gekippt 33">
            <a:extLst>
              <a:ext uri="{FF2B5EF4-FFF2-40B4-BE49-F238E27FC236}">
                <a16:creationId xmlns:a16="http://schemas.microsoft.com/office/drawing/2014/main" id="{CF9C4045-942C-8B34-B23D-EEB2B5198A1B}"/>
              </a:ext>
            </a:extLst>
          </p:cNvPr>
          <p:cNvSpPr/>
          <p:nvPr/>
        </p:nvSpPr>
        <p:spPr bwMode="auto">
          <a:xfrm>
            <a:off x="283449" y="5974166"/>
            <a:ext cx="1728000" cy="540000"/>
          </a:xfrm>
          <a:prstGeom prst="ribbon">
            <a:avLst>
              <a:gd name="adj1" fmla="val 17116"/>
              <a:gd name="adj2" fmla="val 75000"/>
            </a:avLst>
          </a:prstGeom>
          <a:solidFill>
            <a:srgbClr val="950F53"/>
          </a:solidFill>
          <a:ln w="635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400" b="0" i="0" u="none" strike="noStrike" kern="0" cap="none" spc="0" normalizeH="0" baseline="0" noProof="1">
              <a:ln>
                <a:noFill/>
              </a:ln>
              <a:solidFill>
                <a:srgbClr val="E6EFF3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5" name="Rechteck 34">
            <a:extLst>
              <a:ext uri="{FF2B5EF4-FFF2-40B4-BE49-F238E27FC236}">
                <a16:creationId xmlns:a16="http://schemas.microsoft.com/office/drawing/2014/main" id="{FB930B8C-E257-23EB-386C-340E3049182F}"/>
              </a:ext>
            </a:extLst>
          </p:cNvPr>
          <p:cNvSpPr/>
          <p:nvPr/>
        </p:nvSpPr>
        <p:spPr bwMode="auto">
          <a:xfrm>
            <a:off x="497317" y="6084734"/>
            <a:ext cx="1333351" cy="4154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1050" b="1" i="0" u="none" strike="noStrike" kern="1200" cap="none" spc="0" normalizeH="0" baseline="0" noProof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Bahnschrift" panose="020B0502040204020203" pitchFamily="34" charset="0"/>
                <a:ea typeface="+mn-ea"/>
                <a:cs typeface="+mn-cs"/>
              </a:rPr>
              <a:t>Plus-Energie-Quartier</a:t>
            </a:r>
          </a:p>
        </p:txBody>
      </p:sp>
      <p:grpSp>
        <p:nvGrpSpPr>
          <p:cNvPr id="36" name="Gruppieren 35">
            <a:extLst>
              <a:ext uri="{FF2B5EF4-FFF2-40B4-BE49-F238E27FC236}">
                <a16:creationId xmlns:a16="http://schemas.microsoft.com/office/drawing/2014/main" id="{A532B496-4ED1-56A3-1ED6-C2B9D7A8A439}"/>
              </a:ext>
            </a:extLst>
          </p:cNvPr>
          <p:cNvGrpSpPr/>
          <p:nvPr/>
        </p:nvGrpSpPr>
        <p:grpSpPr>
          <a:xfrm>
            <a:off x="891149" y="5641970"/>
            <a:ext cx="483327" cy="460448"/>
            <a:chOff x="640424" y="760723"/>
            <a:chExt cx="730208" cy="730206"/>
          </a:xfrm>
          <a:solidFill>
            <a:srgbClr val="1F00CC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37" name="Stern: 12 Zacken 36">
              <a:extLst>
                <a:ext uri="{FF2B5EF4-FFF2-40B4-BE49-F238E27FC236}">
                  <a16:creationId xmlns:a16="http://schemas.microsoft.com/office/drawing/2014/main" id="{4068BE29-E611-E92A-EA64-03F467FC509D}"/>
                </a:ext>
              </a:extLst>
            </p:cNvPr>
            <p:cNvSpPr/>
            <p:nvPr/>
          </p:nvSpPr>
          <p:spPr>
            <a:xfrm>
              <a:off x="640424" y="760723"/>
              <a:ext cx="730208" cy="730206"/>
            </a:xfrm>
            <a:prstGeom prst="star12">
              <a:avLst>
                <a:gd name="adj" fmla="val 44170"/>
              </a:avLst>
            </a:prstGeom>
            <a:solidFill>
              <a:srgbClr val="950F53"/>
            </a:solidFill>
            <a:ln w="12700" cap="flat" cmpd="sng" algn="ctr">
              <a:solidFill>
                <a:srgbClr val="950F53"/>
              </a:solidFill>
              <a:prstDash val="solid"/>
              <a:miter lim="800000"/>
            </a:ln>
            <a:effectLst>
              <a:innerShdw blurRad="63500" dist="50800" dir="13500000">
                <a:srgbClr val="F59C00">
                  <a:lumMod val="20000"/>
                  <a:lumOff val="80000"/>
                  <a:alpha val="72000"/>
                </a:srgbClr>
              </a:innerShdw>
            </a:effectLst>
          </p:spPr>
          <p:txBody>
            <a:bodyPr rtlCol="0" anchor="ctr"/>
            <a:lstStyle/>
            <a:p>
              <a:pPr marL="0" marR="0" lvl="0" indent="0" algn="ctr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de-DE" sz="1400" b="0" i="0" u="none" strike="noStrike" kern="0" cap="none" spc="0" normalizeH="0" baseline="0" noProof="1">
                <a:ln>
                  <a:noFill/>
                </a:ln>
                <a:solidFill>
                  <a:srgbClr val="E6EFF3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8" name="Building5" descr="{&quot;Key&quot;:&quot;POWER_USER_SHAPE_ICON&quot;,&quot;Value&quot;:&quot;POWER_USER_SHAPE_ICON_STYLE_1&quot;}">
              <a:extLst>
                <a:ext uri="{FF2B5EF4-FFF2-40B4-BE49-F238E27FC236}">
                  <a16:creationId xmlns:a16="http://schemas.microsoft.com/office/drawing/2014/main" id="{BA590F80-9166-E1F3-AD6F-C92DF31A040F}"/>
                </a:ext>
              </a:extLst>
            </p:cNvPr>
            <p:cNvSpPr>
              <a:spLocks noChangeAspect="1" noEditPoints="1"/>
            </p:cNvSpPr>
            <p:nvPr>
              <p:custDataLst>
                <p:tags r:id="rId1"/>
              </p:custDataLst>
            </p:nvPr>
          </p:nvSpPr>
          <p:spPr bwMode="auto">
            <a:xfrm>
              <a:off x="757342" y="875488"/>
              <a:ext cx="490330" cy="436778"/>
            </a:xfrm>
            <a:custGeom>
              <a:avLst/>
              <a:gdLst>
                <a:gd name="T0" fmla="*/ 915 w 1250"/>
                <a:gd name="T1" fmla="*/ 250 h 1187"/>
                <a:gd name="T2" fmla="*/ 915 w 1250"/>
                <a:gd name="T3" fmla="*/ 1053 h 1187"/>
                <a:gd name="T4" fmla="*/ 848 w 1250"/>
                <a:gd name="T5" fmla="*/ 1053 h 1187"/>
                <a:gd name="T6" fmla="*/ 850 w 1250"/>
                <a:gd name="T7" fmla="*/ 0 h 1187"/>
                <a:gd name="T8" fmla="*/ 448 w 1250"/>
                <a:gd name="T9" fmla="*/ 0 h 1187"/>
                <a:gd name="T10" fmla="*/ 446 w 1250"/>
                <a:gd name="T11" fmla="*/ 1053 h 1187"/>
                <a:gd name="T12" fmla="*/ 379 w 1250"/>
                <a:gd name="T13" fmla="*/ 1053 h 1187"/>
                <a:gd name="T14" fmla="*/ 379 w 1250"/>
                <a:gd name="T15" fmla="*/ 361 h 1187"/>
                <a:gd name="T16" fmla="*/ 0 w 1250"/>
                <a:gd name="T17" fmla="*/ 361 h 1187"/>
                <a:gd name="T18" fmla="*/ 0 w 1250"/>
                <a:gd name="T19" fmla="*/ 1187 h 1187"/>
                <a:gd name="T20" fmla="*/ 1250 w 1250"/>
                <a:gd name="T21" fmla="*/ 1187 h 1187"/>
                <a:gd name="T22" fmla="*/ 1250 w 1250"/>
                <a:gd name="T23" fmla="*/ 250 h 1187"/>
                <a:gd name="T24" fmla="*/ 915 w 1250"/>
                <a:gd name="T25" fmla="*/ 250 h 1187"/>
                <a:gd name="T26" fmla="*/ 982 w 1250"/>
                <a:gd name="T27" fmla="*/ 339 h 1187"/>
                <a:gd name="T28" fmla="*/ 1183 w 1250"/>
                <a:gd name="T29" fmla="*/ 339 h 1187"/>
                <a:gd name="T30" fmla="*/ 1183 w 1250"/>
                <a:gd name="T31" fmla="*/ 584 h 1187"/>
                <a:gd name="T32" fmla="*/ 982 w 1250"/>
                <a:gd name="T33" fmla="*/ 584 h 1187"/>
                <a:gd name="T34" fmla="*/ 982 w 1250"/>
                <a:gd name="T35" fmla="*/ 339 h 1187"/>
                <a:gd name="T36" fmla="*/ 982 w 1250"/>
                <a:gd name="T37" fmla="*/ 674 h 1187"/>
                <a:gd name="T38" fmla="*/ 1183 w 1250"/>
                <a:gd name="T39" fmla="*/ 674 h 1187"/>
                <a:gd name="T40" fmla="*/ 1183 w 1250"/>
                <a:gd name="T41" fmla="*/ 919 h 1187"/>
                <a:gd name="T42" fmla="*/ 982 w 1250"/>
                <a:gd name="T43" fmla="*/ 919 h 1187"/>
                <a:gd name="T44" fmla="*/ 982 w 1250"/>
                <a:gd name="T45" fmla="*/ 674 h 1187"/>
                <a:gd name="T46" fmla="*/ 513 w 1250"/>
                <a:gd name="T47" fmla="*/ 71 h 1187"/>
                <a:gd name="T48" fmla="*/ 781 w 1250"/>
                <a:gd name="T49" fmla="*/ 71 h 1187"/>
                <a:gd name="T50" fmla="*/ 781 w 1250"/>
                <a:gd name="T51" fmla="*/ 183 h 1187"/>
                <a:gd name="T52" fmla="*/ 513 w 1250"/>
                <a:gd name="T53" fmla="*/ 183 h 1187"/>
                <a:gd name="T54" fmla="*/ 513 w 1250"/>
                <a:gd name="T55" fmla="*/ 71 h 1187"/>
                <a:gd name="T56" fmla="*/ 513 w 1250"/>
                <a:gd name="T57" fmla="*/ 294 h 1187"/>
                <a:gd name="T58" fmla="*/ 781 w 1250"/>
                <a:gd name="T59" fmla="*/ 294 h 1187"/>
                <a:gd name="T60" fmla="*/ 781 w 1250"/>
                <a:gd name="T61" fmla="*/ 406 h 1187"/>
                <a:gd name="T62" fmla="*/ 513 w 1250"/>
                <a:gd name="T63" fmla="*/ 406 h 1187"/>
                <a:gd name="T64" fmla="*/ 513 w 1250"/>
                <a:gd name="T65" fmla="*/ 294 h 1187"/>
                <a:gd name="T66" fmla="*/ 513 w 1250"/>
                <a:gd name="T67" fmla="*/ 517 h 1187"/>
                <a:gd name="T68" fmla="*/ 781 w 1250"/>
                <a:gd name="T69" fmla="*/ 517 h 1187"/>
                <a:gd name="T70" fmla="*/ 781 w 1250"/>
                <a:gd name="T71" fmla="*/ 629 h 1187"/>
                <a:gd name="T72" fmla="*/ 513 w 1250"/>
                <a:gd name="T73" fmla="*/ 629 h 1187"/>
                <a:gd name="T74" fmla="*/ 513 w 1250"/>
                <a:gd name="T75" fmla="*/ 517 h 1187"/>
                <a:gd name="T76" fmla="*/ 513 w 1250"/>
                <a:gd name="T77" fmla="*/ 741 h 1187"/>
                <a:gd name="T78" fmla="*/ 781 w 1250"/>
                <a:gd name="T79" fmla="*/ 741 h 1187"/>
                <a:gd name="T80" fmla="*/ 781 w 1250"/>
                <a:gd name="T81" fmla="*/ 852 h 1187"/>
                <a:gd name="T82" fmla="*/ 513 w 1250"/>
                <a:gd name="T83" fmla="*/ 852 h 1187"/>
                <a:gd name="T84" fmla="*/ 513 w 1250"/>
                <a:gd name="T85" fmla="*/ 741 h 1187"/>
                <a:gd name="T86" fmla="*/ 67 w 1250"/>
                <a:gd name="T87" fmla="*/ 450 h 1187"/>
                <a:gd name="T88" fmla="*/ 156 w 1250"/>
                <a:gd name="T89" fmla="*/ 450 h 1187"/>
                <a:gd name="T90" fmla="*/ 156 w 1250"/>
                <a:gd name="T91" fmla="*/ 607 h 1187"/>
                <a:gd name="T92" fmla="*/ 67 w 1250"/>
                <a:gd name="T93" fmla="*/ 607 h 1187"/>
                <a:gd name="T94" fmla="*/ 67 w 1250"/>
                <a:gd name="T95" fmla="*/ 450 h 1187"/>
                <a:gd name="T96" fmla="*/ 223 w 1250"/>
                <a:gd name="T97" fmla="*/ 450 h 1187"/>
                <a:gd name="T98" fmla="*/ 313 w 1250"/>
                <a:gd name="T99" fmla="*/ 450 h 1187"/>
                <a:gd name="T100" fmla="*/ 313 w 1250"/>
                <a:gd name="T101" fmla="*/ 607 h 1187"/>
                <a:gd name="T102" fmla="*/ 223 w 1250"/>
                <a:gd name="T103" fmla="*/ 607 h 1187"/>
                <a:gd name="T104" fmla="*/ 223 w 1250"/>
                <a:gd name="T105" fmla="*/ 450 h 1187"/>
                <a:gd name="T106" fmla="*/ 67 w 1250"/>
                <a:gd name="T107" fmla="*/ 718 h 1187"/>
                <a:gd name="T108" fmla="*/ 156 w 1250"/>
                <a:gd name="T109" fmla="*/ 718 h 1187"/>
                <a:gd name="T110" fmla="*/ 156 w 1250"/>
                <a:gd name="T111" fmla="*/ 875 h 1187"/>
                <a:gd name="T112" fmla="*/ 67 w 1250"/>
                <a:gd name="T113" fmla="*/ 875 h 1187"/>
                <a:gd name="T114" fmla="*/ 67 w 1250"/>
                <a:gd name="T115" fmla="*/ 718 h 1187"/>
                <a:gd name="T116" fmla="*/ 223 w 1250"/>
                <a:gd name="T117" fmla="*/ 718 h 1187"/>
                <a:gd name="T118" fmla="*/ 313 w 1250"/>
                <a:gd name="T119" fmla="*/ 718 h 1187"/>
                <a:gd name="T120" fmla="*/ 313 w 1250"/>
                <a:gd name="T121" fmla="*/ 875 h 1187"/>
                <a:gd name="T122" fmla="*/ 223 w 1250"/>
                <a:gd name="T123" fmla="*/ 875 h 1187"/>
                <a:gd name="T124" fmla="*/ 223 w 1250"/>
                <a:gd name="T125" fmla="*/ 718 h 11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1250" h="1187">
                  <a:moveTo>
                    <a:pt x="915" y="250"/>
                  </a:moveTo>
                  <a:lnTo>
                    <a:pt x="915" y="1053"/>
                  </a:lnTo>
                  <a:lnTo>
                    <a:pt x="848" y="1053"/>
                  </a:lnTo>
                  <a:lnTo>
                    <a:pt x="850" y="0"/>
                  </a:lnTo>
                  <a:lnTo>
                    <a:pt x="448" y="0"/>
                  </a:lnTo>
                  <a:lnTo>
                    <a:pt x="446" y="1053"/>
                  </a:lnTo>
                  <a:lnTo>
                    <a:pt x="379" y="1053"/>
                  </a:lnTo>
                  <a:lnTo>
                    <a:pt x="379" y="361"/>
                  </a:lnTo>
                  <a:lnTo>
                    <a:pt x="0" y="361"/>
                  </a:lnTo>
                  <a:lnTo>
                    <a:pt x="0" y="1187"/>
                  </a:lnTo>
                  <a:lnTo>
                    <a:pt x="1250" y="1187"/>
                  </a:lnTo>
                  <a:lnTo>
                    <a:pt x="1250" y="250"/>
                  </a:lnTo>
                  <a:lnTo>
                    <a:pt x="915" y="250"/>
                  </a:lnTo>
                  <a:close/>
                  <a:moveTo>
                    <a:pt x="982" y="339"/>
                  </a:moveTo>
                  <a:lnTo>
                    <a:pt x="1183" y="339"/>
                  </a:lnTo>
                  <a:lnTo>
                    <a:pt x="1183" y="584"/>
                  </a:lnTo>
                  <a:lnTo>
                    <a:pt x="982" y="584"/>
                  </a:lnTo>
                  <a:lnTo>
                    <a:pt x="982" y="339"/>
                  </a:lnTo>
                  <a:close/>
                  <a:moveTo>
                    <a:pt x="982" y="674"/>
                  </a:moveTo>
                  <a:lnTo>
                    <a:pt x="1183" y="674"/>
                  </a:lnTo>
                  <a:lnTo>
                    <a:pt x="1183" y="919"/>
                  </a:lnTo>
                  <a:lnTo>
                    <a:pt x="982" y="919"/>
                  </a:lnTo>
                  <a:lnTo>
                    <a:pt x="982" y="674"/>
                  </a:lnTo>
                  <a:close/>
                  <a:moveTo>
                    <a:pt x="513" y="71"/>
                  </a:moveTo>
                  <a:lnTo>
                    <a:pt x="781" y="71"/>
                  </a:lnTo>
                  <a:lnTo>
                    <a:pt x="781" y="183"/>
                  </a:lnTo>
                  <a:lnTo>
                    <a:pt x="513" y="183"/>
                  </a:lnTo>
                  <a:lnTo>
                    <a:pt x="513" y="71"/>
                  </a:lnTo>
                  <a:close/>
                  <a:moveTo>
                    <a:pt x="513" y="294"/>
                  </a:moveTo>
                  <a:lnTo>
                    <a:pt x="781" y="294"/>
                  </a:lnTo>
                  <a:lnTo>
                    <a:pt x="781" y="406"/>
                  </a:lnTo>
                  <a:lnTo>
                    <a:pt x="513" y="406"/>
                  </a:lnTo>
                  <a:lnTo>
                    <a:pt x="513" y="294"/>
                  </a:lnTo>
                  <a:close/>
                  <a:moveTo>
                    <a:pt x="513" y="517"/>
                  </a:moveTo>
                  <a:lnTo>
                    <a:pt x="781" y="517"/>
                  </a:lnTo>
                  <a:lnTo>
                    <a:pt x="781" y="629"/>
                  </a:lnTo>
                  <a:lnTo>
                    <a:pt x="513" y="629"/>
                  </a:lnTo>
                  <a:lnTo>
                    <a:pt x="513" y="517"/>
                  </a:lnTo>
                  <a:close/>
                  <a:moveTo>
                    <a:pt x="513" y="741"/>
                  </a:moveTo>
                  <a:lnTo>
                    <a:pt x="781" y="741"/>
                  </a:lnTo>
                  <a:lnTo>
                    <a:pt x="781" y="852"/>
                  </a:lnTo>
                  <a:lnTo>
                    <a:pt x="513" y="852"/>
                  </a:lnTo>
                  <a:lnTo>
                    <a:pt x="513" y="741"/>
                  </a:lnTo>
                  <a:close/>
                  <a:moveTo>
                    <a:pt x="67" y="450"/>
                  </a:moveTo>
                  <a:lnTo>
                    <a:pt x="156" y="450"/>
                  </a:lnTo>
                  <a:lnTo>
                    <a:pt x="156" y="607"/>
                  </a:lnTo>
                  <a:lnTo>
                    <a:pt x="67" y="607"/>
                  </a:lnTo>
                  <a:lnTo>
                    <a:pt x="67" y="450"/>
                  </a:lnTo>
                  <a:close/>
                  <a:moveTo>
                    <a:pt x="223" y="450"/>
                  </a:moveTo>
                  <a:lnTo>
                    <a:pt x="313" y="450"/>
                  </a:lnTo>
                  <a:lnTo>
                    <a:pt x="313" y="607"/>
                  </a:lnTo>
                  <a:lnTo>
                    <a:pt x="223" y="607"/>
                  </a:lnTo>
                  <a:lnTo>
                    <a:pt x="223" y="450"/>
                  </a:lnTo>
                  <a:close/>
                  <a:moveTo>
                    <a:pt x="67" y="718"/>
                  </a:moveTo>
                  <a:lnTo>
                    <a:pt x="156" y="718"/>
                  </a:lnTo>
                  <a:lnTo>
                    <a:pt x="156" y="875"/>
                  </a:lnTo>
                  <a:lnTo>
                    <a:pt x="67" y="875"/>
                  </a:lnTo>
                  <a:lnTo>
                    <a:pt x="67" y="718"/>
                  </a:lnTo>
                  <a:close/>
                  <a:moveTo>
                    <a:pt x="223" y="718"/>
                  </a:moveTo>
                  <a:lnTo>
                    <a:pt x="313" y="718"/>
                  </a:lnTo>
                  <a:lnTo>
                    <a:pt x="313" y="875"/>
                  </a:lnTo>
                  <a:lnTo>
                    <a:pt x="223" y="875"/>
                  </a:lnTo>
                  <a:lnTo>
                    <a:pt x="223" y="718"/>
                  </a:lnTo>
                  <a:close/>
                </a:path>
              </a:pathLst>
            </a:custGeom>
            <a:solidFill>
              <a:srgbClr val="950F53"/>
            </a:solidFill>
            <a:ln>
              <a:noFill/>
            </a:ln>
            <a:effectLst>
              <a:glow rad="38100">
                <a:srgbClr val="F59C00">
                  <a:lumMod val="20000"/>
                  <a:lumOff val="80000"/>
                  <a:alpha val="68000"/>
                </a:srgbClr>
              </a:glow>
            </a:effec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377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de-DE" sz="1200" b="0" i="0" u="none" strike="noStrike" kern="0" cap="none" spc="0" normalizeH="0" baseline="0" noProof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grpSp>
        <p:nvGrpSpPr>
          <p:cNvPr id="19" name="Gruppieren 37">
            <a:extLst>
              <a:ext uri="{FF2B5EF4-FFF2-40B4-BE49-F238E27FC236}">
                <a16:creationId xmlns:a16="http://schemas.microsoft.com/office/drawing/2014/main" id="{1F3EB0B3-5C12-3B3D-01AA-EC4709E72B3F}"/>
              </a:ext>
            </a:extLst>
          </p:cNvPr>
          <p:cNvGrpSpPr/>
          <p:nvPr/>
        </p:nvGrpSpPr>
        <p:grpSpPr>
          <a:xfrm>
            <a:off x="897677" y="5572360"/>
            <a:ext cx="2293717" cy="1559679"/>
            <a:chOff x="6018840" y="12960"/>
            <a:chExt cx="1865160" cy="1166760"/>
          </a:xfrm>
        </p:grpSpPr>
        <p:sp>
          <p:nvSpPr>
            <p:cNvPr id="20" name="Band: nach unten gekippt 40">
              <a:extLst>
                <a:ext uri="{FF2B5EF4-FFF2-40B4-BE49-F238E27FC236}">
                  <a16:creationId xmlns:a16="http://schemas.microsoft.com/office/drawing/2014/main" id="{0F3A8544-CBFA-45B5-59D4-EBC91FD60D6D}"/>
                </a:ext>
              </a:extLst>
            </p:cNvPr>
            <p:cNvSpPr/>
            <p:nvPr/>
          </p:nvSpPr>
          <p:spPr>
            <a:xfrm>
              <a:off x="6018840" y="566640"/>
              <a:ext cx="1865160" cy="420480"/>
            </a:xfrm>
            <a:prstGeom prst="ribbon">
              <a:avLst>
                <a:gd name="adj1" fmla="val 15670"/>
                <a:gd name="adj2" fmla="val 75000"/>
              </a:avLst>
            </a:prstGeom>
            <a:solidFill>
              <a:srgbClr val="3BACBE"/>
            </a:solidFill>
            <a:ln w="6350" cap="flat" cmpd="sng" algn="ctr">
              <a:noFill/>
              <a:prstDash val="solid"/>
            </a:ln>
            <a:effectLst/>
          </p:spPr>
          <p:txBody>
            <a:bodyPr lIns="90000" tIns="45000" rIns="90000" bIns="45000" anchor="ctr">
              <a:noAutofit/>
            </a:bodyPr>
            <a:lstStyle/>
            <a:p>
              <a:pPr marL="0" marR="0" lvl="0" indent="0" algn="ctr" defTabSz="121932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de-AT" sz="2130" b="0" i="0" u="none" strike="noStrike" kern="0" cap="none" spc="-1" normalizeH="0" baseline="0" noProof="0">
                <a:ln>
                  <a:noFill/>
                </a:ln>
                <a:solidFill>
                  <a:srgbClr val="E6EFF3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1" name="Stern: 12 Zacken 41">
              <a:extLst>
                <a:ext uri="{FF2B5EF4-FFF2-40B4-BE49-F238E27FC236}">
                  <a16:creationId xmlns:a16="http://schemas.microsoft.com/office/drawing/2014/main" id="{21484B3B-68DE-D016-D1E8-251226DA0A1E}"/>
                </a:ext>
              </a:extLst>
            </p:cNvPr>
            <p:cNvSpPr/>
            <p:nvPr/>
          </p:nvSpPr>
          <p:spPr>
            <a:xfrm>
              <a:off x="6623280" y="12960"/>
              <a:ext cx="691560" cy="663840"/>
            </a:xfrm>
            <a:prstGeom prst="star12">
              <a:avLst>
                <a:gd name="adj" fmla="val 47681"/>
              </a:avLst>
            </a:prstGeom>
            <a:solidFill>
              <a:srgbClr val="3BACBE"/>
            </a:solidFill>
            <a:ln w="19050" cap="flat" cmpd="sng" algn="ctr">
              <a:solidFill>
                <a:srgbClr val="3BACBE"/>
              </a:solidFill>
              <a:prstDash val="solid"/>
              <a:round/>
            </a:ln>
            <a:effectLst>
              <a:innerShdw blurRad="63500" dist="50800" dir="13500000">
                <a:srgbClr val="5FB564">
                  <a:lumMod val="20000"/>
                  <a:lumOff val="80000"/>
                  <a:alpha val="86000"/>
                </a:srgbClr>
              </a:innerShdw>
            </a:effectLst>
          </p:spPr>
          <p:txBody>
            <a:bodyPr lIns="90000" tIns="45000" rIns="90000" bIns="45000" anchor="ctr">
              <a:noAutofit/>
            </a:bodyPr>
            <a:lstStyle/>
            <a:p>
              <a:pPr marL="0" marR="0" lvl="0" indent="0" algn="ctr" defTabSz="121932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de-AT" sz="1400" b="0" i="0" u="none" strike="noStrike" kern="0" cap="none" spc="-1" normalizeH="0" baseline="0" noProof="0">
                <a:ln>
                  <a:noFill/>
                </a:ln>
                <a:solidFill>
                  <a:srgbClr val="E6EFF3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2" name="Textfeld 42">
              <a:extLst>
                <a:ext uri="{FF2B5EF4-FFF2-40B4-BE49-F238E27FC236}">
                  <a16:creationId xmlns:a16="http://schemas.microsoft.com/office/drawing/2014/main" id="{1D12A2E2-0A45-1A9A-A30C-4E575CD38B3A}"/>
                </a:ext>
              </a:extLst>
            </p:cNvPr>
            <p:cNvSpPr/>
            <p:nvPr/>
          </p:nvSpPr>
          <p:spPr>
            <a:xfrm>
              <a:off x="6132240" y="610560"/>
              <a:ext cx="1624320" cy="569160"/>
            </a:xfrm>
            <a:prstGeom prst="rect">
              <a:avLst/>
            </a:prstGeom>
            <a:noFill/>
            <a:ln w="0">
              <a:noFill/>
            </a:ln>
            <a:effectLst/>
          </p:spPr>
          <p:txBody>
            <a:bodyPr lIns="90000" tIns="45000" rIns="90000" bIns="45000" anchor="t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50" b="1" i="0" u="none" strike="noStrike" kern="0" cap="none" spc="-1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Bahnschrift"/>
                  <a:ea typeface="+mn-ea"/>
                  <a:cs typeface="+mn-cs"/>
                </a:rPr>
                <a:t>klimaneutrales </a:t>
              </a:r>
              <a:endParaRPr kumimoji="0" lang="de-DE" sz="1050" b="0" i="0" u="none" strike="noStrike" kern="0" cap="none" spc="-1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50" b="1" i="0" u="none" strike="noStrike" kern="0" cap="none" spc="-1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Bahnschrift"/>
                  <a:ea typeface="+mn-ea"/>
                  <a:cs typeface="+mn-cs"/>
                </a:rPr>
                <a:t>Plus-Energie-Quartier</a:t>
              </a:r>
              <a:endParaRPr kumimoji="0" lang="de-DE" sz="1050" b="0" i="0" u="none" strike="noStrike" kern="0" cap="none" spc="-1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de-DE" sz="1050" b="0" i="0" u="none" strike="noStrike" kern="0" cap="none" spc="-1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grpSp>
          <p:nvGrpSpPr>
            <p:cNvPr id="23" name="Gruppieren 43">
              <a:extLst>
                <a:ext uri="{FF2B5EF4-FFF2-40B4-BE49-F238E27FC236}">
                  <a16:creationId xmlns:a16="http://schemas.microsoft.com/office/drawing/2014/main" id="{67BDE421-DBC7-12C7-15CC-5F822D2BE14C}"/>
                </a:ext>
              </a:extLst>
            </p:cNvPr>
            <p:cNvGrpSpPr/>
            <p:nvPr/>
          </p:nvGrpSpPr>
          <p:grpSpPr>
            <a:xfrm>
              <a:off x="6662520" y="43560"/>
              <a:ext cx="611640" cy="606600"/>
              <a:chOff x="6662520" y="43560"/>
              <a:chExt cx="611640" cy="606600"/>
            </a:xfrm>
          </p:grpSpPr>
          <p:sp>
            <p:nvSpPr>
              <p:cNvPr id="25" name="Stern: 10 Zacken 45">
                <a:extLst>
                  <a:ext uri="{FF2B5EF4-FFF2-40B4-BE49-F238E27FC236}">
                    <a16:creationId xmlns:a16="http://schemas.microsoft.com/office/drawing/2014/main" id="{71606FE2-8A60-CE93-2DE1-01F566B59EB1}"/>
                  </a:ext>
                </a:extLst>
              </p:cNvPr>
              <p:cNvSpPr/>
              <p:nvPr/>
            </p:nvSpPr>
            <p:spPr>
              <a:xfrm>
                <a:off x="6662520" y="43560"/>
                <a:ext cx="611640" cy="606600"/>
              </a:xfrm>
              <a:prstGeom prst="star10">
                <a:avLst>
                  <a:gd name="adj" fmla="val 44491"/>
                  <a:gd name="hf" fmla="val 105146"/>
                </a:avLst>
              </a:prstGeom>
              <a:solidFill>
                <a:srgbClr val="F59C00"/>
              </a:solidFill>
              <a:ln w="19050" cap="flat" cmpd="sng" algn="ctr">
                <a:solidFill>
                  <a:srgbClr val="F59C00"/>
                </a:solidFill>
                <a:prstDash val="solid"/>
                <a:round/>
              </a:ln>
              <a:effectLst>
                <a:innerShdw blurRad="63500" dist="50800" dir="13500000">
                  <a:srgbClr val="F59C00">
                    <a:alpha val="77000"/>
                  </a:srgbClr>
                </a:innerShdw>
              </a:effectLst>
            </p:spPr>
            <p:txBody>
              <a:bodyPr lIns="90000" tIns="45000" rIns="90000" bIns="45000" anchor="ctr">
                <a:noAutofit/>
              </a:bodyPr>
              <a:lstStyle/>
              <a:p>
                <a:pPr marL="0" marR="0" lvl="0" indent="0" algn="ctr" defTabSz="121932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de-AT" sz="1400" b="0" i="0" u="none" strike="noStrike" kern="0" cap="none" spc="-1" normalizeH="0" baseline="0" noProof="0">
                  <a:ln>
                    <a:noFill/>
                  </a:ln>
                  <a:solidFill>
                    <a:srgbClr val="E6EFF3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6" name="Zehneck 46">
                <a:extLst>
                  <a:ext uri="{FF2B5EF4-FFF2-40B4-BE49-F238E27FC236}">
                    <a16:creationId xmlns:a16="http://schemas.microsoft.com/office/drawing/2014/main" id="{C6DA87ED-A4E3-99ED-9DCD-A6B61A319F43}"/>
                  </a:ext>
                </a:extLst>
              </p:cNvPr>
              <p:cNvSpPr/>
              <p:nvPr/>
            </p:nvSpPr>
            <p:spPr>
              <a:xfrm>
                <a:off x="6723720" y="103680"/>
                <a:ext cx="483480" cy="483480"/>
              </a:xfrm>
              <a:prstGeom prst="decagon">
                <a:avLst>
                  <a:gd name="vf" fmla="val 105146"/>
                </a:avLst>
              </a:prstGeom>
              <a:solidFill>
                <a:schemeClr val="accent5">
                  <a:lumMod val="75000"/>
                </a:schemeClr>
              </a:solidFill>
              <a:ln w="26425" cap="flat" cmpd="sng" algn="ctr">
                <a:solidFill>
                  <a:srgbClr val="950F53"/>
                </a:solidFill>
                <a:prstDash val="solid"/>
                <a:round/>
              </a:ln>
              <a:effectLst>
                <a:innerShdw blurRad="63500" dist="50800" dir="13500000">
                  <a:srgbClr val="F59C00">
                    <a:lumMod val="20000"/>
                    <a:lumOff val="80000"/>
                    <a:alpha val="72000"/>
                  </a:srgbClr>
                </a:innerShdw>
              </a:effectLst>
            </p:spPr>
            <p:txBody>
              <a:bodyPr lIns="90000" tIns="45000" rIns="90000" bIns="45000" anchor="ctr">
                <a:noAutofit/>
              </a:bodyPr>
              <a:lstStyle/>
              <a:p>
                <a:pPr marL="0" marR="0" lvl="0" indent="0" algn="ctr" defTabSz="121932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de-AT" sz="1400" b="0" i="0" u="none" strike="noStrike" kern="0" cap="none" spc="-1" normalizeH="0" baseline="0" noProof="0">
                  <a:ln>
                    <a:noFill/>
                  </a:ln>
                  <a:solidFill>
                    <a:srgbClr val="E6EFF3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  <p:sp>
          <p:nvSpPr>
            <p:cNvPr id="24" name="Building5">
              <a:extLst>
                <a:ext uri="{FF2B5EF4-FFF2-40B4-BE49-F238E27FC236}">
                  <a16:creationId xmlns:a16="http://schemas.microsoft.com/office/drawing/2014/main" id="{9F83CEA8-3CDA-99BC-4253-65FD0CAF7153}"/>
                </a:ext>
              </a:extLst>
            </p:cNvPr>
            <p:cNvSpPr/>
            <p:nvPr/>
          </p:nvSpPr>
          <p:spPr>
            <a:xfrm>
              <a:off x="6802920" y="191520"/>
              <a:ext cx="320040" cy="285120"/>
            </a:xfrm>
            <a:custGeom>
              <a:avLst/>
              <a:gdLst>
                <a:gd name="textAreaLeft" fmla="*/ 0 w 320040"/>
                <a:gd name="textAreaRight" fmla="*/ 320400 w 320040"/>
                <a:gd name="textAreaTop" fmla="*/ 0 h 285120"/>
                <a:gd name="textAreaBottom" fmla="*/ 285480 h 285120"/>
              </a:gdLst>
              <a:ahLst/>
              <a:cxnLst/>
              <a:rect l="textAreaLeft" t="textAreaTop" r="textAreaRight" b="textAreaBottom"/>
              <a:pathLst>
                <a:path w="1250" h="1187">
                  <a:moveTo>
                    <a:pt x="915" y="250"/>
                  </a:moveTo>
                  <a:lnTo>
                    <a:pt x="915" y="1053"/>
                  </a:lnTo>
                  <a:lnTo>
                    <a:pt x="848" y="1053"/>
                  </a:lnTo>
                  <a:lnTo>
                    <a:pt x="850" y="0"/>
                  </a:lnTo>
                  <a:lnTo>
                    <a:pt x="448" y="0"/>
                  </a:lnTo>
                  <a:lnTo>
                    <a:pt x="446" y="1053"/>
                  </a:lnTo>
                  <a:lnTo>
                    <a:pt x="379" y="1053"/>
                  </a:lnTo>
                  <a:lnTo>
                    <a:pt x="379" y="361"/>
                  </a:lnTo>
                  <a:lnTo>
                    <a:pt x="0" y="361"/>
                  </a:lnTo>
                  <a:lnTo>
                    <a:pt x="0" y="1187"/>
                  </a:lnTo>
                  <a:lnTo>
                    <a:pt x="1250" y="1187"/>
                  </a:lnTo>
                  <a:lnTo>
                    <a:pt x="1250" y="250"/>
                  </a:lnTo>
                  <a:lnTo>
                    <a:pt x="915" y="250"/>
                  </a:lnTo>
                  <a:close/>
                  <a:moveTo>
                    <a:pt x="982" y="339"/>
                  </a:moveTo>
                  <a:lnTo>
                    <a:pt x="1183" y="339"/>
                  </a:lnTo>
                  <a:lnTo>
                    <a:pt x="1183" y="584"/>
                  </a:lnTo>
                  <a:lnTo>
                    <a:pt x="982" y="584"/>
                  </a:lnTo>
                  <a:lnTo>
                    <a:pt x="982" y="339"/>
                  </a:lnTo>
                  <a:close/>
                  <a:moveTo>
                    <a:pt x="982" y="674"/>
                  </a:moveTo>
                  <a:lnTo>
                    <a:pt x="1183" y="674"/>
                  </a:lnTo>
                  <a:lnTo>
                    <a:pt x="1183" y="919"/>
                  </a:lnTo>
                  <a:lnTo>
                    <a:pt x="982" y="919"/>
                  </a:lnTo>
                  <a:lnTo>
                    <a:pt x="982" y="674"/>
                  </a:lnTo>
                  <a:close/>
                  <a:moveTo>
                    <a:pt x="513" y="71"/>
                  </a:moveTo>
                  <a:lnTo>
                    <a:pt x="781" y="71"/>
                  </a:lnTo>
                  <a:lnTo>
                    <a:pt x="781" y="183"/>
                  </a:lnTo>
                  <a:lnTo>
                    <a:pt x="513" y="183"/>
                  </a:lnTo>
                  <a:lnTo>
                    <a:pt x="513" y="71"/>
                  </a:lnTo>
                  <a:close/>
                  <a:moveTo>
                    <a:pt x="513" y="294"/>
                  </a:moveTo>
                  <a:lnTo>
                    <a:pt x="781" y="294"/>
                  </a:lnTo>
                  <a:lnTo>
                    <a:pt x="781" y="406"/>
                  </a:lnTo>
                  <a:lnTo>
                    <a:pt x="513" y="406"/>
                  </a:lnTo>
                  <a:lnTo>
                    <a:pt x="513" y="294"/>
                  </a:lnTo>
                  <a:close/>
                  <a:moveTo>
                    <a:pt x="513" y="517"/>
                  </a:moveTo>
                  <a:lnTo>
                    <a:pt x="781" y="517"/>
                  </a:lnTo>
                  <a:lnTo>
                    <a:pt x="781" y="629"/>
                  </a:lnTo>
                  <a:lnTo>
                    <a:pt x="513" y="629"/>
                  </a:lnTo>
                  <a:lnTo>
                    <a:pt x="513" y="517"/>
                  </a:lnTo>
                  <a:close/>
                  <a:moveTo>
                    <a:pt x="513" y="741"/>
                  </a:moveTo>
                  <a:lnTo>
                    <a:pt x="781" y="741"/>
                  </a:lnTo>
                  <a:lnTo>
                    <a:pt x="781" y="852"/>
                  </a:lnTo>
                  <a:lnTo>
                    <a:pt x="513" y="852"/>
                  </a:lnTo>
                  <a:lnTo>
                    <a:pt x="513" y="741"/>
                  </a:lnTo>
                  <a:close/>
                  <a:moveTo>
                    <a:pt x="67" y="450"/>
                  </a:moveTo>
                  <a:lnTo>
                    <a:pt x="156" y="450"/>
                  </a:lnTo>
                  <a:lnTo>
                    <a:pt x="156" y="607"/>
                  </a:lnTo>
                  <a:lnTo>
                    <a:pt x="67" y="607"/>
                  </a:lnTo>
                  <a:lnTo>
                    <a:pt x="67" y="450"/>
                  </a:lnTo>
                  <a:close/>
                  <a:moveTo>
                    <a:pt x="223" y="450"/>
                  </a:moveTo>
                  <a:lnTo>
                    <a:pt x="313" y="450"/>
                  </a:lnTo>
                  <a:lnTo>
                    <a:pt x="313" y="607"/>
                  </a:lnTo>
                  <a:lnTo>
                    <a:pt x="223" y="607"/>
                  </a:lnTo>
                  <a:lnTo>
                    <a:pt x="223" y="450"/>
                  </a:lnTo>
                  <a:close/>
                  <a:moveTo>
                    <a:pt x="67" y="718"/>
                  </a:moveTo>
                  <a:lnTo>
                    <a:pt x="156" y="718"/>
                  </a:lnTo>
                  <a:lnTo>
                    <a:pt x="156" y="875"/>
                  </a:lnTo>
                  <a:lnTo>
                    <a:pt x="67" y="875"/>
                  </a:lnTo>
                  <a:lnTo>
                    <a:pt x="67" y="718"/>
                  </a:lnTo>
                  <a:close/>
                  <a:moveTo>
                    <a:pt x="223" y="718"/>
                  </a:moveTo>
                  <a:lnTo>
                    <a:pt x="313" y="718"/>
                  </a:lnTo>
                  <a:lnTo>
                    <a:pt x="313" y="875"/>
                  </a:lnTo>
                  <a:lnTo>
                    <a:pt x="223" y="875"/>
                  </a:lnTo>
                  <a:lnTo>
                    <a:pt x="223" y="718"/>
                  </a:lnTo>
                  <a:close/>
                </a:path>
              </a:pathLst>
            </a:custGeom>
            <a:solidFill>
              <a:srgbClr val="3BACBE"/>
            </a:solidFill>
            <a:ln w="0">
              <a:noFill/>
            </a:ln>
            <a:effectLst>
              <a:glow rad="101520">
                <a:srgbClr val="FBE5DE">
                  <a:alpha val="86000"/>
                </a:srgbClr>
              </a:glow>
              <a:innerShdw blurRad="63500" dist="50800" dir="13500000">
                <a:srgbClr val="61FFA8">
                  <a:alpha val="38000"/>
                </a:srgbClr>
              </a:innerShdw>
            </a:effectLst>
          </p:spPr>
          <p:txBody>
            <a:bodyPr numCol="1" spcCol="0" anchor="t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200" b="0" i="0" u="none" strike="noStrike" kern="0" cap="none" spc="-1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83891744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A2BE12D-3293-ED60-09DD-83E1B3F91B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0002" y="1406526"/>
            <a:ext cx="10638033" cy="829455"/>
          </a:xfrm>
        </p:spPr>
        <p:txBody>
          <a:bodyPr/>
          <a:lstStyle/>
          <a:p>
            <a:r>
              <a:rPr lang="de-DE" dirty="0" err="1"/>
              <a:t>Kompetenzpartner:innen</a:t>
            </a:r>
            <a:r>
              <a:rPr lang="de-DE" dirty="0"/>
              <a:t>: Rolle und Mehrwert</a:t>
            </a:r>
          </a:p>
        </p:txBody>
      </p:sp>
      <p:sp>
        <p:nvSpPr>
          <p:cNvPr id="10" name="Textplatzhalter 9">
            <a:extLst>
              <a:ext uri="{FF2B5EF4-FFF2-40B4-BE49-F238E27FC236}">
                <a16:creationId xmlns:a16="http://schemas.microsoft.com/office/drawing/2014/main" id="{B9F27F14-36FF-9C7C-FC96-5575D499AAD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719670" y="2164801"/>
            <a:ext cx="4604806" cy="3977767"/>
          </a:xfrm>
        </p:spPr>
        <p:txBody>
          <a:bodyPr>
            <a:normAutofit fontScale="77500" lnSpcReduction="20000"/>
          </a:bodyPr>
          <a:lstStyle/>
          <a:p>
            <a:pPr>
              <a:lnSpc>
                <a:spcPct val="120000"/>
              </a:lnSpc>
              <a:spcAft>
                <a:spcPts val="600"/>
              </a:spcAft>
            </a:pPr>
            <a:r>
              <a:rPr lang="de-DE" dirty="0"/>
              <a:t>Kostenfreies Klimaaktiv-Angebot für Projektentwickler und Gemeinden</a:t>
            </a:r>
          </a:p>
          <a:p>
            <a:pPr>
              <a:lnSpc>
                <a:spcPct val="120000"/>
              </a:lnSpc>
              <a:spcAft>
                <a:spcPts val="600"/>
              </a:spcAft>
            </a:pPr>
            <a:r>
              <a:rPr lang="de-DE" dirty="0"/>
              <a:t>Prozesse konzipieren und begleiten</a:t>
            </a:r>
          </a:p>
          <a:p>
            <a:pPr>
              <a:lnSpc>
                <a:spcPct val="120000"/>
              </a:lnSpc>
              <a:spcAft>
                <a:spcPts val="600"/>
              </a:spcAft>
            </a:pPr>
            <a:r>
              <a:rPr lang="de-DE" dirty="0"/>
              <a:t>Überparteilich und im Sinne der Sache agieren</a:t>
            </a:r>
          </a:p>
          <a:p>
            <a:pPr>
              <a:lnSpc>
                <a:spcPct val="120000"/>
              </a:lnSpc>
              <a:spcAft>
                <a:spcPts val="600"/>
              </a:spcAft>
            </a:pPr>
            <a:r>
              <a:rPr lang="de-DE" dirty="0"/>
              <a:t>Perspektiven sichtbar machen und Interessen ausgleichen</a:t>
            </a:r>
          </a:p>
          <a:p>
            <a:pPr>
              <a:lnSpc>
                <a:spcPct val="120000"/>
              </a:lnSpc>
              <a:spcAft>
                <a:spcPts val="600"/>
              </a:spcAft>
            </a:pPr>
            <a:r>
              <a:rPr lang="de-DE" dirty="0"/>
              <a:t>Informieren, Erfahrungen teilen und inspirieren</a:t>
            </a:r>
          </a:p>
          <a:p>
            <a:pPr>
              <a:lnSpc>
                <a:spcPct val="120000"/>
              </a:lnSpc>
              <a:spcAft>
                <a:spcPts val="600"/>
              </a:spcAft>
            </a:pPr>
            <a:r>
              <a:rPr lang="de-DE" dirty="0"/>
              <a:t>Klimaaktiv Strukturen und Werkzeuge nutzen und Qualitätssicherung unterstützen</a:t>
            </a:r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B35C491F-8893-862C-43EE-9080C96E65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20000" y="6387003"/>
            <a:ext cx="9167888" cy="266700"/>
          </a:xfrm>
        </p:spPr>
        <p:txBody>
          <a:bodyPr/>
          <a:lstStyle/>
          <a:p>
            <a:r>
              <a:rPr lang="de-AT" dirty="0"/>
              <a:t>Quelle: Stadtlabor Graz @ klimaaktiv Konferenz 2026</a:t>
            </a: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314DF959-E330-A78B-8EAB-E6D9F388E8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272004" y="6387003"/>
            <a:ext cx="1086029" cy="266700"/>
          </a:xfrm>
        </p:spPr>
        <p:txBody>
          <a:bodyPr/>
          <a:lstStyle/>
          <a:p>
            <a:fld id="{1206269C-C24E-4E80-9A4B-E7E19BB59A67}" type="slidenum">
              <a:rPr lang="de-AT" smtClean="0"/>
              <a:pPr/>
              <a:t>10</a:t>
            </a:fld>
            <a:endParaRPr lang="de-AT" dirty="0"/>
          </a:p>
        </p:txBody>
      </p:sp>
      <p:pic>
        <p:nvPicPr>
          <p:cNvPr id="15" name="Grafik 14">
            <a:extLst>
              <a:ext uri="{FF2B5EF4-FFF2-40B4-BE49-F238E27FC236}">
                <a16:creationId xmlns:a16="http://schemas.microsoft.com/office/drawing/2014/main" id="{9D2C43C3-62F4-9D61-755A-13654024CD4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57825" y="2235200"/>
            <a:ext cx="6667500" cy="4445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862404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000E0AC-7ED9-4CAB-B723-5EE77B767E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AT" dirty="0"/>
              <a:t>Erfolge seit 2024 (Stand September 2025)</a:t>
            </a:r>
          </a:p>
        </p:txBody>
      </p:sp>
      <p:sp>
        <p:nvSpPr>
          <p:cNvPr id="3" name="Bildplatzhalter 2">
            <a:extLst>
              <a:ext uri="{FF2B5EF4-FFF2-40B4-BE49-F238E27FC236}">
                <a16:creationId xmlns:a16="http://schemas.microsoft.com/office/drawing/2014/main" id="{684B363F-D22E-84D8-0EF9-F9B6318FBAD2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987396" y="2174401"/>
            <a:ext cx="4370640" cy="3968167"/>
          </a:xfrm>
        </p:spPr>
        <p:txBody>
          <a:bodyPr/>
          <a:lstStyle/>
          <a:p>
            <a:r>
              <a:rPr lang="de-AT" dirty="0"/>
              <a:t>3 abgeschlossene Audits und Planungsdeklarationen</a:t>
            </a:r>
          </a:p>
          <a:p>
            <a:r>
              <a:rPr lang="de-AT" dirty="0"/>
              <a:t>2 Umsetzungen </a:t>
            </a:r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A45F5B5D-9CD5-BE76-F95F-249B0F8564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AT" dirty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9A15AAFB-133B-684C-67E0-619212E73D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06269C-C24E-4E80-9A4B-E7E19BB59A67}" type="slidenum">
              <a:rPr lang="de-AT" smtClean="0"/>
              <a:pPr/>
              <a:t>11</a:t>
            </a:fld>
            <a:endParaRPr lang="de-AT" dirty="0"/>
          </a:p>
        </p:txBody>
      </p:sp>
      <p:pic>
        <p:nvPicPr>
          <p:cNvPr id="12" name="Grafik 11">
            <a:extLst>
              <a:ext uri="{FF2B5EF4-FFF2-40B4-BE49-F238E27FC236}">
                <a16:creationId xmlns:a16="http://schemas.microsoft.com/office/drawing/2014/main" id="{99D5D6EA-7434-9108-F099-6C295301ECE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9999" y="2174401"/>
            <a:ext cx="5977255" cy="46835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3072324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73EA98E-BDD1-C3EC-D95B-A4CEF1D5DC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F75301D8-4DB1-C202-38B3-AE51CCB724E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B918F479-3E4E-8271-23E7-67A46B3D57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AT" dirty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C76DA754-C14C-F363-2841-44B73DF9EA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06269C-C24E-4E80-9A4B-E7E19BB59A67}" type="slidenum">
              <a:rPr lang="de-AT" smtClean="0"/>
              <a:pPr/>
              <a:t>12</a:t>
            </a:fld>
            <a:endParaRPr lang="de-AT" dirty="0"/>
          </a:p>
        </p:txBody>
      </p:sp>
      <p:grpSp>
        <p:nvGrpSpPr>
          <p:cNvPr id="8" name="Gruppieren 7">
            <a:extLst>
              <a:ext uri="{FF2B5EF4-FFF2-40B4-BE49-F238E27FC236}">
                <a16:creationId xmlns:a16="http://schemas.microsoft.com/office/drawing/2014/main" id="{434A84E5-B790-097E-1FEE-AFA2279AAA0C}"/>
              </a:ext>
            </a:extLst>
          </p:cNvPr>
          <p:cNvGrpSpPr/>
          <p:nvPr/>
        </p:nvGrpSpPr>
        <p:grpSpPr>
          <a:xfrm>
            <a:off x="719669" y="1053544"/>
            <a:ext cx="5607338" cy="5804456"/>
            <a:chOff x="607526" y="1391719"/>
            <a:chExt cx="5607338" cy="5804456"/>
          </a:xfrm>
        </p:grpSpPr>
        <p:pic>
          <p:nvPicPr>
            <p:cNvPr id="7" name="Grafik 6">
              <a:extLst>
                <a:ext uri="{FF2B5EF4-FFF2-40B4-BE49-F238E27FC236}">
                  <a16:creationId xmlns:a16="http://schemas.microsoft.com/office/drawing/2014/main" id="{6143A2EF-E2D0-1910-4A15-8188D241C6D0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t="31571" b="34392"/>
            <a:stretch/>
          </p:blipFill>
          <p:spPr>
            <a:xfrm>
              <a:off x="607526" y="1391719"/>
              <a:ext cx="5607338" cy="1915064"/>
            </a:xfrm>
            <a:prstGeom prst="rect">
              <a:avLst/>
            </a:prstGeom>
          </p:spPr>
        </p:pic>
        <p:pic>
          <p:nvPicPr>
            <p:cNvPr id="6" name="Grafik 5">
              <a:extLst>
                <a:ext uri="{FF2B5EF4-FFF2-40B4-BE49-F238E27FC236}">
                  <a16:creationId xmlns:a16="http://schemas.microsoft.com/office/drawing/2014/main" id="{2952CAB8-D73F-5890-6EC3-4E218CF027EA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b="32817"/>
            <a:stretch/>
          </p:blipFill>
          <p:spPr>
            <a:xfrm>
              <a:off x="607526" y="3429000"/>
              <a:ext cx="4400776" cy="3767175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23144653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18B4B15-8807-CC6B-62A6-8E3DD3A4B4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Deklaration je nach Projektstand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9A69058B-90E2-D0E2-E539-13EDC9104BF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719669" y="2164801"/>
            <a:ext cx="9671833" cy="650245"/>
          </a:xfrm>
        </p:spPr>
        <p:txBody>
          <a:bodyPr/>
          <a:lstStyle/>
          <a:p>
            <a:endParaRPr lang="de-DE" dirty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440E40AC-6FAD-8C1E-C0DB-6CEE45DAC2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06269C-C24E-4E80-9A4B-E7E19BB59A67}" type="slidenum">
              <a:rPr lang="de-AT" smtClean="0"/>
              <a:pPr/>
              <a:t>13</a:t>
            </a:fld>
            <a:endParaRPr lang="de-AT" dirty="0"/>
          </a:p>
        </p:txBody>
      </p:sp>
      <p:graphicFrame>
        <p:nvGraphicFramePr>
          <p:cNvPr id="9" name="Diagramm 8">
            <a:extLst>
              <a:ext uri="{FF2B5EF4-FFF2-40B4-BE49-F238E27FC236}">
                <a16:creationId xmlns:a16="http://schemas.microsoft.com/office/drawing/2014/main" id="{F797E012-EE4B-DDB2-C470-BC42ADC6516E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440775083"/>
              </p:ext>
            </p:extLst>
          </p:nvPr>
        </p:nvGraphicFramePr>
        <p:xfrm>
          <a:off x="719670" y="2403565"/>
          <a:ext cx="10638033" cy="398343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51977048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E506452-FFCB-A224-B9E3-8039121A7C1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de-AT" dirty="0"/>
              <a:t>Der Plus-Energie-Standard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0722D227-0AD4-A9B0-9752-B6653260A6B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de-AT" dirty="0"/>
              <a:t>Grundlage für die Planung, Bewertung und Qualitätssicherung von Plus-Energie-Quartieren</a:t>
            </a:r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18FFA89A-34E0-26B9-DD6E-1AE845D1A44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de-AT" dirty="0"/>
              <a:t>Wien, Dezember 2025</a:t>
            </a:r>
          </a:p>
        </p:txBody>
      </p:sp>
    </p:spTree>
    <p:extLst>
      <p:ext uri="{BB962C8B-B14F-4D97-AF65-F5344CB8AC3E}">
        <p14:creationId xmlns:p14="http://schemas.microsoft.com/office/powerpoint/2010/main" val="364253109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7C5C42F-26CF-51A1-94C7-B1F33CD348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AT" dirty="0"/>
              <a:t>Vision: Effizient, erneuerbar und flexibel versorgt</a:t>
            </a:r>
          </a:p>
        </p:txBody>
      </p:sp>
      <p:sp>
        <p:nvSpPr>
          <p:cNvPr id="3" name="Bildplatzhalter 2">
            <a:extLst>
              <a:ext uri="{FF2B5EF4-FFF2-40B4-BE49-F238E27FC236}">
                <a16:creationId xmlns:a16="http://schemas.microsoft.com/office/drawing/2014/main" id="{E755F423-148B-DC96-F9CA-D9C395BC3DA0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/>
        <p:txBody>
          <a:bodyPr/>
          <a:lstStyle/>
          <a:p>
            <a:endParaRPr lang="de-AT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CF02598D-1D60-A96B-61E0-746C37811B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914377"/>
            <a:endParaRPr lang="de-AT" dirty="0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201B09F3-D9B1-3402-7CE5-B39EB76CF4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914377"/>
            <a:fld id="{1206269C-C24E-4E80-9A4B-E7E19BB59A67}" type="slidenum">
              <a:rPr lang="de-AT">
                <a:solidFill>
                  <a:srgbClr val="000000"/>
                </a:solidFill>
                <a:latin typeface="Calibri" panose="020F0502020204030204"/>
              </a:rPr>
              <a:pPr defTabSz="914377"/>
              <a:t>15</a:t>
            </a:fld>
            <a:endParaRPr lang="de-AT" dirty="0">
              <a:solidFill>
                <a:srgbClr val="000000"/>
              </a:solidFill>
              <a:latin typeface="Calibri" panose="020F0502020204030204"/>
            </a:endParaRP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F5044B22-0776-41FD-F38E-EED7E705635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" y="2235857"/>
            <a:ext cx="9019729" cy="44697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extfeld 7">
            <a:extLst>
              <a:ext uri="{FF2B5EF4-FFF2-40B4-BE49-F238E27FC236}">
                <a16:creationId xmlns:a16="http://schemas.microsoft.com/office/drawing/2014/main" id="{F8ED4597-776A-2ED8-202C-E4E49046C12B}"/>
              </a:ext>
            </a:extLst>
          </p:cNvPr>
          <p:cNvSpPr txBox="1"/>
          <p:nvPr/>
        </p:nvSpPr>
        <p:spPr>
          <a:xfrm>
            <a:off x="6845979" y="6080999"/>
            <a:ext cx="19145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377"/>
            <a:r>
              <a:rPr lang="de-AT" dirty="0">
                <a:solidFill>
                  <a:srgbClr val="000000"/>
                </a:solidFill>
                <a:latin typeface="Calibri" panose="020F0502020204030204"/>
              </a:rPr>
              <a:t>© Robert Six rb6</a:t>
            </a:r>
          </a:p>
        </p:txBody>
      </p:sp>
      <p:graphicFrame>
        <p:nvGraphicFramePr>
          <p:cNvPr id="6" name="Diagramm 5">
            <a:extLst>
              <a:ext uri="{FF2B5EF4-FFF2-40B4-BE49-F238E27FC236}">
                <a16:creationId xmlns:a16="http://schemas.microsoft.com/office/drawing/2014/main" id="{601B6B71-57FB-FED4-864F-69C39C842021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289537519"/>
              </p:ext>
            </p:extLst>
          </p:nvPr>
        </p:nvGraphicFramePr>
        <p:xfrm>
          <a:off x="7639539" y="747972"/>
          <a:ext cx="5269443" cy="353486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234278649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4CA7C4F5-FCEE-A146-AA54-63C92D7ED7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el 6">
            <a:extLst>
              <a:ext uri="{FF2B5EF4-FFF2-40B4-BE49-F238E27FC236}">
                <a16:creationId xmlns:a16="http://schemas.microsoft.com/office/drawing/2014/main" id="{6955E8A6-A1E6-B130-F67C-825D88AF7F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Anwendungsbereich: Quantitative Bewertung von Konzepten</a:t>
            </a:r>
            <a:endParaRPr lang="de-AT" dirty="0"/>
          </a:p>
        </p:txBody>
      </p:sp>
      <p:sp>
        <p:nvSpPr>
          <p:cNvPr id="8" name="Textplatzhalter 7">
            <a:extLst>
              <a:ext uri="{FF2B5EF4-FFF2-40B4-BE49-F238E27FC236}">
                <a16:creationId xmlns:a16="http://schemas.microsoft.com/office/drawing/2014/main" id="{7A843557-1467-90E4-50E4-7619F3447E6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719669" y="2164801"/>
            <a:ext cx="10822474" cy="3977767"/>
          </a:xfrm>
        </p:spPr>
        <p:txBody>
          <a:bodyPr/>
          <a:lstStyle/>
          <a:p>
            <a:r>
              <a:rPr lang="de-DE" dirty="0"/>
              <a:t>Art des Vorhabens: Neubau, Sanierung, Transformation</a:t>
            </a:r>
          </a:p>
          <a:p>
            <a:r>
              <a:rPr lang="de-DE" dirty="0"/>
              <a:t>Projektgröße: ab GFZ von 0,5 bis hin zu ganzen Orts- und Stadtteilen</a:t>
            </a:r>
          </a:p>
          <a:p>
            <a:r>
              <a:rPr lang="de-DE" dirty="0"/>
              <a:t>Projektphasen: Bestandsanalyse, Entwicklung, Planung, Umsetzung, Bezug, Nutzung</a:t>
            </a:r>
          </a:p>
          <a:p>
            <a:r>
              <a:rPr lang="de-DE" dirty="0"/>
              <a:t>Rechenmethodik für Primärenergie- und Treibhausgas-Emissionsbilanz für Betrieb, Mobilität und Errichtung eines Quartiers</a:t>
            </a:r>
          </a:p>
          <a:p>
            <a:r>
              <a:rPr lang="de-DE" dirty="0"/>
              <a:t>Berücksichtigung von baulicher Dichte, Standort / Mobilitätskonzept, Art des Vorhabens</a:t>
            </a:r>
          </a:p>
          <a:p>
            <a:endParaRPr lang="de-AT" dirty="0"/>
          </a:p>
        </p:txBody>
      </p:sp>
    </p:spTree>
    <p:extLst>
      <p:ext uri="{BB962C8B-B14F-4D97-AF65-F5344CB8AC3E}">
        <p14:creationId xmlns:p14="http://schemas.microsoft.com/office/powerpoint/2010/main" val="407584673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EAA41A7-F4CC-D1CE-5CBA-394B7091BD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AT" dirty="0"/>
              <a:t>Leitideen des Plus-Energie-Quartier-Standards</a:t>
            </a:r>
            <a:endParaRPr lang="de-DE" dirty="0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05B3809D-E2AA-1D13-148A-53AED96E51F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pPr>
              <a:spcBef>
                <a:spcPts val="1200"/>
              </a:spcBef>
            </a:pPr>
            <a:r>
              <a:rPr lang="de-AT" dirty="0"/>
              <a:t>Ein </a:t>
            </a:r>
            <a:r>
              <a:rPr lang="de-AT" b="1" dirty="0"/>
              <a:t>klimaneutrales Plus-Energie-Quartier </a:t>
            </a:r>
            <a:r>
              <a:rPr lang="de-AT" dirty="0"/>
              <a:t>garantiert den Nutzer*innen bereits jetzt richtungsstabil die Kompatibilität mit einem </a:t>
            </a:r>
            <a:r>
              <a:rPr lang="de-AT" dirty="0" err="1"/>
              <a:t>dekarbonisierten</a:t>
            </a:r>
            <a:r>
              <a:rPr lang="de-AT" dirty="0"/>
              <a:t> und 100% erneuerbaren Energiesystem</a:t>
            </a:r>
            <a:endParaRPr lang="de-AT" sz="1000" dirty="0"/>
          </a:p>
          <a:p>
            <a:pPr>
              <a:spcBef>
                <a:spcPts val="1200"/>
              </a:spcBef>
            </a:pPr>
            <a:r>
              <a:rPr lang="de-DE" dirty="0"/>
              <a:t>Verbindet die nationalen Klimaziele (</a:t>
            </a:r>
            <a:r>
              <a:rPr lang="de-DE" dirty="0" err="1"/>
              <a:t>dekarbonisierte</a:t>
            </a:r>
            <a:r>
              <a:rPr lang="de-DE" dirty="0"/>
              <a:t> Energieversorgung 2050, bzw. 2040) und Transformation zu 100% Erneuerbarem Energiesystem mit lokalen Zielen für ein Quartier (Gebäude)</a:t>
            </a:r>
          </a:p>
          <a:p>
            <a:pPr>
              <a:spcBef>
                <a:spcPts val="1200"/>
              </a:spcBef>
            </a:pPr>
            <a:r>
              <a:rPr lang="de-DE" dirty="0"/>
              <a:t>Die Nachweise sind mit wenig Zusatzaufwand über alle Planungsphasen und den Betrieb und beruhen auf einem dynamischen Verfahren</a:t>
            </a:r>
            <a:endParaRPr lang="de-AT" sz="1000" dirty="0"/>
          </a:p>
          <a:p>
            <a:endParaRPr lang="de-DE" dirty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C1308F78-286D-56AE-E761-697FC85B75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206269C-C24E-4E80-9A4B-E7E19BB59A67}" type="slidenum">
              <a:rPr kumimoji="0" lang="de-AT" sz="1867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17</a:t>
            </a:fld>
            <a:endParaRPr kumimoji="0" lang="de-AT" sz="1867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Crossroads" descr="{&quot;Key&quot;:&quot;POWER_USER_SHAPE_ICON&quot;,&quot;Value&quot;:&quot;POWER_USER_SHAPE_ICON_STYLE_1&quot;}">
            <a:extLst>
              <a:ext uri="{FF2B5EF4-FFF2-40B4-BE49-F238E27FC236}">
                <a16:creationId xmlns:a16="http://schemas.microsoft.com/office/drawing/2014/main" id="{CF5BD974-3CB3-A65E-8055-BF9AF92093A4}"/>
              </a:ext>
            </a:extLst>
          </p:cNvPr>
          <p:cNvSpPr>
            <a:spLocks noChangeAspect="1"/>
          </p:cNvSpPr>
          <p:nvPr>
            <p:custDataLst>
              <p:tags r:id="rId1"/>
            </p:custDataLst>
          </p:nvPr>
        </p:nvSpPr>
        <p:spPr bwMode="auto">
          <a:xfrm>
            <a:off x="481439" y="2236041"/>
            <a:ext cx="496750" cy="540766"/>
          </a:xfrm>
          <a:custGeom>
            <a:avLst/>
            <a:gdLst>
              <a:gd name="T0" fmla="*/ 626 w 736"/>
              <a:gd name="T1" fmla="*/ 300 h 800"/>
              <a:gd name="T2" fmla="*/ 368 w 736"/>
              <a:gd name="T3" fmla="*/ 300 h 800"/>
              <a:gd name="T4" fmla="*/ 368 w 736"/>
              <a:gd name="T5" fmla="*/ 266 h 800"/>
              <a:gd name="T6" fmla="*/ 455 w 736"/>
              <a:gd name="T7" fmla="*/ 266 h 800"/>
              <a:gd name="T8" fmla="*/ 468 w 736"/>
              <a:gd name="T9" fmla="*/ 253 h 800"/>
              <a:gd name="T10" fmla="*/ 468 w 736"/>
              <a:gd name="T11" fmla="*/ 80 h 800"/>
              <a:gd name="T12" fmla="*/ 455 w 736"/>
              <a:gd name="T13" fmla="*/ 66 h 800"/>
              <a:gd name="T14" fmla="*/ 368 w 736"/>
              <a:gd name="T15" fmla="*/ 66 h 800"/>
              <a:gd name="T16" fmla="*/ 368 w 736"/>
              <a:gd name="T17" fmla="*/ 33 h 800"/>
              <a:gd name="T18" fmla="*/ 334 w 736"/>
              <a:gd name="T19" fmla="*/ 0 h 800"/>
              <a:gd name="T20" fmla="*/ 301 w 736"/>
              <a:gd name="T21" fmla="*/ 33 h 800"/>
              <a:gd name="T22" fmla="*/ 301 w 736"/>
              <a:gd name="T23" fmla="*/ 66 h 800"/>
              <a:gd name="T24" fmla="*/ 109 w 736"/>
              <a:gd name="T25" fmla="*/ 66 h 800"/>
              <a:gd name="T26" fmla="*/ 87 w 736"/>
              <a:gd name="T27" fmla="*/ 75 h 800"/>
              <a:gd name="T28" fmla="*/ 5 w 736"/>
              <a:gd name="T29" fmla="*/ 157 h 800"/>
              <a:gd name="T30" fmla="*/ 5 w 736"/>
              <a:gd name="T31" fmla="*/ 175 h 800"/>
              <a:gd name="T32" fmla="*/ 87 w 736"/>
              <a:gd name="T33" fmla="*/ 257 h 800"/>
              <a:gd name="T34" fmla="*/ 109 w 736"/>
              <a:gd name="T35" fmla="*/ 266 h 800"/>
              <a:gd name="T36" fmla="*/ 301 w 736"/>
              <a:gd name="T37" fmla="*/ 266 h 800"/>
              <a:gd name="T38" fmla="*/ 301 w 736"/>
              <a:gd name="T39" fmla="*/ 300 h 800"/>
              <a:gd name="T40" fmla="*/ 214 w 736"/>
              <a:gd name="T41" fmla="*/ 300 h 800"/>
              <a:gd name="T42" fmla="*/ 201 w 736"/>
              <a:gd name="T43" fmla="*/ 313 h 800"/>
              <a:gd name="T44" fmla="*/ 201 w 736"/>
              <a:gd name="T45" fmla="*/ 486 h 800"/>
              <a:gd name="T46" fmla="*/ 214 w 736"/>
              <a:gd name="T47" fmla="*/ 500 h 800"/>
              <a:gd name="T48" fmla="*/ 301 w 736"/>
              <a:gd name="T49" fmla="*/ 500 h 800"/>
              <a:gd name="T50" fmla="*/ 301 w 736"/>
              <a:gd name="T51" fmla="*/ 766 h 800"/>
              <a:gd name="T52" fmla="*/ 334 w 736"/>
              <a:gd name="T53" fmla="*/ 800 h 800"/>
              <a:gd name="T54" fmla="*/ 368 w 736"/>
              <a:gd name="T55" fmla="*/ 766 h 800"/>
              <a:gd name="T56" fmla="*/ 368 w 736"/>
              <a:gd name="T57" fmla="*/ 500 h 800"/>
              <a:gd name="T58" fmla="*/ 626 w 736"/>
              <a:gd name="T59" fmla="*/ 500 h 800"/>
              <a:gd name="T60" fmla="*/ 648 w 736"/>
              <a:gd name="T61" fmla="*/ 491 h 800"/>
              <a:gd name="T62" fmla="*/ 731 w 736"/>
              <a:gd name="T63" fmla="*/ 409 h 800"/>
              <a:gd name="T64" fmla="*/ 731 w 736"/>
              <a:gd name="T65" fmla="*/ 391 h 800"/>
              <a:gd name="T66" fmla="*/ 648 w 736"/>
              <a:gd name="T67" fmla="*/ 309 h 800"/>
              <a:gd name="T68" fmla="*/ 626 w 736"/>
              <a:gd name="T69" fmla="*/ 300 h 8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</a:cxnLst>
            <a:rect l="0" t="0" r="r" b="b"/>
            <a:pathLst>
              <a:path w="736" h="800">
                <a:moveTo>
                  <a:pt x="626" y="300"/>
                </a:moveTo>
                <a:lnTo>
                  <a:pt x="368" y="300"/>
                </a:lnTo>
                <a:lnTo>
                  <a:pt x="368" y="266"/>
                </a:lnTo>
                <a:lnTo>
                  <a:pt x="455" y="266"/>
                </a:lnTo>
                <a:cubicBezTo>
                  <a:pt x="462" y="266"/>
                  <a:pt x="468" y="260"/>
                  <a:pt x="468" y="253"/>
                </a:cubicBezTo>
                <a:lnTo>
                  <a:pt x="468" y="80"/>
                </a:lnTo>
                <a:cubicBezTo>
                  <a:pt x="468" y="72"/>
                  <a:pt x="462" y="66"/>
                  <a:pt x="455" y="66"/>
                </a:cubicBezTo>
                <a:lnTo>
                  <a:pt x="368" y="66"/>
                </a:lnTo>
                <a:lnTo>
                  <a:pt x="368" y="33"/>
                </a:lnTo>
                <a:cubicBezTo>
                  <a:pt x="368" y="15"/>
                  <a:pt x="353" y="0"/>
                  <a:pt x="334" y="0"/>
                </a:cubicBezTo>
                <a:cubicBezTo>
                  <a:pt x="316" y="0"/>
                  <a:pt x="301" y="15"/>
                  <a:pt x="301" y="33"/>
                </a:cubicBezTo>
                <a:lnTo>
                  <a:pt x="301" y="66"/>
                </a:lnTo>
                <a:lnTo>
                  <a:pt x="109" y="66"/>
                </a:lnTo>
                <a:cubicBezTo>
                  <a:pt x="102" y="66"/>
                  <a:pt x="92" y="70"/>
                  <a:pt x="87" y="75"/>
                </a:cubicBezTo>
                <a:lnTo>
                  <a:pt x="5" y="157"/>
                </a:lnTo>
                <a:cubicBezTo>
                  <a:pt x="0" y="162"/>
                  <a:pt x="0" y="170"/>
                  <a:pt x="5" y="175"/>
                </a:cubicBezTo>
                <a:lnTo>
                  <a:pt x="87" y="257"/>
                </a:lnTo>
                <a:cubicBezTo>
                  <a:pt x="92" y="262"/>
                  <a:pt x="102" y="266"/>
                  <a:pt x="109" y="266"/>
                </a:cubicBezTo>
                <a:lnTo>
                  <a:pt x="301" y="266"/>
                </a:lnTo>
                <a:lnTo>
                  <a:pt x="301" y="300"/>
                </a:lnTo>
                <a:lnTo>
                  <a:pt x="214" y="300"/>
                </a:lnTo>
                <a:cubicBezTo>
                  <a:pt x="207" y="300"/>
                  <a:pt x="201" y="306"/>
                  <a:pt x="201" y="313"/>
                </a:cubicBezTo>
                <a:lnTo>
                  <a:pt x="201" y="486"/>
                </a:lnTo>
                <a:cubicBezTo>
                  <a:pt x="201" y="494"/>
                  <a:pt x="207" y="500"/>
                  <a:pt x="214" y="500"/>
                </a:cubicBezTo>
                <a:lnTo>
                  <a:pt x="301" y="500"/>
                </a:lnTo>
                <a:lnTo>
                  <a:pt x="301" y="766"/>
                </a:lnTo>
                <a:cubicBezTo>
                  <a:pt x="301" y="785"/>
                  <a:pt x="316" y="800"/>
                  <a:pt x="334" y="800"/>
                </a:cubicBezTo>
                <a:cubicBezTo>
                  <a:pt x="353" y="800"/>
                  <a:pt x="368" y="785"/>
                  <a:pt x="368" y="766"/>
                </a:cubicBezTo>
                <a:lnTo>
                  <a:pt x="368" y="500"/>
                </a:lnTo>
                <a:lnTo>
                  <a:pt x="626" y="500"/>
                </a:lnTo>
                <a:cubicBezTo>
                  <a:pt x="633" y="500"/>
                  <a:pt x="643" y="496"/>
                  <a:pt x="648" y="491"/>
                </a:cubicBezTo>
                <a:lnTo>
                  <a:pt x="731" y="409"/>
                </a:lnTo>
                <a:cubicBezTo>
                  <a:pt x="736" y="404"/>
                  <a:pt x="736" y="396"/>
                  <a:pt x="731" y="391"/>
                </a:cubicBezTo>
                <a:lnTo>
                  <a:pt x="648" y="309"/>
                </a:lnTo>
                <a:cubicBezTo>
                  <a:pt x="643" y="304"/>
                  <a:pt x="633" y="300"/>
                  <a:pt x="626" y="300"/>
                </a:cubicBezTo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076" tIns="45538" rIns="91076" bIns="45538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074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793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pSp>
        <p:nvGrpSpPr>
          <p:cNvPr id="7" name="Network_activation" descr="{&quot;Key&quot;:&quot;POWER_USER_SHAPE_ICON&quot;,&quot;Value&quot;:&quot;POWER_USER_SHAPE_ICON_STYLE_1&quot;}">
            <a:extLst>
              <a:ext uri="{FF2B5EF4-FFF2-40B4-BE49-F238E27FC236}">
                <a16:creationId xmlns:a16="http://schemas.microsoft.com/office/drawing/2014/main" id="{F225BDD9-98F4-DA00-E841-FA0658409CDD}"/>
              </a:ext>
            </a:extLst>
          </p:cNvPr>
          <p:cNvGrpSpPr>
            <a:grpSpLocks noChangeAspect="1"/>
          </p:cNvGrpSpPr>
          <p:nvPr>
            <p:custDataLst>
              <p:tags r:id="rId2"/>
            </p:custDataLst>
          </p:nvPr>
        </p:nvGrpSpPr>
        <p:grpSpPr>
          <a:xfrm>
            <a:off x="481439" y="3929578"/>
            <a:ext cx="476460" cy="448212"/>
            <a:chOff x="2952750" y="1706563"/>
            <a:chExt cx="803275" cy="755650"/>
          </a:xfrm>
          <a:solidFill>
            <a:schemeClr val="accent1"/>
          </a:solidFill>
        </p:grpSpPr>
        <p:sp>
          <p:nvSpPr>
            <p:cNvPr id="8" name="Freeform 92">
              <a:extLst>
                <a:ext uri="{FF2B5EF4-FFF2-40B4-BE49-F238E27FC236}">
                  <a16:creationId xmlns:a16="http://schemas.microsoft.com/office/drawing/2014/main" id="{FE809AFE-9E1B-4616-4CBA-04EE16088492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952750" y="1706563"/>
              <a:ext cx="803275" cy="755650"/>
            </a:xfrm>
            <a:custGeom>
              <a:avLst/>
              <a:gdLst>
                <a:gd name="T0" fmla="*/ 125 w 1129"/>
                <a:gd name="T1" fmla="*/ 120 h 1061"/>
                <a:gd name="T2" fmla="*/ 308 w 1129"/>
                <a:gd name="T3" fmla="*/ 286 h 1061"/>
                <a:gd name="T4" fmla="*/ 254 w 1129"/>
                <a:gd name="T5" fmla="*/ 281 h 1061"/>
                <a:gd name="T6" fmla="*/ 77 w 1129"/>
                <a:gd name="T7" fmla="*/ 562 h 1061"/>
                <a:gd name="T8" fmla="*/ 77 w 1129"/>
                <a:gd name="T9" fmla="*/ 716 h 1061"/>
                <a:gd name="T10" fmla="*/ 372 w 1129"/>
                <a:gd name="T11" fmla="*/ 930 h 1061"/>
                <a:gd name="T12" fmla="*/ 453 w 1129"/>
                <a:gd name="T13" fmla="*/ 1061 h 1061"/>
                <a:gd name="T14" fmla="*/ 509 w 1129"/>
                <a:gd name="T15" fmla="*/ 900 h 1061"/>
                <a:gd name="T16" fmla="*/ 517 w 1129"/>
                <a:gd name="T17" fmla="*/ 769 h 1061"/>
                <a:gd name="T18" fmla="*/ 467 w 1129"/>
                <a:gd name="T19" fmla="*/ 881 h 1061"/>
                <a:gd name="T20" fmla="*/ 402 w 1129"/>
                <a:gd name="T21" fmla="*/ 896 h 1061"/>
                <a:gd name="T22" fmla="*/ 154 w 1129"/>
                <a:gd name="T23" fmla="*/ 647 h 1061"/>
                <a:gd name="T24" fmla="*/ 375 w 1129"/>
                <a:gd name="T25" fmla="*/ 555 h 1061"/>
                <a:gd name="T26" fmla="*/ 137 w 1129"/>
                <a:gd name="T27" fmla="*/ 591 h 1061"/>
                <a:gd name="T28" fmla="*/ 276 w 1129"/>
                <a:gd name="T29" fmla="*/ 405 h 1061"/>
                <a:gd name="T30" fmla="*/ 337 w 1129"/>
                <a:gd name="T31" fmla="*/ 322 h 1061"/>
                <a:gd name="T32" fmla="*/ 603 w 1129"/>
                <a:gd name="T33" fmla="*/ 127 h 1061"/>
                <a:gd name="T34" fmla="*/ 651 w 1129"/>
                <a:gd name="T35" fmla="*/ 248 h 1061"/>
                <a:gd name="T36" fmla="*/ 649 w 1129"/>
                <a:gd name="T37" fmla="*/ 119 h 1061"/>
                <a:gd name="T38" fmla="*/ 972 w 1129"/>
                <a:gd name="T39" fmla="*/ 188 h 1061"/>
                <a:gd name="T40" fmla="*/ 1031 w 1129"/>
                <a:gd name="T41" fmla="*/ 480 h 1061"/>
                <a:gd name="T42" fmla="*/ 927 w 1129"/>
                <a:gd name="T43" fmla="*/ 524 h 1061"/>
                <a:gd name="T44" fmla="*/ 983 w 1129"/>
                <a:gd name="T45" fmla="*/ 570 h 1061"/>
                <a:gd name="T46" fmla="*/ 1129 w 1129"/>
                <a:gd name="T47" fmla="*/ 551 h 1061"/>
                <a:gd name="T48" fmla="*/ 1059 w 1129"/>
                <a:gd name="T49" fmla="*/ 231 h 1061"/>
                <a:gd name="T50" fmla="*/ 1030 w 1129"/>
                <a:gd name="T51" fmla="*/ 121 h 1061"/>
                <a:gd name="T52" fmla="*/ 679 w 1129"/>
                <a:gd name="T53" fmla="*/ 57 h 1061"/>
                <a:gd name="T54" fmla="*/ 554 w 1129"/>
                <a:gd name="T55" fmla="*/ 46 h 1061"/>
                <a:gd name="T56" fmla="*/ 64 w 1129"/>
                <a:gd name="T57" fmla="*/ 37 h 1061"/>
                <a:gd name="T58" fmla="*/ 64 w 1129"/>
                <a:gd name="T59" fmla="*/ 165 h 1061"/>
                <a:gd name="T60" fmla="*/ 219 w 1129"/>
                <a:gd name="T61" fmla="*/ 312 h 1061"/>
                <a:gd name="T62" fmla="*/ 224 w 1129"/>
                <a:gd name="T63" fmla="*/ 378 h 1061"/>
                <a:gd name="T64" fmla="*/ 77 w 1129"/>
                <a:gd name="T65" fmla="*/ 562 h 10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1129" h="1061">
                  <a:moveTo>
                    <a:pt x="120" y="130"/>
                  </a:moveTo>
                  <a:cubicBezTo>
                    <a:pt x="122" y="127"/>
                    <a:pt x="123" y="124"/>
                    <a:pt x="125" y="120"/>
                  </a:cubicBezTo>
                  <a:lnTo>
                    <a:pt x="551" y="92"/>
                  </a:lnTo>
                  <a:lnTo>
                    <a:pt x="308" y="286"/>
                  </a:lnTo>
                  <a:cubicBezTo>
                    <a:pt x="298" y="280"/>
                    <a:pt x="287" y="277"/>
                    <a:pt x="276" y="277"/>
                  </a:cubicBezTo>
                  <a:cubicBezTo>
                    <a:pt x="268" y="277"/>
                    <a:pt x="261" y="279"/>
                    <a:pt x="254" y="281"/>
                  </a:cubicBezTo>
                  <a:lnTo>
                    <a:pt x="120" y="130"/>
                  </a:lnTo>
                  <a:close/>
                  <a:moveTo>
                    <a:pt x="77" y="562"/>
                  </a:moveTo>
                  <a:cubicBezTo>
                    <a:pt x="34" y="562"/>
                    <a:pt x="0" y="597"/>
                    <a:pt x="0" y="639"/>
                  </a:cubicBezTo>
                  <a:cubicBezTo>
                    <a:pt x="0" y="682"/>
                    <a:pt x="34" y="716"/>
                    <a:pt x="77" y="716"/>
                  </a:cubicBezTo>
                  <a:cubicBezTo>
                    <a:pt x="91" y="716"/>
                    <a:pt x="105" y="712"/>
                    <a:pt x="117" y="705"/>
                  </a:cubicBezTo>
                  <a:lnTo>
                    <a:pt x="372" y="930"/>
                  </a:lnTo>
                  <a:cubicBezTo>
                    <a:pt x="366" y="942"/>
                    <a:pt x="362" y="956"/>
                    <a:pt x="362" y="970"/>
                  </a:cubicBezTo>
                  <a:cubicBezTo>
                    <a:pt x="362" y="1020"/>
                    <a:pt x="403" y="1061"/>
                    <a:pt x="453" y="1061"/>
                  </a:cubicBezTo>
                  <a:cubicBezTo>
                    <a:pt x="503" y="1061"/>
                    <a:pt x="543" y="1020"/>
                    <a:pt x="543" y="970"/>
                  </a:cubicBezTo>
                  <a:cubicBezTo>
                    <a:pt x="543" y="943"/>
                    <a:pt x="531" y="917"/>
                    <a:pt x="509" y="900"/>
                  </a:cubicBezTo>
                  <a:lnTo>
                    <a:pt x="559" y="787"/>
                  </a:lnTo>
                  <a:cubicBezTo>
                    <a:pt x="544" y="782"/>
                    <a:pt x="531" y="776"/>
                    <a:pt x="517" y="769"/>
                  </a:cubicBezTo>
                  <a:cubicBezTo>
                    <a:pt x="517" y="769"/>
                    <a:pt x="517" y="769"/>
                    <a:pt x="517" y="769"/>
                  </a:cubicBezTo>
                  <a:lnTo>
                    <a:pt x="467" y="881"/>
                  </a:lnTo>
                  <a:cubicBezTo>
                    <a:pt x="462" y="880"/>
                    <a:pt x="458" y="880"/>
                    <a:pt x="453" y="880"/>
                  </a:cubicBezTo>
                  <a:cubicBezTo>
                    <a:pt x="435" y="880"/>
                    <a:pt x="417" y="885"/>
                    <a:pt x="402" y="896"/>
                  </a:cubicBezTo>
                  <a:lnTo>
                    <a:pt x="147" y="671"/>
                  </a:lnTo>
                  <a:cubicBezTo>
                    <a:pt x="151" y="663"/>
                    <a:pt x="153" y="655"/>
                    <a:pt x="154" y="647"/>
                  </a:cubicBezTo>
                  <a:lnTo>
                    <a:pt x="383" y="600"/>
                  </a:lnTo>
                  <a:cubicBezTo>
                    <a:pt x="379" y="585"/>
                    <a:pt x="376" y="570"/>
                    <a:pt x="375" y="555"/>
                  </a:cubicBezTo>
                  <a:lnTo>
                    <a:pt x="145" y="602"/>
                  </a:lnTo>
                  <a:cubicBezTo>
                    <a:pt x="142" y="598"/>
                    <a:pt x="140" y="594"/>
                    <a:pt x="137" y="591"/>
                  </a:cubicBezTo>
                  <a:lnTo>
                    <a:pt x="262" y="404"/>
                  </a:lnTo>
                  <a:cubicBezTo>
                    <a:pt x="267" y="405"/>
                    <a:pt x="272" y="405"/>
                    <a:pt x="276" y="405"/>
                  </a:cubicBezTo>
                  <a:cubicBezTo>
                    <a:pt x="311" y="405"/>
                    <a:pt x="340" y="377"/>
                    <a:pt x="340" y="341"/>
                  </a:cubicBezTo>
                  <a:cubicBezTo>
                    <a:pt x="340" y="335"/>
                    <a:pt x="339" y="329"/>
                    <a:pt x="337" y="322"/>
                  </a:cubicBezTo>
                  <a:lnTo>
                    <a:pt x="587" y="121"/>
                  </a:lnTo>
                  <a:cubicBezTo>
                    <a:pt x="593" y="124"/>
                    <a:pt x="598" y="126"/>
                    <a:pt x="603" y="127"/>
                  </a:cubicBezTo>
                  <a:lnTo>
                    <a:pt x="611" y="251"/>
                  </a:lnTo>
                  <a:cubicBezTo>
                    <a:pt x="624" y="249"/>
                    <a:pt x="637" y="248"/>
                    <a:pt x="651" y="248"/>
                  </a:cubicBezTo>
                  <a:cubicBezTo>
                    <a:pt x="653" y="248"/>
                    <a:pt x="655" y="248"/>
                    <a:pt x="657" y="248"/>
                  </a:cubicBezTo>
                  <a:lnTo>
                    <a:pt x="649" y="119"/>
                  </a:lnTo>
                  <a:cubicBezTo>
                    <a:pt x="656" y="114"/>
                    <a:pt x="663" y="108"/>
                    <a:pt x="668" y="101"/>
                  </a:cubicBezTo>
                  <a:lnTo>
                    <a:pt x="972" y="188"/>
                  </a:lnTo>
                  <a:cubicBezTo>
                    <a:pt x="975" y="213"/>
                    <a:pt x="994" y="233"/>
                    <a:pt x="1018" y="238"/>
                  </a:cubicBezTo>
                  <a:lnTo>
                    <a:pt x="1031" y="480"/>
                  </a:lnTo>
                  <a:cubicBezTo>
                    <a:pt x="1009" y="488"/>
                    <a:pt x="991" y="505"/>
                    <a:pt x="984" y="528"/>
                  </a:cubicBezTo>
                  <a:lnTo>
                    <a:pt x="927" y="524"/>
                  </a:lnTo>
                  <a:cubicBezTo>
                    <a:pt x="928" y="538"/>
                    <a:pt x="927" y="552"/>
                    <a:pt x="925" y="565"/>
                  </a:cubicBezTo>
                  <a:lnTo>
                    <a:pt x="983" y="570"/>
                  </a:lnTo>
                  <a:cubicBezTo>
                    <a:pt x="991" y="601"/>
                    <a:pt x="1020" y="625"/>
                    <a:pt x="1055" y="625"/>
                  </a:cubicBezTo>
                  <a:cubicBezTo>
                    <a:pt x="1096" y="625"/>
                    <a:pt x="1129" y="592"/>
                    <a:pt x="1129" y="551"/>
                  </a:cubicBezTo>
                  <a:cubicBezTo>
                    <a:pt x="1129" y="516"/>
                    <a:pt x="1105" y="486"/>
                    <a:pt x="1073" y="478"/>
                  </a:cubicBezTo>
                  <a:lnTo>
                    <a:pt x="1059" y="231"/>
                  </a:lnTo>
                  <a:cubicBezTo>
                    <a:pt x="1077" y="221"/>
                    <a:pt x="1089" y="202"/>
                    <a:pt x="1089" y="180"/>
                  </a:cubicBezTo>
                  <a:cubicBezTo>
                    <a:pt x="1089" y="148"/>
                    <a:pt x="1062" y="121"/>
                    <a:pt x="1030" y="121"/>
                  </a:cubicBezTo>
                  <a:cubicBezTo>
                    <a:pt x="1011" y="121"/>
                    <a:pt x="995" y="130"/>
                    <a:pt x="984" y="144"/>
                  </a:cubicBezTo>
                  <a:lnTo>
                    <a:pt x="679" y="57"/>
                  </a:lnTo>
                  <a:cubicBezTo>
                    <a:pt x="675" y="24"/>
                    <a:pt x="648" y="0"/>
                    <a:pt x="615" y="0"/>
                  </a:cubicBezTo>
                  <a:cubicBezTo>
                    <a:pt x="587" y="0"/>
                    <a:pt x="563" y="19"/>
                    <a:pt x="554" y="46"/>
                  </a:cubicBezTo>
                  <a:lnTo>
                    <a:pt x="122" y="74"/>
                  </a:lnTo>
                  <a:cubicBezTo>
                    <a:pt x="111" y="52"/>
                    <a:pt x="89" y="37"/>
                    <a:pt x="64" y="37"/>
                  </a:cubicBezTo>
                  <a:cubicBezTo>
                    <a:pt x="28" y="37"/>
                    <a:pt x="0" y="66"/>
                    <a:pt x="0" y="101"/>
                  </a:cubicBezTo>
                  <a:cubicBezTo>
                    <a:pt x="0" y="136"/>
                    <a:pt x="28" y="165"/>
                    <a:pt x="64" y="165"/>
                  </a:cubicBezTo>
                  <a:cubicBezTo>
                    <a:pt x="71" y="165"/>
                    <a:pt x="79" y="164"/>
                    <a:pt x="86" y="161"/>
                  </a:cubicBezTo>
                  <a:lnTo>
                    <a:pt x="219" y="312"/>
                  </a:lnTo>
                  <a:cubicBezTo>
                    <a:pt x="214" y="321"/>
                    <a:pt x="212" y="331"/>
                    <a:pt x="212" y="341"/>
                  </a:cubicBezTo>
                  <a:cubicBezTo>
                    <a:pt x="212" y="355"/>
                    <a:pt x="216" y="367"/>
                    <a:pt x="224" y="378"/>
                  </a:cubicBezTo>
                  <a:lnTo>
                    <a:pt x="99" y="565"/>
                  </a:lnTo>
                  <a:cubicBezTo>
                    <a:pt x="92" y="563"/>
                    <a:pt x="84" y="562"/>
                    <a:pt x="77" y="562"/>
                  </a:cubicBezTo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91076" tIns="45538" rIns="91076" bIns="45538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0742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fr-FR" sz="1793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9" name="Freeform 93">
              <a:extLst>
                <a:ext uri="{FF2B5EF4-FFF2-40B4-BE49-F238E27FC236}">
                  <a16:creationId xmlns:a16="http://schemas.microsoft.com/office/drawing/2014/main" id="{B5A6C95E-2C79-0C9A-EA8E-5136E2280145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224213" y="1912938"/>
              <a:ext cx="463550" cy="436563"/>
            </a:xfrm>
            <a:custGeom>
              <a:avLst/>
              <a:gdLst>
                <a:gd name="T0" fmla="*/ 428 w 652"/>
                <a:gd name="T1" fmla="*/ 322 h 613"/>
                <a:gd name="T2" fmla="*/ 269 w 652"/>
                <a:gd name="T3" fmla="*/ 417 h 613"/>
                <a:gd name="T4" fmla="*/ 182 w 652"/>
                <a:gd name="T5" fmla="*/ 394 h 613"/>
                <a:gd name="T6" fmla="*/ 110 w 652"/>
                <a:gd name="T7" fmla="*/ 149 h 613"/>
                <a:gd name="T8" fmla="*/ 270 w 652"/>
                <a:gd name="T9" fmla="*/ 54 h 613"/>
                <a:gd name="T10" fmla="*/ 356 w 652"/>
                <a:gd name="T11" fmla="*/ 77 h 613"/>
                <a:gd name="T12" fmla="*/ 428 w 652"/>
                <a:gd name="T13" fmla="*/ 322 h 613"/>
                <a:gd name="T14" fmla="*/ 383 w 652"/>
                <a:gd name="T15" fmla="*/ 28 h 613"/>
                <a:gd name="T16" fmla="*/ 270 w 652"/>
                <a:gd name="T17" fmla="*/ 0 h 613"/>
                <a:gd name="T18" fmla="*/ 62 w 652"/>
                <a:gd name="T19" fmla="*/ 122 h 613"/>
                <a:gd name="T20" fmla="*/ 156 w 652"/>
                <a:gd name="T21" fmla="*/ 442 h 613"/>
                <a:gd name="T22" fmla="*/ 269 w 652"/>
                <a:gd name="T23" fmla="*/ 471 h 613"/>
                <a:gd name="T24" fmla="*/ 374 w 652"/>
                <a:gd name="T25" fmla="*/ 447 h 613"/>
                <a:gd name="T26" fmla="*/ 487 w 652"/>
                <a:gd name="T27" fmla="*/ 582 h 613"/>
                <a:gd name="T28" fmla="*/ 552 w 652"/>
                <a:gd name="T29" fmla="*/ 613 h 613"/>
                <a:gd name="T30" fmla="*/ 614 w 652"/>
                <a:gd name="T31" fmla="*/ 586 h 613"/>
                <a:gd name="T32" fmla="*/ 610 w 652"/>
                <a:gd name="T33" fmla="*/ 459 h 613"/>
                <a:gd name="T34" fmla="*/ 477 w 652"/>
                <a:gd name="T35" fmla="*/ 346 h 613"/>
                <a:gd name="T36" fmla="*/ 383 w 652"/>
                <a:gd name="T37" fmla="*/ 28 h 6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652" h="613">
                  <a:moveTo>
                    <a:pt x="428" y="322"/>
                  </a:moveTo>
                  <a:cubicBezTo>
                    <a:pt x="395" y="383"/>
                    <a:pt x="333" y="417"/>
                    <a:pt x="269" y="417"/>
                  </a:cubicBezTo>
                  <a:cubicBezTo>
                    <a:pt x="240" y="417"/>
                    <a:pt x="210" y="409"/>
                    <a:pt x="182" y="394"/>
                  </a:cubicBezTo>
                  <a:cubicBezTo>
                    <a:pt x="95" y="346"/>
                    <a:pt x="63" y="236"/>
                    <a:pt x="110" y="149"/>
                  </a:cubicBezTo>
                  <a:cubicBezTo>
                    <a:pt x="143" y="88"/>
                    <a:pt x="205" y="54"/>
                    <a:pt x="270" y="54"/>
                  </a:cubicBezTo>
                  <a:cubicBezTo>
                    <a:pt x="299" y="54"/>
                    <a:pt x="329" y="61"/>
                    <a:pt x="356" y="77"/>
                  </a:cubicBezTo>
                  <a:cubicBezTo>
                    <a:pt x="444" y="125"/>
                    <a:pt x="476" y="235"/>
                    <a:pt x="428" y="322"/>
                  </a:cubicBezTo>
                  <a:close/>
                  <a:moveTo>
                    <a:pt x="383" y="28"/>
                  </a:moveTo>
                  <a:cubicBezTo>
                    <a:pt x="347" y="9"/>
                    <a:pt x="308" y="0"/>
                    <a:pt x="270" y="0"/>
                  </a:cubicBezTo>
                  <a:cubicBezTo>
                    <a:pt x="186" y="0"/>
                    <a:pt x="105" y="44"/>
                    <a:pt x="62" y="122"/>
                  </a:cubicBezTo>
                  <a:cubicBezTo>
                    <a:pt x="0" y="237"/>
                    <a:pt x="42" y="380"/>
                    <a:pt x="156" y="442"/>
                  </a:cubicBezTo>
                  <a:cubicBezTo>
                    <a:pt x="192" y="462"/>
                    <a:pt x="231" y="471"/>
                    <a:pt x="269" y="471"/>
                  </a:cubicBezTo>
                  <a:cubicBezTo>
                    <a:pt x="305" y="471"/>
                    <a:pt x="342" y="463"/>
                    <a:pt x="374" y="447"/>
                  </a:cubicBezTo>
                  <a:lnTo>
                    <a:pt x="487" y="582"/>
                  </a:lnTo>
                  <a:cubicBezTo>
                    <a:pt x="504" y="603"/>
                    <a:pt x="528" y="613"/>
                    <a:pt x="552" y="613"/>
                  </a:cubicBezTo>
                  <a:cubicBezTo>
                    <a:pt x="574" y="613"/>
                    <a:pt x="596" y="604"/>
                    <a:pt x="614" y="586"/>
                  </a:cubicBezTo>
                  <a:cubicBezTo>
                    <a:pt x="652" y="550"/>
                    <a:pt x="648" y="491"/>
                    <a:pt x="610" y="459"/>
                  </a:cubicBezTo>
                  <a:lnTo>
                    <a:pt x="477" y="346"/>
                  </a:lnTo>
                  <a:cubicBezTo>
                    <a:pt x="538" y="232"/>
                    <a:pt x="496" y="91"/>
                    <a:pt x="383" y="28"/>
                  </a:cubicBezTo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91076" tIns="45538" rIns="91076" bIns="45538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0742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fr-FR" sz="1793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0" name="Freeform 94">
              <a:extLst>
                <a:ext uri="{FF2B5EF4-FFF2-40B4-BE49-F238E27FC236}">
                  <a16:creationId xmlns:a16="http://schemas.microsoft.com/office/drawing/2014/main" id="{3EC09537-0B38-DB3F-98B8-285D0EAF341E}"/>
                </a:ext>
              </a:extLst>
            </p:cNvPr>
            <p:cNvSpPr>
              <a:spLocks/>
            </p:cNvSpPr>
            <p:nvPr/>
          </p:nvSpPr>
          <p:spPr bwMode="auto">
            <a:xfrm>
              <a:off x="3330575" y="1997075"/>
              <a:ext cx="168275" cy="161925"/>
            </a:xfrm>
            <a:custGeom>
              <a:avLst/>
              <a:gdLst>
                <a:gd name="T0" fmla="*/ 220 w 237"/>
                <a:gd name="T1" fmla="*/ 75 h 226"/>
                <a:gd name="T2" fmla="*/ 157 w 237"/>
                <a:gd name="T3" fmla="*/ 70 h 226"/>
                <a:gd name="T4" fmla="*/ 132 w 237"/>
                <a:gd name="T5" fmla="*/ 12 h 226"/>
                <a:gd name="T6" fmla="*/ 118 w 237"/>
                <a:gd name="T7" fmla="*/ 0 h 226"/>
                <a:gd name="T8" fmla="*/ 104 w 237"/>
                <a:gd name="T9" fmla="*/ 12 h 226"/>
                <a:gd name="T10" fmla="*/ 80 w 237"/>
                <a:gd name="T11" fmla="*/ 70 h 226"/>
                <a:gd name="T12" fmla="*/ 17 w 237"/>
                <a:gd name="T13" fmla="*/ 75 h 226"/>
                <a:gd name="T14" fmla="*/ 2 w 237"/>
                <a:gd name="T15" fmla="*/ 85 h 226"/>
                <a:gd name="T16" fmla="*/ 8 w 237"/>
                <a:gd name="T17" fmla="*/ 102 h 226"/>
                <a:gd name="T18" fmla="*/ 56 w 237"/>
                <a:gd name="T19" fmla="*/ 143 h 226"/>
                <a:gd name="T20" fmla="*/ 42 w 237"/>
                <a:gd name="T21" fmla="*/ 204 h 226"/>
                <a:gd name="T22" fmla="*/ 44 w 237"/>
                <a:gd name="T23" fmla="*/ 220 h 226"/>
                <a:gd name="T24" fmla="*/ 65 w 237"/>
                <a:gd name="T25" fmla="*/ 221 h 226"/>
                <a:gd name="T26" fmla="*/ 118 w 237"/>
                <a:gd name="T27" fmla="*/ 188 h 226"/>
                <a:gd name="T28" fmla="*/ 172 w 237"/>
                <a:gd name="T29" fmla="*/ 221 h 226"/>
                <a:gd name="T30" fmla="*/ 183 w 237"/>
                <a:gd name="T31" fmla="*/ 224 h 226"/>
                <a:gd name="T32" fmla="*/ 193 w 237"/>
                <a:gd name="T33" fmla="*/ 220 h 226"/>
                <a:gd name="T34" fmla="*/ 195 w 237"/>
                <a:gd name="T35" fmla="*/ 204 h 226"/>
                <a:gd name="T36" fmla="*/ 180 w 237"/>
                <a:gd name="T37" fmla="*/ 143 h 226"/>
                <a:gd name="T38" fmla="*/ 228 w 237"/>
                <a:gd name="T39" fmla="*/ 102 h 226"/>
                <a:gd name="T40" fmla="*/ 235 w 237"/>
                <a:gd name="T41" fmla="*/ 85 h 226"/>
                <a:gd name="T42" fmla="*/ 220 w 237"/>
                <a:gd name="T43" fmla="*/ 75 h 2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237" h="226">
                  <a:moveTo>
                    <a:pt x="220" y="75"/>
                  </a:moveTo>
                  <a:lnTo>
                    <a:pt x="157" y="70"/>
                  </a:lnTo>
                  <a:lnTo>
                    <a:pt x="132" y="12"/>
                  </a:lnTo>
                  <a:cubicBezTo>
                    <a:pt x="128" y="1"/>
                    <a:pt x="122" y="0"/>
                    <a:pt x="118" y="0"/>
                  </a:cubicBezTo>
                  <a:cubicBezTo>
                    <a:pt x="115" y="0"/>
                    <a:pt x="109" y="1"/>
                    <a:pt x="104" y="12"/>
                  </a:cubicBezTo>
                  <a:lnTo>
                    <a:pt x="80" y="70"/>
                  </a:lnTo>
                  <a:lnTo>
                    <a:pt x="17" y="75"/>
                  </a:lnTo>
                  <a:cubicBezTo>
                    <a:pt x="6" y="76"/>
                    <a:pt x="3" y="81"/>
                    <a:pt x="2" y="85"/>
                  </a:cubicBezTo>
                  <a:cubicBezTo>
                    <a:pt x="1" y="88"/>
                    <a:pt x="0" y="95"/>
                    <a:pt x="8" y="102"/>
                  </a:cubicBezTo>
                  <a:lnTo>
                    <a:pt x="56" y="143"/>
                  </a:lnTo>
                  <a:lnTo>
                    <a:pt x="42" y="204"/>
                  </a:lnTo>
                  <a:cubicBezTo>
                    <a:pt x="40" y="212"/>
                    <a:pt x="42" y="217"/>
                    <a:pt x="44" y="220"/>
                  </a:cubicBezTo>
                  <a:cubicBezTo>
                    <a:pt x="48" y="225"/>
                    <a:pt x="56" y="226"/>
                    <a:pt x="65" y="221"/>
                  </a:cubicBezTo>
                  <a:lnTo>
                    <a:pt x="118" y="188"/>
                  </a:lnTo>
                  <a:lnTo>
                    <a:pt x="172" y="221"/>
                  </a:lnTo>
                  <a:cubicBezTo>
                    <a:pt x="176" y="223"/>
                    <a:pt x="180" y="224"/>
                    <a:pt x="183" y="224"/>
                  </a:cubicBezTo>
                  <a:cubicBezTo>
                    <a:pt x="187" y="224"/>
                    <a:pt x="191" y="223"/>
                    <a:pt x="193" y="220"/>
                  </a:cubicBezTo>
                  <a:cubicBezTo>
                    <a:pt x="195" y="217"/>
                    <a:pt x="197" y="212"/>
                    <a:pt x="195" y="204"/>
                  </a:cubicBezTo>
                  <a:lnTo>
                    <a:pt x="180" y="143"/>
                  </a:lnTo>
                  <a:lnTo>
                    <a:pt x="228" y="102"/>
                  </a:lnTo>
                  <a:cubicBezTo>
                    <a:pt x="237" y="95"/>
                    <a:pt x="236" y="88"/>
                    <a:pt x="235" y="85"/>
                  </a:cubicBezTo>
                  <a:cubicBezTo>
                    <a:pt x="234" y="81"/>
                    <a:pt x="231" y="76"/>
                    <a:pt x="220" y="75"/>
                  </a:cubicBezTo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91076" tIns="45538" rIns="91076" bIns="45538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0742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fr-FR" sz="1793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pic>
        <p:nvPicPr>
          <p:cNvPr id="11" name="Grafik 10" descr="Stoppuhr mit einfarbiger Füllung">
            <a:extLst>
              <a:ext uri="{FF2B5EF4-FFF2-40B4-BE49-F238E27FC236}">
                <a16:creationId xmlns:a16="http://schemas.microsoft.com/office/drawing/2014/main" id="{07350C4B-2313-EC0F-B3A2-63233EAD028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42634" y="5451474"/>
            <a:ext cx="596650" cy="596650"/>
          </a:xfrm>
          <a:prstGeom prst="rect">
            <a:avLst/>
          </a:prstGeom>
        </p:spPr>
      </p:pic>
      <p:sp>
        <p:nvSpPr>
          <p:cNvPr id="12" name="Inhaltsplatzhalter 8">
            <a:extLst>
              <a:ext uri="{FF2B5EF4-FFF2-40B4-BE49-F238E27FC236}">
                <a16:creationId xmlns:a16="http://schemas.microsoft.com/office/drawing/2014/main" id="{891B77D8-4B86-CAB1-4531-AEB1E330A4BC}"/>
              </a:ext>
            </a:extLst>
          </p:cNvPr>
          <p:cNvSpPr txBox="1">
            <a:spLocks/>
          </p:cNvSpPr>
          <p:nvPr/>
        </p:nvSpPr>
        <p:spPr>
          <a:xfrm>
            <a:off x="629344" y="6448492"/>
            <a:ext cx="8857555" cy="703163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 algn="l" defTabSz="599424" rtl="0" eaLnBrk="1" latinLnBrk="0" hangingPunct="1">
              <a:lnSpc>
                <a:spcPct val="122000"/>
              </a:lnSpc>
              <a:spcBef>
                <a:spcPts val="0"/>
              </a:spcBef>
              <a:buFont typeface="Arial" panose="020B0604020202020204" pitchFamily="34" charset="0"/>
              <a:buNone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26000" indent="-126000" algn="l" defTabSz="599424" rtl="0" eaLnBrk="1" latinLnBrk="0" hangingPunct="1">
              <a:lnSpc>
                <a:spcPct val="122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252000" indent="-126000" algn="l" defTabSz="599424" rtl="0" eaLnBrk="1" latinLnBrk="0" hangingPunct="1">
              <a:lnSpc>
                <a:spcPct val="133000"/>
              </a:lnSpc>
              <a:spcBef>
                <a:spcPts val="0"/>
              </a:spcBef>
              <a:buClr>
                <a:schemeClr val="accent1"/>
              </a:buClr>
              <a:buFont typeface="Symbol" panose="05050102010706020507" pitchFamily="18" charset="2"/>
              <a:buChar char="-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378000" indent="-126000" algn="l" defTabSz="599424" rtl="0" eaLnBrk="1" latinLnBrk="0" hangingPunct="1">
              <a:lnSpc>
                <a:spcPct val="133000"/>
              </a:lnSpc>
              <a:spcBef>
                <a:spcPts val="0"/>
              </a:spcBef>
              <a:buClr>
                <a:schemeClr val="accent1"/>
              </a:buClr>
              <a:buFont typeface="Calibri Light" panose="020F0302020204030204" pitchFamily="34" charset="0"/>
              <a:buChar char="̵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504000" indent="-126000" algn="l" defTabSz="599424" rtl="0" eaLnBrk="1" latinLnBrk="0" hangingPunct="1">
              <a:lnSpc>
                <a:spcPct val="133000"/>
              </a:lnSpc>
              <a:spcBef>
                <a:spcPts val="0"/>
              </a:spcBef>
              <a:buClr>
                <a:schemeClr val="accent2"/>
              </a:buClr>
              <a:buFont typeface="Calibri Light" panose="020F0302020204030204" pitchFamily="34" charset="0"/>
              <a:buChar char="̵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648415" indent="-149856" algn="l" defTabSz="599424" rtl="0" eaLnBrk="1" latinLnBrk="0" hangingPunct="1">
              <a:lnSpc>
                <a:spcPct val="90000"/>
              </a:lnSpc>
              <a:spcBef>
                <a:spcPts val="332"/>
              </a:spcBef>
              <a:buFont typeface="Arial" panose="020B0604020202020204" pitchFamily="34" charset="0"/>
              <a:buChar char="•"/>
              <a:defRPr sz="118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48127" indent="-149856" algn="l" defTabSz="599424" rtl="0" eaLnBrk="1" latinLnBrk="0" hangingPunct="1">
              <a:lnSpc>
                <a:spcPct val="90000"/>
              </a:lnSpc>
              <a:spcBef>
                <a:spcPts val="332"/>
              </a:spcBef>
              <a:buFont typeface="Arial" panose="020B0604020202020204" pitchFamily="34" charset="0"/>
              <a:buChar char="•"/>
              <a:defRPr sz="118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247839" indent="-149856" algn="l" defTabSz="599424" rtl="0" eaLnBrk="1" latinLnBrk="0" hangingPunct="1">
              <a:lnSpc>
                <a:spcPct val="90000"/>
              </a:lnSpc>
              <a:spcBef>
                <a:spcPts val="332"/>
              </a:spcBef>
              <a:buFont typeface="Arial" panose="020B0604020202020204" pitchFamily="34" charset="0"/>
              <a:buChar char="•"/>
              <a:defRPr sz="118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547551" indent="-149856" algn="l" defTabSz="599424" rtl="0" eaLnBrk="1" latinLnBrk="0" hangingPunct="1">
              <a:lnSpc>
                <a:spcPct val="90000"/>
              </a:lnSpc>
              <a:spcBef>
                <a:spcPts val="332"/>
              </a:spcBef>
              <a:buFont typeface="Arial" panose="020B0604020202020204" pitchFamily="34" charset="0"/>
              <a:buChar char="•"/>
              <a:defRPr sz="118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de-AT" sz="1100" dirty="0"/>
              <a:t>Der </a:t>
            </a:r>
            <a:r>
              <a:rPr lang="de-AT" sz="1100" b="1" dirty="0"/>
              <a:t>Begriff „klimaneutrales Quartier (Gebäude)“ </a:t>
            </a:r>
            <a:r>
              <a:rPr lang="de-AT" sz="1100" dirty="0"/>
              <a:t>ist demnach erst auf der Ebene Nation (Österreich, hier als Basis gesetzt) und Europa/global definierbar. Die gegenständliche Definition schlägt eine </a:t>
            </a:r>
            <a:r>
              <a:rPr lang="de-AT" sz="1100" b="1" dirty="0"/>
              <a:t>möglichst „faire“ und transparente Allokation (Verteilung) des Paris-kompatiblen THG-Budgets </a:t>
            </a:r>
            <a:r>
              <a:rPr lang="de-AT" sz="1100" dirty="0"/>
              <a:t>vor.</a:t>
            </a:r>
          </a:p>
        </p:txBody>
      </p:sp>
    </p:spTree>
    <p:extLst>
      <p:ext uri="{BB962C8B-B14F-4D97-AF65-F5344CB8AC3E}">
        <p14:creationId xmlns:p14="http://schemas.microsoft.com/office/powerpoint/2010/main" val="123081400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PlaceHolder 1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 w="0">
            <a:noFill/>
          </a:ln>
        </p:spPr>
        <p:txBody>
          <a:bodyPr vert="horz" wrap="none" lIns="0" tIns="0" rIns="0" bIns="0" rtlCol="0" anchor="t" anchorCtr="0">
            <a:noAutofit/>
          </a:bodyPr>
          <a:lstStyle/>
          <a:p>
            <a:r>
              <a:rPr lang="de-AT" spc="-1" dirty="0"/>
              <a:t>Ausprägungen der klimaaktiv Plus-Energie-Quartiers-Deklaration</a:t>
            </a:r>
            <a:endParaRPr lang="de-DE" spc="-1" dirty="0"/>
          </a:p>
        </p:txBody>
      </p:sp>
      <p:sp>
        <p:nvSpPr>
          <p:cNvPr id="176" name="PlaceHolder 2"/>
          <p:cNvSpPr>
            <a:spLocks noGrp="1"/>
          </p:cNvSpPr>
          <p:nvPr>
            <p:ph type="body" sz="quarter" idx="13"/>
          </p:nvPr>
        </p:nvSpPr>
        <p:spPr>
          <a:xfrm>
            <a:off x="719667" y="5218444"/>
            <a:ext cx="10638367" cy="930664"/>
          </a:xfrm>
          <a:prstGeom prst="rect">
            <a:avLst/>
          </a:prstGeom>
          <a:noFill/>
          <a:ln w="0">
            <a:noFill/>
          </a:ln>
        </p:spPr>
        <p:txBody>
          <a:bodyPr vert="horz" lIns="0" tIns="0" rIns="0" bIns="0" rtlCol="0" anchor="t">
            <a:noAutofit/>
          </a:bodyPr>
          <a:lstStyle/>
          <a:p>
            <a:pPr marL="0" indent="0">
              <a:buNone/>
            </a:pPr>
            <a:endParaRPr lang="de-DE" sz="2133" spc="-1" dirty="0">
              <a:solidFill>
                <a:schemeClr val="lt1">
                  <a:lumMod val="10000"/>
                </a:schemeClr>
              </a:solidFill>
              <a:latin typeface="Calibri"/>
            </a:endParaRPr>
          </a:p>
          <a:p>
            <a:pPr marL="0" indent="0">
              <a:buNone/>
            </a:pPr>
            <a:r>
              <a:rPr lang="de-DE" sz="1867" spc="-1" dirty="0">
                <a:solidFill>
                  <a:schemeClr val="lt1">
                    <a:lumMod val="10000"/>
                  </a:schemeClr>
                </a:solidFill>
                <a:latin typeface="Calibri"/>
              </a:rPr>
              <a:t>Zusätzlich müssen die </a:t>
            </a:r>
            <a:r>
              <a:rPr lang="de-DE" sz="1867" b="1" spc="-1" dirty="0">
                <a:solidFill>
                  <a:schemeClr val="lt1">
                    <a:lumMod val="10000"/>
                  </a:schemeClr>
                </a:solidFill>
                <a:latin typeface="Calibri"/>
              </a:rPr>
              <a:t>Musskriterien</a:t>
            </a:r>
            <a:r>
              <a:rPr lang="de-DE" sz="1867" spc="-1" dirty="0">
                <a:solidFill>
                  <a:schemeClr val="lt1">
                    <a:lumMod val="10000"/>
                  </a:schemeClr>
                </a:solidFill>
                <a:latin typeface="Calibri"/>
              </a:rPr>
              <a:t> aus der </a:t>
            </a:r>
            <a:r>
              <a:rPr lang="de-DE" sz="1867" b="1" spc="-1" dirty="0">
                <a:solidFill>
                  <a:schemeClr val="lt1">
                    <a:lumMod val="10000"/>
                  </a:schemeClr>
                </a:solidFill>
                <a:latin typeface="Calibri"/>
              </a:rPr>
              <a:t>klimaaktiv Zertifizierung Gebäude und Siedlungen/Quartiere </a:t>
            </a:r>
            <a:r>
              <a:rPr lang="de-DE" sz="1867" spc="-1" dirty="0">
                <a:solidFill>
                  <a:schemeClr val="lt1">
                    <a:lumMod val="10000"/>
                  </a:schemeClr>
                </a:solidFill>
                <a:latin typeface="Calibri"/>
              </a:rPr>
              <a:t>erfüllt werden</a:t>
            </a:r>
          </a:p>
          <a:p>
            <a:endParaRPr lang="de-DE" sz="2133" spc="-1" dirty="0">
              <a:solidFill>
                <a:schemeClr val="lt1">
                  <a:lumMod val="10000"/>
                </a:schemeClr>
              </a:solidFill>
              <a:latin typeface="Calibri"/>
            </a:endParaRPr>
          </a:p>
          <a:p>
            <a:pPr marL="0" indent="0">
              <a:buNone/>
            </a:pPr>
            <a:endParaRPr lang="de-DE" sz="2133" spc="-1" dirty="0">
              <a:solidFill>
                <a:schemeClr val="lt1">
                  <a:lumMod val="10000"/>
                </a:schemeClr>
              </a:solidFill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1219170">
              <a:defRPr/>
            </a:pPr>
            <a:fld id="{5F0C6D37-44F7-4BF3-B5BD-BCFDA2679053}" type="slidenum">
              <a:rPr lang="de-AT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pPr defTabSz="1219170">
                <a:defRPr/>
              </a:pPr>
              <a:t>18</a:t>
            </a:fld>
            <a:endParaRPr lang="de-AT">
              <a:solidFill>
                <a:srgbClr val="00000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2" name="Grafik 5" descr="Ein Bild, das Screenshot, Text, Grafikdesign, Grafiken enthält.&#10;&#10;Automatisch generierte Beschreibung">
            <a:extLst>
              <a:ext uri="{FF2B5EF4-FFF2-40B4-BE49-F238E27FC236}">
                <a16:creationId xmlns:a16="http://schemas.microsoft.com/office/drawing/2014/main" id="{FF8D1438-272A-CD89-FC4D-825D4F0A9194}"/>
              </a:ext>
            </a:extLst>
          </p:cNvPr>
          <p:cNvPicPr/>
          <p:nvPr/>
        </p:nvPicPr>
        <p:blipFill>
          <a:blip r:embed="rId2"/>
          <a:stretch/>
        </p:blipFill>
        <p:spPr>
          <a:xfrm>
            <a:off x="576805" y="2142872"/>
            <a:ext cx="7543799" cy="3545847"/>
          </a:xfrm>
          <a:prstGeom prst="rect">
            <a:avLst/>
          </a:prstGeom>
          <a:ln w="0">
            <a:noFill/>
          </a:ln>
        </p:spPr>
      </p:pic>
      <p:sp>
        <p:nvSpPr>
          <p:cNvPr id="7" name="Textfeld 6">
            <a:extLst>
              <a:ext uri="{FF2B5EF4-FFF2-40B4-BE49-F238E27FC236}">
                <a16:creationId xmlns:a16="http://schemas.microsoft.com/office/drawing/2014/main" id="{9CA08694-0537-9351-7D15-75903F4F5F53}"/>
              </a:ext>
            </a:extLst>
          </p:cNvPr>
          <p:cNvSpPr txBox="1"/>
          <p:nvPr/>
        </p:nvSpPr>
        <p:spPr>
          <a:xfrm>
            <a:off x="8263465" y="1951156"/>
            <a:ext cx="3632200" cy="39292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28594" indent="-228594">
              <a:spcBef>
                <a:spcPts val="800"/>
              </a:spcBef>
              <a:buFont typeface="Arial" panose="020B0604020202020204" pitchFamily="34" charset="0"/>
              <a:buChar char="•"/>
            </a:pPr>
            <a:r>
              <a:rPr lang="de-DE" sz="1400" b="1" spc="-1">
                <a:solidFill>
                  <a:schemeClr val="lt1">
                    <a:lumMod val="10000"/>
                  </a:schemeClr>
                </a:solidFill>
                <a:latin typeface="Calibri"/>
              </a:rPr>
              <a:t>Quantitative</a:t>
            </a:r>
            <a:r>
              <a:rPr lang="de-DE" sz="1400" spc="-1">
                <a:solidFill>
                  <a:schemeClr val="lt1">
                    <a:lumMod val="10000"/>
                  </a:schemeClr>
                </a:solidFill>
                <a:latin typeface="Calibri"/>
              </a:rPr>
              <a:t> Grenzwerte für die Primärenergie- und Treibhausgas-Emissionsbilanz für Betrieb, Mobilität und Errichtung eines Quartiers</a:t>
            </a:r>
          </a:p>
          <a:p>
            <a:pPr marL="228594" indent="-228594">
              <a:spcBef>
                <a:spcPts val="800"/>
              </a:spcBef>
              <a:buFont typeface="Arial" panose="020B0604020202020204" pitchFamily="34" charset="0"/>
              <a:buChar char="•"/>
            </a:pPr>
            <a:r>
              <a:rPr lang="de-DE" sz="1400" b="1" spc="-1">
                <a:solidFill>
                  <a:schemeClr val="lt1">
                    <a:lumMod val="10000"/>
                  </a:schemeClr>
                </a:solidFill>
                <a:latin typeface="Calibri"/>
              </a:rPr>
              <a:t>Projektspezifische</a:t>
            </a:r>
            <a:r>
              <a:rPr lang="de-DE" sz="1400" spc="-1">
                <a:solidFill>
                  <a:schemeClr val="lt1">
                    <a:lumMod val="10000"/>
                  </a:schemeClr>
                </a:solidFill>
                <a:latin typeface="Calibri"/>
              </a:rPr>
              <a:t> Grenzwerte unter Berücksichtigung von baulicher Dichte, Standort und Mobilitätsaufkommen, Gebäude-Alter</a:t>
            </a:r>
          </a:p>
          <a:p>
            <a:pPr marL="228594" indent="-228594">
              <a:spcBef>
                <a:spcPts val="800"/>
              </a:spcBef>
              <a:buFont typeface="Arial" panose="020B0604020202020204" pitchFamily="34" charset="0"/>
              <a:buChar char="•"/>
            </a:pPr>
            <a:r>
              <a:rPr lang="de-DE" sz="1400" spc="-1">
                <a:solidFill>
                  <a:schemeClr val="lt1">
                    <a:lumMod val="10000"/>
                  </a:schemeClr>
                </a:solidFill>
                <a:latin typeface="Calibri"/>
              </a:rPr>
              <a:t>Grenzwerte Primärenergie- und Treibhausgas-Emissionsbilanz ermittelt aus den österreichischen Klimazielen</a:t>
            </a:r>
          </a:p>
          <a:p>
            <a:pPr>
              <a:spcBef>
                <a:spcPts val="800"/>
              </a:spcBef>
            </a:pPr>
            <a:r>
              <a:rPr lang="de-DE" sz="1600" spc="-1">
                <a:solidFill>
                  <a:schemeClr val="lt1">
                    <a:lumMod val="10000"/>
                  </a:schemeClr>
                </a:solidFill>
                <a:latin typeface="Calibri"/>
              </a:rPr>
              <a:t>🎯</a:t>
            </a:r>
            <a:r>
              <a:rPr lang="de-DE" sz="1600" b="1" spc="-1">
                <a:solidFill>
                  <a:schemeClr val="lt1">
                    <a:lumMod val="10000"/>
                  </a:schemeClr>
                </a:solidFill>
                <a:latin typeface="Calibri"/>
              </a:rPr>
              <a:t>Positive Primärenergie-Bilanz</a:t>
            </a:r>
          </a:p>
          <a:p>
            <a:pPr>
              <a:spcBef>
                <a:spcPts val="800"/>
              </a:spcBef>
            </a:pPr>
            <a:r>
              <a:rPr lang="de-DE" sz="1600" spc="-1">
                <a:solidFill>
                  <a:schemeClr val="lt1">
                    <a:lumMod val="10000"/>
                  </a:schemeClr>
                </a:solidFill>
                <a:latin typeface="Calibri"/>
              </a:rPr>
              <a:t>🎯</a:t>
            </a:r>
            <a:r>
              <a:rPr lang="de-DE" sz="1600" b="1" spc="-1">
                <a:solidFill>
                  <a:schemeClr val="lt1">
                    <a:lumMod val="10000"/>
                  </a:schemeClr>
                </a:solidFill>
                <a:latin typeface="Calibri"/>
              </a:rPr>
              <a:t> THG-Bilanz &lt; 320 kg</a:t>
            </a:r>
            <a:r>
              <a:rPr lang="de-DE" sz="1600" b="1" spc="-1" baseline="-25000">
                <a:solidFill>
                  <a:schemeClr val="lt1">
                    <a:lumMod val="10000"/>
                  </a:schemeClr>
                </a:solidFill>
                <a:latin typeface="Calibri"/>
              </a:rPr>
              <a:t>CO2eq</a:t>
            </a:r>
            <a:r>
              <a:rPr lang="de-DE" sz="1600" b="1" spc="-1">
                <a:solidFill>
                  <a:schemeClr val="lt1">
                    <a:lumMod val="10000"/>
                  </a:schemeClr>
                </a:solidFill>
                <a:latin typeface="Calibri"/>
              </a:rPr>
              <a:t>/m²</a:t>
            </a:r>
            <a:r>
              <a:rPr lang="de-DE" sz="1600" b="1" spc="-1" baseline="-25000">
                <a:solidFill>
                  <a:schemeClr val="lt1">
                    <a:lumMod val="10000"/>
                  </a:schemeClr>
                </a:solidFill>
                <a:latin typeface="Calibri"/>
              </a:rPr>
              <a:t>BGF</a:t>
            </a:r>
            <a:r>
              <a:rPr lang="de-DE" sz="1600" b="1" spc="-1">
                <a:solidFill>
                  <a:schemeClr val="lt1">
                    <a:lumMod val="10000"/>
                  </a:schemeClr>
                </a:solidFill>
                <a:latin typeface="Calibri"/>
              </a:rPr>
              <a:t> (kumuliertes Budget) </a:t>
            </a:r>
          </a:p>
          <a:p>
            <a:pPr marL="228594" indent="-228594">
              <a:spcBef>
                <a:spcPts val="800"/>
              </a:spcBef>
              <a:buFont typeface="Arial" panose="020B0604020202020204" pitchFamily="34" charset="0"/>
              <a:buChar char="•"/>
            </a:pPr>
            <a:endParaRPr lang="de-DE" sz="1400" spc="-1">
              <a:solidFill>
                <a:schemeClr val="lt1">
                  <a:lumMod val="10000"/>
                </a:schemeClr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EABC5E5-C99E-9634-805E-E379F1E808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AT" spc="-1">
                <a:solidFill>
                  <a:schemeClr val="accent1"/>
                </a:solidFill>
                <a:latin typeface="Calibri"/>
              </a:rPr>
              <a:t>Der Plus-Energie-Standard ermöglicht die Deklaration von</a:t>
            </a:r>
            <a:endParaRPr lang="de-DE"/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599A63D1-1175-CA18-A25B-1FC0C7F154E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pPr marL="0" indent="0" algn="just">
              <a:lnSpc>
                <a:spcPct val="150000"/>
              </a:lnSpc>
              <a:buNone/>
            </a:pPr>
            <a:r>
              <a:rPr lang="de-DE" spc="-1">
                <a:solidFill>
                  <a:schemeClr val="lt1">
                    <a:lumMod val="10000"/>
                  </a:schemeClr>
                </a:solidFill>
                <a:latin typeface="Calibri"/>
              </a:rPr>
              <a:t>🏡 +🏙️	Quartieren mit niedriger und </a:t>
            </a:r>
            <a:r>
              <a:rPr lang="de-DE" b="1" spc="-1">
                <a:solidFill>
                  <a:schemeClr val="lt1">
                    <a:lumMod val="10000"/>
                  </a:schemeClr>
                </a:solidFill>
                <a:latin typeface="Calibri"/>
              </a:rPr>
              <a:t>hoher baulicher Dichte 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de-DE" spc="-1">
                <a:solidFill>
                  <a:schemeClr val="lt1">
                    <a:lumMod val="10000"/>
                  </a:schemeClr>
                </a:solidFill>
                <a:latin typeface="Calibri"/>
              </a:rPr>
              <a:t>🚗 +🚃 	Ländliche und urbane Quartiere mit unterschiedlicher Verkehrssituation</a:t>
            </a:r>
          </a:p>
          <a:p>
            <a:pPr marL="457189" lvl="1" indent="0" algn="just">
              <a:lnSpc>
                <a:spcPct val="150000"/>
              </a:lnSpc>
              <a:buNone/>
            </a:pPr>
            <a:r>
              <a:rPr lang="de-DE" sz="2200" spc="-1">
                <a:solidFill>
                  <a:schemeClr val="lt1">
                    <a:lumMod val="10000"/>
                  </a:schemeClr>
                </a:solidFill>
                <a:latin typeface="Calibri"/>
              </a:rPr>
              <a:t>💪	aber für Ländliche ein Herkulesaufgabe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de-DE" spc="-1">
                <a:solidFill>
                  <a:schemeClr val="lt1">
                    <a:lumMod val="10000"/>
                  </a:schemeClr>
                </a:solidFill>
                <a:latin typeface="Calibri"/>
              </a:rPr>
              <a:t>🏗️+🏚️	Neubau und Sanierung mit unterschiedlichem Einsatz grauer Energie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de-DE" spc="-1">
                <a:solidFill>
                  <a:schemeClr val="lt1">
                    <a:lumMod val="10000"/>
                  </a:schemeClr>
                </a:solidFill>
                <a:latin typeface="Calibri"/>
              </a:rPr>
              <a:t>👨‍💼+👨‍🏫	Unterschiedliche Nutzungen und Nutzungs-Mischungen</a:t>
            </a:r>
          </a:p>
          <a:p>
            <a:pPr>
              <a:lnSpc>
                <a:spcPct val="150000"/>
              </a:lnSpc>
            </a:pPr>
            <a:endParaRPr lang="de-DE"/>
          </a:p>
        </p:txBody>
      </p:sp>
      <p:sp>
        <p:nvSpPr>
          <p:cNvPr id="3" name="Foliennummernplatzhalter 2">
            <a:extLst>
              <a:ext uri="{FF2B5EF4-FFF2-40B4-BE49-F238E27FC236}">
                <a16:creationId xmlns:a16="http://schemas.microsoft.com/office/drawing/2014/main" id="{2E4B1553-BFDD-8D39-02CA-BD4442CEC3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AT" sz="1867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DF1416F-3104-4888-B9E3-BED4C99BC5D9}" type="slidenum">
              <a:rPr kumimoji="0" lang="de-AT" sz="800" b="0" i="0" u="none" strike="noStrike" kern="0" cap="none" spc="0" normalizeH="0" baseline="0" noProof="0">
                <a:ln>
                  <a:noFill/>
                </a:ln>
                <a:solidFill>
                  <a:srgbClr val="626B71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19</a:t>
            </a:fld>
            <a:endParaRPr kumimoji="0" lang="de-AT" sz="800" b="0" i="0" u="none" strike="noStrike" kern="0" cap="none" spc="0" normalizeH="0" baseline="0" noProof="0">
              <a:ln>
                <a:noFill/>
              </a:ln>
              <a:solidFill>
                <a:srgbClr val="626B71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2981862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PlaceHolder 1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r>
              <a:rPr lang="de-DE" sz="2667" b="1" spc="-1">
                <a:solidFill>
                  <a:schemeClr val="accent1"/>
                </a:solidFill>
                <a:latin typeface="Calibri"/>
              </a:rPr>
              <a:t> Der Standard vereint</a:t>
            </a:r>
            <a:endParaRPr lang="de-DE" sz="2667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" name="Textplatzhalter 1">
            <a:extLst>
              <a:ext uri="{FF2B5EF4-FFF2-40B4-BE49-F238E27FC236}">
                <a16:creationId xmlns:a16="http://schemas.microsoft.com/office/drawing/2014/main" id="{44A91D7A-485A-6CA8-80B6-1591589026C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776816" y="2748765"/>
            <a:ext cx="10638367" cy="3977767"/>
          </a:xfrm>
        </p:spPr>
        <p:txBody>
          <a:bodyPr/>
          <a:lstStyle/>
          <a:p>
            <a:pPr marL="0" indent="0">
              <a:buNone/>
            </a:pPr>
            <a:r>
              <a:rPr lang="de-DE" dirty="0"/>
              <a:t>Nationales Bilanzmodell</a:t>
            </a:r>
          </a:p>
        </p:txBody>
      </p:sp>
      <p:sp>
        <p:nvSpPr>
          <p:cNvPr id="188" name="PlaceHolder 2"/>
          <p:cNvSpPr>
            <a:spLocks noGrp="1"/>
          </p:cNvSpPr>
          <p:nvPr>
            <p:ph type="ftr" sz="quarter" idx="11"/>
          </p:nvPr>
        </p:nvSpPr>
        <p:spPr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defTabSz="1219170">
              <a:lnSpc>
                <a:spcPct val="100000"/>
              </a:lnSpc>
              <a:buNone/>
              <a:defRPr lang="de-AT" sz="1867" b="0" strike="noStrike" spc="-1">
                <a:solidFill>
                  <a:schemeClr val="dk1"/>
                </a:solidFill>
                <a:latin typeface="Calibri"/>
              </a:defRPr>
            </a:lvl1pPr>
          </a:lstStyle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AT" sz="1867" b="0" i="0" u="none" strike="noStrike" kern="1200" cap="none" spc="-1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klima</a:t>
            </a:r>
            <a:r>
              <a:rPr kumimoji="0" lang="de-AT" sz="1867" b="1" i="0" u="none" strike="noStrike" kern="1200" cap="none" spc="-1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aktiv</a:t>
            </a:r>
            <a:r>
              <a:rPr kumimoji="0" lang="de-AT" sz="1867" b="0" i="0" u="none" strike="noStrike" kern="1200" cap="none" spc="-1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Siedlungen und Quartiere</a:t>
            </a:r>
            <a:endParaRPr kumimoji="0" lang="de-DE" sz="1867" b="0" i="0" u="none" strike="noStrike" kern="1200" cap="none" spc="-1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8D9C44A-71FD-4619-B65B-AB6BAD44BDBA}" type="slidenum">
              <a:rPr kumimoji="0" lang="de-AT" sz="1867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20</a:t>
            </a:fld>
            <a:endParaRPr kumimoji="0" lang="de-AT" sz="1867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9" name="Titel 1"/>
          <p:cNvSpPr/>
          <p:nvPr/>
        </p:nvSpPr>
        <p:spPr>
          <a:xfrm>
            <a:off x="3842880" y="854400"/>
            <a:ext cx="1476000" cy="576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t">
            <a:noAutofit/>
          </a:bodyPr>
          <a:lstStyle/>
          <a:p>
            <a:pPr marL="0" marR="0" lvl="0" indent="0" algn="l" defTabSz="1219170" rtl="0" eaLnBrk="1" fontAlgn="auto" latinLnBrk="0" hangingPunct="1">
              <a:lnSpc>
                <a:spcPts val="3999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2400" b="1" i="0" u="none" strike="noStrike" kern="1200" cap="none" spc="-1" normalizeH="0" baseline="0" noProof="0">
                <a:ln>
                  <a:noFill/>
                </a:ln>
                <a:solidFill>
                  <a:srgbClr val="CA0237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top-down</a:t>
            </a:r>
            <a:endParaRPr kumimoji="0" lang="de-DE" sz="2400" b="0" i="0" u="none" strike="noStrike" kern="1200" cap="none" spc="-1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90" name="Titel 1"/>
          <p:cNvSpPr/>
          <p:nvPr/>
        </p:nvSpPr>
        <p:spPr>
          <a:xfrm>
            <a:off x="4541280" y="1904160"/>
            <a:ext cx="3627840" cy="576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t">
            <a:noAutofit/>
          </a:bodyPr>
          <a:lstStyle/>
          <a:p>
            <a:pPr marL="0" marR="0" lvl="0" indent="0" algn="l" defTabSz="1219170" rtl="0" eaLnBrk="1" fontAlgn="auto" latinLnBrk="0" hangingPunct="1">
              <a:lnSpc>
                <a:spcPts val="3999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2667" b="1" i="0" u="none" strike="noStrike" kern="1200" cap="none" spc="-1" normalizeH="0" baseline="0" noProof="0" dirty="0">
                <a:ln>
                  <a:noFill/>
                </a:ln>
                <a:solidFill>
                  <a:srgbClr val="E6EFF3">
                    <a:lumMod val="50000"/>
                  </a:srgb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Potentialen und Praxisnähe</a:t>
            </a:r>
            <a:endParaRPr kumimoji="0" lang="de-DE" sz="2667" b="0" i="0" u="none" strike="noStrike" kern="1200" cap="none" spc="-1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91" name="Titel 1"/>
          <p:cNvSpPr/>
          <p:nvPr/>
        </p:nvSpPr>
        <p:spPr>
          <a:xfrm>
            <a:off x="4046400" y="1202880"/>
            <a:ext cx="4125600" cy="576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t">
            <a:noAutofit/>
          </a:bodyPr>
          <a:lstStyle/>
          <a:p>
            <a:pPr marL="0" marR="0" lvl="0" indent="0" algn="l" defTabSz="1219170" rtl="0" eaLnBrk="1" fontAlgn="auto" latinLnBrk="0" hangingPunct="1">
              <a:lnSpc>
                <a:spcPts val="3999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2667" b="1" i="0" u="none" strike="noStrike" kern="1200" cap="none" spc="-1" normalizeH="0" baseline="0" noProof="0" dirty="0">
                <a:ln>
                  <a:noFill/>
                </a:ln>
                <a:solidFill>
                  <a:srgbClr val="E6EFF3">
                    <a:lumMod val="50000"/>
                  </a:srgb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Klima- und Regierungsziele mit</a:t>
            </a:r>
            <a:endParaRPr kumimoji="0" lang="de-DE" sz="2667" b="0" i="0" u="none" strike="noStrike" kern="1200" cap="none" spc="-1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92" name="Titel 1"/>
          <p:cNvSpPr/>
          <p:nvPr/>
        </p:nvSpPr>
        <p:spPr>
          <a:xfrm>
            <a:off x="4256160" y="1515360"/>
            <a:ext cx="1667040" cy="5553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t">
            <a:noAutofit/>
          </a:bodyPr>
          <a:lstStyle/>
          <a:p>
            <a:pPr marL="0" marR="0" lvl="0" indent="0" algn="l" defTabSz="1219170" rtl="0" eaLnBrk="1" fontAlgn="auto" latinLnBrk="0" hangingPunct="1">
              <a:lnSpc>
                <a:spcPts val="3999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2400" b="1" i="0" u="none" strike="noStrike" kern="1200" cap="none" spc="-1" normalizeH="0" baseline="0" noProof="0">
                <a:ln>
                  <a:noFill/>
                </a:ln>
                <a:solidFill>
                  <a:srgbClr val="CA0237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bottom-up</a:t>
            </a:r>
            <a:endParaRPr kumimoji="0" lang="de-DE" sz="2400" b="0" i="0" u="none" strike="noStrike" kern="1200" cap="none" spc="-1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193" name="Grafik 91"/>
          <p:cNvPicPr/>
          <p:nvPr/>
        </p:nvPicPr>
        <p:blipFill>
          <a:blip r:embed="rId2"/>
          <a:stretch/>
        </p:blipFill>
        <p:spPr>
          <a:xfrm>
            <a:off x="4400160" y="2735693"/>
            <a:ext cx="6323040" cy="3672000"/>
          </a:xfrm>
          <a:prstGeom prst="rect">
            <a:avLst/>
          </a:prstGeom>
          <a:ln w="0">
            <a:noFill/>
          </a:ln>
        </p:spPr>
      </p:pic>
      <p:sp>
        <p:nvSpPr>
          <p:cNvPr id="194" name="Textfeld 93"/>
          <p:cNvSpPr/>
          <p:nvPr/>
        </p:nvSpPr>
        <p:spPr>
          <a:xfrm>
            <a:off x="10272000" y="2802720"/>
            <a:ext cx="1919520" cy="2921939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20000" tIns="60000" rIns="120000" bIns="60000" anchor="t">
            <a:spAutoFit/>
          </a:bodyPr>
          <a:lstStyle/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1400" b="0" i="0" u="none" strike="noStrike" kern="1200" cap="none" spc="-1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Schematische Darstellung der Systemgrenzen des Gebäudesektors im Zusammenhang mit den umliegenden Sektoren eines zukünftigen erneuerbaren Energiesystems, aus denen sich die Gutschriften Top-Down ableiten</a:t>
            </a:r>
          </a:p>
        </p:txBody>
      </p:sp>
      <p:sp>
        <p:nvSpPr>
          <p:cNvPr id="195" name="Rechteck 94"/>
          <p:cNvSpPr/>
          <p:nvPr/>
        </p:nvSpPr>
        <p:spPr>
          <a:xfrm>
            <a:off x="1189440" y="3596640"/>
            <a:ext cx="1604640" cy="1156800"/>
          </a:xfrm>
          <a:prstGeom prst="rect">
            <a:avLst/>
          </a:prstGeom>
          <a:solidFill>
            <a:srgbClr val="E2F0D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120000" tIns="60000" rIns="120000" bIns="60000" anchor="ctr">
            <a:noAutofit/>
          </a:bodyPr>
          <a:lstStyle/>
          <a:p>
            <a:pPr marL="0" marR="0" lvl="0" indent="0" algn="ctr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AT" sz="2400" b="0" i="0" u="none" strike="noStrike" kern="1200" cap="none" spc="-1" normalizeH="0" baseline="0" noProof="0">
              <a:ln>
                <a:noFill/>
              </a:ln>
              <a:solidFill>
                <a:srgbClr val="E6EFF3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96" name="Rechteck 95"/>
          <p:cNvSpPr/>
          <p:nvPr/>
        </p:nvSpPr>
        <p:spPr>
          <a:xfrm flipV="1">
            <a:off x="1189440" y="5003040"/>
            <a:ext cx="1604640" cy="163680"/>
          </a:xfrm>
          <a:prstGeom prst="rect">
            <a:avLst/>
          </a:prstGeom>
          <a:solidFill>
            <a:srgbClr val="FFDD9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120000" tIns="60000" rIns="120000" bIns="60000" anchor="ctr">
            <a:noAutofit/>
          </a:bodyPr>
          <a:lstStyle/>
          <a:p>
            <a:pPr marL="0" marR="0" lvl="0" indent="0" algn="ctr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AT" sz="2400" b="0" i="0" u="none" strike="noStrike" kern="1200" cap="none" spc="-1" normalizeH="0" baseline="0" noProof="0">
              <a:ln>
                <a:noFill/>
              </a:ln>
              <a:solidFill>
                <a:srgbClr val="E6EFF3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97" name="Textfeld 2"/>
          <p:cNvSpPr/>
          <p:nvPr/>
        </p:nvSpPr>
        <p:spPr>
          <a:xfrm>
            <a:off x="3528240" y="4097718"/>
            <a:ext cx="1604640" cy="767503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120000" tIns="60000" rIns="120000" bIns="60000" anchor="t">
            <a:spAutoFit/>
          </a:bodyPr>
          <a:lstStyle/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0" algn="l"/>
              </a:tabLst>
              <a:defRPr/>
            </a:pPr>
            <a:r>
              <a:rPr kumimoji="0" lang="en-US" sz="1400" b="0" i="0" u="none" strike="noStrike" kern="1200" cap="none" spc="-1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Bahnschrift"/>
                <a:ea typeface="+mn-ea"/>
                <a:cs typeface="+mn-cs"/>
              </a:rPr>
              <a:t>Szenario</a:t>
            </a:r>
            <a:r>
              <a:rPr kumimoji="0" lang="en-US" sz="1400" b="0" i="0" u="none" strike="noStrike" kern="1200" cap="none" spc="-1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Bahnschrift"/>
                <a:ea typeface="+mn-ea"/>
                <a:cs typeface="+mn-cs"/>
              </a:rPr>
              <a:t>: 100% </a:t>
            </a:r>
            <a:r>
              <a:rPr kumimoji="0" lang="en-US" sz="1400" b="0" i="0" u="none" strike="noStrike" kern="1200" cap="none" spc="-1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Bahnschrift"/>
                <a:ea typeface="+mn-ea"/>
                <a:cs typeface="+mn-cs"/>
              </a:rPr>
              <a:t>Erneuerbares</a:t>
            </a:r>
            <a:r>
              <a:rPr kumimoji="0" lang="en-US" sz="1400" b="0" i="0" u="none" strike="noStrike" kern="1200" cap="none" spc="-1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Bahnschrift"/>
                <a:ea typeface="+mn-ea"/>
                <a:cs typeface="+mn-cs"/>
              </a:rPr>
              <a:t> Österreich 2040</a:t>
            </a:r>
            <a:endParaRPr kumimoji="0" lang="de-DE" sz="1400" b="0" i="0" u="none" strike="noStrike" kern="1200" cap="none" spc="-1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98" name="Textfeld 2"/>
          <p:cNvSpPr/>
          <p:nvPr/>
        </p:nvSpPr>
        <p:spPr>
          <a:xfrm>
            <a:off x="1108596" y="4160138"/>
            <a:ext cx="14501280" cy="552059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20000" tIns="60000" rIns="120000" bIns="60000" anchor="t">
            <a:spAutoFit/>
          </a:bodyPr>
          <a:lstStyle/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0" algn="l"/>
              </a:tabLst>
              <a:defRPr/>
            </a:pPr>
            <a:r>
              <a:rPr kumimoji="0" lang="en-US" sz="1400" b="0" i="0" u="none" strike="noStrike" kern="1200" cap="none" spc="-1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Bahnschrift"/>
                <a:ea typeface="+mn-ea"/>
                <a:cs typeface="+mn-cs"/>
              </a:rPr>
              <a:t>Österreich Heute </a:t>
            </a:r>
          </a:p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0" algn="l"/>
              </a:tabLst>
              <a:defRPr/>
            </a:pPr>
            <a:r>
              <a:rPr kumimoji="0" lang="en-US" sz="1400" b="0" i="0" u="none" strike="noStrike" kern="1200" cap="none" spc="-1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Bahnschrift"/>
                <a:ea typeface="+mn-ea"/>
                <a:cs typeface="+mn-cs"/>
              </a:rPr>
              <a:t>Erneuerbare Energien</a:t>
            </a:r>
            <a:endParaRPr kumimoji="0" lang="de-DE" sz="1400" b="0" i="0" u="none" strike="noStrike" kern="1200" cap="none" spc="-1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99" name="Textfeld 100"/>
          <p:cNvSpPr/>
          <p:nvPr/>
        </p:nvSpPr>
        <p:spPr>
          <a:xfrm>
            <a:off x="4330560" y="6231841"/>
            <a:ext cx="6768960" cy="551867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20000" tIns="60000" rIns="120000" bIns="60000" anchor="t">
            <a:spAutoFit/>
          </a:bodyPr>
          <a:lstStyle/>
          <a:p>
            <a:pPr marL="0" marR="0" lvl="0" indent="0" algn="r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AT" sz="933" b="0" i="0" u="none" strike="noStrike" kern="1200" cap="none" spc="-1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[1]</a:t>
            </a:r>
            <a:endParaRPr kumimoji="0" lang="de-DE" sz="933" b="0" i="0" u="none" strike="noStrike" kern="1200" cap="none" spc="-1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AT" sz="933" b="0" i="0" u="none" strike="noStrike" kern="1200" cap="none" spc="-1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S. Schneider, T. Zelger, D. Sengl, und J. Baptista, „A Quantitative Positive Energy District Definition with Contextual Targets“, </a:t>
            </a:r>
            <a:r>
              <a:rPr kumimoji="0" lang="de-AT" sz="933" b="0" i="1" u="none" strike="noStrike" kern="1200" cap="none" spc="-1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Buildings</a:t>
            </a:r>
            <a:r>
              <a:rPr kumimoji="0" lang="de-AT" sz="933" b="0" i="0" u="none" strike="noStrike" kern="1200" cap="none" spc="-1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, Bd. 13, Nr. 5, Art. Nr. 5, Mai 2023, doi: </a:t>
            </a:r>
            <a:r>
              <a:rPr kumimoji="0" lang="de-AT" sz="933" b="0" i="0" u="sng" strike="noStrike" kern="1200" cap="none" spc="-1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  <a:hlinkClick r:id="rId3"/>
              </a:rPr>
              <a:t>10.3390/buildings13051210</a:t>
            </a:r>
            <a:r>
              <a:rPr kumimoji="0" lang="de-AT" sz="933" b="0" i="0" u="none" strike="noStrike" kern="1200" cap="none" spc="-1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.</a:t>
            </a:r>
            <a:endParaRPr kumimoji="0" lang="de-DE" sz="933" b="0" i="0" u="none" strike="noStrike" kern="1200" cap="none" spc="-1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200" name="Grafik 102"/>
          <p:cNvPicPr/>
          <p:nvPr/>
        </p:nvPicPr>
        <p:blipFill>
          <a:blip r:embed="rId4"/>
          <a:stretch/>
        </p:blipFill>
        <p:spPr>
          <a:xfrm>
            <a:off x="10368960" y="951360"/>
            <a:ext cx="1667040" cy="1667040"/>
          </a:xfrm>
          <a:prstGeom prst="rect">
            <a:avLst/>
          </a:prstGeom>
          <a:ln w="0">
            <a:noFill/>
          </a:ln>
        </p:spPr>
      </p:pic>
      <p:sp>
        <p:nvSpPr>
          <p:cNvPr id="201" name="Textfeld 103"/>
          <p:cNvSpPr/>
          <p:nvPr/>
        </p:nvSpPr>
        <p:spPr>
          <a:xfrm>
            <a:off x="10985281" y="765601"/>
            <a:ext cx="952923" cy="336615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120000" tIns="60000" rIns="120000" bIns="60000" anchor="t">
            <a:spAutoFit/>
          </a:bodyPr>
          <a:lstStyle/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1400" b="0" i="0" u="none" strike="noStrike" kern="1200" cap="none" spc="-1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Nachlese:</a:t>
            </a:r>
          </a:p>
        </p:txBody>
      </p:sp>
      <p:sp>
        <p:nvSpPr>
          <p:cNvPr id="3" name="Pfeil: nach rechts 2">
            <a:extLst>
              <a:ext uri="{FF2B5EF4-FFF2-40B4-BE49-F238E27FC236}">
                <a16:creationId xmlns:a16="http://schemas.microsoft.com/office/drawing/2014/main" id="{9160903A-F18A-BC53-404C-E3F92B4E278D}"/>
              </a:ext>
            </a:extLst>
          </p:cNvPr>
          <p:cNvSpPr/>
          <p:nvPr/>
        </p:nvSpPr>
        <p:spPr>
          <a:xfrm>
            <a:off x="3003023" y="4097717"/>
            <a:ext cx="535342" cy="767503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rafik 5">
            <a:extLst>
              <a:ext uri="{FF2B5EF4-FFF2-40B4-BE49-F238E27FC236}">
                <a16:creationId xmlns:a16="http://schemas.microsoft.com/office/drawing/2014/main" id="{2ACE8E4E-5B7A-5358-9FBD-01A6A31F96D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21659" y="1821253"/>
            <a:ext cx="6961093" cy="3977767"/>
          </a:xfrm>
          <a:prstGeom prst="rect">
            <a:avLst/>
          </a:prstGeom>
        </p:spPr>
      </p:pic>
      <p:sp>
        <p:nvSpPr>
          <p:cNvPr id="2" name="Titel 1">
            <a:extLst>
              <a:ext uri="{FF2B5EF4-FFF2-40B4-BE49-F238E27FC236}">
                <a16:creationId xmlns:a16="http://schemas.microsoft.com/office/drawing/2014/main" id="{5E5DDEC3-1DA4-0D76-7403-97819BD3AF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AT" dirty="0"/>
              <a:t>Kontextfaktor Bauliche Dichte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6A719100-65B5-373B-AC5A-0D7CBD6D933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719670" y="2164801"/>
            <a:ext cx="4991456" cy="4222202"/>
          </a:xfrm>
        </p:spPr>
        <p:txBody>
          <a:bodyPr>
            <a:normAutofit fontScale="92500" lnSpcReduction="20000"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lang="de-AT" dirty="0"/>
              <a:t>Energiebedarf ist proportional zur baulichen Dichte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lang="de-AT" dirty="0"/>
              <a:t>Erzeugungspotential bleibt gleich. </a:t>
            </a:r>
          </a:p>
          <a:p>
            <a:pPr>
              <a:spcBef>
                <a:spcPts val="1200"/>
              </a:spcBef>
              <a:buFont typeface="Wingdings" panose="05000000000000000000" pitchFamily="2" charset="2"/>
              <a:buChar char="Ø"/>
            </a:pPr>
            <a:r>
              <a:rPr lang="de-AT" dirty="0"/>
              <a:t>Kontextfaktor zum Ausgleich und „Effortsharing“ innerhalb des Gebäudesektors</a:t>
            </a:r>
          </a:p>
          <a:p>
            <a:pPr>
              <a:spcBef>
                <a:spcPts val="1200"/>
              </a:spcBef>
              <a:buFont typeface="Wingdings" panose="05000000000000000000" pitchFamily="2" charset="2"/>
              <a:buChar char="Ø"/>
            </a:pPr>
            <a:r>
              <a:rPr lang="de-AT" dirty="0"/>
              <a:t>Kurve so gelegt, dass Energiebilanz des Gebäudesektors nationalen Dekarbonisierungszielen entspricht [Streicher]</a:t>
            </a:r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EA31B988-D054-9D72-7964-A27B5BB04A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AT" sz="1867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59201EA3-74BF-0747-3E12-5D15737C9C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206269C-C24E-4E80-9A4B-E7E19BB59A67}" type="slidenum">
              <a:rPr kumimoji="0" lang="de-AT" sz="1867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21</a:t>
            </a:fld>
            <a:endParaRPr kumimoji="0" lang="de-AT" sz="1867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1734727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rafik 7">
            <a:extLst>
              <a:ext uri="{FF2B5EF4-FFF2-40B4-BE49-F238E27FC236}">
                <a16:creationId xmlns:a16="http://schemas.microsoft.com/office/drawing/2014/main" id="{1757C6E2-D183-7A1B-3298-E4A6B15154B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65099" y="3429000"/>
            <a:ext cx="5599907" cy="3166145"/>
          </a:xfrm>
          <a:prstGeom prst="rect">
            <a:avLst/>
          </a:prstGeom>
        </p:spPr>
      </p:pic>
      <p:sp>
        <p:nvSpPr>
          <p:cNvPr id="2" name="Titel 1">
            <a:extLst>
              <a:ext uri="{FF2B5EF4-FFF2-40B4-BE49-F238E27FC236}">
                <a16:creationId xmlns:a16="http://schemas.microsoft.com/office/drawing/2014/main" id="{42CBFA95-1523-7B0F-96A2-2C2AABE48C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AT" dirty="0"/>
              <a:t>Mobilität: Inkludiert und budgetiert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6E3BFFDC-67A1-6282-2D0D-AC02812434F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719670" y="2164801"/>
            <a:ext cx="7691086" cy="3977767"/>
          </a:xfrm>
        </p:spPr>
        <p:txBody>
          <a:bodyPr/>
          <a:lstStyle/>
          <a:p>
            <a:r>
              <a:rPr lang="de-AT" dirty="0"/>
              <a:t>Bilanzierung des durch das Quartier verursachten MIVs</a:t>
            </a:r>
          </a:p>
          <a:p>
            <a:r>
              <a:rPr lang="de-AT" dirty="0"/>
              <a:t>Abhängig vom Standort</a:t>
            </a:r>
          </a:p>
          <a:p>
            <a:r>
              <a:rPr lang="de-AT" dirty="0"/>
              <a:t>Nationales Budget, gleichverteilt </a:t>
            </a:r>
            <a:br>
              <a:rPr lang="de-AT" dirty="0"/>
            </a:br>
            <a:r>
              <a:rPr lang="de-AT" dirty="0"/>
              <a:t>pro Person</a:t>
            </a:r>
          </a:p>
          <a:p>
            <a:r>
              <a:rPr lang="de-AT" dirty="0"/>
              <a:t>Mobilitäts-Maßnahmen verbessern </a:t>
            </a:r>
            <a:br>
              <a:rPr lang="de-AT" dirty="0"/>
            </a:br>
            <a:r>
              <a:rPr lang="de-AT" dirty="0"/>
              <a:t>Quartiersbilanz</a:t>
            </a:r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08A1B0E1-E561-5829-CD5F-B1D8C0FF1E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AT" sz="1867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4B5A7111-3F4E-BF6A-D3E8-55A858ED2A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206269C-C24E-4E80-9A4B-E7E19BB59A67}" type="slidenum">
              <a:rPr kumimoji="0" lang="de-AT" sz="1867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22</a:t>
            </a:fld>
            <a:endParaRPr kumimoji="0" lang="de-AT" sz="1867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aphicFrame>
        <p:nvGraphicFramePr>
          <p:cNvPr id="7" name="Diagramm 6">
            <a:extLst>
              <a:ext uri="{FF2B5EF4-FFF2-40B4-BE49-F238E27FC236}">
                <a16:creationId xmlns:a16="http://schemas.microsoft.com/office/drawing/2014/main" id="{7A2F00CD-EB22-7A24-CEE9-4BCDF1B83429}"/>
              </a:ext>
            </a:extLst>
          </p:cNvPr>
          <p:cNvGraphicFramePr>
            <a:graphicFrameLocks/>
          </p:cNvGraphicFramePr>
          <p:nvPr/>
        </p:nvGraphicFramePr>
        <p:xfrm>
          <a:off x="8765053" y="835333"/>
          <a:ext cx="4583622" cy="280129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0" name="Textfeld 9">
            <a:extLst>
              <a:ext uri="{FF2B5EF4-FFF2-40B4-BE49-F238E27FC236}">
                <a16:creationId xmlns:a16="http://schemas.microsoft.com/office/drawing/2014/main" id="{CADC9B48-4CD9-B7D3-1B77-0E7BCC63D134}"/>
              </a:ext>
            </a:extLst>
          </p:cNvPr>
          <p:cNvSpPr txBox="1"/>
          <p:nvPr/>
        </p:nvSpPr>
        <p:spPr>
          <a:xfrm>
            <a:off x="184043" y="5987181"/>
            <a:ext cx="667589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marR="0" lvl="1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AT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Datenbasis Österreich Unterwegs 2014</a:t>
            </a:r>
          </a:p>
        </p:txBody>
      </p:sp>
    </p:spTree>
    <p:extLst>
      <p:ext uri="{BB962C8B-B14F-4D97-AF65-F5344CB8AC3E}">
        <p14:creationId xmlns:p14="http://schemas.microsoft.com/office/powerpoint/2010/main" val="361928388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C694EBE-2333-5FBC-855F-8B5678A4D5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AT" dirty="0"/>
              <a:t>Kontextfaktor Sanierung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F794789C-A55A-D65D-E964-8D7209E1B4A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de-AT" dirty="0"/>
              <a:t>Die </a:t>
            </a:r>
            <a:r>
              <a:rPr lang="de-AT" b="1" dirty="0"/>
              <a:t>Sanierung</a:t>
            </a:r>
            <a:r>
              <a:rPr lang="de-AT" dirty="0"/>
              <a:t> von Bestandsquartieren erfordert im Vergleich zu Neubauten einen unverhältnismäßig höheren Aufwand, um sie auf denselben energetischen Stand zu bringen. </a:t>
            </a:r>
          </a:p>
          <a:p>
            <a:r>
              <a:rPr lang="de-AT" dirty="0"/>
              <a:t>Zudem sind gewisse Maßnahmen bei Bestandsgebäuden schwieriger durchzuführen. </a:t>
            </a:r>
          </a:p>
          <a:p>
            <a:r>
              <a:rPr lang="de-AT" dirty="0"/>
              <a:t>Aus diesem Grund erhalten Quartiere mit Sanierungsanteil eine Gutschrift von 15 </a:t>
            </a:r>
            <a:r>
              <a:rPr lang="de-AT" dirty="0" err="1"/>
              <a:t>kWh</a:t>
            </a:r>
            <a:r>
              <a:rPr lang="de-AT" baseline="-25000" dirty="0" err="1"/>
              <a:t>PE</a:t>
            </a:r>
            <a:r>
              <a:rPr lang="de-AT" dirty="0"/>
              <a:t>/(m²</a:t>
            </a:r>
            <a:r>
              <a:rPr lang="de-AT" baseline="-25000" dirty="0"/>
              <a:t>NGF</a:t>
            </a:r>
            <a:r>
              <a:rPr lang="de-AT" dirty="0"/>
              <a:t>a) auf ihre Primärenergiebilanz. </a:t>
            </a:r>
          </a:p>
          <a:p>
            <a:r>
              <a:rPr lang="de-AT" dirty="0"/>
              <a:t>Bestehende Baustoffe müssen in der THG-Bilanz nicht berücksichtigt werden</a:t>
            </a:r>
            <a:endParaRPr lang="de-DE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28C48728-0AA6-430F-3254-7F4CCDCDEB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914377">
              <a:defRPr/>
            </a:pPr>
            <a:endParaRPr lang="de-AT" dirty="0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40F533C1-787B-58C0-88A5-99C25427C0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914377">
              <a:defRPr/>
            </a:pPr>
            <a:fld id="{1206269C-C24E-4E80-9A4B-E7E19BB59A67}" type="slidenum">
              <a:rPr lang="de-AT">
                <a:solidFill>
                  <a:srgbClr val="000000"/>
                </a:solidFill>
                <a:latin typeface="Calibri" panose="020F0502020204030204"/>
              </a:rPr>
              <a:pPr defTabSz="914377">
                <a:defRPr/>
              </a:pPr>
              <a:t>23</a:t>
            </a:fld>
            <a:endParaRPr lang="de-AT" dirty="0">
              <a:solidFill>
                <a:srgbClr val="000000"/>
              </a:solidFill>
              <a:latin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134391083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01BFF30-58B0-AFE4-E006-FAECCC33B9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0003" y="1406526"/>
            <a:ext cx="4461430" cy="829455"/>
          </a:xfrm>
        </p:spPr>
        <p:txBody>
          <a:bodyPr/>
          <a:lstStyle/>
          <a:p>
            <a:r>
              <a:rPr lang="de-DE" dirty="0"/>
              <a:t>Energieflexibilität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7195B7DF-3111-0557-7326-14EBCAFD779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719669" y="2164801"/>
            <a:ext cx="5032953" cy="3977767"/>
          </a:xfrm>
        </p:spPr>
        <p:txBody>
          <a:bodyPr/>
          <a:lstStyle/>
          <a:p>
            <a:pPr marL="0" indent="0">
              <a:spcBef>
                <a:spcPts val="600"/>
              </a:spcBef>
              <a:spcAft>
                <a:spcPts val="0"/>
              </a:spcAft>
              <a:buNone/>
            </a:pPr>
            <a:r>
              <a:rPr lang="de-DE" dirty="0"/>
              <a:t>Integraler Bestandteil der Bewertung:</a:t>
            </a:r>
          </a:p>
          <a:p>
            <a:pPr>
              <a:spcBef>
                <a:spcPts val="600"/>
              </a:spcBef>
              <a:spcAft>
                <a:spcPts val="0"/>
              </a:spcAft>
            </a:pPr>
            <a:r>
              <a:rPr lang="de-DE" dirty="0"/>
              <a:t>Stündliches Modell zur dynamischen Bewertung der eingesetzten Energieträger</a:t>
            </a:r>
          </a:p>
          <a:p>
            <a:pPr>
              <a:spcBef>
                <a:spcPts val="600"/>
              </a:spcBef>
              <a:spcAft>
                <a:spcPts val="0"/>
              </a:spcAft>
            </a:pPr>
            <a:r>
              <a:rPr lang="de-DE" b="1" dirty="0"/>
              <a:t>Flexibler</a:t>
            </a:r>
            <a:r>
              <a:rPr lang="de-DE" dirty="0"/>
              <a:t> Strombezug </a:t>
            </a:r>
            <a:r>
              <a:rPr lang="de-DE" b="1" dirty="0"/>
              <a:t>senkt </a:t>
            </a:r>
            <a:br>
              <a:rPr lang="de-DE" b="1" dirty="0"/>
            </a:br>
            <a:r>
              <a:rPr lang="de-DE" dirty="0"/>
              <a:t>PE-Bezug und THG-Ausstoß</a:t>
            </a:r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A03DAF11-2757-2756-8381-A6C242D3C5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19670" y="6373871"/>
            <a:ext cx="9167888" cy="266700"/>
          </a:xfr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AT" sz="1867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0EB711D2-45F6-D7BB-1525-9595D7561A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206269C-C24E-4E80-9A4B-E7E19BB59A67}" type="slidenum">
              <a:rPr kumimoji="0" lang="de-AT" sz="1867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24</a:t>
            </a:fld>
            <a:endParaRPr kumimoji="0" lang="de-AT" sz="1867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0" name="Rechteck 139">
            <a:extLst>
              <a:ext uri="{FF2B5EF4-FFF2-40B4-BE49-F238E27FC236}">
                <a16:creationId xmlns:a16="http://schemas.microsoft.com/office/drawing/2014/main" id="{502017EC-FFD6-7FDE-8572-A5DBC7A774F0}"/>
              </a:ext>
            </a:extLst>
          </p:cNvPr>
          <p:cNvSpPr/>
          <p:nvPr/>
        </p:nvSpPr>
        <p:spPr>
          <a:xfrm>
            <a:off x="6830936" y="3329837"/>
            <a:ext cx="5143744" cy="388076"/>
          </a:xfrm>
          <a:prstGeom prst="rect">
            <a:avLst/>
          </a:prstGeom>
          <a:solidFill>
            <a:srgbClr val="D8D7B7"/>
          </a:solidFill>
          <a:ln w="28575" cap="flat" cmpd="sng" algn="ctr">
            <a:noFill/>
            <a:prstDash val="dash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800" b="0" i="0" u="none" strike="noStrike" kern="0" cap="none" spc="0" normalizeH="0" baseline="0" noProof="1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1" name="Rechteck 140">
            <a:extLst>
              <a:ext uri="{FF2B5EF4-FFF2-40B4-BE49-F238E27FC236}">
                <a16:creationId xmlns:a16="http://schemas.microsoft.com/office/drawing/2014/main" id="{5A7BADA6-F6E3-2B3E-A020-14AE6501F4F6}"/>
              </a:ext>
            </a:extLst>
          </p:cNvPr>
          <p:cNvSpPr/>
          <p:nvPr/>
        </p:nvSpPr>
        <p:spPr>
          <a:xfrm>
            <a:off x="6855256" y="1280160"/>
            <a:ext cx="5143744" cy="2423785"/>
          </a:xfrm>
          <a:prstGeom prst="rect">
            <a:avLst/>
          </a:prstGeom>
          <a:noFill/>
          <a:ln w="12700" cap="flat" cmpd="sng" algn="ctr">
            <a:solidFill>
              <a:srgbClr val="000000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800" b="0" i="0" u="none" strike="noStrike" kern="0" cap="none" spc="0" normalizeH="0" baseline="0" noProof="1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2" name="Textfeld 141">
            <a:extLst>
              <a:ext uri="{FF2B5EF4-FFF2-40B4-BE49-F238E27FC236}">
                <a16:creationId xmlns:a16="http://schemas.microsoft.com/office/drawing/2014/main" id="{F9764F45-CEBB-792C-1203-709C91478F07}"/>
              </a:ext>
            </a:extLst>
          </p:cNvPr>
          <p:cNvSpPr txBox="1"/>
          <p:nvPr/>
        </p:nvSpPr>
        <p:spPr>
          <a:xfrm>
            <a:off x="8831504" y="3368702"/>
            <a:ext cx="170854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1600" b="0" i="0" u="none" strike="noStrike" kern="1200" cap="none" spc="0" normalizeH="0" baseline="0" noProof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Exporte (Sommer)</a:t>
            </a:r>
          </a:p>
        </p:txBody>
      </p:sp>
      <p:sp>
        <p:nvSpPr>
          <p:cNvPr id="143" name="Textfeld 142">
            <a:extLst>
              <a:ext uri="{FF2B5EF4-FFF2-40B4-BE49-F238E27FC236}">
                <a16:creationId xmlns:a16="http://schemas.microsoft.com/office/drawing/2014/main" id="{E85FFE8C-ED34-FE23-95AB-86D78355BB46}"/>
              </a:ext>
            </a:extLst>
          </p:cNvPr>
          <p:cNvSpPr txBox="1"/>
          <p:nvPr/>
        </p:nvSpPr>
        <p:spPr>
          <a:xfrm>
            <a:off x="11111648" y="3368702"/>
            <a:ext cx="90383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1600" b="0" i="0" u="none" strike="noStrike" kern="1200" cap="none" spc="0" normalizeH="0" baseline="0" noProof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Importe </a:t>
            </a:r>
          </a:p>
        </p:txBody>
      </p:sp>
      <p:sp>
        <p:nvSpPr>
          <p:cNvPr id="144" name="Textfeld 143">
            <a:extLst>
              <a:ext uri="{FF2B5EF4-FFF2-40B4-BE49-F238E27FC236}">
                <a16:creationId xmlns:a16="http://schemas.microsoft.com/office/drawing/2014/main" id="{B00ED792-7898-B121-2AC2-911CEDF31EA8}"/>
              </a:ext>
            </a:extLst>
          </p:cNvPr>
          <p:cNvSpPr txBox="1"/>
          <p:nvPr/>
        </p:nvSpPr>
        <p:spPr>
          <a:xfrm>
            <a:off x="6822046" y="3384413"/>
            <a:ext cx="160505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1600" b="0" i="0" u="none" strike="noStrike" kern="1200" cap="none" spc="0" normalizeH="0" baseline="0" noProof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Importe (Winter)</a:t>
            </a:r>
          </a:p>
        </p:txBody>
      </p:sp>
      <p:grpSp>
        <p:nvGrpSpPr>
          <p:cNvPr id="145" name="Gruppieren 144">
            <a:extLst>
              <a:ext uri="{FF2B5EF4-FFF2-40B4-BE49-F238E27FC236}">
                <a16:creationId xmlns:a16="http://schemas.microsoft.com/office/drawing/2014/main" id="{95E30BFE-EEEE-1900-DB34-E1E9D72C835F}"/>
              </a:ext>
            </a:extLst>
          </p:cNvPr>
          <p:cNvGrpSpPr/>
          <p:nvPr/>
        </p:nvGrpSpPr>
        <p:grpSpPr>
          <a:xfrm>
            <a:off x="6893914" y="3615715"/>
            <a:ext cx="5002504" cy="287108"/>
            <a:chOff x="1734703" y="2999135"/>
            <a:chExt cx="6354839" cy="343410"/>
          </a:xfrm>
        </p:grpSpPr>
        <p:sp>
          <p:nvSpPr>
            <p:cNvPr id="146" name="Pfeil: nach unten 145">
              <a:extLst>
                <a:ext uri="{FF2B5EF4-FFF2-40B4-BE49-F238E27FC236}">
                  <a16:creationId xmlns:a16="http://schemas.microsoft.com/office/drawing/2014/main" id="{7CF7E3FB-E5BA-0CEA-FDC8-F1D07660396B}"/>
                </a:ext>
              </a:extLst>
            </p:cNvPr>
            <p:cNvSpPr/>
            <p:nvPr/>
          </p:nvSpPr>
          <p:spPr>
            <a:xfrm rot="10800000">
              <a:off x="1734703" y="2999136"/>
              <a:ext cx="192108" cy="343409"/>
            </a:xfrm>
            <a:prstGeom prst="downArrow">
              <a:avLst/>
            </a:prstGeom>
            <a:solidFill>
              <a:srgbClr val="950F53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de-DE" sz="1800" b="0" i="0" u="none" strike="noStrike" kern="0" cap="none" spc="0" normalizeH="0" baseline="0" noProof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47" name="Pfeil: nach unten 146">
              <a:extLst>
                <a:ext uri="{FF2B5EF4-FFF2-40B4-BE49-F238E27FC236}">
                  <a16:creationId xmlns:a16="http://schemas.microsoft.com/office/drawing/2014/main" id="{77EDD5B8-E7A3-96FB-3FCE-68DEB6E1FABC}"/>
                </a:ext>
              </a:extLst>
            </p:cNvPr>
            <p:cNvSpPr/>
            <p:nvPr/>
          </p:nvSpPr>
          <p:spPr>
            <a:xfrm rot="10800000">
              <a:off x="1918385" y="2999136"/>
              <a:ext cx="192108" cy="343409"/>
            </a:xfrm>
            <a:prstGeom prst="downArrow">
              <a:avLst/>
            </a:prstGeom>
            <a:solidFill>
              <a:srgbClr val="C00000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de-DE" sz="1800" b="0" i="0" u="none" strike="noStrike" kern="0" cap="none" spc="0" normalizeH="0" baseline="0" noProof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48" name="Pfeil: nach unten 147">
              <a:extLst>
                <a:ext uri="{FF2B5EF4-FFF2-40B4-BE49-F238E27FC236}">
                  <a16:creationId xmlns:a16="http://schemas.microsoft.com/office/drawing/2014/main" id="{E7F8C6B0-916F-AF8F-7C71-4022BB5B3AC9}"/>
                </a:ext>
              </a:extLst>
            </p:cNvPr>
            <p:cNvSpPr/>
            <p:nvPr/>
          </p:nvSpPr>
          <p:spPr>
            <a:xfrm rot="10800000">
              <a:off x="2110493" y="2999136"/>
              <a:ext cx="192108" cy="343409"/>
            </a:xfrm>
            <a:prstGeom prst="downArrow">
              <a:avLst/>
            </a:prstGeom>
            <a:solidFill>
              <a:srgbClr val="BCCF00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de-DE" sz="1800" b="0" i="0" u="none" strike="noStrike" kern="0" cap="none" spc="0" normalizeH="0" baseline="0" noProof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49" name="Pfeil: nach unten 148">
              <a:extLst>
                <a:ext uri="{FF2B5EF4-FFF2-40B4-BE49-F238E27FC236}">
                  <a16:creationId xmlns:a16="http://schemas.microsoft.com/office/drawing/2014/main" id="{D30EA3AE-7DC5-2496-902C-6E891D781334}"/>
                </a:ext>
              </a:extLst>
            </p:cNvPr>
            <p:cNvSpPr/>
            <p:nvPr/>
          </p:nvSpPr>
          <p:spPr>
            <a:xfrm rot="10800000">
              <a:off x="2294175" y="2999136"/>
              <a:ext cx="192108" cy="343409"/>
            </a:xfrm>
            <a:prstGeom prst="downArrow">
              <a:avLst/>
            </a:prstGeom>
            <a:solidFill>
              <a:srgbClr val="500000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de-DE" sz="1800" b="0" i="0" u="none" strike="noStrike" kern="0" cap="none" spc="0" normalizeH="0" baseline="0" noProof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50" name="Pfeil: nach unten 149">
              <a:extLst>
                <a:ext uri="{FF2B5EF4-FFF2-40B4-BE49-F238E27FC236}">
                  <a16:creationId xmlns:a16="http://schemas.microsoft.com/office/drawing/2014/main" id="{7FA3FC07-D3DE-4260-423F-81811D9ECA58}"/>
                </a:ext>
              </a:extLst>
            </p:cNvPr>
            <p:cNvSpPr/>
            <p:nvPr/>
          </p:nvSpPr>
          <p:spPr>
            <a:xfrm rot="10800000">
              <a:off x="7337962" y="2999135"/>
              <a:ext cx="192108" cy="343409"/>
            </a:xfrm>
            <a:prstGeom prst="downArrow">
              <a:avLst/>
            </a:prstGeom>
            <a:solidFill>
              <a:srgbClr val="950F53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de-DE" sz="1800" b="0" i="0" u="none" strike="noStrike" kern="0" cap="none" spc="0" normalizeH="0" baseline="0" noProof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51" name="Pfeil: nach unten 150">
              <a:extLst>
                <a:ext uri="{FF2B5EF4-FFF2-40B4-BE49-F238E27FC236}">
                  <a16:creationId xmlns:a16="http://schemas.microsoft.com/office/drawing/2014/main" id="{089A76E9-4F26-93D8-7740-ED827FCB446D}"/>
                </a:ext>
              </a:extLst>
            </p:cNvPr>
            <p:cNvSpPr/>
            <p:nvPr/>
          </p:nvSpPr>
          <p:spPr>
            <a:xfrm rot="10800000">
              <a:off x="7521644" y="2999135"/>
              <a:ext cx="192108" cy="343409"/>
            </a:xfrm>
            <a:prstGeom prst="downArrow">
              <a:avLst/>
            </a:prstGeom>
            <a:solidFill>
              <a:srgbClr val="C00000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de-DE" sz="1800" b="0" i="0" u="none" strike="noStrike" kern="0" cap="none" spc="0" normalizeH="0" baseline="0" noProof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52" name="Pfeil: nach unten 151">
              <a:extLst>
                <a:ext uri="{FF2B5EF4-FFF2-40B4-BE49-F238E27FC236}">
                  <a16:creationId xmlns:a16="http://schemas.microsoft.com/office/drawing/2014/main" id="{EB91ACDE-562A-0D26-A99F-D8C2408562F0}"/>
                </a:ext>
              </a:extLst>
            </p:cNvPr>
            <p:cNvSpPr/>
            <p:nvPr/>
          </p:nvSpPr>
          <p:spPr>
            <a:xfrm rot="10800000">
              <a:off x="7713752" y="2999135"/>
              <a:ext cx="192108" cy="343409"/>
            </a:xfrm>
            <a:prstGeom prst="downArrow">
              <a:avLst/>
            </a:prstGeom>
            <a:solidFill>
              <a:srgbClr val="BCCF00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de-DE" sz="1800" b="0" i="0" u="none" strike="noStrike" kern="0" cap="none" spc="0" normalizeH="0" baseline="0" noProof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53" name="Pfeil: nach unten 152">
              <a:extLst>
                <a:ext uri="{FF2B5EF4-FFF2-40B4-BE49-F238E27FC236}">
                  <a16:creationId xmlns:a16="http://schemas.microsoft.com/office/drawing/2014/main" id="{4CAD999A-B673-77D4-3A34-F34D0B9C7A38}"/>
                </a:ext>
              </a:extLst>
            </p:cNvPr>
            <p:cNvSpPr/>
            <p:nvPr/>
          </p:nvSpPr>
          <p:spPr>
            <a:xfrm rot="10800000">
              <a:off x="7897434" y="2999135"/>
              <a:ext cx="192108" cy="343409"/>
            </a:xfrm>
            <a:prstGeom prst="downArrow">
              <a:avLst/>
            </a:prstGeom>
            <a:solidFill>
              <a:srgbClr val="500000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de-DE" sz="1800" b="0" i="0" u="none" strike="noStrike" kern="0" cap="none" spc="0" normalizeH="0" baseline="0" noProof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54" name="Pfeil: nach unten 153">
              <a:extLst>
                <a:ext uri="{FF2B5EF4-FFF2-40B4-BE49-F238E27FC236}">
                  <a16:creationId xmlns:a16="http://schemas.microsoft.com/office/drawing/2014/main" id="{4CD444A6-89D9-3005-79A5-138CB746CDC4}"/>
                </a:ext>
              </a:extLst>
            </p:cNvPr>
            <p:cNvSpPr/>
            <p:nvPr/>
          </p:nvSpPr>
          <p:spPr>
            <a:xfrm>
              <a:off x="4290138" y="2999136"/>
              <a:ext cx="192108" cy="343409"/>
            </a:xfrm>
            <a:prstGeom prst="downArrow">
              <a:avLst/>
            </a:prstGeom>
            <a:solidFill>
              <a:srgbClr val="5FB564">
                <a:lumMod val="60000"/>
                <a:lumOff val="40000"/>
              </a:srgb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de-DE" sz="1800" b="0" i="0" u="none" strike="noStrike" kern="0" cap="none" spc="0" normalizeH="0" baseline="0" noProof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55" name="Pfeil: nach unten 154">
              <a:extLst>
                <a:ext uri="{FF2B5EF4-FFF2-40B4-BE49-F238E27FC236}">
                  <a16:creationId xmlns:a16="http://schemas.microsoft.com/office/drawing/2014/main" id="{6C4ABCFF-2C12-5CE9-C5E5-1F0CFFE355F2}"/>
                </a:ext>
              </a:extLst>
            </p:cNvPr>
            <p:cNvSpPr/>
            <p:nvPr/>
          </p:nvSpPr>
          <p:spPr>
            <a:xfrm>
              <a:off x="4098030" y="2999136"/>
              <a:ext cx="192108" cy="343409"/>
            </a:xfrm>
            <a:prstGeom prst="downArrow">
              <a:avLst/>
            </a:prstGeom>
            <a:solidFill>
              <a:srgbClr val="5FB564">
                <a:lumMod val="60000"/>
                <a:lumOff val="40000"/>
              </a:srgb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de-DE" sz="1800" b="0" i="0" u="none" strike="noStrike" kern="0" cap="none" spc="0" normalizeH="0" baseline="0" noProof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56" name="Pfeil: nach unten 155">
              <a:extLst>
                <a:ext uri="{FF2B5EF4-FFF2-40B4-BE49-F238E27FC236}">
                  <a16:creationId xmlns:a16="http://schemas.microsoft.com/office/drawing/2014/main" id="{8718548C-7516-D083-F108-450E571537EE}"/>
                </a:ext>
              </a:extLst>
            </p:cNvPr>
            <p:cNvSpPr/>
            <p:nvPr/>
          </p:nvSpPr>
          <p:spPr>
            <a:xfrm>
              <a:off x="5105511" y="2999136"/>
              <a:ext cx="192108" cy="343409"/>
            </a:xfrm>
            <a:prstGeom prst="downArrow">
              <a:avLst/>
            </a:prstGeom>
            <a:solidFill>
              <a:srgbClr val="5FB564">
                <a:lumMod val="60000"/>
                <a:lumOff val="40000"/>
              </a:srgb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de-DE" sz="1800" b="0" i="0" u="none" strike="noStrike" kern="0" cap="none" spc="0" normalizeH="0" baseline="0" noProof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57" name="Pfeil: nach unten 156">
              <a:extLst>
                <a:ext uri="{FF2B5EF4-FFF2-40B4-BE49-F238E27FC236}">
                  <a16:creationId xmlns:a16="http://schemas.microsoft.com/office/drawing/2014/main" id="{B41B6F80-A142-412D-8F5E-CE6FB71D6127}"/>
                </a:ext>
              </a:extLst>
            </p:cNvPr>
            <p:cNvSpPr/>
            <p:nvPr/>
          </p:nvSpPr>
          <p:spPr>
            <a:xfrm>
              <a:off x="4729722" y="2999136"/>
              <a:ext cx="192108" cy="343409"/>
            </a:xfrm>
            <a:prstGeom prst="downArrow">
              <a:avLst/>
            </a:prstGeom>
            <a:solidFill>
              <a:srgbClr val="5FB564">
                <a:lumMod val="60000"/>
                <a:lumOff val="40000"/>
              </a:srgb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de-DE" sz="1800" b="0" i="0" u="none" strike="noStrike" kern="0" cap="none" spc="0" normalizeH="0" baseline="0" noProof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58" name="Pfeil: nach unten 157">
              <a:extLst>
                <a:ext uri="{FF2B5EF4-FFF2-40B4-BE49-F238E27FC236}">
                  <a16:creationId xmlns:a16="http://schemas.microsoft.com/office/drawing/2014/main" id="{07288C7A-D102-3CF2-635C-EB3BBC8421BC}"/>
                </a:ext>
              </a:extLst>
            </p:cNvPr>
            <p:cNvSpPr/>
            <p:nvPr/>
          </p:nvSpPr>
          <p:spPr>
            <a:xfrm rot="10800000">
              <a:off x="2718325" y="2999136"/>
              <a:ext cx="192108" cy="343409"/>
            </a:xfrm>
            <a:prstGeom prst="downArrow">
              <a:avLst/>
            </a:prstGeom>
            <a:solidFill>
              <a:srgbClr val="BCCF00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de-DE" sz="1800" b="0" i="0" u="none" strike="noStrike" kern="0" cap="none" spc="0" normalizeH="0" baseline="0" noProof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59" name="Pfeil: nach unten 158">
              <a:extLst>
                <a:ext uri="{FF2B5EF4-FFF2-40B4-BE49-F238E27FC236}">
                  <a16:creationId xmlns:a16="http://schemas.microsoft.com/office/drawing/2014/main" id="{BED4567A-7DF5-E46A-BFAA-5DB797A46241}"/>
                </a:ext>
              </a:extLst>
            </p:cNvPr>
            <p:cNvSpPr/>
            <p:nvPr/>
          </p:nvSpPr>
          <p:spPr>
            <a:xfrm rot="10800000">
              <a:off x="6782827" y="2999135"/>
              <a:ext cx="192108" cy="343409"/>
            </a:xfrm>
            <a:prstGeom prst="downArrow">
              <a:avLst/>
            </a:prstGeom>
            <a:solidFill>
              <a:srgbClr val="BCCF00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de-DE" sz="1800" b="0" i="0" u="none" strike="noStrike" kern="0" cap="none" spc="0" normalizeH="0" baseline="0" noProof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60" name="Pfeil: nach unten 159">
              <a:extLst>
                <a:ext uri="{FF2B5EF4-FFF2-40B4-BE49-F238E27FC236}">
                  <a16:creationId xmlns:a16="http://schemas.microsoft.com/office/drawing/2014/main" id="{AB6E622C-A062-5FF4-A56A-7D647D1AFD3B}"/>
                </a:ext>
              </a:extLst>
            </p:cNvPr>
            <p:cNvSpPr/>
            <p:nvPr/>
          </p:nvSpPr>
          <p:spPr>
            <a:xfrm>
              <a:off x="3185974" y="2999136"/>
              <a:ext cx="192108" cy="343409"/>
            </a:xfrm>
            <a:prstGeom prst="downArrow">
              <a:avLst/>
            </a:prstGeom>
            <a:solidFill>
              <a:srgbClr val="5FB564">
                <a:lumMod val="60000"/>
                <a:lumOff val="40000"/>
              </a:srgb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de-DE" sz="1800" b="0" i="0" u="none" strike="noStrike" kern="0" cap="none" spc="0" normalizeH="0" baseline="0" noProof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161" name="Textfeld 160">
            <a:extLst>
              <a:ext uri="{FF2B5EF4-FFF2-40B4-BE49-F238E27FC236}">
                <a16:creationId xmlns:a16="http://schemas.microsoft.com/office/drawing/2014/main" id="{FC522119-5616-5525-4EB6-2A4F485D3CD8}"/>
              </a:ext>
            </a:extLst>
          </p:cNvPr>
          <p:cNvSpPr txBox="1"/>
          <p:nvPr/>
        </p:nvSpPr>
        <p:spPr>
          <a:xfrm>
            <a:off x="6900528" y="1310167"/>
            <a:ext cx="431248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1800" b="0" i="0" u="none" strike="noStrike" kern="1200" cap="none" spc="0" normalizeH="0" baseline="0" noProof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Systemgrenze Quartier: Dynamische Bewertung der Energieträger</a:t>
            </a:r>
          </a:p>
        </p:txBody>
      </p:sp>
      <p:sp>
        <p:nvSpPr>
          <p:cNvPr id="162" name="Building5" descr="{&quot;Key&quot;:&quot;POWER_USER_SHAPE_ICON&quot;,&quot;Value&quot;:&quot;POWER_USER_SHAPE_ICON_STYLE_1&quot;}">
            <a:extLst>
              <a:ext uri="{FF2B5EF4-FFF2-40B4-BE49-F238E27FC236}">
                <a16:creationId xmlns:a16="http://schemas.microsoft.com/office/drawing/2014/main" id="{FA76A84D-A3EF-46CE-064B-19FEA5C3F0BA}"/>
              </a:ext>
            </a:extLst>
          </p:cNvPr>
          <p:cNvSpPr>
            <a:spLocks noChangeAspect="1" noEditPoints="1"/>
          </p:cNvSpPr>
          <p:nvPr>
            <p:custDataLst>
              <p:tags r:id="rId1"/>
            </p:custDataLst>
          </p:nvPr>
        </p:nvSpPr>
        <p:spPr bwMode="auto">
          <a:xfrm>
            <a:off x="7108106" y="2157788"/>
            <a:ext cx="1235929" cy="1173008"/>
          </a:xfrm>
          <a:custGeom>
            <a:avLst/>
            <a:gdLst>
              <a:gd name="T0" fmla="*/ 915 w 1250"/>
              <a:gd name="T1" fmla="*/ 250 h 1187"/>
              <a:gd name="T2" fmla="*/ 915 w 1250"/>
              <a:gd name="T3" fmla="*/ 1053 h 1187"/>
              <a:gd name="T4" fmla="*/ 848 w 1250"/>
              <a:gd name="T5" fmla="*/ 1053 h 1187"/>
              <a:gd name="T6" fmla="*/ 850 w 1250"/>
              <a:gd name="T7" fmla="*/ 0 h 1187"/>
              <a:gd name="T8" fmla="*/ 448 w 1250"/>
              <a:gd name="T9" fmla="*/ 0 h 1187"/>
              <a:gd name="T10" fmla="*/ 446 w 1250"/>
              <a:gd name="T11" fmla="*/ 1053 h 1187"/>
              <a:gd name="T12" fmla="*/ 379 w 1250"/>
              <a:gd name="T13" fmla="*/ 1053 h 1187"/>
              <a:gd name="T14" fmla="*/ 379 w 1250"/>
              <a:gd name="T15" fmla="*/ 361 h 1187"/>
              <a:gd name="T16" fmla="*/ 0 w 1250"/>
              <a:gd name="T17" fmla="*/ 361 h 1187"/>
              <a:gd name="T18" fmla="*/ 0 w 1250"/>
              <a:gd name="T19" fmla="*/ 1187 h 1187"/>
              <a:gd name="T20" fmla="*/ 1250 w 1250"/>
              <a:gd name="T21" fmla="*/ 1187 h 1187"/>
              <a:gd name="T22" fmla="*/ 1250 w 1250"/>
              <a:gd name="T23" fmla="*/ 250 h 1187"/>
              <a:gd name="T24" fmla="*/ 915 w 1250"/>
              <a:gd name="T25" fmla="*/ 250 h 1187"/>
              <a:gd name="T26" fmla="*/ 982 w 1250"/>
              <a:gd name="T27" fmla="*/ 339 h 1187"/>
              <a:gd name="T28" fmla="*/ 1183 w 1250"/>
              <a:gd name="T29" fmla="*/ 339 h 1187"/>
              <a:gd name="T30" fmla="*/ 1183 w 1250"/>
              <a:gd name="T31" fmla="*/ 584 h 1187"/>
              <a:gd name="T32" fmla="*/ 982 w 1250"/>
              <a:gd name="T33" fmla="*/ 584 h 1187"/>
              <a:gd name="T34" fmla="*/ 982 w 1250"/>
              <a:gd name="T35" fmla="*/ 339 h 1187"/>
              <a:gd name="T36" fmla="*/ 982 w 1250"/>
              <a:gd name="T37" fmla="*/ 674 h 1187"/>
              <a:gd name="T38" fmla="*/ 1183 w 1250"/>
              <a:gd name="T39" fmla="*/ 674 h 1187"/>
              <a:gd name="T40" fmla="*/ 1183 w 1250"/>
              <a:gd name="T41" fmla="*/ 919 h 1187"/>
              <a:gd name="T42" fmla="*/ 982 w 1250"/>
              <a:gd name="T43" fmla="*/ 919 h 1187"/>
              <a:gd name="T44" fmla="*/ 982 w 1250"/>
              <a:gd name="T45" fmla="*/ 674 h 1187"/>
              <a:gd name="T46" fmla="*/ 513 w 1250"/>
              <a:gd name="T47" fmla="*/ 71 h 1187"/>
              <a:gd name="T48" fmla="*/ 781 w 1250"/>
              <a:gd name="T49" fmla="*/ 71 h 1187"/>
              <a:gd name="T50" fmla="*/ 781 w 1250"/>
              <a:gd name="T51" fmla="*/ 183 h 1187"/>
              <a:gd name="T52" fmla="*/ 513 w 1250"/>
              <a:gd name="T53" fmla="*/ 183 h 1187"/>
              <a:gd name="T54" fmla="*/ 513 w 1250"/>
              <a:gd name="T55" fmla="*/ 71 h 1187"/>
              <a:gd name="T56" fmla="*/ 513 w 1250"/>
              <a:gd name="T57" fmla="*/ 294 h 1187"/>
              <a:gd name="T58" fmla="*/ 781 w 1250"/>
              <a:gd name="T59" fmla="*/ 294 h 1187"/>
              <a:gd name="T60" fmla="*/ 781 w 1250"/>
              <a:gd name="T61" fmla="*/ 406 h 1187"/>
              <a:gd name="T62" fmla="*/ 513 w 1250"/>
              <a:gd name="T63" fmla="*/ 406 h 1187"/>
              <a:gd name="T64" fmla="*/ 513 w 1250"/>
              <a:gd name="T65" fmla="*/ 294 h 1187"/>
              <a:gd name="T66" fmla="*/ 513 w 1250"/>
              <a:gd name="T67" fmla="*/ 517 h 1187"/>
              <a:gd name="T68" fmla="*/ 781 w 1250"/>
              <a:gd name="T69" fmla="*/ 517 h 1187"/>
              <a:gd name="T70" fmla="*/ 781 w 1250"/>
              <a:gd name="T71" fmla="*/ 629 h 1187"/>
              <a:gd name="T72" fmla="*/ 513 w 1250"/>
              <a:gd name="T73" fmla="*/ 629 h 1187"/>
              <a:gd name="T74" fmla="*/ 513 w 1250"/>
              <a:gd name="T75" fmla="*/ 517 h 1187"/>
              <a:gd name="T76" fmla="*/ 513 w 1250"/>
              <a:gd name="T77" fmla="*/ 741 h 1187"/>
              <a:gd name="T78" fmla="*/ 781 w 1250"/>
              <a:gd name="T79" fmla="*/ 741 h 1187"/>
              <a:gd name="T80" fmla="*/ 781 w 1250"/>
              <a:gd name="T81" fmla="*/ 852 h 1187"/>
              <a:gd name="T82" fmla="*/ 513 w 1250"/>
              <a:gd name="T83" fmla="*/ 852 h 1187"/>
              <a:gd name="T84" fmla="*/ 513 w 1250"/>
              <a:gd name="T85" fmla="*/ 741 h 1187"/>
              <a:gd name="T86" fmla="*/ 67 w 1250"/>
              <a:gd name="T87" fmla="*/ 450 h 1187"/>
              <a:gd name="T88" fmla="*/ 156 w 1250"/>
              <a:gd name="T89" fmla="*/ 450 h 1187"/>
              <a:gd name="T90" fmla="*/ 156 w 1250"/>
              <a:gd name="T91" fmla="*/ 607 h 1187"/>
              <a:gd name="T92" fmla="*/ 67 w 1250"/>
              <a:gd name="T93" fmla="*/ 607 h 1187"/>
              <a:gd name="T94" fmla="*/ 67 w 1250"/>
              <a:gd name="T95" fmla="*/ 450 h 1187"/>
              <a:gd name="T96" fmla="*/ 223 w 1250"/>
              <a:gd name="T97" fmla="*/ 450 h 1187"/>
              <a:gd name="T98" fmla="*/ 313 w 1250"/>
              <a:gd name="T99" fmla="*/ 450 h 1187"/>
              <a:gd name="T100" fmla="*/ 313 w 1250"/>
              <a:gd name="T101" fmla="*/ 607 h 1187"/>
              <a:gd name="T102" fmla="*/ 223 w 1250"/>
              <a:gd name="T103" fmla="*/ 607 h 1187"/>
              <a:gd name="T104" fmla="*/ 223 w 1250"/>
              <a:gd name="T105" fmla="*/ 450 h 1187"/>
              <a:gd name="T106" fmla="*/ 67 w 1250"/>
              <a:gd name="T107" fmla="*/ 718 h 1187"/>
              <a:gd name="T108" fmla="*/ 156 w 1250"/>
              <a:gd name="T109" fmla="*/ 718 h 1187"/>
              <a:gd name="T110" fmla="*/ 156 w 1250"/>
              <a:gd name="T111" fmla="*/ 875 h 1187"/>
              <a:gd name="T112" fmla="*/ 67 w 1250"/>
              <a:gd name="T113" fmla="*/ 875 h 1187"/>
              <a:gd name="T114" fmla="*/ 67 w 1250"/>
              <a:gd name="T115" fmla="*/ 718 h 1187"/>
              <a:gd name="T116" fmla="*/ 223 w 1250"/>
              <a:gd name="T117" fmla="*/ 718 h 1187"/>
              <a:gd name="T118" fmla="*/ 313 w 1250"/>
              <a:gd name="T119" fmla="*/ 718 h 1187"/>
              <a:gd name="T120" fmla="*/ 313 w 1250"/>
              <a:gd name="T121" fmla="*/ 875 h 1187"/>
              <a:gd name="T122" fmla="*/ 223 w 1250"/>
              <a:gd name="T123" fmla="*/ 875 h 1187"/>
              <a:gd name="T124" fmla="*/ 223 w 1250"/>
              <a:gd name="T125" fmla="*/ 718 h 118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  <a:cxn ang="0">
                <a:pos x="T124" y="T125"/>
              </a:cxn>
            </a:cxnLst>
            <a:rect l="0" t="0" r="r" b="b"/>
            <a:pathLst>
              <a:path w="1250" h="1187">
                <a:moveTo>
                  <a:pt x="915" y="250"/>
                </a:moveTo>
                <a:lnTo>
                  <a:pt x="915" y="1053"/>
                </a:lnTo>
                <a:lnTo>
                  <a:pt x="848" y="1053"/>
                </a:lnTo>
                <a:lnTo>
                  <a:pt x="850" y="0"/>
                </a:lnTo>
                <a:lnTo>
                  <a:pt x="448" y="0"/>
                </a:lnTo>
                <a:lnTo>
                  <a:pt x="446" y="1053"/>
                </a:lnTo>
                <a:lnTo>
                  <a:pt x="379" y="1053"/>
                </a:lnTo>
                <a:lnTo>
                  <a:pt x="379" y="361"/>
                </a:lnTo>
                <a:lnTo>
                  <a:pt x="0" y="361"/>
                </a:lnTo>
                <a:lnTo>
                  <a:pt x="0" y="1187"/>
                </a:lnTo>
                <a:lnTo>
                  <a:pt x="1250" y="1187"/>
                </a:lnTo>
                <a:lnTo>
                  <a:pt x="1250" y="250"/>
                </a:lnTo>
                <a:lnTo>
                  <a:pt x="915" y="250"/>
                </a:lnTo>
                <a:close/>
                <a:moveTo>
                  <a:pt x="982" y="339"/>
                </a:moveTo>
                <a:lnTo>
                  <a:pt x="1183" y="339"/>
                </a:lnTo>
                <a:lnTo>
                  <a:pt x="1183" y="584"/>
                </a:lnTo>
                <a:lnTo>
                  <a:pt x="982" y="584"/>
                </a:lnTo>
                <a:lnTo>
                  <a:pt x="982" y="339"/>
                </a:lnTo>
                <a:close/>
                <a:moveTo>
                  <a:pt x="982" y="674"/>
                </a:moveTo>
                <a:lnTo>
                  <a:pt x="1183" y="674"/>
                </a:lnTo>
                <a:lnTo>
                  <a:pt x="1183" y="919"/>
                </a:lnTo>
                <a:lnTo>
                  <a:pt x="982" y="919"/>
                </a:lnTo>
                <a:lnTo>
                  <a:pt x="982" y="674"/>
                </a:lnTo>
                <a:close/>
                <a:moveTo>
                  <a:pt x="513" y="71"/>
                </a:moveTo>
                <a:lnTo>
                  <a:pt x="781" y="71"/>
                </a:lnTo>
                <a:lnTo>
                  <a:pt x="781" y="183"/>
                </a:lnTo>
                <a:lnTo>
                  <a:pt x="513" y="183"/>
                </a:lnTo>
                <a:lnTo>
                  <a:pt x="513" y="71"/>
                </a:lnTo>
                <a:close/>
                <a:moveTo>
                  <a:pt x="513" y="294"/>
                </a:moveTo>
                <a:lnTo>
                  <a:pt x="781" y="294"/>
                </a:lnTo>
                <a:lnTo>
                  <a:pt x="781" y="406"/>
                </a:lnTo>
                <a:lnTo>
                  <a:pt x="513" y="406"/>
                </a:lnTo>
                <a:lnTo>
                  <a:pt x="513" y="294"/>
                </a:lnTo>
                <a:close/>
                <a:moveTo>
                  <a:pt x="513" y="517"/>
                </a:moveTo>
                <a:lnTo>
                  <a:pt x="781" y="517"/>
                </a:lnTo>
                <a:lnTo>
                  <a:pt x="781" y="629"/>
                </a:lnTo>
                <a:lnTo>
                  <a:pt x="513" y="629"/>
                </a:lnTo>
                <a:lnTo>
                  <a:pt x="513" y="517"/>
                </a:lnTo>
                <a:close/>
                <a:moveTo>
                  <a:pt x="513" y="741"/>
                </a:moveTo>
                <a:lnTo>
                  <a:pt x="781" y="741"/>
                </a:lnTo>
                <a:lnTo>
                  <a:pt x="781" y="852"/>
                </a:lnTo>
                <a:lnTo>
                  <a:pt x="513" y="852"/>
                </a:lnTo>
                <a:lnTo>
                  <a:pt x="513" y="741"/>
                </a:lnTo>
                <a:close/>
                <a:moveTo>
                  <a:pt x="67" y="450"/>
                </a:moveTo>
                <a:lnTo>
                  <a:pt x="156" y="450"/>
                </a:lnTo>
                <a:lnTo>
                  <a:pt x="156" y="607"/>
                </a:lnTo>
                <a:lnTo>
                  <a:pt x="67" y="607"/>
                </a:lnTo>
                <a:lnTo>
                  <a:pt x="67" y="450"/>
                </a:lnTo>
                <a:close/>
                <a:moveTo>
                  <a:pt x="223" y="450"/>
                </a:moveTo>
                <a:lnTo>
                  <a:pt x="313" y="450"/>
                </a:lnTo>
                <a:lnTo>
                  <a:pt x="313" y="607"/>
                </a:lnTo>
                <a:lnTo>
                  <a:pt x="223" y="607"/>
                </a:lnTo>
                <a:lnTo>
                  <a:pt x="223" y="450"/>
                </a:lnTo>
                <a:close/>
                <a:moveTo>
                  <a:pt x="67" y="718"/>
                </a:moveTo>
                <a:lnTo>
                  <a:pt x="156" y="718"/>
                </a:lnTo>
                <a:lnTo>
                  <a:pt x="156" y="875"/>
                </a:lnTo>
                <a:lnTo>
                  <a:pt x="67" y="875"/>
                </a:lnTo>
                <a:lnTo>
                  <a:pt x="67" y="718"/>
                </a:lnTo>
                <a:close/>
                <a:moveTo>
                  <a:pt x="223" y="718"/>
                </a:moveTo>
                <a:lnTo>
                  <a:pt x="313" y="718"/>
                </a:lnTo>
                <a:lnTo>
                  <a:pt x="313" y="875"/>
                </a:lnTo>
                <a:lnTo>
                  <a:pt x="223" y="875"/>
                </a:lnTo>
                <a:lnTo>
                  <a:pt x="223" y="718"/>
                </a:lnTo>
                <a:close/>
              </a:path>
            </a:pathLst>
          </a:custGeom>
          <a:solidFill>
            <a:srgbClr val="FFFFFF">
              <a:lumMod val="85000"/>
            </a:srgb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800" b="0" i="0" u="none" strike="noStrike" kern="0" cap="none" spc="0" normalizeH="0" baseline="0" noProof="1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3" name="Building5" descr="{&quot;Key&quot;:&quot;POWER_USER_SHAPE_ICON&quot;,&quot;Value&quot;:&quot;POWER_USER_SHAPE_ICON_STYLE_1&quot;}">
            <a:extLst>
              <a:ext uri="{FF2B5EF4-FFF2-40B4-BE49-F238E27FC236}">
                <a16:creationId xmlns:a16="http://schemas.microsoft.com/office/drawing/2014/main" id="{51B464ED-DD86-E518-FCD7-5952335BDCDB}"/>
              </a:ext>
            </a:extLst>
          </p:cNvPr>
          <p:cNvSpPr>
            <a:spLocks noChangeAspect="1" noEditPoints="1"/>
          </p:cNvSpPr>
          <p:nvPr>
            <p:custDataLst>
              <p:tags r:id="rId2"/>
            </p:custDataLst>
          </p:nvPr>
        </p:nvSpPr>
        <p:spPr bwMode="auto">
          <a:xfrm>
            <a:off x="8715604" y="2158866"/>
            <a:ext cx="1235929" cy="1173008"/>
          </a:xfrm>
          <a:custGeom>
            <a:avLst/>
            <a:gdLst>
              <a:gd name="T0" fmla="*/ 915 w 1250"/>
              <a:gd name="T1" fmla="*/ 250 h 1187"/>
              <a:gd name="T2" fmla="*/ 915 w 1250"/>
              <a:gd name="T3" fmla="*/ 1053 h 1187"/>
              <a:gd name="T4" fmla="*/ 848 w 1250"/>
              <a:gd name="T5" fmla="*/ 1053 h 1187"/>
              <a:gd name="T6" fmla="*/ 850 w 1250"/>
              <a:gd name="T7" fmla="*/ 0 h 1187"/>
              <a:gd name="T8" fmla="*/ 448 w 1250"/>
              <a:gd name="T9" fmla="*/ 0 h 1187"/>
              <a:gd name="T10" fmla="*/ 446 w 1250"/>
              <a:gd name="T11" fmla="*/ 1053 h 1187"/>
              <a:gd name="T12" fmla="*/ 379 w 1250"/>
              <a:gd name="T13" fmla="*/ 1053 h 1187"/>
              <a:gd name="T14" fmla="*/ 379 w 1250"/>
              <a:gd name="T15" fmla="*/ 361 h 1187"/>
              <a:gd name="T16" fmla="*/ 0 w 1250"/>
              <a:gd name="T17" fmla="*/ 361 h 1187"/>
              <a:gd name="T18" fmla="*/ 0 w 1250"/>
              <a:gd name="T19" fmla="*/ 1187 h 1187"/>
              <a:gd name="T20" fmla="*/ 1250 w 1250"/>
              <a:gd name="T21" fmla="*/ 1187 h 1187"/>
              <a:gd name="T22" fmla="*/ 1250 w 1250"/>
              <a:gd name="T23" fmla="*/ 250 h 1187"/>
              <a:gd name="T24" fmla="*/ 915 w 1250"/>
              <a:gd name="T25" fmla="*/ 250 h 1187"/>
              <a:gd name="T26" fmla="*/ 982 w 1250"/>
              <a:gd name="T27" fmla="*/ 339 h 1187"/>
              <a:gd name="T28" fmla="*/ 1183 w 1250"/>
              <a:gd name="T29" fmla="*/ 339 h 1187"/>
              <a:gd name="T30" fmla="*/ 1183 w 1250"/>
              <a:gd name="T31" fmla="*/ 584 h 1187"/>
              <a:gd name="T32" fmla="*/ 982 w 1250"/>
              <a:gd name="T33" fmla="*/ 584 h 1187"/>
              <a:gd name="T34" fmla="*/ 982 w 1250"/>
              <a:gd name="T35" fmla="*/ 339 h 1187"/>
              <a:gd name="T36" fmla="*/ 982 w 1250"/>
              <a:gd name="T37" fmla="*/ 674 h 1187"/>
              <a:gd name="T38" fmla="*/ 1183 w 1250"/>
              <a:gd name="T39" fmla="*/ 674 h 1187"/>
              <a:gd name="T40" fmla="*/ 1183 w 1250"/>
              <a:gd name="T41" fmla="*/ 919 h 1187"/>
              <a:gd name="T42" fmla="*/ 982 w 1250"/>
              <a:gd name="T43" fmla="*/ 919 h 1187"/>
              <a:gd name="T44" fmla="*/ 982 w 1250"/>
              <a:gd name="T45" fmla="*/ 674 h 1187"/>
              <a:gd name="T46" fmla="*/ 513 w 1250"/>
              <a:gd name="T47" fmla="*/ 71 h 1187"/>
              <a:gd name="T48" fmla="*/ 781 w 1250"/>
              <a:gd name="T49" fmla="*/ 71 h 1187"/>
              <a:gd name="T50" fmla="*/ 781 w 1250"/>
              <a:gd name="T51" fmla="*/ 183 h 1187"/>
              <a:gd name="T52" fmla="*/ 513 w 1250"/>
              <a:gd name="T53" fmla="*/ 183 h 1187"/>
              <a:gd name="T54" fmla="*/ 513 w 1250"/>
              <a:gd name="T55" fmla="*/ 71 h 1187"/>
              <a:gd name="T56" fmla="*/ 513 w 1250"/>
              <a:gd name="T57" fmla="*/ 294 h 1187"/>
              <a:gd name="T58" fmla="*/ 781 w 1250"/>
              <a:gd name="T59" fmla="*/ 294 h 1187"/>
              <a:gd name="T60" fmla="*/ 781 w 1250"/>
              <a:gd name="T61" fmla="*/ 406 h 1187"/>
              <a:gd name="T62" fmla="*/ 513 w 1250"/>
              <a:gd name="T63" fmla="*/ 406 h 1187"/>
              <a:gd name="T64" fmla="*/ 513 w 1250"/>
              <a:gd name="T65" fmla="*/ 294 h 1187"/>
              <a:gd name="T66" fmla="*/ 513 w 1250"/>
              <a:gd name="T67" fmla="*/ 517 h 1187"/>
              <a:gd name="T68" fmla="*/ 781 w 1250"/>
              <a:gd name="T69" fmla="*/ 517 h 1187"/>
              <a:gd name="T70" fmla="*/ 781 w 1250"/>
              <a:gd name="T71" fmla="*/ 629 h 1187"/>
              <a:gd name="T72" fmla="*/ 513 w 1250"/>
              <a:gd name="T73" fmla="*/ 629 h 1187"/>
              <a:gd name="T74" fmla="*/ 513 w 1250"/>
              <a:gd name="T75" fmla="*/ 517 h 1187"/>
              <a:gd name="T76" fmla="*/ 513 w 1250"/>
              <a:gd name="T77" fmla="*/ 741 h 1187"/>
              <a:gd name="T78" fmla="*/ 781 w 1250"/>
              <a:gd name="T79" fmla="*/ 741 h 1187"/>
              <a:gd name="T80" fmla="*/ 781 w 1250"/>
              <a:gd name="T81" fmla="*/ 852 h 1187"/>
              <a:gd name="T82" fmla="*/ 513 w 1250"/>
              <a:gd name="T83" fmla="*/ 852 h 1187"/>
              <a:gd name="T84" fmla="*/ 513 w 1250"/>
              <a:gd name="T85" fmla="*/ 741 h 1187"/>
              <a:gd name="T86" fmla="*/ 67 w 1250"/>
              <a:gd name="T87" fmla="*/ 450 h 1187"/>
              <a:gd name="T88" fmla="*/ 156 w 1250"/>
              <a:gd name="T89" fmla="*/ 450 h 1187"/>
              <a:gd name="T90" fmla="*/ 156 w 1250"/>
              <a:gd name="T91" fmla="*/ 607 h 1187"/>
              <a:gd name="T92" fmla="*/ 67 w 1250"/>
              <a:gd name="T93" fmla="*/ 607 h 1187"/>
              <a:gd name="T94" fmla="*/ 67 w 1250"/>
              <a:gd name="T95" fmla="*/ 450 h 1187"/>
              <a:gd name="T96" fmla="*/ 223 w 1250"/>
              <a:gd name="T97" fmla="*/ 450 h 1187"/>
              <a:gd name="T98" fmla="*/ 313 w 1250"/>
              <a:gd name="T99" fmla="*/ 450 h 1187"/>
              <a:gd name="T100" fmla="*/ 313 w 1250"/>
              <a:gd name="T101" fmla="*/ 607 h 1187"/>
              <a:gd name="T102" fmla="*/ 223 w 1250"/>
              <a:gd name="T103" fmla="*/ 607 h 1187"/>
              <a:gd name="T104" fmla="*/ 223 w 1250"/>
              <a:gd name="T105" fmla="*/ 450 h 1187"/>
              <a:gd name="T106" fmla="*/ 67 w 1250"/>
              <a:gd name="T107" fmla="*/ 718 h 1187"/>
              <a:gd name="T108" fmla="*/ 156 w 1250"/>
              <a:gd name="T109" fmla="*/ 718 h 1187"/>
              <a:gd name="T110" fmla="*/ 156 w 1250"/>
              <a:gd name="T111" fmla="*/ 875 h 1187"/>
              <a:gd name="T112" fmla="*/ 67 w 1250"/>
              <a:gd name="T113" fmla="*/ 875 h 1187"/>
              <a:gd name="T114" fmla="*/ 67 w 1250"/>
              <a:gd name="T115" fmla="*/ 718 h 1187"/>
              <a:gd name="T116" fmla="*/ 223 w 1250"/>
              <a:gd name="T117" fmla="*/ 718 h 1187"/>
              <a:gd name="T118" fmla="*/ 313 w 1250"/>
              <a:gd name="T119" fmla="*/ 718 h 1187"/>
              <a:gd name="T120" fmla="*/ 313 w 1250"/>
              <a:gd name="T121" fmla="*/ 875 h 1187"/>
              <a:gd name="T122" fmla="*/ 223 w 1250"/>
              <a:gd name="T123" fmla="*/ 875 h 1187"/>
              <a:gd name="T124" fmla="*/ 223 w 1250"/>
              <a:gd name="T125" fmla="*/ 718 h 118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  <a:cxn ang="0">
                <a:pos x="T124" y="T125"/>
              </a:cxn>
            </a:cxnLst>
            <a:rect l="0" t="0" r="r" b="b"/>
            <a:pathLst>
              <a:path w="1250" h="1187">
                <a:moveTo>
                  <a:pt x="915" y="250"/>
                </a:moveTo>
                <a:lnTo>
                  <a:pt x="915" y="1053"/>
                </a:lnTo>
                <a:lnTo>
                  <a:pt x="848" y="1053"/>
                </a:lnTo>
                <a:lnTo>
                  <a:pt x="850" y="0"/>
                </a:lnTo>
                <a:lnTo>
                  <a:pt x="448" y="0"/>
                </a:lnTo>
                <a:lnTo>
                  <a:pt x="446" y="1053"/>
                </a:lnTo>
                <a:lnTo>
                  <a:pt x="379" y="1053"/>
                </a:lnTo>
                <a:lnTo>
                  <a:pt x="379" y="361"/>
                </a:lnTo>
                <a:lnTo>
                  <a:pt x="0" y="361"/>
                </a:lnTo>
                <a:lnTo>
                  <a:pt x="0" y="1187"/>
                </a:lnTo>
                <a:lnTo>
                  <a:pt x="1250" y="1187"/>
                </a:lnTo>
                <a:lnTo>
                  <a:pt x="1250" y="250"/>
                </a:lnTo>
                <a:lnTo>
                  <a:pt x="915" y="250"/>
                </a:lnTo>
                <a:close/>
                <a:moveTo>
                  <a:pt x="982" y="339"/>
                </a:moveTo>
                <a:lnTo>
                  <a:pt x="1183" y="339"/>
                </a:lnTo>
                <a:lnTo>
                  <a:pt x="1183" y="584"/>
                </a:lnTo>
                <a:lnTo>
                  <a:pt x="982" y="584"/>
                </a:lnTo>
                <a:lnTo>
                  <a:pt x="982" y="339"/>
                </a:lnTo>
                <a:close/>
                <a:moveTo>
                  <a:pt x="982" y="674"/>
                </a:moveTo>
                <a:lnTo>
                  <a:pt x="1183" y="674"/>
                </a:lnTo>
                <a:lnTo>
                  <a:pt x="1183" y="919"/>
                </a:lnTo>
                <a:lnTo>
                  <a:pt x="982" y="919"/>
                </a:lnTo>
                <a:lnTo>
                  <a:pt x="982" y="674"/>
                </a:lnTo>
                <a:close/>
                <a:moveTo>
                  <a:pt x="513" y="71"/>
                </a:moveTo>
                <a:lnTo>
                  <a:pt x="781" y="71"/>
                </a:lnTo>
                <a:lnTo>
                  <a:pt x="781" y="183"/>
                </a:lnTo>
                <a:lnTo>
                  <a:pt x="513" y="183"/>
                </a:lnTo>
                <a:lnTo>
                  <a:pt x="513" y="71"/>
                </a:lnTo>
                <a:close/>
                <a:moveTo>
                  <a:pt x="513" y="294"/>
                </a:moveTo>
                <a:lnTo>
                  <a:pt x="781" y="294"/>
                </a:lnTo>
                <a:lnTo>
                  <a:pt x="781" y="406"/>
                </a:lnTo>
                <a:lnTo>
                  <a:pt x="513" y="406"/>
                </a:lnTo>
                <a:lnTo>
                  <a:pt x="513" y="294"/>
                </a:lnTo>
                <a:close/>
                <a:moveTo>
                  <a:pt x="513" y="517"/>
                </a:moveTo>
                <a:lnTo>
                  <a:pt x="781" y="517"/>
                </a:lnTo>
                <a:lnTo>
                  <a:pt x="781" y="629"/>
                </a:lnTo>
                <a:lnTo>
                  <a:pt x="513" y="629"/>
                </a:lnTo>
                <a:lnTo>
                  <a:pt x="513" y="517"/>
                </a:lnTo>
                <a:close/>
                <a:moveTo>
                  <a:pt x="513" y="741"/>
                </a:moveTo>
                <a:lnTo>
                  <a:pt x="781" y="741"/>
                </a:lnTo>
                <a:lnTo>
                  <a:pt x="781" y="852"/>
                </a:lnTo>
                <a:lnTo>
                  <a:pt x="513" y="852"/>
                </a:lnTo>
                <a:lnTo>
                  <a:pt x="513" y="741"/>
                </a:lnTo>
                <a:close/>
                <a:moveTo>
                  <a:pt x="67" y="450"/>
                </a:moveTo>
                <a:lnTo>
                  <a:pt x="156" y="450"/>
                </a:lnTo>
                <a:lnTo>
                  <a:pt x="156" y="607"/>
                </a:lnTo>
                <a:lnTo>
                  <a:pt x="67" y="607"/>
                </a:lnTo>
                <a:lnTo>
                  <a:pt x="67" y="450"/>
                </a:lnTo>
                <a:close/>
                <a:moveTo>
                  <a:pt x="223" y="450"/>
                </a:moveTo>
                <a:lnTo>
                  <a:pt x="313" y="450"/>
                </a:lnTo>
                <a:lnTo>
                  <a:pt x="313" y="607"/>
                </a:lnTo>
                <a:lnTo>
                  <a:pt x="223" y="607"/>
                </a:lnTo>
                <a:lnTo>
                  <a:pt x="223" y="450"/>
                </a:lnTo>
                <a:close/>
                <a:moveTo>
                  <a:pt x="67" y="718"/>
                </a:moveTo>
                <a:lnTo>
                  <a:pt x="156" y="718"/>
                </a:lnTo>
                <a:lnTo>
                  <a:pt x="156" y="875"/>
                </a:lnTo>
                <a:lnTo>
                  <a:pt x="67" y="875"/>
                </a:lnTo>
                <a:lnTo>
                  <a:pt x="67" y="718"/>
                </a:lnTo>
                <a:close/>
                <a:moveTo>
                  <a:pt x="223" y="718"/>
                </a:moveTo>
                <a:lnTo>
                  <a:pt x="313" y="718"/>
                </a:lnTo>
                <a:lnTo>
                  <a:pt x="313" y="875"/>
                </a:lnTo>
                <a:lnTo>
                  <a:pt x="223" y="875"/>
                </a:lnTo>
                <a:lnTo>
                  <a:pt x="223" y="718"/>
                </a:lnTo>
                <a:close/>
              </a:path>
            </a:pathLst>
          </a:custGeom>
          <a:solidFill>
            <a:srgbClr val="FFFFFF">
              <a:lumMod val="85000"/>
            </a:srgb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800" b="0" i="0" u="none" strike="noStrike" kern="0" cap="none" spc="0" normalizeH="0" baseline="0" noProof="1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4" name="Building5" descr="{&quot;Key&quot;:&quot;POWER_USER_SHAPE_ICON&quot;,&quot;Value&quot;:&quot;POWER_USER_SHAPE_ICON_STYLE_1&quot;}">
            <a:extLst>
              <a:ext uri="{FF2B5EF4-FFF2-40B4-BE49-F238E27FC236}">
                <a16:creationId xmlns:a16="http://schemas.microsoft.com/office/drawing/2014/main" id="{131498E6-43E6-FA1A-B55F-72F34CFA26DB}"/>
              </a:ext>
            </a:extLst>
          </p:cNvPr>
          <p:cNvSpPr>
            <a:spLocks noChangeAspect="1" noEditPoints="1"/>
          </p:cNvSpPr>
          <p:nvPr>
            <p:custDataLst>
              <p:tags r:id="rId3"/>
            </p:custDataLst>
          </p:nvPr>
        </p:nvSpPr>
        <p:spPr bwMode="auto">
          <a:xfrm>
            <a:off x="10341634" y="2156829"/>
            <a:ext cx="1235929" cy="1173008"/>
          </a:xfrm>
          <a:custGeom>
            <a:avLst/>
            <a:gdLst>
              <a:gd name="T0" fmla="*/ 915 w 1250"/>
              <a:gd name="T1" fmla="*/ 250 h 1187"/>
              <a:gd name="T2" fmla="*/ 915 w 1250"/>
              <a:gd name="T3" fmla="*/ 1053 h 1187"/>
              <a:gd name="T4" fmla="*/ 848 w 1250"/>
              <a:gd name="T5" fmla="*/ 1053 h 1187"/>
              <a:gd name="T6" fmla="*/ 850 w 1250"/>
              <a:gd name="T7" fmla="*/ 0 h 1187"/>
              <a:gd name="T8" fmla="*/ 448 w 1250"/>
              <a:gd name="T9" fmla="*/ 0 h 1187"/>
              <a:gd name="T10" fmla="*/ 446 w 1250"/>
              <a:gd name="T11" fmla="*/ 1053 h 1187"/>
              <a:gd name="T12" fmla="*/ 379 w 1250"/>
              <a:gd name="T13" fmla="*/ 1053 h 1187"/>
              <a:gd name="T14" fmla="*/ 379 w 1250"/>
              <a:gd name="T15" fmla="*/ 361 h 1187"/>
              <a:gd name="T16" fmla="*/ 0 w 1250"/>
              <a:gd name="T17" fmla="*/ 361 h 1187"/>
              <a:gd name="T18" fmla="*/ 0 w 1250"/>
              <a:gd name="T19" fmla="*/ 1187 h 1187"/>
              <a:gd name="T20" fmla="*/ 1250 w 1250"/>
              <a:gd name="T21" fmla="*/ 1187 h 1187"/>
              <a:gd name="T22" fmla="*/ 1250 w 1250"/>
              <a:gd name="T23" fmla="*/ 250 h 1187"/>
              <a:gd name="T24" fmla="*/ 915 w 1250"/>
              <a:gd name="T25" fmla="*/ 250 h 1187"/>
              <a:gd name="T26" fmla="*/ 982 w 1250"/>
              <a:gd name="T27" fmla="*/ 339 h 1187"/>
              <a:gd name="T28" fmla="*/ 1183 w 1250"/>
              <a:gd name="T29" fmla="*/ 339 h 1187"/>
              <a:gd name="T30" fmla="*/ 1183 w 1250"/>
              <a:gd name="T31" fmla="*/ 584 h 1187"/>
              <a:gd name="T32" fmla="*/ 982 w 1250"/>
              <a:gd name="T33" fmla="*/ 584 h 1187"/>
              <a:gd name="T34" fmla="*/ 982 w 1250"/>
              <a:gd name="T35" fmla="*/ 339 h 1187"/>
              <a:gd name="T36" fmla="*/ 982 w 1250"/>
              <a:gd name="T37" fmla="*/ 674 h 1187"/>
              <a:gd name="T38" fmla="*/ 1183 w 1250"/>
              <a:gd name="T39" fmla="*/ 674 h 1187"/>
              <a:gd name="T40" fmla="*/ 1183 w 1250"/>
              <a:gd name="T41" fmla="*/ 919 h 1187"/>
              <a:gd name="T42" fmla="*/ 982 w 1250"/>
              <a:gd name="T43" fmla="*/ 919 h 1187"/>
              <a:gd name="T44" fmla="*/ 982 w 1250"/>
              <a:gd name="T45" fmla="*/ 674 h 1187"/>
              <a:gd name="T46" fmla="*/ 513 w 1250"/>
              <a:gd name="T47" fmla="*/ 71 h 1187"/>
              <a:gd name="T48" fmla="*/ 781 w 1250"/>
              <a:gd name="T49" fmla="*/ 71 h 1187"/>
              <a:gd name="T50" fmla="*/ 781 w 1250"/>
              <a:gd name="T51" fmla="*/ 183 h 1187"/>
              <a:gd name="T52" fmla="*/ 513 w 1250"/>
              <a:gd name="T53" fmla="*/ 183 h 1187"/>
              <a:gd name="T54" fmla="*/ 513 w 1250"/>
              <a:gd name="T55" fmla="*/ 71 h 1187"/>
              <a:gd name="T56" fmla="*/ 513 w 1250"/>
              <a:gd name="T57" fmla="*/ 294 h 1187"/>
              <a:gd name="T58" fmla="*/ 781 w 1250"/>
              <a:gd name="T59" fmla="*/ 294 h 1187"/>
              <a:gd name="T60" fmla="*/ 781 w 1250"/>
              <a:gd name="T61" fmla="*/ 406 h 1187"/>
              <a:gd name="T62" fmla="*/ 513 w 1250"/>
              <a:gd name="T63" fmla="*/ 406 h 1187"/>
              <a:gd name="T64" fmla="*/ 513 w 1250"/>
              <a:gd name="T65" fmla="*/ 294 h 1187"/>
              <a:gd name="T66" fmla="*/ 513 w 1250"/>
              <a:gd name="T67" fmla="*/ 517 h 1187"/>
              <a:gd name="T68" fmla="*/ 781 w 1250"/>
              <a:gd name="T69" fmla="*/ 517 h 1187"/>
              <a:gd name="T70" fmla="*/ 781 w 1250"/>
              <a:gd name="T71" fmla="*/ 629 h 1187"/>
              <a:gd name="T72" fmla="*/ 513 w 1250"/>
              <a:gd name="T73" fmla="*/ 629 h 1187"/>
              <a:gd name="T74" fmla="*/ 513 w 1250"/>
              <a:gd name="T75" fmla="*/ 517 h 1187"/>
              <a:gd name="T76" fmla="*/ 513 w 1250"/>
              <a:gd name="T77" fmla="*/ 741 h 1187"/>
              <a:gd name="T78" fmla="*/ 781 w 1250"/>
              <a:gd name="T79" fmla="*/ 741 h 1187"/>
              <a:gd name="T80" fmla="*/ 781 w 1250"/>
              <a:gd name="T81" fmla="*/ 852 h 1187"/>
              <a:gd name="T82" fmla="*/ 513 w 1250"/>
              <a:gd name="T83" fmla="*/ 852 h 1187"/>
              <a:gd name="T84" fmla="*/ 513 w 1250"/>
              <a:gd name="T85" fmla="*/ 741 h 1187"/>
              <a:gd name="T86" fmla="*/ 67 w 1250"/>
              <a:gd name="T87" fmla="*/ 450 h 1187"/>
              <a:gd name="T88" fmla="*/ 156 w 1250"/>
              <a:gd name="T89" fmla="*/ 450 h 1187"/>
              <a:gd name="T90" fmla="*/ 156 w 1250"/>
              <a:gd name="T91" fmla="*/ 607 h 1187"/>
              <a:gd name="T92" fmla="*/ 67 w 1250"/>
              <a:gd name="T93" fmla="*/ 607 h 1187"/>
              <a:gd name="T94" fmla="*/ 67 w 1250"/>
              <a:gd name="T95" fmla="*/ 450 h 1187"/>
              <a:gd name="T96" fmla="*/ 223 w 1250"/>
              <a:gd name="T97" fmla="*/ 450 h 1187"/>
              <a:gd name="T98" fmla="*/ 313 w 1250"/>
              <a:gd name="T99" fmla="*/ 450 h 1187"/>
              <a:gd name="T100" fmla="*/ 313 w 1250"/>
              <a:gd name="T101" fmla="*/ 607 h 1187"/>
              <a:gd name="T102" fmla="*/ 223 w 1250"/>
              <a:gd name="T103" fmla="*/ 607 h 1187"/>
              <a:gd name="T104" fmla="*/ 223 w 1250"/>
              <a:gd name="T105" fmla="*/ 450 h 1187"/>
              <a:gd name="T106" fmla="*/ 67 w 1250"/>
              <a:gd name="T107" fmla="*/ 718 h 1187"/>
              <a:gd name="T108" fmla="*/ 156 w 1250"/>
              <a:gd name="T109" fmla="*/ 718 h 1187"/>
              <a:gd name="T110" fmla="*/ 156 w 1250"/>
              <a:gd name="T111" fmla="*/ 875 h 1187"/>
              <a:gd name="T112" fmla="*/ 67 w 1250"/>
              <a:gd name="T113" fmla="*/ 875 h 1187"/>
              <a:gd name="T114" fmla="*/ 67 w 1250"/>
              <a:gd name="T115" fmla="*/ 718 h 1187"/>
              <a:gd name="T116" fmla="*/ 223 w 1250"/>
              <a:gd name="T117" fmla="*/ 718 h 1187"/>
              <a:gd name="T118" fmla="*/ 313 w 1250"/>
              <a:gd name="T119" fmla="*/ 718 h 1187"/>
              <a:gd name="T120" fmla="*/ 313 w 1250"/>
              <a:gd name="T121" fmla="*/ 875 h 1187"/>
              <a:gd name="T122" fmla="*/ 223 w 1250"/>
              <a:gd name="T123" fmla="*/ 875 h 1187"/>
              <a:gd name="T124" fmla="*/ 223 w 1250"/>
              <a:gd name="T125" fmla="*/ 718 h 118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  <a:cxn ang="0">
                <a:pos x="T124" y="T125"/>
              </a:cxn>
            </a:cxnLst>
            <a:rect l="0" t="0" r="r" b="b"/>
            <a:pathLst>
              <a:path w="1250" h="1187">
                <a:moveTo>
                  <a:pt x="915" y="250"/>
                </a:moveTo>
                <a:lnTo>
                  <a:pt x="915" y="1053"/>
                </a:lnTo>
                <a:lnTo>
                  <a:pt x="848" y="1053"/>
                </a:lnTo>
                <a:lnTo>
                  <a:pt x="850" y="0"/>
                </a:lnTo>
                <a:lnTo>
                  <a:pt x="448" y="0"/>
                </a:lnTo>
                <a:lnTo>
                  <a:pt x="446" y="1053"/>
                </a:lnTo>
                <a:lnTo>
                  <a:pt x="379" y="1053"/>
                </a:lnTo>
                <a:lnTo>
                  <a:pt x="379" y="361"/>
                </a:lnTo>
                <a:lnTo>
                  <a:pt x="0" y="361"/>
                </a:lnTo>
                <a:lnTo>
                  <a:pt x="0" y="1187"/>
                </a:lnTo>
                <a:lnTo>
                  <a:pt x="1250" y="1187"/>
                </a:lnTo>
                <a:lnTo>
                  <a:pt x="1250" y="250"/>
                </a:lnTo>
                <a:lnTo>
                  <a:pt x="915" y="250"/>
                </a:lnTo>
                <a:close/>
                <a:moveTo>
                  <a:pt x="982" y="339"/>
                </a:moveTo>
                <a:lnTo>
                  <a:pt x="1183" y="339"/>
                </a:lnTo>
                <a:lnTo>
                  <a:pt x="1183" y="584"/>
                </a:lnTo>
                <a:lnTo>
                  <a:pt x="982" y="584"/>
                </a:lnTo>
                <a:lnTo>
                  <a:pt x="982" y="339"/>
                </a:lnTo>
                <a:close/>
                <a:moveTo>
                  <a:pt x="982" y="674"/>
                </a:moveTo>
                <a:lnTo>
                  <a:pt x="1183" y="674"/>
                </a:lnTo>
                <a:lnTo>
                  <a:pt x="1183" y="919"/>
                </a:lnTo>
                <a:lnTo>
                  <a:pt x="982" y="919"/>
                </a:lnTo>
                <a:lnTo>
                  <a:pt x="982" y="674"/>
                </a:lnTo>
                <a:close/>
                <a:moveTo>
                  <a:pt x="513" y="71"/>
                </a:moveTo>
                <a:lnTo>
                  <a:pt x="781" y="71"/>
                </a:lnTo>
                <a:lnTo>
                  <a:pt x="781" y="183"/>
                </a:lnTo>
                <a:lnTo>
                  <a:pt x="513" y="183"/>
                </a:lnTo>
                <a:lnTo>
                  <a:pt x="513" y="71"/>
                </a:lnTo>
                <a:close/>
                <a:moveTo>
                  <a:pt x="513" y="294"/>
                </a:moveTo>
                <a:lnTo>
                  <a:pt x="781" y="294"/>
                </a:lnTo>
                <a:lnTo>
                  <a:pt x="781" y="406"/>
                </a:lnTo>
                <a:lnTo>
                  <a:pt x="513" y="406"/>
                </a:lnTo>
                <a:lnTo>
                  <a:pt x="513" y="294"/>
                </a:lnTo>
                <a:close/>
                <a:moveTo>
                  <a:pt x="513" y="517"/>
                </a:moveTo>
                <a:lnTo>
                  <a:pt x="781" y="517"/>
                </a:lnTo>
                <a:lnTo>
                  <a:pt x="781" y="629"/>
                </a:lnTo>
                <a:lnTo>
                  <a:pt x="513" y="629"/>
                </a:lnTo>
                <a:lnTo>
                  <a:pt x="513" y="517"/>
                </a:lnTo>
                <a:close/>
                <a:moveTo>
                  <a:pt x="513" y="741"/>
                </a:moveTo>
                <a:lnTo>
                  <a:pt x="781" y="741"/>
                </a:lnTo>
                <a:lnTo>
                  <a:pt x="781" y="852"/>
                </a:lnTo>
                <a:lnTo>
                  <a:pt x="513" y="852"/>
                </a:lnTo>
                <a:lnTo>
                  <a:pt x="513" y="741"/>
                </a:lnTo>
                <a:close/>
                <a:moveTo>
                  <a:pt x="67" y="450"/>
                </a:moveTo>
                <a:lnTo>
                  <a:pt x="156" y="450"/>
                </a:lnTo>
                <a:lnTo>
                  <a:pt x="156" y="607"/>
                </a:lnTo>
                <a:lnTo>
                  <a:pt x="67" y="607"/>
                </a:lnTo>
                <a:lnTo>
                  <a:pt x="67" y="450"/>
                </a:lnTo>
                <a:close/>
                <a:moveTo>
                  <a:pt x="223" y="450"/>
                </a:moveTo>
                <a:lnTo>
                  <a:pt x="313" y="450"/>
                </a:lnTo>
                <a:lnTo>
                  <a:pt x="313" y="607"/>
                </a:lnTo>
                <a:lnTo>
                  <a:pt x="223" y="607"/>
                </a:lnTo>
                <a:lnTo>
                  <a:pt x="223" y="450"/>
                </a:lnTo>
                <a:close/>
                <a:moveTo>
                  <a:pt x="67" y="718"/>
                </a:moveTo>
                <a:lnTo>
                  <a:pt x="156" y="718"/>
                </a:lnTo>
                <a:lnTo>
                  <a:pt x="156" y="875"/>
                </a:lnTo>
                <a:lnTo>
                  <a:pt x="67" y="875"/>
                </a:lnTo>
                <a:lnTo>
                  <a:pt x="67" y="718"/>
                </a:lnTo>
                <a:close/>
                <a:moveTo>
                  <a:pt x="223" y="718"/>
                </a:moveTo>
                <a:lnTo>
                  <a:pt x="313" y="718"/>
                </a:lnTo>
                <a:lnTo>
                  <a:pt x="313" y="875"/>
                </a:lnTo>
                <a:lnTo>
                  <a:pt x="223" y="875"/>
                </a:lnTo>
                <a:lnTo>
                  <a:pt x="223" y="718"/>
                </a:lnTo>
                <a:close/>
              </a:path>
            </a:pathLst>
          </a:custGeom>
          <a:solidFill>
            <a:srgbClr val="FFFFFF">
              <a:lumMod val="85000"/>
            </a:srgb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800" b="0" i="0" u="none" strike="noStrike" kern="0" cap="none" spc="0" normalizeH="0" baseline="0" noProof="1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pSp>
        <p:nvGrpSpPr>
          <p:cNvPr id="165" name="Gruppieren 164">
            <a:extLst>
              <a:ext uri="{FF2B5EF4-FFF2-40B4-BE49-F238E27FC236}">
                <a16:creationId xmlns:a16="http://schemas.microsoft.com/office/drawing/2014/main" id="{81D05D5E-E78E-36C4-DFBF-54536D35A5DF}"/>
              </a:ext>
            </a:extLst>
          </p:cNvPr>
          <p:cNvGrpSpPr/>
          <p:nvPr/>
        </p:nvGrpSpPr>
        <p:grpSpPr>
          <a:xfrm>
            <a:off x="7164539" y="2764562"/>
            <a:ext cx="419897" cy="421412"/>
            <a:chOff x="-19101" y="2381281"/>
            <a:chExt cx="699820" cy="699820"/>
          </a:xfrm>
        </p:grpSpPr>
        <p:sp>
          <p:nvSpPr>
            <p:cNvPr id="166" name="Ellipse 165">
              <a:extLst>
                <a:ext uri="{FF2B5EF4-FFF2-40B4-BE49-F238E27FC236}">
                  <a16:creationId xmlns:a16="http://schemas.microsoft.com/office/drawing/2014/main" id="{094F9610-7ACE-DEC0-F55A-2FB57672739A}"/>
                </a:ext>
              </a:extLst>
            </p:cNvPr>
            <p:cNvSpPr/>
            <p:nvPr/>
          </p:nvSpPr>
          <p:spPr>
            <a:xfrm>
              <a:off x="-19101" y="2381281"/>
              <a:ext cx="699820" cy="699820"/>
            </a:xfrm>
            <a:prstGeom prst="ellipse">
              <a:avLst/>
            </a:prstGeom>
            <a:solidFill>
              <a:sysClr val="windowText" lastClr="000000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de-DE" sz="1800" b="0" i="0" u="none" strike="noStrike" kern="0" cap="none" spc="0" normalizeH="0" baseline="0" noProof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67" name="Plug" descr="{&quot;Key&quot;:&quot;POWER_USER_SHAPE_ICON&quot;,&quot;Value&quot;:&quot;POWER_USER_SHAPE_ICON_STYLE_1&quot;}">
              <a:extLst>
                <a:ext uri="{FF2B5EF4-FFF2-40B4-BE49-F238E27FC236}">
                  <a16:creationId xmlns:a16="http://schemas.microsoft.com/office/drawing/2014/main" id="{EC2F38A4-E58F-CEEE-9CCF-D504A8F2217A}"/>
                </a:ext>
              </a:extLst>
            </p:cNvPr>
            <p:cNvSpPr>
              <a:spLocks noChangeAspect="1" noEditPoints="1"/>
            </p:cNvSpPr>
            <p:nvPr>
              <p:custDataLst>
                <p:tags r:id="rId17"/>
              </p:custDataLst>
            </p:nvPr>
          </p:nvSpPr>
          <p:spPr bwMode="auto">
            <a:xfrm>
              <a:off x="124100" y="2458915"/>
              <a:ext cx="393828" cy="542925"/>
            </a:xfrm>
            <a:custGeom>
              <a:avLst/>
              <a:gdLst>
                <a:gd name="T0" fmla="*/ 336 w 592"/>
                <a:gd name="T1" fmla="*/ 106 h 790"/>
                <a:gd name="T2" fmla="*/ 415 w 592"/>
                <a:gd name="T3" fmla="*/ 27 h 790"/>
                <a:gd name="T4" fmla="*/ 456 w 592"/>
                <a:gd name="T5" fmla="*/ 69 h 790"/>
                <a:gd name="T6" fmla="*/ 377 w 592"/>
                <a:gd name="T7" fmla="*/ 148 h 790"/>
                <a:gd name="T8" fmla="*/ 336 w 592"/>
                <a:gd name="T9" fmla="*/ 106 h 790"/>
                <a:gd name="T10" fmla="*/ 156 w 592"/>
                <a:gd name="T11" fmla="*/ 393 h 790"/>
                <a:gd name="T12" fmla="*/ 199 w 592"/>
                <a:gd name="T13" fmla="*/ 436 h 790"/>
                <a:gd name="T14" fmla="*/ 224 w 592"/>
                <a:gd name="T15" fmla="*/ 411 h 790"/>
                <a:gd name="T16" fmla="*/ 181 w 592"/>
                <a:gd name="T17" fmla="*/ 368 h 790"/>
                <a:gd name="T18" fmla="*/ 156 w 592"/>
                <a:gd name="T19" fmla="*/ 393 h 790"/>
                <a:gd name="T20" fmla="*/ 110 w 592"/>
                <a:gd name="T21" fmla="*/ 445 h 790"/>
                <a:gd name="T22" fmla="*/ 146 w 592"/>
                <a:gd name="T23" fmla="*/ 481 h 790"/>
                <a:gd name="T24" fmla="*/ 171 w 592"/>
                <a:gd name="T25" fmla="*/ 456 h 790"/>
                <a:gd name="T26" fmla="*/ 135 w 592"/>
                <a:gd name="T27" fmla="*/ 421 h 790"/>
                <a:gd name="T28" fmla="*/ 110 w 592"/>
                <a:gd name="T29" fmla="*/ 445 h 790"/>
                <a:gd name="T30" fmla="*/ 174 w 592"/>
                <a:gd name="T31" fmla="*/ 528 h 790"/>
                <a:gd name="T32" fmla="*/ 141 w 592"/>
                <a:gd name="T33" fmla="*/ 529 h 790"/>
                <a:gd name="T34" fmla="*/ 64 w 592"/>
                <a:gd name="T35" fmla="*/ 451 h 790"/>
                <a:gd name="T36" fmla="*/ 62 w 592"/>
                <a:gd name="T37" fmla="*/ 418 h 790"/>
                <a:gd name="T38" fmla="*/ 158 w 592"/>
                <a:gd name="T39" fmla="*/ 193 h 790"/>
                <a:gd name="T40" fmla="*/ 165 w 592"/>
                <a:gd name="T41" fmla="*/ 172 h 790"/>
                <a:gd name="T42" fmla="*/ 242 w 592"/>
                <a:gd name="T43" fmla="*/ 95 h 790"/>
                <a:gd name="T44" fmla="*/ 275 w 592"/>
                <a:gd name="T45" fmla="*/ 95 h 790"/>
                <a:gd name="T46" fmla="*/ 497 w 592"/>
                <a:gd name="T47" fmla="*/ 316 h 790"/>
                <a:gd name="T48" fmla="*/ 496 w 592"/>
                <a:gd name="T49" fmla="*/ 349 h 790"/>
                <a:gd name="T50" fmla="*/ 420 w 592"/>
                <a:gd name="T51" fmla="*/ 426 h 790"/>
                <a:gd name="T52" fmla="*/ 400 w 592"/>
                <a:gd name="T53" fmla="*/ 434 h 790"/>
                <a:gd name="T54" fmla="*/ 174 w 592"/>
                <a:gd name="T55" fmla="*/ 528 h 790"/>
                <a:gd name="T56" fmla="*/ 393 w 592"/>
                <a:gd name="T57" fmla="*/ 594 h 790"/>
                <a:gd name="T58" fmla="*/ 295 w 592"/>
                <a:gd name="T59" fmla="*/ 594 h 790"/>
                <a:gd name="T60" fmla="*/ 210 w 592"/>
                <a:gd name="T61" fmla="*/ 678 h 790"/>
                <a:gd name="T62" fmla="*/ 45 w 592"/>
                <a:gd name="T63" fmla="*/ 678 h 790"/>
                <a:gd name="T64" fmla="*/ 45 w 592"/>
                <a:gd name="T65" fmla="*/ 513 h 790"/>
                <a:gd name="T66" fmla="*/ 61 w 592"/>
                <a:gd name="T67" fmla="*/ 497 h 790"/>
                <a:gd name="T68" fmla="*/ 94 w 592"/>
                <a:gd name="T69" fmla="*/ 531 h 790"/>
                <a:gd name="T70" fmla="*/ 78 w 592"/>
                <a:gd name="T71" fmla="*/ 546 h 790"/>
                <a:gd name="T72" fmla="*/ 78 w 592"/>
                <a:gd name="T73" fmla="*/ 645 h 790"/>
                <a:gd name="T74" fmla="*/ 177 w 592"/>
                <a:gd name="T75" fmla="*/ 645 h 790"/>
                <a:gd name="T76" fmla="*/ 261 w 592"/>
                <a:gd name="T77" fmla="*/ 560 h 790"/>
                <a:gd name="T78" fmla="*/ 426 w 592"/>
                <a:gd name="T79" fmla="*/ 560 h 790"/>
                <a:gd name="T80" fmla="*/ 426 w 592"/>
                <a:gd name="T81" fmla="*/ 725 h 790"/>
                <a:gd name="T82" fmla="*/ 384 w 592"/>
                <a:gd name="T83" fmla="*/ 768 h 790"/>
                <a:gd name="T84" fmla="*/ 351 w 592"/>
                <a:gd name="T85" fmla="*/ 734 h 790"/>
                <a:gd name="T86" fmla="*/ 393 w 592"/>
                <a:gd name="T87" fmla="*/ 692 h 790"/>
                <a:gd name="T88" fmla="*/ 393 w 592"/>
                <a:gd name="T89" fmla="*/ 594 h 790"/>
                <a:gd name="T90" fmla="*/ 485 w 592"/>
                <a:gd name="T91" fmla="*/ 256 h 790"/>
                <a:gd name="T92" fmla="*/ 564 w 592"/>
                <a:gd name="T93" fmla="*/ 176 h 790"/>
                <a:gd name="T94" fmla="*/ 523 w 592"/>
                <a:gd name="T95" fmla="*/ 135 h 790"/>
                <a:gd name="T96" fmla="*/ 444 w 592"/>
                <a:gd name="T97" fmla="*/ 214 h 790"/>
                <a:gd name="T98" fmla="*/ 485 w 592"/>
                <a:gd name="T99" fmla="*/ 256 h 790"/>
                <a:gd name="T100" fmla="*/ 485 w 592"/>
                <a:gd name="T101" fmla="*/ 256 h 7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592" h="790">
                  <a:moveTo>
                    <a:pt x="336" y="106"/>
                  </a:moveTo>
                  <a:lnTo>
                    <a:pt x="415" y="27"/>
                  </a:lnTo>
                  <a:cubicBezTo>
                    <a:pt x="442" y="0"/>
                    <a:pt x="484" y="41"/>
                    <a:pt x="456" y="69"/>
                  </a:cubicBezTo>
                  <a:lnTo>
                    <a:pt x="377" y="148"/>
                  </a:lnTo>
                  <a:lnTo>
                    <a:pt x="336" y="106"/>
                  </a:lnTo>
                  <a:close/>
                  <a:moveTo>
                    <a:pt x="156" y="393"/>
                  </a:moveTo>
                  <a:lnTo>
                    <a:pt x="199" y="436"/>
                  </a:lnTo>
                  <a:cubicBezTo>
                    <a:pt x="215" y="452"/>
                    <a:pt x="240" y="428"/>
                    <a:pt x="224" y="411"/>
                  </a:cubicBezTo>
                  <a:lnTo>
                    <a:pt x="181" y="368"/>
                  </a:lnTo>
                  <a:cubicBezTo>
                    <a:pt x="164" y="351"/>
                    <a:pt x="139" y="376"/>
                    <a:pt x="156" y="393"/>
                  </a:cubicBezTo>
                  <a:close/>
                  <a:moveTo>
                    <a:pt x="110" y="445"/>
                  </a:moveTo>
                  <a:lnTo>
                    <a:pt x="146" y="481"/>
                  </a:lnTo>
                  <a:cubicBezTo>
                    <a:pt x="162" y="498"/>
                    <a:pt x="187" y="473"/>
                    <a:pt x="171" y="456"/>
                  </a:cubicBezTo>
                  <a:lnTo>
                    <a:pt x="135" y="421"/>
                  </a:lnTo>
                  <a:cubicBezTo>
                    <a:pt x="119" y="404"/>
                    <a:pt x="94" y="429"/>
                    <a:pt x="110" y="445"/>
                  </a:cubicBezTo>
                  <a:close/>
                  <a:moveTo>
                    <a:pt x="174" y="528"/>
                  </a:moveTo>
                  <a:cubicBezTo>
                    <a:pt x="165" y="537"/>
                    <a:pt x="150" y="538"/>
                    <a:pt x="141" y="529"/>
                  </a:cubicBezTo>
                  <a:lnTo>
                    <a:pt x="64" y="451"/>
                  </a:lnTo>
                  <a:cubicBezTo>
                    <a:pt x="54" y="442"/>
                    <a:pt x="53" y="428"/>
                    <a:pt x="62" y="418"/>
                  </a:cubicBezTo>
                  <a:cubicBezTo>
                    <a:pt x="121" y="355"/>
                    <a:pt x="169" y="283"/>
                    <a:pt x="158" y="193"/>
                  </a:cubicBezTo>
                  <a:cubicBezTo>
                    <a:pt x="157" y="185"/>
                    <a:pt x="159" y="178"/>
                    <a:pt x="165" y="172"/>
                  </a:cubicBezTo>
                  <a:lnTo>
                    <a:pt x="242" y="95"/>
                  </a:lnTo>
                  <a:cubicBezTo>
                    <a:pt x="251" y="86"/>
                    <a:pt x="266" y="86"/>
                    <a:pt x="275" y="95"/>
                  </a:cubicBezTo>
                  <a:lnTo>
                    <a:pt x="497" y="316"/>
                  </a:lnTo>
                  <a:cubicBezTo>
                    <a:pt x="506" y="325"/>
                    <a:pt x="506" y="340"/>
                    <a:pt x="496" y="349"/>
                  </a:cubicBezTo>
                  <a:lnTo>
                    <a:pt x="420" y="426"/>
                  </a:lnTo>
                  <a:cubicBezTo>
                    <a:pt x="415" y="431"/>
                    <a:pt x="408" y="434"/>
                    <a:pt x="400" y="434"/>
                  </a:cubicBezTo>
                  <a:cubicBezTo>
                    <a:pt x="309" y="423"/>
                    <a:pt x="238" y="469"/>
                    <a:pt x="174" y="528"/>
                  </a:cubicBezTo>
                  <a:close/>
                  <a:moveTo>
                    <a:pt x="393" y="594"/>
                  </a:moveTo>
                  <a:cubicBezTo>
                    <a:pt x="366" y="567"/>
                    <a:pt x="322" y="567"/>
                    <a:pt x="295" y="594"/>
                  </a:cubicBezTo>
                  <a:lnTo>
                    <a:pt x="210" y="678"/>
                  </a:lnTo>
                  <a:cubicBezTo>
                    <a:pt x="165" y="723"/>
                    <a:pt x="90" y="723"/>
                    <a:pt x="45" y="678"/>
                  </a:cubicBezTo>
                  <a:cubicBezTo>
                    <a:pt x="0" y="633"/>
                    <a:pt x="0" y="558"/>
                    <a:pt x="45" y="513"/>
                  </a:cubicBezTo>
                  <a:lnTo>
                    <a:pt x="61" y="497"/>
                  </a:lnTo>
                  <a:lnTo>
                    <a:pt x="94" y="531"/>
                  </a:lnTo>
                  <a:lnTo>
                    <a:pt x="78" y="546"/>
                  </a:lnTo>
                  <a:cubicBezTo>
                    <a:pt x="52" y="573"/>
                    <a:pt x="52" y="618"/>
                    <a:pt x="78" y="645"/>
                  </a:cubicBezTo>
                  <a:cubicBezTo>
                    <a:pt x="105" y="672"/>
                    <a:pt x="150" y="672"/>
                    <a:pt x="177" y="645"/>
                  </a:cubicBezTo>
                  <a:lnTo>
                    <a:pt x="261" y="560"/>
                  </a:lnTo>
                  <a:cubicBezTo>
                    <a:pt x="307" y="515"/>
                    <a:pt x="381" y="515"/>
                    <a:pt x="426" y="560"/>
                  </a:cubicBezTo>
                  <a:cubicBezTo>
                    <a:pt x="472" y="605"/>
                    <a:pt x="472" y="680"/>
                    <a:pt x="426" y="725"/>
                  </a:cubicBezTo>
                  <a:lnTo>
                    <a:pt x="384" y="768"/>
                  </a:lnTo>
                  <a:cubicBezTo>
                    <a:pt x="362" y="790"/>
                    <a:pt x="329" y="756"/>
                    <a:pt x="351" y="734"/>
                  </a:cubicBezTo>
                  <a:lnTo>
                    <a:pt x="393" y="692"/>
                  </a:lnTo>
                  <a:cubicBezTo>
                    <a:pt x="420" y="665"/>
                    <a:pt x="420" y="620"/>
                    <a:pt x="393" y="594"/>
                  </a:cubicBezTo>
                  <a:close/>
                  <a:moveTo>
                    <a:pt x="485" y="256"/>
                  </a:moveTo>
                  <a:lnTo>
                    <a:pt x="564" y="176"/>
                  </a:lnTo>
                  <a:cubicBezTo>
                    <a:pt x="592" y="149"/>
                    <a:pt x="550" y="108"/>
                    <a:pt x="523" y="135"/>
                  </a:cubicBezTo>
                  <a:lnTo>
                    <a:pt x="444" y="214"/>
                  </a:lnTo>
                  <a:lnTo>
                    <a:pt x="485" y="256"/>
                  </a:lnTo>
                  <a:lnTo>
                    <a:pt x="485" y="256"/>
                  </a:lnTo>
                  <a:close/>
                </a:path>
              </a:pathLst>
            </a:custGeom>
            <a:solidFill>
              <a:sysClr val="window" lastClr="FFFFFF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de-DE" sz="1800" b="0" i="0" u="none" strike="noStrike" kern="0" cap="none" spc="0" normalizeH="0" baseline="0" noProof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grpSp>
        <p:nvGrpSpPr>
          <p:cNvPr id="168" name="Gruppieren 167" descr="{&quot;Key&quot;:&quot;POWER_USER_SHAPE_ICON&quot;,&quot;Value&quot;:&quot;POWER_USER_SHAPE_ICON_STYLE_2&quot;}">
            <a:extLst>
              <a:ext uri="{FF2B5EF4-FFF2-40B4-BE49-F238E27FC236}">
                <a16:creationId xmlns:a16="http://schemas.microsoft.com/office/drawing/2014/main" id="{53E51DAE-2FF4-BB49-012E-C4C9A20995F6}"/>
              </a:ext>
            </a:extLst>
          </p:cNvPr>
          <p:cNvGrpSpPr>
            <a:grpSpLocks noChangeAspect="1"/>
          </p:cNvGrpSpPr>
          <p:nvPr/>
        </p:nvGrpSpPr>
        <p:grpSpPr>
          <a:xfrm>
            <a:off x="7958987" y="2703429"/>
            <a:ext cx="416005" cy="450324"/>
            <a:chOff x="-151229" y="3030538"/>
            <a:chExt cx="762000" cy="762000"/>
          </a:xfrm>
        </p:grpSpPr>
        <p:sp>
          <p:nvSpPr>
            <p:cNvPr id="169" name="POWER_USER_SHAPE_ICON_STYLE_2">
              <a:extLst>
                <a:ext uri="{FF2B5EF4-FFF2-40B4-BE49-F238E27FC236}">
                  <a16:creationId xmlns:a16="http://schemas.microsoft.com/office/drawing/2014/main" id="{3CAD9CD7-EE5B-06A2-83AE-2ABF5C0A785D}"/>
                </a:ext>
              </a:extLst>
            </p:cNvPr>
            <p:cNvSpPr/>
            <p:nvPr/>
          </p:nvSpPr>
          <p:spPr>
            <a:xfrm>
              <a:off x="-151229" y="3030538"/>
              <a:ext cx="762000" cy="762000"/>
            </a:xfrm>
            <a:prstGeom prst="ellipse">
              <a:avLst/>
            </a:prstGeom>
            <a:solidFill>
              <a:srgbClr val="FFC000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de-DE" sz="1800" b="0" i="0" u="none" strike="noStrike" kern="0" cap="none" spc="0" normalizeH="0" baseline="0" noProof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grpSp>
          <p:nvGrpSpPr>
            <p:cNvPr id="170" name="Gruppieren 169">
              <a:extLst>
                <a:ext uri="{FF2B5EF4-FFF2-40B4-BE49-F238E27FC236}">
                  <a16:creationId xmlns:a16="http://schemas.microsoft.com/office/drawing/2014/main" id="{50E62DF9-55D9-3C3C-A07A-FDA765EAE7CA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1" y="3157538"/>
              <a:ext cx="459541" cy="508000"/>
              <a:chOff x="0" y="3157538"/>
              <a:chExt cx="491134" cy="542925"/>
            </a:xfrm>
          </p:grpSpPr>
          <p:sp>
            <p:nvSpPr>
              <p:cNvPr id="171" name="Crowdsourcing2">
                <a:extLst>
                  <a:ext uri="{FF2B5EF4-FFF2-40B4-BE49-F238E27FC236}">
                    <a16:creationId xmlns:a16="http://schemas.microsoft.com/office/drawing/2014/main" id="{F09B33A1-4AAF-36EF-A3C1-41ED3FEB5FF9}"/>
                  </a:ext>
                </a:extLst>
              </p:cNvPr>
              <p:cNvSpPr>
                <a:spLocks/>
              </p:cNvSpPr>
              <p:nvPr>
                <p:custDataLst>
                  <p:tags r:id="rId9"/>
                </p:custDataLst>
              </p:nvPr>
            </p:nvSpPr>
            <p:spPr bwMode="auto">
              <a:xfrm>
                <a:off x="192882" y="3595092"/>
                <a:ext cx="105371" cy="35719"/>
              </a:xfrm>
              <a:custGeom>
                <a:avLst/>
                <a:gdLst>
                  <a:gd name="T0" fmla="*/ 130 w 156"/>
                  <a:gd name="T1" fmla="*/ 52 h 52"/>
                  <a:gd name="T2" fmla="*/ 26 w 156"/>
                  <a:gd name="T3" fmla="*/ 52 h 52"/>
                  <a:gd name="T4" fmla="*/ 0 w 156"/>
                  <a:gd name="T5" fmla="*/ 26 h 52"/>
                  <a:gd name="T6" fmla="*/ 26 w 156"/>
                  <a:gd name="T7" fmla="*/ 0 h 52"/>
                  <a:gd name="T8" fmla="*/ 130 w 156"/>
                  <a:gd name="T9" fmla="*/ 0 h 52"/>
                  <a:gd name="T10" fmla="*/ 156 w 156"/>
                  <a:gd name="T11" fmla="*/ 26 h 52"/>
                  <a:gd name="T12" fmla="*/ 130 w 156"/>
                  <a:gd name="T13" fmla="*/ 52 h 5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56" h="52">
                    <a:moveTo>
                      <a:pt x="130" y="52"/>
                    </a:moveTo>
                    <a:lnTo>
                      <a:pt x="26" y="52"/>
                    </a:lnTo>
                    <a:cubicBezTo>
                      <a:pt x="11" y="52"/>
                      <a:pt x="0" y="40"/>
                      <a:pt x="0" y="26"/>
                    </a:cubicBezTo>
                    <a:cubicBezTo>
                      <a:pt x="0" y="12"/>
                      <a:pt x="11" y="0"/>
                      <a:pt x="26" y="0"/>
                    </a:cubicBezTo>
                    <a:lnTo>
                      <a:pt x="130" y="0"/>
                    </a:lnTo>
                    <a:cubicBezTo>
                      <a:pt x="144" y="0"/>
                      <a:pt x="156" y="12"/>
                      <a:pt x="156" y="26"/>
                    </a:cubicBezTo>
                    <a:cubicBezTo>
                      <a:pt x="156" y="40"/>
                      <a:pt x="144" y="52"/>
                      <a:pt x="130" y="52"/>
                    </a:cubicBezTo>
                    <a:close/>
                  </a:path>
                </a:pathLst>
              </a:custGeom>
              <a:solidFill>
                <a:srgbClr val="FFFFFF"/>
              </a:solidFill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de-DE" sz="1800" b="0" i="0" u="none" strike="noStrike" kern="0" cap="none" spc="0" normalizeH="0" baseline="0" noProof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72" name="Crowdsourcing2">
                <a:extLst>
                  <a:ext uri="{FF2B5EF4-FFF2-40B4-BE49-F238E27FC236}">
                    <a16:creationId xmlns:a16="http://schemas.microsoft.com/office/drawing/2014/main" id="{60A3058C-87B6-D530-2341-E369F06FC67E}"/>
                  </a:ext>
                </a:extLst>
              </p:cNvPr>
              <p:cNvSpPr>
                <a:spLocks/>
              </p:cNvSpPr>
              <p:nvPr>
                <p:custDataLst>
                  <p:tags r:id="rId10"/>
                </p:custDataLst>
              </p:nvPr>
            </p:nvSpPr>
            <p:spPr bwMode="auto">
              <a:xfrm>
                <a:off x="228601" y="3157538"/>
                <a:ext cx="33932" cy="105371"/>
              </a:xfrm>
              <a:custGeom>
                <a:avLst/>
                <a:gdLst>
                  <a:gd name="T0" fmla="*/ 26 w 52"/>
                  <a:gd name="T1" fmla="*/ 156 h 156"/>
                  <a:gd name="T2" fmla="*/ 0 w 52"/>
                  <a:gd name="T3" fmla="*/ 130 h 156"/>
                  <a:gd name="T4" fmla="*/ 0 w 52"/>
                  <a:gd name="T5" fmla="*/ 26 h 156"/>
                  <a:gd name="T6" fmla="*/ 26 w 52"/>
                  <a:gd name="T7" fmla="*/ 0 h 156"/>
                  <a:gd name="T8" fmla="*/ 52 w 52"/>
                  <a:gd name="T9" fmla="*/ 26 h 156"/>
                  <a:gd name="T10" fmla="*/ 52 w 52"/>
                  <a:gd name="T11" fmla="*/ 130 h 156"/>
                  <a:gd name="T12" fmla="*/ 26 w 52"/>
                  <a:gd name="T13" fmla="*/ 156 h 15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52" h="156">
                    <a:moveTo>
                      <a:pt x="26" y="156"/>
                    </a:moveTo>
                    <a:cubicBezTo>
                      <a:pt x="12" y="156"/>
                      <a:pt x="0" y="145"/>
                      <a:pt x="0" y="130"/>
                    </a:cubicBezTo>
                    <a:lnTo>
                      <a:pt x="0" y="26"/>
                    </a:lnTo>
                    <a:cubicBezTo>
                      <a:pt x="0" y="12"/>
                      <a:pt x="12" y="0"/>
                      <a:pt x="26" y="0"/>
                    </a:cubicBezTo>
                    <a:cubicBezTo>
                      <a:pt x="40" y="0"/>
                      <a:pt x="52" y="12"/>
                      <a:pt x="52" y="26"/>
                    </a:cubicBezTo>
                    <a:lnTo>
                      <a:pt x="52" y="130"/>
                    </a:lnTo>
                    <a:cubicBezTo>
                      <a:pt x="52" y="145"/>
                      <a:pt x="40" y="156"/>
                      <a:pt x="26" y="156"/>
                    </a:cubicBezTo>
                    <a:close/>
                  </a:path>
                </a:pathLst>
              </a:custGeom>
              <a:solidFill>
                <a:srgbClr val="FFFFFF"/>
              </a:solidFill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de-DE" sz="1800" b="0" i="0" u="none" strike="noStrike" kern="0" cap="none" spc="0" normalizeH="0" baseline="0" noProof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73" name="Crowdsourcing2">
                <a:extLst>
                  <a:ext uri="{FF2B5EF4-FFF2-40B4-BE49-F238E27FC236}">
                    <a16:creationId xmlns:a16="http://schemas.microsoft.com/office/drawing/2014/main" id="{22FAFB8A-3202-B355-39D7-BD8E933FBCC9}"/>
                  </a:ext>
                </a:extLst>
              </p:cNvPr>
              <p:cNvSpPr>
                <a:spLocks/>
              </p:cNvSpPr>
              <p:nvPr>
                <p:custDataLst>
                  <p:tags r:id="rId11"/>
                </p:custDataLst>
              </p:nvPr>
            </p:nvSpPr>
            <p:spPr bwMode="auto">
              <a:xfrm>
                <a:off x="0" y="3386137"/>
                <a:ext cx="105371" cy="33932"/>
              </a:xfrm>
              <a:custGeom>
                <a:avLst/>
                <a:gdLst>
                  <a:gd name="T0" fmla="*/ 131 w 157"/>
                  <a:gd name="T1" fmla="*/ 52 h 52"/>
                  <a:gd name="T2" fmla="*/ 26 w 157"/>
                  <a:gd name="T3" fmla="*/ 52 h 52"/>
                  <a:gd name="T4" fmla="*/ 0 w 157"/>
                  <a:gd name="T5" fmla="*/ 26 h 52"/>
                  <a:gd name="T6" fmla="*/ 26 w 157"/>
                  <a:gd name="T7" fmla="*/ 0 h 52"/>
                  <a:gd name="T8" fmla="*/ 131 w 157"/>
                  <a:gd name="T9" fmla="*/ 0 h 52"/>
                  <a:gd name="T10" fmla="*/ 157 w 157"/>
                  <a:gd name="T11" fmla="*/ 26 h 52"/>
                  <a:gd name="T12" fmla="*/ 131 w 157"/>
                  <a:gd name="T13" fmla="*/ 52 h 5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57" h="52">
                    <a:moveTo>
                      <a:pt x="131" y="52"/>
                    </a:moveTo>
                    <a:lnTo>
                      <a:pt x="26" y="52"/>
                    </a:lnTo>
                    <a:cubicBezTo>
                      <a:pt x="12" y="52"/>
                      <a:pt x="0" y="40"/>
                      <a:pt x="0" y="26"/>
                    </a:cubicBezTo>
                    <a:cubicBezTo>
                      <a:pt x="0" y="11"/>
                      <a:pt x="12" y="0"/>
                      <a:pt x="26" y="0"/>
                    </a:cubicBezTo>
                    <a:lnTo>
                      <a:pt x="131" y="0"/>
                    </a:lnTo>
                    <a:cubicBezTo>
                      <a:pt x="145" y="0"/>
                      <a:pt x="157" y="11"/>
                      <a:pt x="157" y="26"/>
                    </a:cubicBezTo>
                    <a:cubicBezTo>
                      <a:pt x="157" y="40"/>
                      <a:pt x="145" y="52"/>
                      <a:pt x="131" y="52"/>
                    </a:cubicBezTo>
                    <a:close/>
                  </a:path>
                </a:pathLst>
              </a:custGeom>
              <a:solidFill>
                <a:srgbClr val="FFFFFF"/>
              </a:solidFill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de-DE" sz="1800" b="0" i="0" u="none" strike="noStrike" kern="0" cap="none" spc="0" normalizeH="0" baseline="0" noProof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74" name="Crowdsourcing2">
                <a:extLst>
                  <a:ext uri="{FF2B5EF4-FFF2-40B4-BE49-F238E27FC236}">
                    <a16:creationId xmlns:a16="http://schemas.microsoft.com/office/drawing/2014/main" id="{D0225623-DD2A-951E-B181-74A983AE9DCB}"/>
                  </a:ext>
                </a:extLst>
              </p:cNvPr>
              <p:cNvSpPr>
                <a:spLocks/>
              </p:cNvSpPr>
              <p:nvPr>
                <p:custDataLst>
                  <p:tags r:id="rId12"/>
                </p:custDataLst>
              </p:nvPr>
            </p:nvSpPr>
            <p:spPr bwMode="auto">
              <a:xfrm>
                <a:off x="62508" y="3220046"/>
                <a:ext cx="87512" cy="85725"/>
              </a:xfrm>
              <a:custGeom>
                <a:avLst/>
                <a:gdLst>
                  <a:gd name="T0" fmla="*/ 103 w 131"/>
                  <a:gd name="T1" fmla="*/ 128 h 128"/>
                  <a:gd name="T2" fmla="*/ 84 w 131"/>
                  <a:gd name="T3" fmla="*/ 121 h 128"/>
                  <a:gd name="T4" fmla="*/ 11 w 131"/>
                  <a:gd name="T5" fmla="*/ 47 h 128"/>
                  <a:gd name="T6" fmla="*/ 11 w 131"/>
                  <a:gd name="T7" fmla="*/ 10 h 128"/>
                  <a:gd name="T8" fmla="*/ 47 w 131"/>
                  <a:gd name="T9" fmla="*/ 10 h 128"/>
                  <a:gd name="T10" fmla="*/ 121 w 131"/>
                  <a:gd name="T11" fmla="*/ 84 h 128"/>
                  <a:gd name="T12" fmla="*/ 121 w 131"/>
                  <a:gd name="T13" fmla="*/ 121 h 128"/>
                  <a:gd name="T14" fmla="*/ 103 w 131"/>
                  <a:gd name="T15" fmla="*/ 128 h 12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131" h="128">
                    <a:moveTo>
                      <a:pt x="103" y="128"/>
                    </a:moveTo>
                    <a:cubicBezTo>
                      <a:pt x="96" y="128"/>
                      <a:pt x="89" y="126"/>
                      <a:pt x="84" y="121"/>
                    </a:cubicBezTo>
                    <a:lnTo>
                      <a:pt x="11" y="47"/>
                    </a:lnTo>
                    <a:cubicBezTo>
                      <a:pt x="0" y="37"/>
                      <a:pt x="0" y="20"/>
                      <a:pt x="11" y="10"/>
                    </a:cubicBezTo>
                    <a:cubicBezTo>
                      <a:pt x="21" y="0"/>
                      <a:pt x="37" y="0"/>
                      <a:pt x="47" y="10"/>
                    </a:cubicBezTo>
                    <a:lnTo>
                      <a:pt x="121" y="84"/>
                    </a:lnTo>
                    <a:cubicBezTo>
                      <a:pt x="131" y="94"/>
                      <a:pt x="131" y="111"/>
                      <a:pt x="121" y="121"/>
                    </a:cubicBezTo>
                    <a:cubicBezTo>
                      <a:pt x="116" y="126"/>
                      <a:pt x="109" y="128"/>
                      <a:pt x="103" y="128"/>
                    </a:cubicBezTo>
                    <a:close/>
                  </a:path>
                </a:pathLst>
              </a:custGeom>
              <a:solidFill>
                <a:srgbClr val="FFFFFF"/>
              </a:solidFill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de-DE" sz="1800" b="0" i="0" u="none" strike="noStrike" kern="0" cap="none" spc="0" normalizeH="0" baseline="0" noProof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75" name="Crowdsourcing2">
                <a:extLst>
                  <a:ext uri="{FF2B5EF4-FFF2-40B4-BE49-F238E27FC236}">
                    <a16:creationId xmlns:a16="http://schemas.microsoft.com/office/drawing/2014/main" id="{F29A098F-48C8-7D28-4DB1-D4B866AFC761}"/>
                  </a:ext>
                </a:extLst>
              </p:cNvPr>
              <p:cNvSpPr>
                <a:spLocks/>
              </p:cNvSpPr>
              <p:nvPr>
                <p:custDataLst>
                  <p:tags r:id="rId13"/>
                </p:custDataLst>
              </p:nvPr>
            </p:nvSpPr>
            <p:spPr bwMode="auto">
              <a:xfrm>
                <a:off x="339329" y="3220046"/>
                <a:ext cx="87512" cy="85725"/>
              </a:xfrm>
              <a:custGeom>
                <a:avLst/>
                <a:gdLst>
                  <a:gd name="T0" fmla="*/ 28 w 130"/>
                  <a:gd name="T1" fmla="*/ 128 h 128"/>
                  <a:gd name="T2" fmla="*/ 10 w 130"/>
                  <a:gd name="T3" fmla="*/ 121 h 128"/>
                  <a:gd name="T4" fmla="*/ 10 w 130"/>
                  <a:gd name="T5" fmla="*/ 84 h 128"/>
                  <a:gd name="T6" fmla="*/ 83 w 130"/>
                  <a:gd name="T7" fmla="*/ 10 h 128"/>
                  <a:gd name="T8" fmla="*/ 120 w 130"/>
                  <a:gd name="T9" fmla="*/ 10 h 128"/>
                  <a:gd name="T10" fmla="*/ 120 w 130"/>
                  <a:gd name="T11" fmla="*/ 47 h 128"/>
                  <a:gd name="T12" fmla="*/ 47 w 130"/>
                  <a:gd name="T13" fmla="*/ 121 h 128"/>
                  <a:gd name="T14" fmla="*/ 28 w 130"/>
                  <a:gd name="T15" fmla="*/ 128 h 12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130" h="128">
                    <a:moveTo>
                      <a:pt x="28" y="128"/>
                    </a:moveTo>
                    <a:cubicBezTo>
                      <a:pt x="22" y="128"/>
                      <a:pt x="15" y="126"/>
                      <a:pt x="10" y="121"/>
                    </a:cubicBezTo>
                    <a:cubicBezTo>
                      <a:pt x="0" y="111"/>
                      <a:pt x="0" y="94"/>
                      <a:pt x="10" y="84"/>
                    </a:cubicBezTo>
                    <a:lnTo>
                      <a:pt x="83" y="10"/>
                    </a:lnTo>
                    <a:cubicBezTo>
                      <a:pt x="94" y="0"/>
                      <a:pt x="110" y="0"/>
                      <a:pt x="120" y="10"/>
                    </a:cubicBezTo>
                    <a:cubicBezTo>
                      <a:pt x="130" y="20"/>
                      <a:pt x="130" y="37"/>
                      <a:pt x="120" y="47"/>
                    </a:cubicBezTo>
                    <a:lnTo>
                      <a:pt x="47" y="121"/>
                    </a:lnTo>
                    <a:cubicBezTo>
                      <a:pt x="42" y="126"/>
                      <a:pt x="35" y="128"/>
                      <a:pt x="28" y="128"/>
                    </a:cubicBezTo>
                    <a:close/>
                  </a:path>
                </a:pathLst>
              </a:custGeom>
              <a:solidFill>
                <a:srgbClr val="FFFFFF"/>
              </a:solidFill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de-DE" sz="1800" b="0" i="0" u="none" strike="noStrike" kern="0" cap="none" spc="0" normalizeH="0" baseline="0" noProof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76" name="Crowdsourcing2">
                <a:extLst>
                  <a:ext uri="{FF2B5EF4-FFF2-40B4-BE49-F238E27FC236}">
                    <a16:creationId xmlns:a16="http://schemas.microsoft.com/office/drawing/2014/main" id="{76F6BB4C-524C-A6DE-DED1-F17C7017584D}"/>
                  </a:ext>
                </a:extLst>
              </p:cNvPr>
              <p:cNvSpPr>
                <a:spLocks/>
              </p:cNvSpPr>
              <p:nvPr>
                <p:custDataLst>
                  <p:tags r:id="rId14"/>
                </p:custDataLst>
              </p:nvPr>
            </p:nvSpPr>
            <p:spPr bwMode="auto">
              <a:xfrm>
                <a:off x="385763" y="3386137"/>
                <a:ext cx="105371" cy="33932"/>
              </a:xfrm>
              <a:custGeom>
                <a:avLst/>
                <a:gdLst>
                  <a:gd name="T0" fmla="*/ 131 w 157"/>
                  <a:gd name="T1" fmla="*/ 52 h 52"/>
                  <a:gd name="T2" fmla="*/ 26 w 157"/>
                  <a:gd name="T3" fmla="*/ 52 h 52"/>
                  <a:gd name="T4" fmla="*/ 0 w 157"/>
                  <a:gd name="T5" fmla="*/ 26 h 52"/>
                  <a:gd name="T6" fmla="*/ 26 w 157"/>
                  <a:gd name="T7" fmla="*/ 0 h 52"/>
                  <a:gd name="T8" fmla="*/ 131 w 157"/>
                  <a:gd name="T9" fmla="*/ 0 h 52"/>
                  <a:gd name="T10" fmla="*/ 157 w 157"/>
                  <a:gd name="T11" fmla="*/ 26 h 52"/>
                  <a:gd name="T12" fmla="*/ 131 w 157"/>
                  <a:gd name="T13" fmla="*/ 52 h 5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57" h="52">
                    <a:moveTo>
                      <a:pt x="131" y="52"/>
                    </a:moveTo>
                    <a:lnTo>
                      <a:pt x="26" y="52"/>
                    </a:lnTo>
                    <a:cubicBezTo>
                      <a:pt x="12" y="52"/>
                      <a:pt x="0" y="40"/>
                      <a:pt x="0" y="26"/>
                    </a:cubicBezTo>
                    <a:cubicBezTo>
                      <a:pt x="0" y="11"/>
                      <a:pt x="12" y="0"/>
                      <a:pt x="26" y="0"/>
                    </a:cubicBezTo>
                    <a:lnTo>
                      <a:pt x="131" y="0"/>
                    </a:lnTo>
                    <a:cubicBezTo>
                      <a:pt x="145" y="0"/>
                      <a:pt x="157" y="11"/>
                      <a:pt x="157" y="26"/>
                    </a:cubicBezTo>
                    <a:cubicBezTo>
                      <a:pt x="157" y="40"/>
                      <a:pt x="145" y="52"/>
                      <a:pt x="131" y="52"/>
                    </a:cubicBezTo>
                    <a:close/>
                  </a:path>
                </a:pathLst>
              </a:custGeom>
              <a:solidFill>
                <a:srgbClr val="FFFFFF"/>
              </a:solidFill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de-DE" sz="1800" b="0" i="0" u="none" strike="noStrike" kern="0" cap="none" spc="0" normalizeH="0" baseline="0" noProof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77" name="Crowdsourcing2">
                <a:extLst>
                  <a:ext uri="{FF2B5EF4-FFF2-40B4-BE49-F238E27FC236}">
                    <a16:creationId xmlns:a16="http://schemas.microsoft.com/office/drawing/2014/main" id="{828445C4-2E57-E232-FC77-2F432132FFA2}"/>
                  </a:ext>
                </a:extLst>
              </p:cNvPr>
              <p:cNvSpPr>
                <a:spLocks/>
              </p:cNvSpPr>
              <p:nvPr>
                <p:custDataLst>
                  <p:tags r:id="rId15"/>
                </p:custDataLst>
              </p:nvPr>
            </p:nvSpPr>
            <p:spPr bwMode="auto">
              <a:xfrm>
                <a:off x="192882" y="3646885"/>
                <a:ext cx="105371" cy="53578"/>
              </a:xfrm>
              <a:custGeom>
                <a:avLst/>
                <a:gdLst>
                  <a:gd name="T0" fmla="*/ 130 w 156"/>
                  <a:gd name="T1" fmla="*/ 0 h 78"/>
                  <a:gd name="T2" fmla="*/ 26 w 156"/>
                  <a:gd name="T3" fmla="*/ 0 h 78"/>
                  <a:gd name="T4" fmla="*/ 0 w 156"/>
                  <a:gd name="T5" fmla="*/ 26 h 78"/>
                  <a:gd name="T6" fmla="*/ 26 w 156"/>
                  <a:gd name="T7" fmla="*/ 52 h 78"/>
                  <a:gd name="T8" fmla="*/ 39 w 156"/>
                  <a:gd name="T9" fmla="*/ 52 h 78"/>
                  <a:gd name="T10" fmla="*/ 65 w 156"/>
                  <a:gd name="T11" fmla="*/ 78 h 78"/>
                  <a:gd name="T12" fmla="*/ 91 w 156"/>
                  <a:gd name="T13" fmla="*/ 78 h 78"/>
                  <a:gd name="T14" fmla="*/ 117 w 156"/>
                  <a:gd name="T15" fmla="*/ 52 h 78"/>
                  <a:gd name="T16" fmla="*/ 130 w 156"/>
                  <a:gd name="T17" fmla="*/ 52 h 78"/>
                  <a:gd name="T18" fmla="*/ 156 w 156"/>
                  <a:gd name="T19" fmla="*/ 26 h 78"/>
                  <a:gd name="T20" fmla="*/ 130 w 156"/>
                  <a:gd name="T21" fmla="*/ 0 h 7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156" h="78">
                    <a:moveTo>
                      <a:pt x="130" y="0"/>
                    </a:moveTo>
                    <a:lnTo>
                      <a:pt x="26" y="0"/>
                    </a:lnTo>
                    <a:cubicBezTo>
                      <a:pt x="11" y="0"/>
                      <a:pt x="0" y="12"/>
                      <a:pt x="0" y="26"/>
                    </a:cubicBezTo>
                    <a:cubicBezTo>
                      <a:pt x="0" y="41"/>
                      <a:pt x="11" y="52"/>
                      <a:pt x="26" y="52"/>
                    </a:cubicBezTo>
                    <a:lnTo>
                      <a:pt x="39" y="52"/>
                    </a:lnTo>
                    <a:cubicBezTo>
                      <a:pt x="39" y="67"/>
                      <a:pt x="51" y="78"/>
                      <a:pt x="65" y="78"/>
                    </a:cubicBezTo>
                    <a:lnTo>
                      <a:pt x="91" y="78"/>
                    </a:lnTo>
                    <a:cubicBezTo>
                      <a:pt x="105" y="78"/>
                      <a:pt x="117" y="67"/>
                      <a:pt x="117" y="52"/>
                    </a:cubicBezTo>
                    <a:lnTo>
                      <a:pt x="130" y="52"/>
                    </a:lnTo>
                    <a:cubicBezTo>
                      <a:pt x="144" y="52"/>
                      <a:pt x="156" y="41"/>
                      <a:pt x="156" y="26"/>
                    </a:cubicBezTo>
                    <a:cubicBezTo>
                      <a:pt x="156" y="12"/>
                      <a:pt x="144" y="0"/>
                      <a:pt x="13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de-DE" sz="1800" b="0" i="0" u="none" strike="noStrike" kern="0" cap="none" spc="0" normalizeH="0" baseline="0" noProof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78" name="Crowdsourcing2">
                <a:extLst>
                  <a:ext uri="{FF2B5EF4-FFF2-40B4-BE49-F238E27FC236}">
                    <a16:creationId xmlns:a16="http://schemas.microsoft.com/office/drawing/2014/main" id="{42C2CE05-FA1C-27A3-B326-A7D796E84B04}"/>
                  </a:ext>
                </a:extLst>
              </p:cNvPr>
              <p:cNvSpPr>
                <a:spLocks/>
              </p:cNvSpPr>
              <p:nvPr>
                <p:custDataLst>
                  <p:tags r:id="rId16"/>
                </p:custDataLst>
              </p:nvPr>
            </p:nvSpPr>
            <p:spPr bwMode="auto">
              <a:xfrm>
                <a:off x="123230" y="3280768"/>
                <a:ext cx="244674" cy="296465"/>
              </a:xfrm>
              <a:custGeom>
                <a:avLst/>
                <a:gdLst>
                  <a:gd name="T0" fmla="*/ 316 w 364"/>
                  <a:gd name="T1" fmla="*/ 306 h 443"/>
                  <a:gd name="T2" fmla="*/ 364 w 364"/>
                  <a:gd name="T3" fmla="*/ 183 h 443"/>
                  <a:gd name="T4" fmla="*/ 182 w 364"/>
                  <a:gd name="T5" fmla="*/ 0 h 443"/>
                  <a:gd name="T6" fmla="*/ 0 w 364"/>
                  <a:gd name="T7" fmla="*/ 183 h 443"/>
                  <a:gd name="T8" fmla="*/ 45 w 364"/>
                  <a:gd name="T9" fmla="*/ 302 h 443"/>
                  <a:gd name="T10" fmla="*/ 104 w 364"/>
                  <a:gd name="T11" fmla="*/ 417 h 443"/>
                  <a:gd name="T12" fmla="*/ 130 w 364"/>
                  <a:gd name="T13" fmla="*/ 443 h 443"/>
                  <a:gd name="T14" fmla="*/ 234 w 364"/>
                  <a:gd name="T15" fmla="*/ 443 h 443"/>
                  <a:gd name="T16" fmla="*/ 260 w 364"/>
                  <a:gd name="T17" fmla="*/ 417 h 443"/>
                  <a:gd name="T18" fmla="*/ 260 w 364"/>
                  <a:gd name="T19" fmla="*/ 416 h 443"/>
                  <a:gd name="T20" fmla="*/ 316 w 364"/>
                  <a:gd name="T21" fmla="*/ 306 h 44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364" h="443">
                    <a:moveTo>
                      <a:pt x="316" y="306"/>
                    </a:moveTo>
                    <a:cubicBezTo>
                      <a:pt x="346" y="273"/>
                      <a:pt x="364" y="230"/>
                      <a:pt x="364" y="183"/>
                    </a:cubicBezTo>
                    <a:cubicBezTo>
                      <a:pt x="364" y="82"/>
                      <a:pt x="283" y="0"/>
                      <a:pt x="182" y="0"/>
                    </a:cubicBezTo>
                    <a:cubicBezTo>
                      <a:pt x="81" y="0"/>
                      <a:pt x="0" y="82"/>
                      <a:pt x="0" y="183"/>
                    </a:cubicBezTo>
                    <a:cubicBezTo>
                      <a:pt x="0" y="229"/>
                      <a:pt x="17" y="270"/>
                      <a:pt x="45" y="302"/>
                    </a:cubicBezTo>
                    <a:cubicBezTo>
                      <a:pt x="57" y="316"/>
                      <a:pt x="104" y="372"/>
                      <a:pt x="104" y="417"/>
                    </a:cubicBezTo>
                    <a:cubicBezTo>
                      <a:pt x="104" y="431"/>
                      <a:pt x="115" y="443"/>
                      <a:pt x="130" y="443"/>
                    </a:cubicBezTo>
                    <a:lnTo>
                      <a:pt x="234" y="443"/>
                    </a:lnTo>
                    <a:cubicBezTo>
                      <a:pt x="248" y="443"/>
                      <a:pt x="260" y="431"/>
                      <a:pt x="260" y="417"/>
                    </a:cubicBezTo>
                    <a:lnTo>
                      <a:pt x="260" y="416"/>
                    </a:lnTo>
                    <a:cubicBezTo>
                      <a:pt x="261" y="373"/>
                      <a:pt x="301" y="323"/>
                      <a:pt x="316" y="306"/>
                    </a:cubicBezTo>
                    <a:close/>
                  </a:path>
                </a:pathLst>
              </a:custGeom>
              <a:solidFill>
                <a:srgbClr val="FFFFFF"/>
              </a:solidFill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de-DE" sz="1800" b="0" i="0" u="none" strike="noStrike" kern="0" cap="none" spc="0" normalizeH="0" baseline="0" noProof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179" name="Gruppieren 178">
            <a:extLst>
              <a:ext uri="{FF2B5EF4-FFF2-40B4-BE49-F238E27FC236}">
                <a16:creationId xmlns:a16="http://schemas.microsoft.com/office/drawing/2014/main" id="{16B11CE6-B105-C952-D588-19031C54D098}"/>
              </a:ext>
            </a:extLst>
          </p:cNvPr>
          <p:cNvGrpSpPr/>
          <p:nvPr/>
        </p:nvGrpSpPr>
        <p:grpSpPr>
          <a:xfrm>
            <a:off x="7428113" y="2767065"/>
            <a:ext cx="675967" cy="683454"/>
            <a:chOff x="1369937" y="4620185"/>
            <a:chExt cx="512470" cy="478658"/>
          </a:xfrm>
        </p:grpSpPr>
        <p:grpSp>
          <p:nvGrpSpPr>
            <p:cNvPr id="180" name="Gruppieren 179" descr="{&quot;Key&quot;:&quot;POWER_USER_SHAPE_ICON&quot;,&quot;Value&quot;:&quot;POWER_USER_SHAPE_ICON_STYLE_2&quot;}">
              <a:extLst>
                <a:ext uri="{FF2B5EF4-FFF2-40B4-BE49-F238E27FC236}">
                  <a16:creationId xmlns:a16="http://schemas.microsoft.com/office/drawing/2014/main" id="{D2F3BDE5-1853-EF8A-BB85-7322179E817B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1498726" y="4620185"/>
              <a:ext cx="286311" cy="286311"/>
              <a:chOff x="-147119" y="3030538"/>
              <a:chExt cx="762000" cy="762000"/>
            </a:xfrm>
            <a:solidFill>
              <a:srgbClr val="000066"/>
            </a:solidFill>
          </p:grpSpPr>
          <p:sp>
            <p:nvSpPr>
              <p:cNvPr id="190" name="POWER_USER_SHAPE_ICON_STYLE_2">
                <a:extLst>
                  <a:ext uri="{FF2B5EF4-FFF2-40B4-BE49-F238E27FC236}">
                    <a16:creationId xmlns:a16="http://schemas.microsoft.com/office/drawing/2014/main" id="{395AD91D-438E-1286-4CE3-074DAB8F0063}"/>
                  </a:ext>
                </a:extLst>
              </p:cNvPr>
              <p:cNvSpPr/>
              <p:nvPr/>
            </p:nvSpPr>
            <p:spPr>
              <a:xfrm>
                <a:off x="-147119" y="3030538"/>
                <a:ext cx="762000" cy="762000"/>
              </a:xfrm>
              <a:prstGeom prst="ellipse">
                <a:avLst/>
              </a:prstGeom>
              <a:grpFill/>
              <a:ln w="12700" cap="flat" cmpd="sng" algn="ctr">
                <a:noFill/>
                <a:prstDash val="solid"/>
                <a:miter lim="800000"/>
              </a:ln>
              <a:effectLst/>
              <a:extLst>
                <a:ext uri="{91240B29-F687-4F45-9708-019B960494DF}">
                  <a14:hiddenLine xmlns:a14="http://schemas.microsoft.com/office/drawing/2010/main" w="12700" cap="flat" cmpd="sng" algn="ctr">
                    <a:solidFill>
                      <a:schemeClr val="accent1">
                        <a:shade val="50000"/>
                      </a:schemeClr>
                    </a:solidFill>
                    <a:prstDash val="solid"/>
                    <a:miter lim="800000"/>
                  </a14:hiddenLine>
                </a:ext>
              </a:extLst>
            </p:spPr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de-DE" sz="1800" b="0" i="0" u="none" strike="noStrike" kern="0" cap="none" spc="0" normalizeH="0" baseline="0" noProof="1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91" name="Snowflake2" descr="{&quot;Key&quot;:&quot;POWER_USER_SHAPE_ICON&quot;,&quot;Value&quot;:&quot;POWER_USER_SHAPE_ICON_STYLE_1&quot;}">
                <a:extLst>
                  <a:ext uri="{FF2B5EF4-FFF2-40B4-BE49-F238E27FC236}">
                    <a16:creationId xmlns:a16="http://schemas.microsoft.com/office/drawing/2014/main" id="{E663B61C-8E83-E5E4-C666-B3B93EFC1102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0" y="3157538"/>
                <a:ext cx="467762" cy="508000"/>
              </a:xfrm>
              <a:custGeom>
                <a:avLst/>
                <a:gdLst>
                  <a:gd name="T0" fmla="*/ 1278 w 1378"/>
                  <a:gd name="T1" fmla="*/ 769 h 1496"/>
                  <a:gd name="T2" fmla="*/ 852 w 1378"/>
                  <a:gd name="T3" fmla="*/ 748 h 1496"/>
                  <a:gd name="T4" fmla="*/ 1279 w 1378"/>
                  <a:gd name="T5" fmla="*/ 727 h 1496"/>
                  <a:gd name="T6" fmla="*/ 1220 w 1378"/>
                  <a:gd name="T7" fmla="*/ 535 h 1496"/>
                  <a:gd name="T8" fmla="*/ 1297 w 1378"/>
                  <a:gd name="T9" fmla="*/ 303 h 1496"/>
                  <a:gd name="T10" fmla="*/ 1139 w 1378"/>
                  <a:gd name="T11" fmla="*/ 248 h 1496"/>
                  <a:gd name="T12" fmla="*/ 1002 w 1378"/>
                  <a:gd name="T13" fmla="*/ 474 h 1496"/>
                  <a:gd name="T14" fmla="*/ 770 w 1378"/>
                  <a:gd name="T15" fmla="*/ 340 h 1496"/>
                  <a:gd name="T16" fmla="*/ 897 w 1378"/>
                  <a:gd name="T17" fmla="*/ 108 h 1496"/>
                  <a:gd name="T18" fmla="*/ 770 w 1378"/>
                  <a:gd name="T19" fmla="*/ 0 h 1496"/>
                  <a:gd name="T20" fmla="*/ 608 w 1378"/>
                  <a:gd name="T21" fmla="*/ 181 h 1496"/>
                  <a:gd name="T22" fmla="*/ 412 w 1378"/>
                  <a:gd name="T23" fmla="*/ 227 h 1496"/>
                  <a:gd name="T24" fmla="*/ 608 w 1378"/>
                  <a:gd name="T25" fmla="*/ 607 h 1496"/>
                  <a:gd name="T26" fmla="*/ 376 w 1378"/>
                  <a:gd name="T27" fmla="*/ 248 h 1496"/>
                  <a:gd name="T28" fmla="*/ 239 w 1378"/>
                  <a:gd name="T29" fmla="*/ 394 h 1496"/>
                  <a:gd name="T30" fmla="*/ 0 w 1378"/>
                  <a:gd name="T31" fmla="*/ 444 h 1496"/>
                  <a:gd name="T32" fmla="*/ 31 w 1378"/>
                  <a:gd name="T33" fmla="*/ 608 h 1496"/>
                  <a:gd name="T34" fmla="*/ 295 w 1378"/>
                  <a:gd name="T35" fmla="*/ 614 h 1496"/>
                  <a:gd name="T36" fmla="*/ 295 w 1378"/>
                  <a:gd name="T37" fmla="*/ 882 h 1496"/>
                  <a:gd name="T38" fmla="*/ 31 w 1378"/>
                  <a:gd name="T39" fmla="*/ 888 h 1496"/>
                  <a:gd name="T40" fmla="*/ 0 w 1378"/>
                  <a:gd name="T41" fmla="*/ 1052 h 1496"/>
                  <a:gd name="T42" fmla="*/ 239 w 1378"/>
                  <a:gd name="T43" fmla="*/ 1102 h 1496"/>
                  <a:gd name="T44" fmla="*/ 376 w 1378"/>
                  <a:gd name="T45" fmla="*/ 1248 h 1496"/>
                  <a:gd name="T46" fmla="*/ 608 w 1378"/>
                  <a:gd name="T47" fmla="*/ 889 h 1496"/>
                  <a:gd name="T48" fmla="*/ 412 w 1378"/>
                  <a:gd name="T49" fmla="*/ 1269 h 1496"/>
                  <a:gd name="T50" fmla="*/ 608 w 1378"/>
                  <a:gd name="T51" fmla="*/ 1315 h 1496"/>
                  <a:gd name="T52" fmla="*/ 770 w 1378"/>
                  <a:gd name="T53" fmla="*/ 1496 h 1496"/>
                  <a:gd name="T54" fmla="*/ 897 w 1378"/>
                  <a:gd name="T55" fmla="*/ 1388 h 1496"/>
                  <a:gd name="T56" fmla="*/ 770 w 1378"/>
                  <a:gd name="T57" fmla="*/ 1156 h 1496"/>
                  <a:gd name="T58" fmla="*/ 1002 w 1378"/>
                  <a:gd name="T59" fmla="*/ 1022 h 1496"/>
                  <a:gd name="T60" fmla="*/ 1139 w 1378"/>
                  <a:gd name="T61" fmla="*/ 1248 h 1496"/>
                  <a:gd name="T62" fmla="*/ 1297 w 1378"/>
                  <a:gd name="T63" fmla="*/ 1193 h 1496"/>
                  <a:gd name="T64" fmla="*/ 1220 w 1378"/>
                  <a:gd name="T65" fmla="*/ 961 h 149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</a:cxnLst>
                <a:rect l="0" t="0" r="r" b="b"/>
                <a:pathLst>
                  <a:path w="1378" h="1496">
                    <a:moveTo>
                      <a:pt x="1347" y="888"/>
                    </a:moveTo>
                    <a:lnTo>
                      <a:pt x="1278" y="769"/>
                    </a:lnTo>
                    <a:lnTo>
                      <a:pt x="1083" y="882"/>
                    </a:lnTo>
                    <a:lnTo>
                      <a:pt x="852" y="748"/>
                    </a:lnTo>
                    <a:lnTo>
                      <a:pt x="1083" y="614"/>
                    </a:lnTo>
                    <a:lnTo>
                      <a:pt x="1279" y="727"/>
                    </a:lnTo>
                    <a:lnTo>
                      <a:pt x="1347" y="608"/>
                    </a:lnTo>
                    <a:lnTo>
                      <a:pt x="1220" y="535"/>
                    </a:lnTo>
                    <a:lnTo>
                      <a:pt x="1378" y="444"/>
                    </a:lnTo>
                    <a:lnTo>
                      <a:pt x="1297" y="303"/>
                    </a:lnTo>
                    <a:lnTo>
                      <a:pt x="1139" y="394"/>
                    </a:lnTo>
                    <a:lnTo>
                      <a:pt x="1139" y="248"/>
                    </a:lnTo>
                    <a:lnTo>
                      <a:pt x="1002" y="248"/>
                    </a:lnTo>
                    <a:lnTo>
                      <a:pt x="1002" y="474"/>
                    </a:lnTo>
                    <a:lnTo>
                      <a:pt x="770" y="607"/>
                    </a:lnTo>
                    <a:lnTo>
                      <a:pt x="770" y="340"/>
                    </a:lnTo>
                    <a:lnTo>
                      <a:pt x="966" y="227"/>
                    </a:lnTo>
                    <a:lnTo>
                      <a:pt x="897" y="108"/>
                    </a:lnTo>
                    <a:lnTo>
                      <a:pt x="770" y="181"/>
                    </a:lnTo>
                    <a:lnTo>
                      <a:pt x="770" y="0"/>
                    </a:lnTo>
                    <a:lnTo>
                      <a:pt x="608" y="0"/>
                    </a:lnTo>
                    <a:lnTo>
                      <a:pt x="608" y="181"/>
                    </a:lnTo>
                    <a:lnTo>
                      <a:pt x="481" y="108"/>
                    </a:lnTo>
                    <a:lnTo>
                      <a:pt x="412" y="227"/>
                    </a:lnTo>
                    <a:lnTo>
                      <a:pt x="608" y="340"/>
                    </a:lnTo>
                    <a:lnTo>
                      <a:pt x="608" y="607"/>
                    </a:lnTo>
                    <a:lnTo>
                      <a:pt x="376" y="474"/>
                    </a:lnTo>
                    <a:lnTo>
                      <a:pt x="376" y="248"/>
                    </a:lnTo>
                    <a:lnTo>
                      <a:pt x="239" y="248"/>
                    </a:lnTo>
                    <a:lnTo>
                      <a:pt x="239" y="394"/>
                    </a:lnTo>
                    <a:lnTo>
                      <a:pt x="82" y="303"/>
                    </a:lnTo>
                    <a:lnTo>
                      <a:pt x="0" y="444"/>
                    </a:lnTo>
                    <a:lnTo>
                      <a:pt x="158" y="535"/>
                    </a:lnTo>
                    <a:lnTo>
                      <a:pt x="31" y="608"/>
                    </a:lnTo>
                    <a:lnTo>
                      <a:pt x="100" y="727"/>
                    </a:lnTo>
                    <a:lnTo>
                      <a:pt x="295" y="614"/>
                    </a:lnTo>
                    <a:lnTo>
                      <a:pt x="527" y="748"/>
                    </a:lnTo>
                    <a:lnTo>
                      <a:pt x="295" y="882"/>
                    </a:lnTo>
                    <a:lnTo>
                      <a:pt x="100" y="769"/>
                    </a:lnTo>
                    <a:lnTo>
                      <a:pt x="31" y="888"/>
                    </a:lnTo>
                    <a:lnTo>
                      <a:pt x="158" y="961"/>
                    </a:lnTo>
                    <a:lnTo>
                      <a:pt x="0" y="1052"/>
                    </a:lnTo>
                    <a:lnTo>
                      <a:pt x="82" y="1193"/>
                    </a:lnTo>
                    <a:lnTo>
                      <a:pt x="239" y="1102"/>
                    </a:lnTo>
                    <a:lnTo>
                      <a:pt x="239" y="1248"/>
                    </a:lnTo>
                    <a:lnTo>
                      <a:pt x="376" y="1248"/>
                    </a:lnTo>
                    <a:lnTo>
                      <a:pt x="376" y="1022"/>
                    </a:lnTo>
                    <a:lnTo>
                      <a:pt x="608" y="889"/>
                    </a:lnTo>
                    <a:lnTo>
                      <a:pt x="608" y="1156"/>
                    </a:lnTo>
                    <a:lnTo>
                      <a:pt x="412" y="1269"/>
                    </a:lnTo>
                    <a:lnTo>
                      <a:pt x="481" y="1388"/>
                    </a:lnTo>
                    <a:lnTo>
                      <a:pt x="608" y="1315"/>
                    </a:lnTo>
                    <a:lnTo>
                      <a:pt x="608" y="1496"/>
                    </a:lnTo>
                    <a:lnTo>
                      <a:pt x="770" y="1496"/>
                    </a:lnTo>
                    <a:lnTo>
                      <a:pt x="770" y="1315"/>
                    </a:lnTo>
                    <a:lnTo>
                      <a:pt x="897" y="1388"/>
                    </a:lnTo>
                    <a:lnTo>
                      <a:pt x="966" y="1269"/>
                    </a:lnTo>
                    <a:lnTo>
                      <a:pt x="770" y="1156"/>
                    </a:lnTo>
                    <a:lnTo>
                      <a:pt x="770" y="889"/>
                    </a:lnTo>
                    <a:lnTo>
                      <a:pt x="1002" y="1022"/>
                    </a:lnTo>
                    <a:lnTo>
                      <a:pt x="1002" y="1248"/>
                    </a:lnTo>
                    <a:lnTo>
                      <a:pt x="1139" y="1248"/>
                    </a:lnTo>
                    <a:lnTo>
                      <a:pt x="1139" y="1102"/>
                    </a:lnTo>
                    <a:lnTo>
                      <a:pt x="1297" y="1193"/>
                    </a:lnTo>
                    <a:lnTo>
                      <a:pt x="1378" y="1052"/>
                    </a:lnTo>
                    <a:lnTo>
                      <a:pt x="1220" y="961"/>
                    </a:lnTo>
                    <a:lnTo>
                      <a:pt x="1347" y="888"/>
                    </a:lnTo>
                    <a:close/>
                  </a:path>
                </a:pathLst>
              </a:custGeom>
              <a:solidFill>
                <a:sysClr val="window" lastClr="FFFFFF"/>
              </a:solidFill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de-DE" sz="1800" b="0" i="0" u="none" strike="noStrike" kern="0" cap="none" spc="0" normalizeH="0" baseline="0" noProof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  <p:grpSp>
          <p:nvGrpSpPr>
            <p:cNvPr id="181" name="Gruppieren 180" descr="{&quot;Key&quot;:&quot;POWER_USER_SHAPE_ICON&quot;,&quot;Value&quot;:&quot;POWER_USER_SHAPE_ICON_STYLE_2&quot;}">
              <a:extLst>
                <a:ext uri="{FF2B5EF4-FFF2-40B4-BE49-F238E27FC236}">
                  <a16:creationId xmlns:a16="http://schemas.microsoft.com/office/drawing/2014/main" id="{243F3A63-EEB1-402D-FBC9-567B716F2539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1369937" y="4810589"/>
              <a:ext cx="288254" cy="288254"/>
              <a:chOff x="-158376" y="3030538"/>
              <a:chExt cx="762000" cy="762000"/>
            </a:xfrm>
          </p:grpSpPr>
          <p:sp>
            <p:nvSpPr>
              <p:cNvPr id="188" name="POWER_USER_SHAPE_ICON_STYLE_2">
                <a:extLst>
                  <a:ext uri="{FF2B5EF4-FFF2-40B4-BE49-F238E27FC236}">
                    <a16:creationId xmlns:a16="http://schemas.microsoft.com/office/drawing/2014/main" id="{F5650150-5E43-F2F7-8725-38BAC7C2FFDF}"/>
                  </a:ext>
                </a:extLst>
              </p:cNvPr>
              <p:cNvSpPr/>
              <p:nvPr/>
            </p:nvSpPr>
            <p:spPr>
              <a:xfrm>
                <a:off x="-158376" y="3030538"/>
                <a:ext cx="762000" cy="762000"/>
              </a:xfrm>
              <a:prstGeom prst="ellipse">
                <a:avLst/>
              </a:prstGeom>
              <a:solidFill>
                <a:srgbClr val="FF0000"/>
              </a:solidFill>
              <a:ln w="12700" cap="flat" cmpd="sng" algn="ctr">
                <a:noFill/>
                <a:prstDash val="solid"/>
                <a:miter lim="800000"/>
              </a:ln>
              <a:effectLst/>
              <a:extLst>
                <a:ext uri="{91240B29-F687-4F45-9708-019B960494DF}">
                  <a14:hiddenLine xmlns:a14="http://schemas.microsoft.com/office/drawing/2010/main" w="12700" cap="flat" cmpd="sng" algn="ctr">
                    <a:solidFill>
                      <a:schemeClr val="accent1">
                        <a:shade val="50000"/>
                      </a:schemeClr>
                    </a:solidFill>
                    <a:prstDash val="solid"/>
                    <a:miter lim="800000"/>
                  </a14:hiddenLine>
                </a:ext>
              </a:extLst>
            </p:spPr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de-DE" sz="1800" b="0" i="0" u="none" strike="noStrike" kern="0" cap="none" spc="0" normalizeH="0" baseline="0" noProof="1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89" name="Flame3" descr="{&quot;Key&quot;:&quot;POWER_USER_SHAPE_ICON&quot;,&quot;Value&quot;:&quot;POWER_USER_SHAPE_ICON_STYLE_1&quot;}">
                <a:extLst>
                  <a:ext uri="{FF2B5EF4-FFF2-40B4-BE49-F238E27FC236}">
                    <a16:creationId xmlns:a16="http://schemas.microsoft.com/office/drawing/2014/main" id="{C8C0355E-D694-EC28-853B-E41E0C81B917}"/>
                  </a:ext>
                </a:extLst>
              </p:cNvPr>
              <p:cNvSpPr>
                <a:spLocks noChangeAspect="1"/>
              </p:cNvSpPr>
              <p:nvPr>
                <p:custDataLst>
                  <p:tags r:id="rId8"/>
                </p:custDataLst>
              </p:nvPr>
            </p:nvSpPr>
            <p:spPr bwMode="auto">
              <a:xfrm>
                <a:off x="1" y="3157538"/>
                <a:ext cx="445247" cy="508000"/>
              </a:xfrm>
              <a:custGeom>
                <a:avLst/>
                <a:gdLst>
                  <a:gd name="T0" fmla="*/ 177 w 620"/>
                  <a:gd name="T1" fmla="*/ 708 h 708"/>
                  <a:gd name="T2" fmla="*/ 133 w 620"/>
                  <a:gd name="T3" fmla="*/ 708 h 708"/>
                  <a:gd name="T4" fmla="*/ 0 w 620"/>
                  <a:gd name="T5" fmla="*/ 487 h 708"/>
                  <a:gd name="T6" fmla="*/ 89 w 620"/>
                  <a:gd name="T7" fmla="*/ 88 h 708"/>
                  <a:gd name="T8" fmla="*/ 178 w 620"/>
                  <a:gd name="T9" fmla="*/ 265 h 708"/>
                  <a:gd name="T10" fmla="*/ 310 w 620"/>
                  <a:gd name="T11" fmla="*/ 0 h 708"/>
                  <a:gd name="T12" fmla="*/ 443 w 620"/>
                  <a:gd name="T13" fmla="*/ 354 h 708"/>
                  <a:gd name="T14" fmla="*/ 532 w 620"/>
                  <a:gd name="T15" fmla="*/ 221 h 708"/>
                  <a:gd name="T16" fmla="*/ 620 w 620"/>
                  <a:gd name="T17" fmla="*/ 443 h 708"/>
                  <a:gd name="T18" fmla="*/ 487 w 620"/>
                  <a:gd name="T19" fmla="*/ 708 h 708"/>
                  <a:gd name="T20" fmla="*/ 399 w 620"/>
                  <a:gd name="T21" fmla="*/ 708 h 708"/>
                  <a:gd name="T22" fmla="*/ 443 w 620"/>
                  <a:gd name="T23" fmla="*/ 576 h 708"/>
                  <a:gd name="T24" fmla="*/ 354 w 620"/>
                  <a:gd name="T25" fmla="*/ 310 h 708"/>
                  <a:gd name="T26" fmla="*/ 266 w 620"/>
                  <a:gd name="T27" fmla="*/ 576 h 708"/>
                  <a:gd name="T28" fmla="*/ 177 w 620"/>
                  <a:gd name="T29" fmla="*/ 398 h 708"/>
                  <a:gd name="T30" fmla="*/ 133 w 620"/>
                  <a:gd name="T31" fmla="*/ 562 h 708"/>
                  <a:gd name="T32" fmla="*/ 177 w 620"/>
                  <a:gd name="T33" fmla="*/ 708 h 70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</a:cxnLst>
                <a:rect l="0" t="0" r="r" b="b"/>
                <a:pathLst>
                  <a:path w="620" h="708">
                    <a:moveTo>
                      <a:pt x="177" y="708"/>
                    </a:moveTo>
                    <a:lnTo>
                      <a:pt x="133" y="708"/>
                    </a:lnTo>
                    <a:cubicBezTo>
                      <a:pt x="44" y="664"/>
                      <a:pt x="0" y="572"/>
                      <a:pt x="0" y="487"/>
                    </a:cubicBezTo>
                    <a:cubicBezTo>
                      <a:pt x="0" y="338"/>
                      <a:pt x="89" y="221"/>
                      <a:pt x="89" y="88"/>
                    </a:cubicBezTo>
                    <a:cubicBezTo>
                      <a:pt x="155" y="110"/>
                      <a:pt x="177" y="177"/>
                      <a:pt x="178" y="265"/>
                    </a:cubicBezTo>
                    <a:cubicBezTo>
                      <a:pt x="225" y="196"/>
                      <a:pt x="310" y="114"/>
                      <a:pt x="310" y="0"/>
                    </a:cubicBezTo>
                    <a:cubicBezTo>
                      <a:pt x="384" y="55"/>
                      <a:pt x="443" y="177"/>
                      <a:pt x="443" y="354"/>
                    </a:cubicBezTo>
                    <a:cubicBezTo>
                      <a:pt x="487" y="354"/>
                      <a:pt x="532" y="310"/>
                      <a:pt x="532" y="221"/>
                    </a:cubicBezTo>
                    <a:cubicBezTo>
                      <a:pt x="576" y="265"/>
                      <a:pt x="620" y="354"/>
                      <a:pt x="620" y="443"/>
                    </a:cubicBezTo>
                    <a:cubicBezTo>
                      <a:pt x="620" y="553"/>
                      <a:pt x="576" y="642"/>
                      <a:pt x="487" y="708"/>
                    </a:cubicBezTo>
                    <a:lnTo>
                      <a:pt x="399" y="708"/>
                    </a:lnTo>
                    <a:cubicBezTo>
                      <a:pt x="426" y="669"/>
                      <a:pt x="446" y="623"/>
                      <a:pt x="443" y="576"/>
                    </a:cubicBezTo>
                    <a:cubicBezTo>
                      <a:pt x="437" y="455"/>
                      <a:pt x="354" y="443"/>
                      <a:pt x="354" y="310"/>
                    </a:cubicBezTo>
                    <a:cubicBezTo>
                      <a:pt x="309" y="354"/>
                      <a:pt x="266" y="473"/>
                      <a:pt x="266" y="576"/>
                    </a:cubicBezTo>
                    <a:cubicBezTo>
                      <a:pt x="199" y="531"/>
                      <a:pt x="177" y="443"/>
                      <a:pt x="177" y="398"/>
                    </a:cubicBezTo>
                    <a:cubicBezTo>
                      <a:pt x="142" y="460"/>
                      <a:pt x="133" y="520"/>
                      <a:pt x="133" y="562"/>
                    </a:cubicBezTo>
                    <a:cubicBezTo>
                      <a:pt x="133" y="629"/>
                      <a:pt x="161" y="684"/>
                      <a:pt x="177" y="708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de-DE" sz="1800" b="0" i="0" u="none" strike="noStrike" kern="0" cap="none" spc="0" normalizeH="0" baseline="0" noProof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  <p:grpSp>
          <p:nvGrpSpPr>
            <p:cNvPr id="182" name="Gruppieren 181" descr="{&quot;Key&quot;:&quot;POWER_USER_SHAPE_ICON&quot;,&quot;Value&quot;:&quot;POWER_USER_SHAPE_ICON_STYLE_2&quot;}">
              <a:extLst>
                <a:ext uri="{FF2B5EF4-FFF2-40B4-BE49-F238E27FC236}">
                  <a16:creationId xmlns:a16="http://schemas.microsoft.com/office/drawing/2014/main" id="{638E9638-CB8A-959F-5CDC-E25A16F9C759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1612540" y="4824795"/>
              <a:ext cx="269867" cy="269867"/>
              <a:chOff x="-127000" y="2980451"/>
              <a:chExt cx="762000" cy="762000"/>
            </a:xfrm>
          </p:grpSpPr>
          <p:sp>
            <p:nvSpPr>
              <p:cNvPr id="183" name="POWER_USER_SHAPE_ICON_STYLE_2">
                <a:extLst>
                  <a:ext uri="{FF2B5EF4-FFF2-40B4-BE49-F238E27FC236}">
                    <a16:creationId xmlns:a16="http://schemas.microsoft.com/office/drawing/2014/main" id="{225A17EC-DB4E-382C-0F7B-3514288489C7}"/>
                  </a:ext>
                </a:extLst>
              </p:cNvPr>
              <p:cNvSpPr/>
              <p:nvPr/>
            </p:nvSpPr>
            <p:spPr>
              <a:xfrm>
                <a:off x="-127000" y="2980451"/>
                <a:ext cx="762000" cy="762000"/>
              </a:xfrm>
              <a:prstGeom prst="ellipse">
                <a:avLst/>
              </a:prstGeom>
              <a:solidFill>
                <a:srgbClr val="FF9966"/>
              </a:solidFill>
              <a:ln w="12700" cap="flat" cmpd="sng" algn="ctr">
                <a:noFill/>
                <a:prstDash val="solid"/>
                <a:miter lim="800000"/>
              </a:ln>
              <a:effectLst/>
              <a:extLst>
                <a:ext uri="{91240B29-F687-4F45-9708-019B960494DF}">
                  <a14:hiddenLine xmlns:a14="http://schemas.microsoft.com/office/drawing/2010/main" w="12700" cap="flat" cmpd="sng" algn="ctr">
                    <a:solidFill>
                      <a:schemeClr val="accent1">
                        <a:shade val="50000"/>
                      </a:schemeClr>
                    </a:solidFill>
                    <a:prstDash val="solid"/>
                  </a14:hiddenLine>
                </a:ext>
              </a:extLst>
            </p:spPr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de-DE" sz="1800" b="0" i="0" u="none" strike="noStrike" kern="0" cap="none" spc="0" normalizeH="0" baseline="0" noProof="1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grpSp>
            <p:nvGrpSpPr>
              <p:cNvPr id="184" name="Gruppieren 183">
                <a:extLst>
                  <a:ext uri="{FF2B5EF4-FFF2-40B4-BE49-F238E27FC236}">
                    <a16:creationId xmlns:a16="http://schemas.microsoft.com/office/drawing/2014/main" id="{AC88DE48-56CE-2911-452B-46FBE29648F3}"/>
                  </a:ext>
                </a:extLst>
              </p:cNvPr>
              <p:cNvGrpSpPr>
                <a:grpSpLocks noChangeAspect="1"/>
              </p:cNvGrpSpPr>
              <p:nvPr/>
            </p:nvGrpSpPr>
            <p:grpSpPr>
              <a:xfrm>
                <a:off x="0" y="3157538"/>
                <a:ext cx="508000" cy="407826"/>
                <a:chOff x="0" y="3157538"/>
                <a:chExt cx="676283" cy="542925"/>
              </a:xfrm>
            </p:grpSpPr>
            <p:sp>
              <p:nvSpPr>
                <p:cNvPr id="185" name="Freeform 284">
                  <a:extLst>
                    <a:ext uri="{FF2B5EF4-FFF2-40B4-BE49-F238E27FC236}">
                      <a16:creationId xmlns:a16="http://schemas.microsoft.com/office/drawing/2014/main" id="{DA4A2BB1-6097-53AB-F05F-8A613944BC0F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92288" y="3286273"/>
                  <a:ext cx="283995" cy="414190"/>
                </a:xfrm>
                <a:custGeom>
                  <a:avLst/>
                  <a:gdLst>
                    <a:gd name="T0" fmla="*/ 128 w 294"/>
                    <a:gd name="T1" fmla="*/ 145 h 428"/>
                    <a:gd name="T2" fmla="*/ 0 w 294"/>
                    <a:gd name="T3" fmla="*/ 320 h 428"/>
                    <a:gd name="T4" fmla="*/ 144 w 294"/>
                    <a:gd name="T5" fmla="*/ 428 h 428"/>
                    <a:gd name="T6" fmla="*/ 294 w 294"/>
                    <a:gd name="T7" fmla="*/ 278 h 428"/>
                    <a:gd name="T8" fmla="*/ 144 w 294"/>
                    <a:gd name="T9" fmla="*/ 0 h 428"/>
                    <a:gd name="T10" fmla="*/ 107 w 294"/>
                    <a:gd name="T11" fmla="*/ 37 h 428"/>
                    <a:gd name="T12" fmla="*/ 128 w 294"/>
                    <a:gd name="T13" fmla="*/ 145 h 42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294" h="428">
                      <a:moveTo>
                        <a:pt x="128" y="145"/>
                      </a:moveTo>
                      <a:cubicBezTo>
                        <a:pt x="128" y="227"/>
                        <a:pt x="74" y="296"/>
                        <a:pt x="0" y="320"/>
                      </a:cubicBezTo>
                      <a:cubicBezTo>
                        <a:pt x="18" y="382"/>
                        <a:pt x="76" y="428"/>
                        <a:pt x="144" y="428"/>
                      </a:cubicBezTo>
                      <a:cubicBezTo>
                        <a:pt x="227" y="428"/>
                        <a:pt x="294" y="361"/>
                        <a:pt x="294" y="278"/>
                      </a:cubicBezTo>
                      <a:cubicBezTo>
                        <a:pt x="294" y="145"/>
                        <a:pt x="180" y="32"/>
                        <a:pt x="144" y="0"/>
                      </a:cubicBezTo>
                      <a:cubicBezTo>
                        <a:pt x="136" y="8"/>
                        <a:pt x="122" y="21"/>
                        <a:pt x="107" y="37"/>
                      </a:cubicBezTo>
                      <a:cubicBezTo>
                        <a:pt x="120" y="71"/>
                        <a:pt x="128" y="107"/>
                        <a:pt x="128" y="145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de-DE" sz="1800" b="0" i="0" u="none" strike="noStrike" kern="0" cap="none" spc="0" normalizeH="0" baseline="0" noProof="1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86" name="Freeform 285">
                  <a:extLst>
                    <a:ext uri="{FF2B5EF4-FFF2-40B4-BE49-F238E27FC236}">
                      <a16:creationId xmlns:a16="http://schemas.microsoft.com/office/drawing/2014/main" id="{B4C1C069-246C-330B-604E-0EE9D054F58B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19506" y="3157538"/>
                  <a:ext cx="263553" cy="414190"/>
                </a:xfrm>
                <a:custGeom>
                  <a:avLst/>
                  <a:gdLst>
                    <a:gd name="T0" fmla="*/ 107 w 273"/>
                    <a:gd name="T1" fmla="*/ 411 h 428"/>
                    <a:gd name="T2" fmla="*/ 106 w 273"/>
                    <a:gd name="T3" fmla="*/ 427 h 428"/>
                    <a:gd name="T4" fmla="*/ 123 w 273"/>
                    <a:gd name="T5" fmla="*/ 428 h 428"/>
                    <a:gd name="T6" fmla="*/ 273 w 273"/>
                    <a:gd name="T7" fmla="*/ 278 h 428"/>
                    <a:gd name="T8" fmla="*/ 123 w 273"/>
                    <a:gd name="T9" fmla="*/ 0 h 428"/>
                    <a:gd name="T10" fmla="*/ 0 w 273"/>
                    <a:gd name="T11" fmla="*/ 164 h 428"/>
                    <a:gd name="T12" fmla="*/ 107 w 273"/>
                    <a:gd name="T13" fmla="*/ 411 h 42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273" h="428">
                      <a:moveTo>
                        <a:pt x="107" y="411"/>
                      </a:moveTo>
                      <a:cubicBezTo>
                        <a:pt x="107" y="417"/>
                        <a:pt x="106" y="422"/>
                        <a:pt x="106" y="427"/>
                      </a:cubicBezTo>
                      <a:cubicBezTo>
                        <a:pt x="112" y="428"/>
                        <a:pt x="117" y="428"/>
                        <a:pt x="123" y="428"/>
                      </a:cubicBezTo>
                      <a:cubicBezTo>
                        <a:pt x="206" y="428"/>
                        <a:pt x="273" y="361"/>
                        <a:pt x="273" y="278"/>
                      </a:cubicBezTo>
                      <a:cubicBezTo>
                        <a:pt x="273" y="145"/>
                        <a:pt x="159" y="32"/>
                        <a:pt x="123" y="0"/>
                      </a:cubicBezTo>
                      <a:cubicBezTo>
                        <a:pt x="99" y="22"/>
                        <a:pt x="36" y="84"/>
                        <a:pt x="0" y="164"/>
                      </a:cubicBezTo>
                      <a:cubicBezTo>
                        <a:pt x="49" y="220"/>
                        <a:pt x="107" y="309"/>
                        <a:pt x="107" y="411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de-DE" sz="1800" b="0" i="0" u="none" strike="noStrike" kern="0" cap="none" spc="0" normalizeH="0" baseline="0" noProof="1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87" name="Freeform 286">
                  <a:extLst>
                    <a:ext uri="{FF2B5EF4-FFF2-40B4-BE49-F238E27FC236}">
                      <a16:creationId xmlns:a16="http://schemas.microsoft.com/office/drawing/2014/main" id="{68E3C6BB-3692-7657-C98C-E68C5D02D92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0" y="3286273"/>
                  <a:ext cx="289836" cy="414190"/>
                </a:xfrm>
                <a:custGeom>
                  <a:avLst/>
                  <a:gdLst>
                    <a:gd name="T0" fmla="*/ 150 w 300"/>
                    <a:gd name="T1" fmla="*/ 428 h 428"/>
                    <a:gd name="T2" fmla="*/ 300 w 300"/>
                    <a:gd name="T3" fmla="*/ 278 h 428"/>
                    <a:gd name="T4" fmla="*/ 150 w 300"/>
                    <a:gd name="T5" fmla="*/ 0 h 428"/>
                    <a:gd name="T6" fmla="*/ 0 w 300"/>
                    <a:gd name="T7" fmla="*/ 278 h 428"/>
                    <a:gd name="T8" fmla="*/ 150 w 300"/>
                    <a:gd name="T9" fmla="*/ 428 h 42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00" h="428">
                      <a:moveTo>
                        <a:pt x="150" y="428"/>
                      </a:moveTo>
                      <a:cubicBezTo>
                        <a:pt x="233" y="428"/>
                        <a:pt x="300" y="361"/>
                        <a:pt x="300" y="278"/>
                      </a:cubicBezTo>
                      <a:cubicBezTo>
                        <a:pt x="300" y="145"/>
                        <a:pt x="186" y="32"/>
                        <a:pt x="150" y="0"/>
                      </a:cubicBezTo>
                      <a:cubicBezTo>
                        <a:pt x="115" y="32"/>
                        <a:pt x="0" y="145"/>
                        <a:pt x="0" y="278"/>
                      </a:cubicBezTo>
                      <a:cubicBezTo>
                        <a:pt x="0" y="361"/>
                        <a:pt x="68" y="428"/>
                        <a:pt x="150" y="428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de-DE" sz="1800" b="0" i="0" u="none" strike="noStrike" kern="0" cap="none" spc="0" normalizeH="0" baseline="0" noProof="1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</p:grpSp>
      </p:grpSp>
      <p:grpSp>
        <p:nvGrpSpPr>
          <p:cNvPr id="192" name="Gruppieren 191" descr="{&quot;Key&quot;:&quot;POWER_USER_SHAPE_ICON&quot;,&quot;Value&quot;:&quot;POWER_USER_SHAPE_ICON_STYLE_2&quot;}">
            <a:extLst>
              <a:ext uri="{FF2B5EF4-FFF2-40B4-BE49-F238E27FC236}">
                <a16:creationId xmlns:a16="http://schemas.microsoft.com/office/drawing/2014/main" id="{FB22C008-B40D-5F58-D22A-83BEC9DC2FDD}"/>
              </a:ext>
            </a:extLst>
          </p:cNvPr>
          <p:cNvGrpSpPr>
            <a:grpSpLocks noChangeAspect="1"/>
          </p:cNvGrpSpPr>
          <p:nvPr/>
        </p:nvGrpSpPr>
        <p:grpSpPr>
          <a:xfrm>
            <a:off x="8812437" y="2158866"/>
            <a:ext cx="468083" cy="506698"/>
            <a:chOff x="6103281" y="1370067"/>
            <a:chExt cx="762000" cy="762000"/>
          </a:xfrm>
        </p:grpSpPr>
        <p:sp>
          <p:nvSpPr>
            <p:cNvPr id="193" name="POWER_USER_SHAPE_ICON_STYLE_2">
              <a:extLst>
                <a:ext uri="{FF2B5EF4-FFF2-40B4-BE49-F238E27FC236}">
                  <a16:creationId xmlns:a16="http://schemas.microsoft.com/office/drawing/2014/main" id="{E6A9D11E-27A7-C8F8-BE30-67CDC7B57FCC}"/>
                </a:ext>
              </a:extLst>
            </p:cNvPr>
            <p:cNvSpPr/>
            <p:nvPr/>
          </p:nvSpPr>
          <p:spPr>
            <a:xfrm>
              <a:off x="6103281" y="1370067"/>
              <a:ext cx="762000" cy="762000"/>
            </a:xfrm>
            <a:prstGeom prst="ellipse">
              <a:avLst/>
            </a:prstGeom>
            <a:solidFill>
              <a:srgbClr val="00B050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de-DE" sz="1800" b="0" i="0" u="none" strike="noStrike" kern="0" cap="none" spc="0" normalizeH="0" baseline="0" noProof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94" name="Solar_panel2" descr="{&quot;Key&quot;:&quot;POWER_USER_SHAPE_ICON&quot;,&quot;Value&quot;:&quot;POWER_USER_SHAPE_ICON_STYLE_1&quot;}">
              <a:extLst>
                <a:ext uri="{FF2B5EF4-FFF2-40B4-BE49-F238E27FC236}">
                  <a16:creationId xmlns:a16="http://schemas.microsoft.com/office/drawing/2014/main" id="{AE2AF419-D1F8-585A-7700-F3AEF40CB698}"/>
                </a:ext>
              </a:extLst>
            </p:cNvPr>
            <p:cNvSpPr>
              <a:spLocks noChangeAspect="1" noEditPoints="1"/>
            </p:cNvSpPr>
            <p:nvPr>
              <p:custDataLst>
                <p:tags r:id="rId7"/>
              </p:custDataLst>
            </p:nvPr>
          </p:nvSpPr>
          <p:spPr bwMode="auto">
            <a:xfrm>
              <a:off x="6230281" y="1509627"/>
              <a:ext cx="508000" cy="482879"/>
            </a:xfrm>
            <a:custGeom>
              <a:avLst/>
              <a:gdLst>
                <a:gd name="T0" fmla="*/ 399 w 759"/>
                <a:gd name="T1" fmla="*/ 481 h 721"/>
                <a:gd name="T2" fmla="*/ 367 w 759"/>
                <a:gd name="T3" fmla="*/ 433 h 721"/>
                <a:gd name="T4" fmla="*/ 447 w 759"/>
                <a:gd name="T5" fmla="*/ 397 h 721"/>
                <a:gd name="T6" fmla="*/ 415 w 759"/>
                <a:gd name="T7" fmla="*/ 349 h 721"/>
                <a:gd name="T8" fmla="*/ 447 w 759"/>
                <a:gd name="T9" fmla="*/ 397 h 721"/>
                <a:gd name="T10" fmla="*/ 287 w 759"/>
                <a:gd name="T11" fmla="*/ 397 h 721"/>
                <a:gd name="T12" fmla="*/ 375 w 759"/>
                <a:gd name="T13" fmla="*/ 349 h 721"/>
                <a:gd name="T14" fmla="*/ 267 w 759"/>
                <a:gd name="T15" fmla="*/ 433 h 721"/>
                <a:gd name="T16" fmla="*/ 298 w 759"/>
                <a:gd name="T17" fmla="*/ 481 h 721"/>
                <a:gd name="T18" fmla="*/ 267 w 759"/>
                <a:gd name="T19" fmla="*/ 433 h 721"/>
                <a:gd name="T20" fmla="*/ 499 w 759"/>
                <a:gd name="T21" fmla="*/ 481 h 721"/>
                <a:gd name="T22" fmla="*/ 467 w 759"/>
                <a:gd name="T23" fmla="*/ 433 h 721"/>
                <a:gd name="T24" fmla="*/ 547 w 759"/>
                <a:gd name="T25" fmla="*/ 397 h 721"/>
                <a:gd name="T26" fmla="*/ 516 w 759"/>
                <a:gd name="T27" fmla="*/ 349 h 721"/>
                <a:gd name="T28" fmla="*/ 547 w 759"/>
                <a:gd name="T29" fmla="*/ 397 h 721"/>
                <a:gd name="T30" fmla="*/ 624 w 759"/>
                <a:gd name="T31" fmla="*/ 265 h 721"/>
                <a:gd name="T32" fmla="*/ 536 w 759"/>
                <a:gd name="T33" fmla="*/ 314 h 721"/>
                <a:gd name="T34" fmla="*/ 495 w 759"/>
                <a:gd name="T35" fmla="*/ 314 h 721"/>
                <a:gd name="T36" fmla="*/ 464 w 759"/>
                <a:gd name="T37" fmla="*/ 265 h 721"/>
                <a:gd name="T38" fmla="*/ 495 w 759"/>
                <a:gd name="T39" fmla="*/ 314 h 721"/>
                <a:gd name="T40" fmla="*/ 336 w 759"/>
                <a:gd name="T41" fmla="*/ 314 h 721"/>
                <a:gd name="T42" fmla="*/ 423 w 759"/>
                <a:gd name="T43" fmla="*/ 265 h 721"/>
                <a:gd name="T44" fmla="*/ 246 w 759"/>
                <a:gd name="T45" fmla="*/ 397 h 721"/>
                <a:gd name="T46" fmla="*/ 215 w 759"/>
                <a:gd name="T47" fmla="*/ 349 h 721"/>
                <a:gd name="T48" fmla="*/ 246 w 759"/>
                <a:gd name="T49" fmla="*/ 397 h 721"/>
                <a:gd name="T50" fmla="*/ 198 w 759"/>
                <a:gd name="T51" fmla="*/ 481 h 721"/>
                <a:gd name="T52" fmla="*/ 166 w 759"/>
                <a:gd name="T53" fmla="*/ 433 h 721"/>
                <a:gd name="T54" fmla="*/ 295 w 759"/>
                <a:gd name="T55" fmla="*/ 314 h 721"/>
                <a:gd name="T56" fmla="*/ 263 w 759"/>
                <a:gd name="T57" fmla="*/ 265 h 721"/>
                <a:gd name="T58" fmla="*/ 295 w 759"/>
                <a:gd name="T59" fmla="*/ 314 h 721"/>
                <a:gd name="T60" fmla="*/ 241 w 759"/>
                <a:gd name="T61" fmla="*/ 227 h 721"/>
                <a:gd name="T62" fmla="*/ 521 w 759"/>
                <a:gd name="T63" fmla="*/ 519 h 721"/>
                <a:gd name="T64" fmla="*/ 228 w 759"/>
                <a:gd name="T65" fmla="*/ 180 h 721"/>
                <a:gd name="T66" fmla="*/ 228 w 759"/>
                <a:gd name="T67" fmla="*/ 104 h 721"/>
                <a:gd name="T68" fmla="*/ 159 w 759"/>
                <a:gd name="T69" fmla="*/ 276 h 721"/>
                <a:gd name="T70" fmla="*/ 228 w 759"/>
                <a:gd name="T71" fmla="*/ 180 h 721"/>
                <a:gd name="T72" fmla="*/ 114 w 759"/>
                <a:gd name="T73" fmla="*/ 296 h 721"/>
                <a:gd name="T74" fmla="*/ 52 w 759"/>
                <a:gd name="T75" fmla="*/ 305 h 721"/>
                <a:gd name="T76" fmla="*/ 91 w 759"/>
                <a:gd name="T77" fmla="*/ 256 h 721"/>
                <a:gd name="T78" fmla="*/ 24 w 759"/>
                <a:gd name="T79" fmla="*/ 227 h 721"/>
                <a:gd name="T80" fmla="*/ 24 w 759"/>
                <a:gd name="T81" fmla="*/ 180 h 721"/>
                <a:gd name="T82" fmla="*/ 90 w 759"/>
                <a:gd name="T83" fmla="*/ 152 h 721"/>
                <a:gd name="T84" fmla="*/ 52 w 759"/>
                <a:gd name="T85" fmla="*/ 102 h 721"/>
                <a:gd name="T86" fmla="*/ 114 w 759"/>
                <a:gd name="T87" fmla="*/ 111 h 721"/>
                <a:gd name="T88" fmla="*/ 105 w 759"/>
                <a:gd name="T89" fmla="*/ 39 h 721"/>
                <a:gd name="T90" fmla="*/ 146 w 759"/>
                <a:gd name="T91" fmla="*/ 16 h 721"/>
                <a:gd name="T92" fmla="*/ 204 w 759"/>
                <a:gd name="T93" fmla="*/ 59 h 721"/>
                <a:gd name="T94" fmla="*/ 228 w 759"/>
                <a:gd name="T95" fmla="*/ 1 h 721"/>
                <a:gd name="T96" fmla="*/ 251 w 759"/>
                <a:gd name="T97" fmla="*/ 59 h 721"/>
                <a:gd name="T98" fmla="*/ 309 w 759"/>
                <a:gd name="T99" fmla="*/ 16 h 721"/>
                <a:gd name="T100" fmla="*/ 350 w 759"/>
                <a:gd name="T101" fmla="*/ 39 h 721"/>
                <a:gd name="T102" fmla="*/ 341 w 759"/>
                <a:gd name="T103" fmla="*/ 111 h 721"/>
                <a:gd name="T104" fmla="*/ 403 w 759"/>
                <a:gd name="T105" fmla="*/ 102 h 721"/>
                <a:gd name="T106" fmla="*/ 365 w 759"/>
                <a:gd name="T107" fmla="*/ 152 h 721"/>
                <a:gd name="T108" fmla="*/ 730 w 759"/>
                <a:gd name="T109" fmla="*/ 180 h 721"/>
                <a:gd name="T110" fmla="*/ 555 w 759"/>
                <a:gd name="T111" fmla="*/ 554 h 721"/>
                <a:gd name="T112" fmla="*/ 416 w 759"/>
                <a:gd name="T113" fmla="*/ 566 h 721"/>
                <a:gd name="T114" fmla="*/ 632 w 759"/>
                <a:gd name="T115" fmla="*/ 673 h 721"/>
                <a:gd name="T116" fmla="*/ 632 w 759"/>
                <a:gd name="T117" fmla="*/ 721 h 721"/>
                <a:gd name="T118" fmla="*/ 106 w 759"/>
                <a:gd name="T119" fmla="*/ 697 h 721"/>
                <a:gd name="T120" fmla="*/ 346 w 759"/>
                <a:gd name="T121" fmla="*/ 673 h 721"/>
                <a:gd name="T122" fmla="*/ 32 w 759"/>
                <a:gd name="T123" fmla="*/ 566 h 721"/>
                <a:gd name="T124" fmla="*/ 135 w 759"/>
                <a:gd name="T125" fmla="*/ 317 h 7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759" h="721">
                  <a:moveTo>
                    <a:pt x="339" y="481"/>
                  </a:moveTo>
                  <a:lnTo>
                    <a:pt x="399" y="481"/>
                  </a:lnTo>
                  <a:lnTo>
                    <a:pt x="427" y="433"/>
                  </a:lnTo>
                  <a:lnTo>
                    <a:pt x="367" y="433"/>
                  </a:lnTo>
                  <a:lnTo>
                    <a:pt x="339" y="481"/>
                  </a:lnTo>
                  <a:close/>
                  <a:moveTo>
                    <a:pt x="447" y="397"/>
                  </a:moveTo>
                  <a:lnTo>
                    <a:pt x="475" y="349"/>
                  </a:lnTo>
                  <a:lnTo>
                    <a:pt x="415" y="349"/>
                  </a:lnTo>
                  <a:lnTo>
                    <a:pt x="387" y="397"/>
                  </a:lnTo>
                  <a:lnTo>
                    <a:pt x="447" y="397"/>
                  </a:lnTo>
                  <a:close/>
                  <a:moveTo>
                    <a:pt x="315" y="349"/>
                  </a:moveTo>
                  <a:lnTo>
                    <a:pt x="287" y="397"/>
                  </a:lnTo>
                  <a:lnTo>
                    <a:pt x="347" y="397"/>
                  </a:lnTo>
                  <a:lnTo>
                    <a:pt x="375" y="349"/>
                  </a:lnTo>
                  <a:lnTo>
                    <a:pt x="315" y="349"/>
                  </a:lnTo>
                  <a:close/>
                  <a:moveTo>
                    <a:pt x="267" y="433"/>
                  </a:moveTo>
                  <a:lnTo>
                    <a:pt x="239" y="481"/>
                  </a:lnTo>
                  <a:lnTo>
                    <a:pt x="298" y="481"/>
                  </a:lnTo>
                  <a:lnTo>
                    <a:pt x="326" y="433"/>
                  </a:lnTo>
                  <a:lnTo>
                    <a:pt x="267" y="433"/>
                  </a:lnTo>
                  <a:close/>
                  <a:moveTo>
                    <a:pt x="439" y="481"/>
                  </a:moveTo>
                  <a:lnTo>
                    <a:pt x="499" y="481"/>
                  </a:lnTo>
                  <a:lnTo>
                    <a:pt x="527" y="433"/>
                  </a:lnTo>
                  <a:lnTo>
                    <a:pt x="467" y="433"/>
                  </a:lnTo>
                  <a:lnTo>
                    <a:pt x="439" y="481"/>
                  </a:lnTo>
                  <a:close/>
                  <a:moveTo>
                    <a:pt x="547" y="397"/>
                  </a:moveTo>
                  <a:lnTo>
                    <a:pt x="575" y="349"/>
                  </a:lnTo>
                  <a:lnTo>
                    <a:pt x="516" y="349"/>
                  </a:lnTo>
                  <a:lnTo>
                    <a:pt x="488" y="397"/>
                  </a:lnTo>
                  <a:lnTo>
                    <a:pt x="547" y="397"/>
                  </a:lnTo>
                  <a:close/>
                  <a:moveTo>
                    <a:pt x="596" y="314"/>
                  </a:moveTo>
                  <a:lnTo>
                    <a:pt x="624" y="265"/>
                  </a:lnTo>
                  <a:lnTo>
                    <a:pt x="564" y="265"/>
                  </a:lnTo>
                  <a:lnTo>
                    <a:pt x="536" y="314"/>
                  </a:lnTo>
                  <a:lnTo>
                    <a:pt x="596" y="314"/>
                  </a:lnTo>
                  <a:close/>
                  <a:moveTo>
                    <a:pt x="495" y="314"/>
                  </a:moveTo>
                  <a:lnTo>
                    <a:pt x="523" y="265"/>
                  </a:lnTo>
                  <a:lnTo>
                    <a:pt x="464" y="265"/>
                  </a:lnTo>
                  <a:lnTo>
                    <a:pt x="436" y="314"/>
                  </a:lnTo>
                  <a:lnTo>
                    <a:pt x="495" y="314"/>
                  </a:lnTo>
                  <a:close/>
                  <a:moveTo>
                    <a:pt x="363" y="265"/>
                  </a:moveTo>
                  <a:lnTo>
                    <a:pt x="336" y="314"/>
                  </a:lnTo>
                  <a:lnTo>
                    <a:pt x="395" y="314"/>
                  </a:lnTo>
                  <a:lnTo>
                    <a:pt x="423" y="265"/>
                  </a:lnTo>
                  <a:lnTo>
                    <a:pt x="363" y="265"/>
                  </a:lnTo>
                  <a:close/>
                  <a:moveTo>
                    <a:pt x="246" y="397"/>
                  </a:moveTo>
                  <a:lnTo>
                    <a:pt x="274" y="349"/>
                  </a:lnTo>
                  <a:lnTo>
                    <a:pt x="215" y="349"/>
                  </a:lnTo>
                  <a:lnTo>
                    <a:pt x="187" y="397"/>
                  </a:lnTo>
                  <a:lnTo>
                    <a:pt x="246" y="397"/>
                  </a:lnTo>
                  <a:close/>
                  <a:moveTo>
                    <a:pt x="138" y="481"/>
                  </a:moveTo>
                  <a:lnTo>
                    <a:pt x="198" y="481"/>
                  </a:lnTo>
                  <a:lnTo>
                    <a:pt x="226" y="433"/>
                  </a:lnTo>
                  <a:lnTo>
                    <a:pt x="166" y="433"/>
                  </a:lnTo>
                  <a:lnTo>
                    <a:pt x="138" y="481"/>
                  </a:lnTo>
                  <a:close/>
                  <a:moveTo>
                    <a:pt x="295" y="314"/>
                  </a:moveTo>
                  <a:lnTo>
                    <a:pt x="323" y="265"/>
                  </a:lnTo>
                  <a:lnTo>
                    <a:pt x="263" y="265"/>
                  </a:lnTo>
                  <a:lnTo>
                    <a:pt x="235" y="314"/>
                  </a:lnTo>
                  <a:lnTo>
                    <a:pt x="295" y="314"/>
                  </a:lnTo>
                  <a:close/>
                  <a:moveTo>
                    <a:pt x="689" y="227"/>
                  </a:moveTo>
                  <a:lnTo>
                    <a:pt x="241" y="227"/>
                  </a:lnTo>
                  <a:lnTo>
                    <a:pt x="73" y="519"/>
                  </a:lnTo>
                  <a:lnTo>
                    <a:pt x="521" y="519"/>
                  </a:lnTo>
                  <a:lnTo>
                    <a:pt x="689" y="227"/>
                  </a:lnTo>
                  <a:close/>
                  <a:moveTo>
                    <a:pt x="228" y="180"/>
                  </a:moveTo>
                  <a:lnTo>
                    <a:pt x="324" y="180"/>
                  </a:lnTo>
                  <a:cubicBezTo>
                    <a:pt x="313" y="136"/>
                    <a:pt x="273" y="104"/>
                    <a:pt x="228" y="104"/>
                  </a:cubicBezTo>
                  <a:cubicBezTo>
                    <a:pt x="173" y="104"/>
                    <a:pt x="128" y="149"/>
                    <a:pt x="128" y="204"/>
                  </a:cubicBezTo>
                  <a:cubicBezTo>
                    <a:pt x="128" y="231"/>
                    <a:pt x="139" y="257"/>
                    <a:pt x="159" y="276"/>
                  </a:cubicBezTo>
                  <a:lnTo>
                    <a:pt x="207" y="192"/>
                  </a:lnTo>
                  <a:cubicBezTo>
                    <a:pt x="212" y="184"/>
                    <a:pt x="220" y="180"/>
                    <a:pt x="228" y="180"/>
                  </a:cubicBezTo>
                  <a:close/>
                  <a:moveTo>
                    <a:pt x="135" y="317"/>
                  </a:moveTo>
                  <a:cubicBezTo>
                    <a:pt x="127" y="311"/>
                    <a:pt x="120" y="304"/>
                    <a:pt x="114" y="296"/>
                  </a:cubicBezTo>
                  <a:lnTo>
                    <a:pt x="84" y="314"/>
                  </a:lnTo>
                  <a:cubicBezTo>
                    <a:pt x="73" y="320"/>
                    <a:pt x="59" y="316"/>
                    <a:pt x="52" y="305"/>
                  </a:cubicBezTo>
                  <a:cubicBezTo>
                    <a:pt x="46" y="294"/>
                    <a:pt x="49" y="280"/>
                    <a:pt x="61" y="273"/>
                  </a:cubicBezTo>
                  <a:lnTo>
                    <a:pt x="91" y="256"/>
                  </a:lnTo>
                  <a:cubicBezTo>
                    <a:pt x="87" y="247"/>
                    <a:pt x="85" y="237"/>
                    <a:pt x="83" y="227"/>
                  </a:cubicBezTo>
                  <a:lnTo>
                    <a:pt x="24" y="227"/>
                  </a:lnTo>
                  <a:cubicBezTo>
                    <a:pt x="11" y="227"/>
                    <a:pt x="0" y="217"/>
                    <a:pt x="0" y="204"/>
                  </a:cubicBezTo>
                  <a:cubicBezTo>
                    <a:pt x="0" y="191"/>
                    <a:pt x="11" y="180"/>
                    <a:pt x="24" y="180"/>
                  </a:cubicBezTo>
                  <a:lnTo>
                    <a:pt x="83" y="180"/>
                  </a:lnTo>
                  <a:cubicBezTo>
                    <a:pt x="84" y="170"/>
                    <a:pt x="87" y="161"/>
                    <a:pt x="90" y="152"/>
                  </a:cubicBezTo>
                  <a:lnTo>
                    <a:pt x="61" y="135"/>
                  </a:lnTo>
                  <a:cubicBezTo>
                    <a:pt x="49" y="128"/>
                    <a:pt x="46" y="114"/>
                    <a:pt x="52" y="102"/>
                  </a:cubicBezTo>
                  <a:cubicBezTo>
                    <a:pt x="59" y="91"/>
                    <a:pt x="73" y="87"/>
                    <a:pt x="84" y="94"/>
                  </a:cubicBezTo>
                  <a:lnTo>
                    <a:pt x="114" y="111"/>
                  </a:lnTo>
                  <a:cubicBezTo>
                    <a:pt x="120" y="103"/>
                    <a:pt x="127" y="96"/>
                    <a:pt x="135" y="90"/>
                  </a:cubicBezTo>
                  <a:lnTo>
                    <a:pt x="105" y="39"/>
                  </a:lnTo>
                  <a:cubicBezTo>
                    <a:pt x="99" y="28"/>
                    <a:pt x="103" y="13"/>
                    <a:pt x="114" y="7"/>
                  </a:cubicBezTo>
                  <a:cubicBezTo>
                    <a:pt x="125" y="1"/>
                    <a:pt x="140" y="4"/>
                    <a:pt x="146" y="16"/>
                  </a:cubicBezTo>
                  <a:lnTo>
                    <a:pt x="176" y="67"/>
                  </a:lnTo>
                  <a:cubicBezTo>
                    <a:pt x="185" y="63"/>
                    <a:pt x="194" y="61"/>
                    <a:pt x="204" y="59"/>
                  </a:cubicBezTo>
                  <a:lnTo>
                    <a:pt x="204" y="25"/>
                  </a:lnTo>
                  <a:cubicBezTo>
                    <a:pt x="204" y="12"/>
                    <a:pt x="215" y="1"/>
                    <a:pt x="228" y="1"/>
                  </a:cubicBezTo>
                  <a:cubicBezTo>
                    <a:pt x="241" y="1"/>
                    <a:pt x="251" y="12"/>
                    <a:pt x="251" y="25"/>
                  </a:cubicBezTo>
                  <a:lnTo>
                    <a:pt x="251" y="59"/>
                  </a:lnTo>
                  <a:cubicBezTo>
                    <a:pt x="261" y="61"/>
                    <a:pt x="271" y="63"/>
                    <a:pt x="280" y="67"/>
                  </a:cubicBezTo>
                  <a:lnTo>
                    <a:pt x="309" y="16"/>
                  </a:lnTo>
                  <a:cubicBezTo>
                    <a:pt x="316" y="4"/>
                    <a:pt x="330" y="0"/>
                    <a:pt x="341" y="7"/>
                  </a:cubicBezTo>
                  <a:cubicBezTo>
                    <a:pt x="353" y="13"/>
                    <a:pt x="356" y="28"/>
                    <a:pt x="350" y="39"/>
                  </a:cubicBezTo>
                  <a:lnTo>
                    <a:pt x="320" y="90"/>
                  </a:lnTo>
                  <a:cubicBezTo>
                    <a:pt x="328" y="96"/>
                    <a:pt x="335" y="103"/>
                    <a:pt x="341" y="111"/>
                  </a:cubicBezTo>
                  <a:lnTo>
                    <a:pt x="371" y="94"/>
                  </a:lnTo>
                  <a:cubicBezTo>
                    <a:pt x="382" y="87"/>
                    <a:pt x="397" y="91"/>
                    <a:pt x="403" y="102"/>
                  </a:cubicBezTo>
                  <a:cubicBezTo>
                    <a:pt x="410" y="114"/>
                    <a:pt x="406" y="128"/>
                    <a:pt x="395" y="135"/>
                  </a:cubicBezTo>
                  <a:lnTo>
                    <a:pt x="365" y="152"/>
                  </a:lnTo>
                  <a:cubicBezTo>
                    <a:pt x="368" y="161"/>
                    <a:pt x="371" y="170"/>
                    <a:pt x="372" y="180"/>
                  </a:cubicBezTo>
                  <a:lnTo>
                    <a:pt x="730" y="180"/>
                  </a:lnTo>
                  <a:cubicBezTo>
                    <a:pt x="749" y="180"/>
                    <a:pt x="759" y="201"/>
                    <a:pt x="750" y="217"/>
                  </a:cubicBezTo>
                  <a:lnTo>
                    <a:pt x="555" y="554"/>
                  </a:lnTo>
                  <a:cubicBezTo>
                    <a:pt x="550" y="562"/>
                    <a:pt x="542" y="566"/>
                    <a:pt x="533" y="566"/>
                  </a:cubicBezTo>
                  <a:lnTo>
                    <a:pt x="416" y="566"/>
                  </a:lnTo>
                  <a:lnTo>
                    <a:pt x="416" y="673"/>
                  </a:lnTo>
                  <a:lnTo>
                    <a:pt x="632" y="673"/>
                  </a:lnTo>
                  <a:cubicBezTo>
                    <a:pt x="645" y="673"/>
                    <a:pt x="656" y="684"/>
                    <a:pt x="656" y="697"/>
                  </a:cubicBezTo>
                  <a:cubicBezTo>
                    <a:pt x="656" y="710"/>
                    <a:pt x="645" y="721"/>
                    <a:pt x="632" y="721"/>
                  </a:cubicBezTo>
                  <a:lnTo>
                    <a:pt x="130" y="721"/>
                  </a:lnTo>
                  <a:cubicBezTo>
                    <a:pt x="117" y="721"/>
                    <a:pt x="106" y="710"/>
                    <a:pt x="106" y="697"/>
                  </a:cubicBezTo>
                  <a:cubicBezTo>
                    <a:pt x="106" y="684"/>
                    <a:pt x="117" y="673"/>
                    <a:pt x="130" y="673"/>
                  </a:cubicBezTo>
                  <a:lnTo>
                    <a:pt x="346" y="673"/>
                  </a:lnTo>
                  <a:lnTo>
                    <a:pt x="346" y="566"/>
                  </a:lnTo>
                  <a:lnTo>
                    <a:pt x="32" y="566"/>
                  </a:lnTo>
                  <a:cubicBezTo>
                    <a:pt x="14" y="566"/>
                    <a:pt x="3" y="546"/>
                    <a:pt x="12" y="531"/>
                  </a:cubicBezTo>
                  <a:lnTo>
                    <a:pt x="135" y="317"/>
                  </a:lnTo>
                  <a:lnTo>
                    <a:pt x="135" y="317"/>
                  </a:ln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de-DE" sz="1800" b="0" i="0" u="none" strike="noStrike" kern="0" cap="none" spc="0" normalizeH="0" baseline="0" noProof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grpSp>
        <p:nvGrpSpPr>
          <p:cNvPr id="195" name="Gruppieren 194" descr="{&quot;Key&quot;:&quot;POWER_USER_SHAPE_ICON&quot;,&quot;Value&quot;:&quot;POWER_USER_SHAPE_ICON_STYLE_2&quot;}">
            <a:extLst>
              <a:ext uri="{FF2B5EF4-FFF2-40B4-BE49-F238E27FC236}">
                <a16:creationId xmlns:a16="http://schemas.microsoft.com/office/drawing/2014/main" id="{2B50C350-3C66-388B-9299-E1AFF32754A5}"/>
              </a:ext>
            </a:extLst>
          </p:cNvPr>
          <p:cNvGrpSpPr>
            <a:grpSpLocks noChangeAspect="1"/>
          </p:cNvGrpSpPr>
          <p:nvPr/>
        </p:nvGrpSpPr>
        <p:grpSpPr>
          <a:xfrm>
            <a:off x="10163830" y="2978390"/>
            <a:ext cx="431215" cy="466789"/>
            <a:chOff x="-127000" y="2990387"/>
            <a:chExt cx="762000" cy="762000"/>
          </a:xfrm>
        </p:grpSpPr>
        <p:sp>
          <p:nvSpPr>
            <p:cNvPr id="196" name="POWER_USER_SHAPE_ICON_STYLE_2">
              <a:extLst>
                <a:ext uri="{FF2B5EF4-FFF2-40B4-BE49-F238E27FC236}">
                  <a16:creationId xmlns:a16="http://schemas.microsoft.com/office/drawing/2014/main" id="{512C85A4-1A40-6492-4178-EE0B7BEED6AF}"/>
                </a:ext>
              </a:extLst>
            </p:cNvPr>
            <p:cNvSpPr/>
            <p:nvPr/>
          </p:nvSpPr>
          <p:spPr>
            <a:xfrm>
              <a:off x="-127000" y="2990387"/>
              <a:ext cx="762000" cy="762000"/>
            </a:xfrm>
            <a:prstGeom prst="ellipse">
              <a:avLst/>
            </a:prstGeom>
            <a:solidFill>
              <a:sysClr val="windowText" lastClr="000000">
                <a:lumMod val="50000"/>
                <a:lumOff val="50000"/>
              </a:sysClr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de-DE" sz="1800" b="0" i="0" u="none" strike="noStrike" kern="0" cap="none" spc="0" normalizeH="0" baseline="0" noProof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97" name="Car7" descr="{&quot;Key&quot;:&quot;POWER_USER_SHAPE_ICON&quot;,&quot;Value&quot;:&quot;POWER_USER_SHAPE_ICON_STYLE_1&quot;}">
              <a:extLst>
                <a:ext uri="{FF2B5EF4-FFF2-40B4-BE49-F238E27FC236}">
                  <a16:creationId xmlns:a16="http://schemas.microsoft.com/office/drawing/2014/main" id="{18880424-6713-4A3D-5BFE-412AD5E6A72F}"/>
                </a:ext>
              </a:extLst>
            </p:cNvPr>
            <p:cNvSpPr>
              <a:spLocks noChangeAspect="1" noEditPoints="1"/>
            </p:cNvSpPr>
            <p:nvPr>
              <p:custDataLst>
                <p:tags r:id="rId6"/>
              </p:custDataLst>
            </p:nvPr>
          </p:nvSpPr>
          <p:spPr bwMode="auto">
            <a:xfrm>
              <a:off x="0" y="3157538"/>
              <a:ext cx="508000" cy="427698"/>
            </a:xfrm>
            <a:custGeom>
              <a:avLst/>
              <a:gdLst>
                <a:gd name="T0" fmla="*/ 616 w 733"/>
                <a:gd name="T1" fmla="*/ 466 h 616"/>
                <a:gd name="T2" fmla="*/ 566 w 733"/>
                <a:gd name="T3" fmla="*/ 416 h 616"/>
                <a:gd name="T4" fmla="*/ 616 w 733"/>
                <a:gd name="T5" fmla="*/ 366 h 616"/>
                <a:gd name="T6" fmla="*/ 666 w 733"/>
                <a:gd name="T7" fmla="*/ 416 h 616"/>
                <a:gd name="T8" fmla="*/ 616 w 733"/>
                <a:gd name="T9" fmla="*/ 466 h 616"/>
                <a:gd name="T10" fmla="*/ 134 w 733"/>
                <a:gd name="T11" fmla="*/ 266 h 616"/>
                <a:gd name="T12" fmla="*/ 165 w 733"/>
                <a:gd name="T13" fmla="*/ 107 h 616"/>
                <a:gd name="T14" fmla="*/ 200 w 733"/>
                <a:gd name="T15" fmla="*/ 66 h 616"/>
                <a:gd name="T16" fmla="*/ 533 w 733"/>
                <a:gd name="T17" fmla="*/ 66 h 616"/>
                <a:gd name="T18" fmla="*/ 567 w 733"/>
                <a:gd name="T19" fmla="*/ 107 h 616"/>
                <a:gd name="T20" fmla="*/ 599 w 733"/>
                <a:gd name="T21" fmla="*/ 266 h 616"/>
                <a:gd name="T22" fmla="*/ 134 w 733"/>
                <a:gd name="T23" fmla="*/ 266 h 616"/>
                <a:gd name="T24" fmla="*/ 116 w 733"/>
                <a:gd name="T25" fmla="*/ 466 h 616"/>
                <a:gd name="T26" fmla="*/ 66 w 733"/>
                <a:gd name="T27" fmla="*/ 416 h 616"/>
                <a:gd name="T28" fmla="*/ 116 w 733"/>
                <a:gd name="T29" fmla="*/ 366 h 616"/>
                <a:gd name="T30" fmla="*/ 166 w 733"/>
                <a:gd name="T31" fmla="*/ 416 h 616"/>
                <a:gd name="T32" fmla="*/ 116 w 733"/>
                <a:gd name="T33" fmla="*/ 466 h 616"/>
                <a:gd name="T34" fmla="*/ 666 w 733"/>
                <a:gd name="T35" fmla="*/ 272 h 616"/>
                <a:gd name="T36" fmla="*/ 666 w 733"/>
                <a:gd name="T37" fmla="*/ 266 h 616"/>
                <a:gd name="T38" fmla="*/ 632 w 733"/>
                <a:gd name="T39" fmla="*/ 93 h 616"/>
                <a:gd name="T40" fmla="*/ 632 w 733"/>
                <a:gd name="T41" fmla="*/ 91 h 616"/>
                <a:gd name="T42" fmla="*/ 533 w 733"/>
                <a:gd name="T43" fmla="*/ 0 h 616"/>
                <a:gd name="T44" fmla="*/ 200 w 733"/>
                <a:gd name="T45" fmla="*/ 0 h 616"/>
                <a:gd name="T46" fmla="*/ 101 w 733"/>
                <a:gd name="T47" fmla="*/ 91 h 616"/>
                <a:gd name="T48" fmla="*/ 67 w 733"/>
                <a:gd name="T49" fmla="*/ 260 h 616"/>
                <a:gd name="T50" fmla="*/ 66 w 733"/>
                <a:gd name="T51" fmla="*/ 266 h 616"/>
                <a:gd name="T52" fmla="*/ 67 w 733"/>
                <a:gd name="T53" fmla="*/ 272 h 616"/>
                <a:gd name="T54" fmla="*/ 0 w 733"/>
                <a:gd name="T55" fmla="*/ 366 h 616"/>
                <a:gd name="T56" fmla="*/ 0 w 733"/>
                <a:gd name="T57" fmla="*/ 450 h 616"/>
                <a:gd name="T58" fmla="*/ 66 w 733"/>
                <a:gd name="T59" fmla="*/ 544 h 616"/>
                <a:gd name="T60" fmla="*/ 66 w 733"/>
                <a:gd name="T61" fmla="*/ 583 h 616"/>
                <a:gd name="T62" fmla="*/ 100 w 733"/>
                <a:gd name="T63" fmla="*/ 616 h 616"/>
                <a:gd name="T64" fmla="*/ 133 w 733"/>
                <a:gd name="T65" fmla="*/ 616 h 616"/>
                <a:gd name="T66" fmla="*/ 166 w 733"/>
                <a:gd name="T67" fmla="*/ 583 h 616"/>
                <a:gd name="T68" fmla="*/ 166 w 733"/>
                <a:gd name="T69" fmla="*/ 550 h 616"/>
                <a:gd name="T70" fmla="*/ 566 w 733"/>
                <a:gd name="T71" fmla="*/ 550 h 616"/>
                <a:gd name="T72" fmla="*/ 566 w 733"/>
                <a:gd name="T73" fmla="*/ 583 h 616"/>
                <a:gd name="T74" fmla="*/ 600 w 733"/>
                <a:gd name="T75" fmla="*/ 616 h 616"/>
                <a:gd name="T76" fmla="*/ 633 w 733"/>
                <a:gd name="T77" fmla="*/ 616 h 616"/>
                <a:gd name="T78" fmla="*/ 666 w 733"/>
                <a:gd name="T79" fmla="*/ 583 h 616"/>
                <a:gd name="T80" fmla="*/ 666 w 733"/>
                <a:gd name="T81" fmla="*/ 544 h 616"/>
                <a:gd name="T82" fmla="*/ 733 w 733"/>
                <a:gd name="T83" fmla="*/ 450 h 616"/>
                <a:gd name="T84" fmla="*/ 733 w 733"/>
                <a:gd name="T85" fmla="*/ 366 h 616"/>
                <a:gd name="T86" fmla="*/ 666 w 733"/>
                <a:gd name="T87" fmla="*/ 272 h 6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733" h="616">
                  <a:moveTo>
                    <a:pt x="616" y="466"/>
                  </a:moveTo>
                  <a:cubicBezTo>
                    <a:pt x="589" y="466"/>
                    <a:pt x="566" y="444"/>
                    <a:pt x="566" y="416"/>
                  </a:cubicBezTo>
                  <a:cubicBezTo>
                    <a:pt x="566" y="389"/>
                    <a:pt x="589" y="366"/>
                    <a:pt x="616" y="366"/>
                  </a:cubicBezTo>
                  <a:cubicBezTo>
                    <a:pt x="644" y="366"/>
                    <a:pt x="666" y="389"/>
                    <a:pt x="666" y="416"/>
                  </a:cubicBezTo>
                  <a:cubicBezTo>
                    <a:pt x="666" y="444"/>
                    <a:pt x="644" y="466"/>
                    <a:pt x="616" y="466"/>
                  </a:cubicBezTo>
                  <a:close/>
                  <a:moveTo>
                    <a:pt x="134" y="266"/>
                  </a:moveTo>
                  <a:lnTo>
                    <a:pt x="165" y="107"/>
                  </a:lnTo>
                  <a:cubicBezTo>
                    <a:pt x="169" y="94"/>
                    <a:pt x="179" y="66"/>
                    <a:pt x="200" y="66"/>
                  </a:cubicBezTo>
                  <a:lnTo>
                    <a:pt x="533" y="66"/>
                  </a:lnTo>
                  <a:cubicBezTo>
                    <a:pt x="553" y="66"/>
                    <a:pt x="564" y="94"/>
                    <a:pt x="567" y="107"/>
                  </a:cubicBezTo>
                  <a:lnTo>
                    <a:pt x="599" y="266"/>
                  </a:lnTo>
                  <a:lnTo>
                    <a:pt x="134" y="266"/>
                  </a:lnTo>
                  <a:close/>
                  <a:moveTo>
                    <a:pt x="116" y="466"/>
                  </a:moveTo>
                  <a:cubicBezTo>
                    <a:pt x="89" y="466"/>
                    <a:pt x="66" y="444"/>
                    <a:pt x="66" y="416"/>
                  </a:cubicBezTo>
                  <a:cubicBezTo>
                    <a:pt x="66" y="389"/>
                    <a:pt x="89" y="366"/>
                    <a:pt x="116" y="366"/>
                  </a:cubicBezTo>
                  <a:cubicBezTo>
                    <a:pt x="144" y="366"/>
                    <a:pt x="166" y="389"/>
                    <a:pt x="166" y="416"/>
                  </a:cubicBezTo>
                  <a:cubicBezTo>
                    <a:pt x="166" y="444"/>
                    <a:pt x="144" y="466"/>
                    <a:pt x="116" y="466"/>
                  </a:cubicBezTo>
                  <a:close/>
                  <a:moveTo>
                    <a:pt x="666" y="272"/>
                  </a:moveTo>
                  <a:cubicBezTo>
                    <a:pt x="666" y="270"/>
                    <a:pt x="666" y="268"/>
                    <a:pt x="666" y="266"/>
                  </a:cubicBezTo>
                  <a:lnTo>
                    <a:pt x="632" y="93"/>
                  </a:lnTo>
                  <a:lnTo>
                    <a:pt x="632" y="91"/>
                  </a:lnTo>
                  <a:cubicBezTo>
                    <a:pt x="616" y="34"/>
                    <a:pt x="579" y="0"/>
                    <a:pt x="533" y="0"/>
                  </a:cubicBezTo>
                  <a:lnTo>
                    <a:pt x="200" y="0"/>
                  </a:lnTo>
                  <a:cubicBezTo>
                    <a:pt x="153" y="0"/>
                    <a:pt x="116" y="34"/>
                    <a:pt x="101" y="91"/>
                  </a:cubicBezTo>
                  <a:lnTo>
                    <a:pt x="67" y="260"/>
                  </a:lnTo>
                  <a:lnTo>
                    <a:pt x="66" y="266"/>
                  </a:lnTo>
                  <a:cubicBezTo>
                    <a:pt x="66" y="268"/>
                    <a:pt x="67" y="270"/>
                    <a:pt x="67" y="272"/>
                  </a:cubicBezTo>
                  <a:cubicBezTo>
                    <a:pt x="28" y="286"/>
                    <a:pt x="0" y="323"/>
                    <a:pt x="0" y="366"/>
                  </a:cubicBezTo>
                  <a:lnTo>
                    <a:pt x="0" y="450"/>
                  </a:lnTo>
                  <a:cubicBezTo>
                    <a:pt x="0" y="493"/>
                    <a:pt x="28" y="530"/>
                    <a:pt x="66" y="544"/>
                  </a:cubicBezTo>
                  <a:lnTo>
                    <a:pt x="66" y="583"/>
                  </a:lnTo>
                  <a:cubicBezTo>
                    <a:pt x="66" y="601"/>
                    <a:pt x="81" y="616"/>
                    <a:pt x="100" y="616"/>
                  </a:cubicBezTo>
                  <a:lnTo>
                    <a:pt x="133" y="616"/>
                  </a:lnTo>
                  <a:cubicBezTo>
                    <a:pt x="151" y="616"/>
                    <a:pt x="166" y="601"/>
                    <a:pt x="166" y="583"/>
                  </a:cubicBezTo>
                  <a:lnTo>
                    <a:pt x="166" y="550"/>
                  </a:lnTo>
                  <a:lnTo>
                    <a:pt x="566" y="550"/>
                  </a:lnTo>
                  <a:lnTo>
                    <a:pt x="566" y="583"/>
                  </a:lnTo>
                  <a:cubicBezTo>
                    <a:pt x="566" y="601"/>
                    <a:pt x="581" y="616"/>
                    <a:pt x="600" y="616"/>
                  </a:cubicBezTo>
                  <a:lnTo>
                    <a:pt x="633" y="616"/>
                  </a:lnTo>
                  <a:cubicBezTo>
                    <a:pt x="651" y="616"/>
                    <a:pt x="666" y="601"/>
                    <a:pt x="666" y="583"/>
                  </a:cubicBezTo>
                  <a:lnTo>
                    <a:pt x="666" y="544"/>
                  </a:lnTo>
                  <a:cubicBezTo>
                    <a:pt x="705" y="530"/>
                    <a:pt x="733" y="493"/>
                    <a:pt x="733" y="450"/>
                  </a:cubicBezTo>
                  <a:lnTo>
                    <a:pt x="733" y="366"/>
                  </a:lnTo>
                  <a:cubicBezTo>
                    <a:pt x="733" y="323"/>
                    <a:pt x="705" y="286"/>
                    <a:pt x="666" y="272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de-DE" sz="1800" b="0" i="0" u="none" strike="noStrike" kern="0" cap="none" spc="0" normalizeH="0" baseline="0" noProof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grpSp>
        <p:nvGrpSpPr>
          <p:cNvPr id="198" name="Gruppieren 197" descr="{&quot;Key&quot;:&quot;POWER_USER_SHAPE_ICON&quot;,&quot;Value&quot;:&quot;POWER_USER_SHAPE_ICON_STYLE_2&quot;}">
            <a:extLst>
              <a:ext uri="{FF2B5EF4-FFF2-40B4-BE49-F238E27FC236}">
                <a16:creationId xmlns:a16="http://schemas.microsoft.com/office/drawing/2014/main" id="{096EA6E4-FEB4-AB67-8E19-5291E3EC33C2}"/>
              </a:ext>
            </a:extLst>
          </p:cNvPr>
          <p:cNvGrpSpPr>
            <a:grpSpLocks noChangeAspect="1"/>
          </p:cNvGrpSpPr>
          <p:nvPr/>
        </p:nvGrpSpPr>
        <p:grpSpPr>
          <a:xfrm>
            <a:off x="10927735" y="2883663"/>
            <a:ext cx="491198" cy="531720"/>
            <a:chOff x="288345" y="3340831"/>
            <a:chExt cx="762000" cy="762000"/>
          </a:xfrm>
        </p:grpSpPr>
        <p:sp>
          <p:nvSpPr>
            <p:cNvPr id="199" name="POWER_USER_SHAPE_ICON_STYLE_2">
              <a:extLst>
                <a:ext uri="{FF2B5EF4-FFF2-40B4-BE49-F238E27FC236}">
                  <a16:creationId xmlns:a16="http://schemas.microsoft.com/office/drawing/2014/main" id="{E5C88478-BFFB-81C3-D319-D385D9DE69E6}"/>
                </a:ext>
              </a:extLst>
            </p:cNvPr>
            <p:cNvSpPr/>
            <p:nvPr/>
          </p:nvSpPr>
          <p:spPr>
            <a:xfrm>
              <a:off x="288345" y="3340831"/>
              <a:ext cx="762000" cy="762000"/>
            </a:xfrm>
            <a:prstGeom prst="ellipse">
              <a:avLst/>
            </a:prstGeom>
            <a:solidFill>
              <a:srgbClr val="0070C0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de-DE" sz="1800" b="0" i="0" u="none" strike="noStrike" kern="0" cap="none" spc="0" normalizeH="0" baseline="0" noProof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00" name="Electric_Car" descr="{&quot;Key&quot;:&quot;POWER_USER_SHAPE_ICON&quot;,&quot;Value&quot;:&quot;POWER_USER_SHAPE_ICON_STYLE_1&quot;}">
              <a:extLst>
                <a:ext uri="{FF2B5EF4-FFF2-40B4-BE49-F238E27FC236}">
                  <a16:creationId xmlns:a16="http://schemas.microsoft.com/office/drawing/2014/main" id="{EB6E055C-5B2F-76F2-9AA6-23C624AD2495}"/>
                </a:ext>
              </a:extLst>
            </p:cNvPr>
            <p:cNvSpPr>
              <a:spLocks noChangeAspect="1" noEditPoints="1"/>
            </p:cNvSpPr>
            <p:nvPr>
              <p:custDataLst>
                <p:tags r:id="rId5"/>
              </p:custDataLst>
            </p:nvPr>
          </p:nvSpPr>
          <p:spPr bwMode="auto">
            <a:xfrm>
              <a:off x="415345" y="3593005"/>
              <a:ext cx="508000" cy="257651"/>
            </a:xfrm>
            <a:custGeom>
              <a:avLst/>
              <a:gdLst>
                <a:gd name="T0" fmla="*/ 1124 w 1250"/>
                <a:gd name="T1" fmla="*/ 55 h 632"/>
                <a:gd name="T2" fmla="*/ 957 w 1250"/>
                <a:gd name="T3" fmla="*/ 0 h 632"/>
                <a:gd name="T4" fmla="*/ 726 w 1250"/>
                <a:gd name="T5" fmla="*/ 0 h 632"/>
                <a:gd name="T6" fmla="*/ 584 w 1250"/>
                <a:gd name="T7" fmla="*/ 210 h 632"/>
                <a:gd name="T8" fmla="*/ 494 w 1250"/>
                <a:gd name="T9" fmla="*/ 280 h 632"/>
                <a:gd name="T10" fmla="*/ 477 w 1250"/>
                <a:gd name="T11" fmla="*/ 150 h 632"/>
                <a:gd name="T12" fmla="*/ 408 w 1250"/>
                <a:gd name="T13" fmla="*/ 81 h 632"/>
                <a:gd name="T14" fmla="*/ 339 w 1250"/>
                <a:gd name="T15" fmla="*/ 306 h 632"/>
                <a:gd name="T16" fmla="*/ 339 w 1250"/>
                <a:gd name="T17" fmla="*/ 463 h 632"/>
                <a:gd name="T18" fmla="*/ 308 w 1250"/>
                <a:gd name="T19" fmla="*/ 475 h 632"/>
                <a:gd name="T20" fmla="*/ 304 w 1250"/>
                <a:gd name="T21" fmla="*/ 349 h 632"/>
                <a:gd name="T22" fmla="*/ 204 w 1250"/>
                <a:gd name="T23" fmla="*/ 280 h 632"/>
                <a:gd name="T24" fmla="*/ 80 w 1250"/>
                <a:gd name="T25" fmla="*/ 211 h 632"/>
                <a:gd name="T26" fmla="*/ 17 w 1250"/>
                <a:gd name="T27" fmla="*/ 246 h 632"/>
                <a:gd name="T28" fmla="*/ 0 w 1250"/>
                <a:gd name="T29" fmla="*/ 263 h 632"/>
                <a:gd name="T30" fmla="*/ 17 w 1250"/>
                <a:gd name="T31" fmla="*/ 280 h 632"/>
                <a:gd name="T32" fmla="*/ 80 w 1250"/>
                <a:gd name="T33" fmla="*/ 332 h 632"/>
                <a:gd name="T34" fmla="*/ 17 w 1250"/>
                <a:gd name="T35" fmla="*/ 332 h 632"/>
                <a:gd name="T36" fmla="*/ 17 w 1250"/>
                <a:gd name="T37" fmla="*/ 367 h 632"/>
                <a:gd name="T38" fmla="*/ 80 w 1250"/>
                <a:gd name="T39" fmla="*/ 367 h 632"/>
                <a:gd name="T40" fmla="*/ 112 w 1250"/>
                <a:gd name="T41" fmla="*/ 402 h 632"/>
                <a:gd name="T42" fmla="*/ 235 w 1250"/>
                <a:gd name="T43" fmla="*/ 332 h 632"/>
                <a:gd name="T44" fmla="*/ 252 w 1250"/>
                <a:gd name="T45" fmla="*/ 462 h 632"/>
                <a:gd name="T46" fmla="*/ 321 w 1250"/>
                <a:gd name="T47" fmla="*/ 531 h 632"/>
                <a:gd name="T48" fmla="*/ 391 w 1250"/>
                <a:gd name="T49" fmla="*/ 306 h 632"/>
                <a:gd name="T50" fmla="*/ 391 w 1250"/>
                <a:gd name="T51" fmla="*/ 149 h 632"/>
                <a:gd name="T52" fmla="*/ 421 w 1250"/>
                <a:gd name="T53" fmla="*/ 137 h 632"/>
                <a:gd name="T54" fmla="*/ 425 w 1250"/>
                <a:gd name="T55" fmla="*/ 263 h 632"/>
                <a:gd name="T56" fmla="*/ 518 w 1250"/>
                <a:gd name="T57" fmla="*/ 332 h 632"/>
                <a:gd name="T58" fmla="*/ 577 w 1250"/>
                <a:gd name="T59" fmla="*/ 491 h 632"/>
                <a:gd name="T60" fmla="*/ 686 w 1250"/>
                <a:gd name="T61" fmla="*/ 554 h 632"/>
                <a:gd name="T62" fmla="*/ 884 w 1250"/>
                <a:gd name="T63" fmla="*/ 491 h 632"/>
                <a:gd name="T64" fmla="*/ 1081 w 1250"/>
                <a:gd name="T65" fmla="*/ 554 h 632"/>
                <a:gd name="T66" fmla="*/ 1191 w 1250"/>
                <a:gd name="T67" fmla="*/ 491 h 632"/>
                <a:gd name="T68" fmla="*/ 1250 w 1250"/>
                <a:gd name="T69" fmla="*/ 294 h 632"/>
                <a:gd name="T70" fmla="*/ 633 w 1250"/>
                <a:gd name="T71" fmla="*/ 372 h 632"/>
                <a:gd name="T72" fmla="*/ 633 w 1250"/>
                <a:gd name="T73" fmla="*/ 268 h 632"/>
                <a:gd name="T74" fmla="*/ 633 w 1250"/>
                <a:gd name="T75" fmla="*/ 372 h 632"/>
                <a:gd name="T76" fmla="*/ 884 w 1250"/>
                <a:gd name="T77" fmla="*/ 209 h 632"/>
                <a:gd name="T78" fmla="*/ 692 w 1250"/>
                <a:gd name="T79" fmla="*/ 87 h 632"/>
                <a:gd name="T80" fmla="*/ 884 w 1250"/>
                <a:gd name="T81" fmla="*/ 57 h 632"/>
                <a:gd name="T82" fmla="*/ 1043 w 1250"/>
                <a:gd name="T83" fmla="*/ 57 h 632"/>
                <a:gd name="T84" fmla="*/ 1122 w 1250"/>
                <a:gd name="T85" fmla="*/ 209 h 632"/>
                <a:gd name="T86" fmla="*/ 1135 w 1250"/>
                <a:gd name="T87" fmla="*/ 372 h 632"/>
                <a:gd name="T88" fmla="*/ 1135 w 1250"/>
                <a:gd name="T89" fmla="*/ 268 h 632"/>
                <a:gd name="T90" fmla="*/ 1135 w 1250"/>
                <a:gd name="T91" fmla="*/ 372 h 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1250" h="632">
                  <a:moveTo>
                    <a:pt x="1184" y="210"/>
                  </a:moveTo>
                  <a:lnTo>
                    <a:pt x="1124" y="55"/>
                  </a:lnTo>
                  <a:cubicBezTo>
                    <a:pt x="1112" y="25"/>
                    <a:pt x="1088" y="0"/>
                    <a:pt x="1042" y="0"/>
                  </a:cubicBezTo>
                  <a:lnTo>
                    <a:pt x="957" y="0"/>
                  </a:lnTo>
                  <a:lnTo>
                    <a:pt x="812" y="0"/>
                  </a:lnTo>
                  <a:lnTo>
                    <a:pt x="726" y="0"/>
                  </a:lnTo>
                  <a:cubicBezTo>
                    <a:pt x="680" y="0"/>
                    <a:pt x="656" y="25"/>
                    <a:pt x="644" y="55"/>
                  </a:cubicBezTo>
                  <a:lnTo>
                    <a:pt x="584" y="210"/>
                  </a:lnTo>
                  <a:cubicBezTo>
                    <a:pt x="563" y="213"/>
                    <a:pt x="526" y="236"/>
                    <a:pt x="520" y="280"/>
                  </a:cubicBezTo>
                  <a:lnTo>
                    <a:pt x="494" y="280"/>
                  </a:lnTo>
                  <a:cubicBezTo>
                    <a:pt x="484" y="280"/>
                    <a:pt x="477" y="267"/>
                    <a:pt x="477" y="263"/>
                  </a:cubicBezTo>
                  <a:lnTo>
                    <a:pt x="477" y="150"/>
                  </a:lnTo>
                  <a:cubicBezTo>
                    <a:pt x="477" y="131"/>
                    <a:pt x="471" y="113"/>
                    <a:pt x="458" y="101"/>
                  </a:cubicBezTo>
                  <a:cubicBezTo>
                    <a:pt x="446" y="88"/>
                    <a:pt x="428" y="81"/>
                    <a:pt x="408" y="81"/>
                  </a:cubicBezTo>
                  <a:cubicBezTo>
                    <a:pt x="368" y="81"/>
                    <a:pt x="339" y="110"/>
                    <a:pt x="339" y="149"/>
                  </a:cubicBezTo>
                  <a:lnTo>
                    <a:pt x="339" y="306"/>
                  </a:lnTo>
                  <a:lnTo>
                    <a:pt x="339" y="306"/>
                  </a:lnTo>
                  <a:lnTo>
                    <a:pt x="339" y="463"/>
                  </a:lnTo>
                  <a:cubicBezTo>
                    <a:pt x="339" y="474"/>
                    <a:pt x="333" y="479"/>
                    <a:pt x="321" y="479"/>
                  </a:cubicBezTo>
                  <a:cubicBezTo>
                    <a:pt x="317" y="479"/>
                    <a:pt x="312" y="479"/>
                    <a:pt x="308" y="475"/>
                  </a:cubicBezTo>
                  <a:cubicBezTo>
                    <a:pt x="305" y="472"/>
                    <a:pt x="304" y="467"/>
                    <a:pt x="304" y="463"/>
                  </a:cubicBezTo>
                  <a:lnTo>
                    <a:pt x="304" y="349"/>
                  </a:lnTo>
                  <a:cubicBezTo>
                    <a:pt x="304" y="317"/>
                    <a:pt x="275" y="280"/>
                    <a:pt x="235" y="280"/>
                  </a:cubicBezTo>
                  <a:lnTo>
                    <a:pt x="204" y="280"/>
                  </a:lnTo>
                  <a:cubicBezTo>
                    <a:pt x="193" y="240"/>
                    <a:pt x="156" y="211"/>
                    <a:pt x="112" y="211"/>
                  </a:cubicBezTo>
                  <a:lnTo>
                    <a:pt x="80" y="211"/>
                  </a:lnTo>
                  <a:lnTo>
                    <a:pt x="80" y="246"/>
                  </a:lnTo>
                  <a:lnTo>
                    <a:pt x="17" y="246"/>
                  </a:lnTo>
                  <a:lnTo>
                    <a:pt x="17" y="246"/>
                  </a:lnTo>
                  <a:cubicBezTo>
                    <a:pt x="8" y="246"/>
                    <a:pt x="0" y="253"/>
                    <a:pt x="0" y="263"/>
                  </a:cubicBezTo>
                  <a:cubicBezTo>
                    <a:pt x="0" y="272"/>
                    <a:pt x="8" y="280"/>
                    <a:pt x="17" y="280"/>
                  </a:cubicBezTo>
                  <a:lnTo>
                    <a:pt x="17" y="280"/>
                  </a:lnTo>
                  <a:lnTo>
                    <a:pt x="80" y="280"/>
                  </a:lnTo>
                  <a:lnTo>
                    <a:pt x="80" y="332"/>
                  </a:lnTo>
                  <a:lnTo>
                    <a:pt x="17" y="332"/>
                  </a:lnTo>
                  <a:lnTo>
                    <a:pt x="17" y="332"/>
                  </a:lnTo>
                  <a:cubicBezTo>
                    <a:pt x="8" y="332"/>
                    <a:pt x="0" y="340"/>
                    <a:pt x="0" y="350"/>
                  </a:cubicBezTo>
                  <a:cubicBezTo>
                    <a:pt x="0" y="359"/>
                    <a:pt x="8" y="367"/>
                    <a:pt x="17" y="367"/>
                  </a:cubicBezTo>
                  <a:lnTo>
                    <a:pt x="17" y="367"/>
                  </a:lnTo>
                  <a:lnTo>
                    <a:pt x="80" y="367"/>
                  </a:lnTo>
                  <a:lnTo>
                    <a:pt x="80" y="402"/>
                  </a:lnTo>
                  <a:lnTo>
                    <a:pt x="112" y="402"/>
                  </a:lnTo>
                  <a:cubicBezTo>
                    <a:pt x="156" y="402"/>
                    <a:pt x="193" y="372"/>
                    <a:pt x="204" y="332"/>
                  </a:cubicBezTo>
                  <a:lnTo>
                    <a:pt x="235" y="332"/>
                  </a:lnTo>
                  <a:cubicBezTo>
                    <a:pt x="245" y="332"/>
                    <a:pt x="252" y="345"/>
                    <a:pt x="252" y="349"/>
                  </a:cubicBezTo>
                  <a:lnTo>
                    <a:pt x="252" y="462"/>
                  </a:lnTo>
                  <a:cubicBezTo>
                    <a:pt x="252" y="481"/>
                    <a:pt x="258" y="499"/>
                    <a:pt x="271" y="511"/>
                  </a:cubicBezTo>
                  <a:cubicBezTo>
                    <a:pt x="283" y="524"/>
                    <a:pt x="301" y="531"/>
                    <a:pt x="321" y="531"/>
                  </a:cubicBezTo>
                  <a:cubicBezTo>
                    <a:pt x="361" y="531"/>
                    <a:pt x="391" y="502"/>
                    <a:pt x="391" y="463"/>
                  </a:cubicBezTo>
                  <a:lnTo>
                    <a:pt x="391" y="306"/>
                  </a:lnTo>
                  <a:lnTo>
                    <a:pt x="391" y="306"/>
                  </a:lnTo>
                  <a:lnTo>
                    <a:pt x="391" y="149"/>
                  </a:lnTo>
                  <a:cubicBezTo>
                    <a:pt x="391" y="138"/>
                    <a:pt x="396" y="133"/>
                    <a:pt x="408" y="133"/>
                  </a:cubicBezTo>
                  <a:cubicBezTo>
                    <a:pt x="412" y="133"/>
                    <a:pt x="418" y="133"/>
                    <a:pt x="421" y="137"/>
                  </a:cubicBezTo>
                  <a:cubicBezTo>
                    <a:pt x="424" y="140"/>
                    <a:pt x="425" y="145"/>
                    <a:pt x="425" y="149"/>
                  </a:cubicBezTo>
                  <a:lnTo>
                    <a:pt x="425" y="263"/>
                  </a:lnTo>
                  <a:cubicBezTo>
                    <a:pt x="425" y="295"/>
                    <a:pt x="454" y="332"/>
                    <a:pt x="494" y="332"/>
                  </a:cubicBezTo>
                  <a:lnTo>
                    <a:pt x="518" y="332"/>
                  </a:lnTo>
                  <a:lnTo>
                    <a:pt x="518" y="491"/>
                  </a:lnTo>
                  <a:lnTo>
                    <a:pt x="577" y="491"/>
                  </a:lnTo>
                  <a:lnTo>
                    <a:pt x="577" y="554"/>
                  </a:lnTo>
                  <a:cubicBezTo>
                    <a:pt x="577" y="632"/>
                    <a:pt x="687" y="631"/>
                    <a:pt x="686" y="554"/>
                  </a:cubicBezTo>
                  <a:lnTo>
                    <a:pt x="686" y="491"/>
                  </a:lnTo>
                  <a:lnTo>
                    <a:pt x="884" y="491"/>
                  </a:lnTo>
                  <a:lnTo>
                    <a:pt x="1081" y="491"/>
                  </a:lnTo>
                  <a:lnTo>
                    <a:pt x="1081" y="554"/>
                  </a:lnTo>
                  <a:cubicBezTo>
                    <a:pt x="1082" y="631"/>
                    <a:pt x="1191" y="632"/>
                    <a:pt x="1191" y="554"/>
                  </a:cubicBezTo>
                  <a:lnTo>
                    <a:pt x="1191" y="491"/>
                  </a:lnTo>
                  <a:lnTo>
                    <a:pt x="1250" y="491"/>
                  </a:lnTo>
                  <a:lnTo>
                    <a:pt x="1250" y="294"/>
                  </a:lnTo>
                  <a:cubicBezTo>
                    <a:pt x="1250" y="241"/>
                    <a:pt x="1208" y="213"/>
                    <a:pt x="1184" y="210"/>
                  </a:cubicBezTo>
                  <a:close/>
                  <a:moveTo>
                    <a:pt x="633" y="372"/>
                  </a:moveTo>
                  <a:cubicBezTo>
                    <a:pt x="605" y="372"/>
                    <a:pt x="583" y="349"/>
                    <a:pt x="583" y="320"/>
                  </a:cubicBezTo>
                  <a:cubicBezTo>
                    <a:pt x="583" y="291"/>
                    <a:pt x="605" y="268"/>
                    <a:pt x="633" y="268"/>
                  </a:cubicBezTo>
                  <a:cubicBezTo>
                    <a:pt x="661" y="268"/>
                    <a:pt x="684" y="291"/>
                    <a:pt x="684" y="320"/>
                  </a:cubicBezTo>
                  <a:cubicBezTo>
                    <a:pt x="684" y="349"/>
                    <a:pt x="661" y="372"/>
                    <a:pt x="633" y="372"/>
                  </a:cubicBezTo>
                  <a:close/>
                  <a:moveTo>
                    <a:pt x="884" y="209"/>
                  </a:moveTo>
                  <a:lnTo>
                    <a:pt x="884" y="209"/>
                  </a:lnTo>
                  <a:lnTo>
                    <a:pt x="647" y="209"/>
                  </a:lnTo>
                  <a:lnTo>
                    <a:pt x="692" y="87"/>
                  </a:lnTo>
                  <a:cubicBezTo>
                    <a:pt x="697" y="69"/>
                    <a:pt x="706" y="57"/>
                    <a:pt x="726" y="57"/>
                  </a:cubicBezTo>
                  <a:lnTo>
                    <a:pt x="884" y="57"/>
                  </a:lnTo>
                  <a:lnTo>
                    <a:pt x="884" y="57"/>
                  </a:lnTo>
                  <a:lnTo>
                    <a:pt x="1043" y="57"/>
                  </a:lnTo>
                  <a:cubicBezTo>
                    <a:pt x="1062" y="57"/>
                    <a:pt x="1071" y="69"/>
                    <a:pt x="1076" y="87"/>
                  </a:cubicBezTo>
                  <a:lnTo>
                    <a:pt x="1122" y="209"/>
                  </a:lnTo>
                  <a:lnTo>
                    <a:pt x="884" y="209"/>
                  </a:lnTo>
                  <a:close/>
                  <a:moveTo>
                    <a:pt x="1135" y="372"/>
                  </a:moveTo>
                  <a:cubicBezTo>
                    <a:pt x="1107" y="372"/>
                    <a:pt x="1084" y="349"/>
                    <a:pt x="1084" y="320"/>
                  </a:cubicBezTo>
                  <a:cubicBezTo>
                    <a:pt x="1084" y="291"/>
                    <a:pt x="1107" y="268"/>
                    <a:pt x="1135" y="268"/>
                  </a:cubicBezTo>
                  <a:cubicBezTo>
                    <a:pt x="1163" y="268"/>
                    <a:pt x="1185" y="291"/>
                    <a:pt x="1186" y="320"/>
                  </a:cubicBezTo>
                  <a:cubicBezTo>
                    <a:pt x="1185" y="349"/>
                    <a:pt x="1163" y="372"/>
                    <a:pt x="1135" y="372"/>
                  </a:cubicBezTo>
                  <a:close/>
                </a:path>
              </a:pathLst>
            </a:custGeom>
            <a:solidFill>
              <a:srgbClr val="FFFFFF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de-DE" sz="1800" b="0" i="0" u="none" strike="noStrike" kern="0" cap="none" spc="0" normalizeH="0" baseline="0" noProof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grpSp>
        <p:nvGrpSpPr>
          <p:cNvPr id="201" name="Gruppieren 200" descr="{&quot;Key&quot;:&quot;POWER_USER_SHAPE_ICON&quot;,&quot;Value&quot;:&quot;POWER_USER_SHAPE_ICON_STYLE_2&quot;}">
            <a:extLst>
              <a:ext uri="{FF2B5EF4-FFF2-40B4-BE49-F238E27FC236}">
                <a16:creationId xmlns:a16="http://schemas.microsoft.com/office/drawing/2014/main" id="{E1A28AF3-4679-7734-A190-AE5C0603534C}"/>
              </a:ext>
            </a:extLst>
          </p:cNvPr>
          <p:cNvGrpSpPr>
            <a:grpSpLocks noChangeAspect="1"/>
          </p:cNvGrpSpPr>
          <p:nvPr/>
        </p:nvGrpSpPr>
        <p:grpSpPr>
          <a:xfrm>
            <a:off x="10575798" y="2963533"/>
            <a:ext cx="399034" cy="431954"/>
            <a:chOff x="-127000" y="2976049"/>
            <a:chExt cx="762000" cy="762000"/>
          </a:xfrm>
        </p:grpSpPr>
        <p:sp>
          <p:nvSpPr>
            <p:cNvPr id="202" name="POWER_USER_SHAPE_ICON_STYLE_2">
              <a:extLst>
                <a:ext uri="{FF2B5EF4-FFF2-40B4-BE49-F238E27FC236}">
                  <a16:creationId xmlns:a16="http://schemas.microsoft.com/office/drawing/2014/main" id="{77DF51F0-3F9E-EE78-9C95-8DD5C1EFD2DA}"/>
                </a:ext>
              </a:extLst>
            </p:cNvPr>
            <p:cNvSpPr/>
            <p:nvPr/>
          </p:nvSpPr>
          <p:spPr>
            <a:xfrm>
              <a:off x="-127000" y="2976049"/>
              <a:ext cx="762000" cy="762000"/>
            </a:xfrm>
            <a:prstGeom prst="ellipse">
              <a:avLst/>
            </a:prstGeom>
            <a:solidFill>
              <a:srgbClr val="FFFFFF">
                <a:lumMod val="65000"/>
              </a:srgbClr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de-DE" sz="1800" b="0" i="0" u="none" strike="noStrike" kern="0" cap="none" spc="0" normalizeH="0" baseline="0" noProof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03" name="Scooter" descr="{&quot;Key&quot;:&quot;POWER_USER_SHAPE_ICON&quot;,&quot;Value&quot;:&quot;POWER_USER_SHAPE_ICON_STYLE_1&quot;}">
              <a:extLst>
                <a:ext uri="{FF2B5EF4-FFF2-40B4-BE49-F238E27FC236}">
                  <a16:creationId xmlns:a16="http://schemas.microsoft.com/office/drawing/2014/main" id="{69EF38A8-F789-A309-E13C-5D2C273A5EDE}"/>
                </a:ext>
              </a:extLst>
            </p:cNvPr>
            <p:cNvSpPr>
              <a:spLocks noChangeAspect="1" noEditPoints="1"/>
            </p:cNvSpPr>
            <p:nvPr>
              <p:custDataLst>
                <p:tags r:id="rId4"/>
              </p:custDataLst>
            </p:nvPr>
          </p:nvSpPr>
          <p:spPr bwMode="auto">
            <a:xfrm>
              <a:off x="0" y="3157538"/>
              <a:ext cx="508000" cy="399021"/>
            </a:xfrm>
            <a:custGeom>
              <a:avLst/>
              <a:gdLst>
                <a:gd name="T0" fmla="*/ 602 w 829"/>
                <a:gd name="T1" fmla="*/ 522 h 650"/>
                <a:gd name="T2" fmla="*/ 649 w 829"/>
                <a:gd name="T3" fmla="*/ 462 h 650"/>
                <a:gd name="T4" fmla="*/ 726 w 829"/>
                <a:gd name="T5" fmla="*/ 522 h 650"/>
                <a:gd name="T6" fmla="*/ 397 w 829"/>
                <a:gd name="T7" fmla="*/ 484 h 650"/>
                <a:gd name="T8" fmla="*/ 281 w 829"/>
                <a:gd name="T9" fmla="*/ 367 h 650"/>
                <a:gd name="T10" fmla="*/ 406 w 829"/>
                <a:gd name="T11" fmla="*/ 484 h 650"/>
                <a:gd name="T12" fmla="*/ 200 w 829"/>
                <a:gd name="T13" fmla="*/ 584 h 650"/>
                <a:gd name="T14" fmla="*/ 255 w 829"/>
                <a:gd name="T15" fmla="*/ 550 h 650"/>
                <a:gd name="T16" fmla="*/ 688 w 829"/>
                <a:gd name="T17" fmla="*/ 345 h 650"/>
                <a:gd name="T18" fmla="*/ 417 w 829"/>
                <a:gd name="T19" fmla="*/ 0 h 650"/>
                <a:gd name="T20" fmla="*/ 332 w 829"/>
                <a:gd name="T21" fmla="*/ 34 h 650"/>
                <a:gd name="T22" fmla="*/ 407 w 829"/>
                <a:gd name="T23" fmla="*/ 67 h 650"/>
                <a:gd name="T24" fmla="*/ 528 w 829"/>
                <a:gd name="T25" fmla="*/ 430 h 650"/>
                <a:gd name="T26" fmla="*/ 398 w 829"/>
                <a:gd name="T27" fmla="*/ 274 h 650"/>
                <a:gd name="T28" fmla="*/ 64 w 829"/>
                <a:gd name="T29" fmla="*/ 307 h 650"/>
                <a:gd name="T30" fmla="*/ 139 w 829"/>
                <a:gd name="T31" fmla="*/ 341 h 650"/>
                <a:gd name="T32" fmla="*/ 1 w 829"/>
                <a:gd name="T33" fmla="*/ 511 h 650"/>
                <a:gd name="T34" fmla="*/ 0 w 829"/>
                <a:gd name="T35" fmla="*/ 518 h 650"/>
                <a:gd name="T36" fmla="*/ 1 w 829"/>
                <a:gd name="T37" fmla="*/ 526 h 650"/>
                <a:gd name="T38" fmla="*/ 5 w 829"/>
                <a:gd name="T39" fmla="*/ 533 h 650"/>
                <a:gd name="T40" fmla="*/ 6 w 829"/>
                <a:gd name="T41" fmla="*/ 536 h 650"/>
                <a:gd name="T42" fmla="*/ 9 w 829"/>
                <a:gd name="T43" fmla="*/ 540 h 650"/>
                <a:gd name="T44" fmla="*/ 16 w 829"/>
                <a:gd name="T45" fmla="*/ 545 h 650"/>
                <a:gd name="T46" fmla="*/ 23 w 829"/>
                <a:gd name="T47" fmla="*/ 548 h 650"/>
                <a:gd name="T48" fmla="*/ 33 w 829"/>
                <a:gd name="T49" fmla="*/ 550 h 650"/>
                <a:gd name="T50" fmla="*/ 200 w 829"/>
                <a:gd name="T51" fmla="*/ 650 h 650"/>
                <a:gd name="T52" fmla="*/ 440 w 829"/>
                <a:gd name="T53" fmla="*/ 550 h 650"/>
                <a:gd name="T54" fmla="*/ 440 w 829"/>
                <a:gd name="T55" fmla="*/ 550 h 650"/>
                <a:gd name="T56" fmla="*/ 506 w 829"/>
                <a:gd name="T57" fmla="*/ 550 h 650"/>
                <a:gd name="T58" fmla="*/ 537 w 829"/>
                <a:gd name="T59" fmla="*/ 536 h 650"/>
                <a:gd name="T60" fmla="*/ 793 w 829"/>
                <a:gd name="T61" fmla="*/ 522 h 650"/>
                <a:gd name="T62" fmla="*/ 800 w 829"/>
                <a:gd name="T63" fmla="*/ 516 h 650"/>
                <a:gd name="T64" fmla="*/ 688 w 829"/>
                <a:gd name="T65" fmla="*/ 345 h 6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829" h="650">
                  <a:moveTo>
                    <a:pt x="664" y="584"/>
                  </a:moveTo>
                  <a:cubicBezTo>
                    <a:pt x="630" y="584"/>
                    <a:pt x="602" y="556"/>
                    <a:pt x="602" y="522"/>
                  </a:cubicBezTo>
                  <a:cubicBezTo>
                    <a:pt x="602" y="508"/>
                    <a:pt x="607" y="495"/>
                    <a:pt x="615" y="484"/>
                  </a:cubicBezTo>
                  <a:lnTo>
                    <a:pt x="649" y="462"/>
                  </a:lnTo>
                  <a:cubicBezTo>
                    <a:pt x="654" y="461"/>
                    <a:pt x="659" y="460"/>
                    <a:pt x="664" y="460"/>
                  </a:cubicBezTo>
                  <a:cubicBezTo>
                    <a:pt x="698" y="460"/>
                    <a:pt x="726" y="488"/>
                    <a:pt x="726" y="522"/>
                  </a:cubicBezTo>
                  <a:cubicBezTo>
                    <a:pt x="726" y="556"/>
                    <a:pt x="698" y="584"/>
                    <a:pt x="664" y="584"/>
                  </a:cubicBezTo>
                  <a:close/>
                  <a:moveTo>
                    <a:pt x="397" y="484"/>
                  </a:moveTo>
                  <a:lnTo>
                    <a:pt x="90" y="484"/>
                  </a:lnTo>
                  <a:cubicBezTo>
                    <a:pt x="122" y="436"/>
                    <a:pt x="185" y="367"/>
                    <a:pt x="281" y="367"/>
                  </a:cubicBezTo>
                  <a:cubicBezTo>
                    <a:pt x="320" y="367"/>
                    <a:pt x="350" y="378"/>
                    <a:pt x="371" y="400"/>
                  </a:cubicBezTo>
                  <a:cubicBezTo>
                    <a:pt x="394" y="425"/>
                    <a:pt x="402" y="459"/>
                    <a:pt x="406" y="484"/>
                  </a:cubicBezTo>
                  <a:lnTo>
                    <a:pt x="397" y="484"/>
                  </a:lnTo>
                  <a:close/>
                  <a:moveTo>
                    <a:pt x="200" y="584"/>
                  </a:moveTo>
                  <a:cubicBezTo>
                    <a:pt x="176" y="584"/>
                    <a:pt x="156" y="570"/>
                    <a:pt x="145" y="550"/>
                  </a:cubicBezTo>
                  <a:lnTo>
                    <a:pt x="255" y="550"/>
                  </a:lnTo>
                  <a:cubicBezTo>
                    <a:pt x="244" y="570"/>
                    <a:pt x="224" y="584"/>
                    <a:pt x="200" y="584"/>
                  </a:cubicBezTo>
                  <a:close/>
                  <a:moveTo>
                    <a:pt x="688" y="345"/>
                  </a:moveTo>
                  <a:cubicBezTo>
                    <a:pt x="692" y="276"/>
                    <a:pt x="664" y="143"/>
                    <a:pt x="434" y="5"/>
                  </a:cubicBezTo>
                  <a:cubicBezTo>
                    <a:pt x="429" y="2"/>
                    <a:pt x="423" y="0"/>
                    <a:pt x="417" y="0"/>
                  </a:cubicBezTo>
                  <a:lnTo>
                    <a:pt x="365" y="0"/>
                  </a:lnTo>
                  <a:cubicBezTo>
                    <a:pt x="346" y="0"/>
                    <a:pt x="332" y="15"/>
                    <a:pt x="332" y="34"/>
                  </a:cubicBezTo>
                  <a:cubicBezTo>
                    <a:pt x="332" y="52"/>
                    <a:pt x="346" y="67"/>
                    <a:pt x="365" y="67"/>
                  </a:cubicBezTo>
                  <a:lnTo>
                    <a:pt x="407" y="67"/>
                  </a:lnTo>
                  <a:cubicBezTo>
                    <a:pt x="591" y="179"/>
                    <a:pt x="637" y="293"/>
                    <a:pt x="618" y="362"/>
                  </a:cubicBezTo>
                  <a:cubicBezTo>
                    <a:pt x="606" y="403"/>
                    <a:pt x="571" y="430"/>
                    <a:pt x="528" y="430"/>
                  </a:cubicBezTo>
                  <a:cubicBezTo>
                    <a:pt x="441" y="430"/>
                    <a:pt x="431" y="310"/>
                    <a:pt x="431" y="305"/>
                  </a:cubicBezTo>
                  <a:cubicBezTo>
                    <a:pt x="430" y="288"/>
                    <a:pt x="415" y="274"/>
                    <a:pt x="398" y="274"/>
                  </a:cubicBezTo>
                  <a:lnTo>
                    <a:pt x="98" y="274"/>
                  </a:lnTo>
                  <a:cubicBezTo>
                    <a:pt x="79" y="274"/>
                    <a:pt x="64" y="289"/>
                    <a:pt x="64" y="307"/>
                  </a:cubicBezTo>
                  <a:cubicBezTo>
                    <a:pt x="64" y="326"/>
                    <a:pt x="79" y="341"/>
                    <a:pt x="98" y="341"/>
                  </a:cubicBezTo>
                  <a:lnTo>
                    <a:pt x="139" y="341"/>
                  </a:lnTo>
                  <a:cubicBezTo>
                    <a:pt x="56" y="380"/>
                    <a:pt x="14" y="460"/>
                    <a:pt x="1" y="509"/>
                  </a:cubicBezTo>
                  <a:cubicBezTo>
                    <a:pt x="1" y="509"/>
                    <a:pt x="1" y="510"/>
                    <a:pt x="1" y="511"/>
                  </a:cubicBezTo>
                  <a:cubicBezTo>
                    <a:pt x="1" y="512"/>
                    <a:pt x="0" y="513"/>
                    <a:pt x="0" y="514"/>
                  </a:cubicBezTo>
                  <a:cubicBezTo>
                    <a:pt x="0" y="516"/>
                    <a:pt x="0" y="517"/>
                    <a:pt x="0" y="518"/>
                  </a:cubicBezTo>
                  <a:cubicBezTo>
                    <a:pt x="0" y="520"/>
                    <a:pt x="0" y="521"/>
                    <a:pt x="1" y="522"/>
                  </a:cubicBezTo>
                  <a:cubicBezTo>
                    <a:pt x="1" y="523"/>
                    <a:pt x="1" y="525"/>
                    <a:pt x="1" y="526"/>
                  </a:cubicBezTo>
                  <a:cubicBezTo>
                    <a:pt x="2" y="527"/>
                    <a:pt x="2" y="528"/>
                    <a:pt x="3" y="529"/>
                  </a:cubicBezTo>
                  <a:cubicBezTo>
                    <a:pt x="3" y="531"/>
                    <a:pt x="4" y="532"/>
                    <a:pt x="5" y="533"/>
                  </a:cubicBezTo>
                  <a:cubicBezTo>
                    <a:pt x="5" y="534"/>
                    <a:pt x="5" y="535"/>
                    <a:pt x="6" y="536"/>
                  </a:cubicBezTo>
                  <a:cubicBezTo>
                    <a:pt x="6" y="536"/>
                    <a:pt x="6" y="536"/>
                    <a:pt x="6" y="536"/>
                  </a:cubicBezTo>
                  <a:cubicBezTo>
                    <a:pt x="7" y="537"/>
                    <a:pt x="7" y="537"/>
                    <a:pt x="7" y="537"/>
                  </a:cubicBezTo>
                  <a:cubicBezTo>
                    <a:pt x="8" y="538"/>
                    <a:pt x="9" y="539"/>
                    <a:pt x="9" y="540"/>
                  </a:cubicBezTo>
                  <a:cubicBezTo>
                    <a:pt x="10" y="541"/>
                    <a:pt x="11" y="541"/>
                    <a:pt x="12" y="542"/>
                  </a:cubicBezTo>
                  <a:cubicBezTo>
                    <a:pt x="13" y="543"/>
                    <a:pt x="14" y="544"/>
                    <a:pt x="16" y="545"/>
                  </a:cubicBezTo>
                  <a:cubicBezTo>
                    <a:pt x="16" y="545"/>
                    <a:pt x="17" y="546"/>
                    <a:pt x="18" y="547"/>
                  </a:cubicBezTo>
                  <a:cubicBezTo>
                    <a:pt x="20" y="547"/>
                    <a:pt x="21" y="548"/>
                    <a:pt x="23" y="548"/>
                  </a:cubicBezTo>
                  <a:cubicBezTo>
                    <a:pt x="24" y="549"/>
                    <a:pt x="25" y="549"/>
                    <a:pt x="25" y="549"/>
                  </a:cubicBezTo>
                  <a:cubicBezTo>
                    <a:pt x="28" y="550"/>
                    <a:pt x="31" y="550"/>
                    <a:pt x="33" y="550"/>
                  </a:cubicBezTo>
                  <a:lnTo>
                    <a:pt x="75" y="550"/>
                  </a:lnTo>
                  <a:cubicBezTo>
                    <a:pt x="88" y="608"/>
                    <a:pt x="139" y="650"/>
                    <a:pt x="200" y="650"/>
                  </a:cubicBezTo>
                  <a:cubicBezTo>
                    <a:pt x="261" y="650"/>
                    <a:pt x="312" y="608"/>
                    <a:pt x="325" y="550"/>
                  </a:cubicBezTo>
                  <a:lnTo>
                    <a:pt x="440" y="550"/>
                  </a:lnTo>
                  <a:lnTo>
                    <a:pt x="440" y="550"/>
                  </a:lnTo>
                  <a:lnTo>
                    <a:pt x="440" y="550"/>
                  </a:lnTo>
                  <a:lnTo>
                    <a:pt x="441" y="550"/>
                  </a:lnTo>
                  <a:lnTo>
                    <a:pt x="506" y="550"/>
                  </a:lnTo>
                  <a:cubicBezTo>
                    <a:pt x="512" y="550"/>
                    <a:pt x="519" y="548"/>
                    <a:pt x="524" y="545"/>
                  </a:cubicBezTo>
                  <a:lnTo>
                    <a:pt x="537" y="536"/>
                  </a:lnTo>
                  <a:cubicBezTo>
                    <a:pt x="544" y="601"/>
                    <a:pt x="598" y="650"/>
                    <a:pt x="664" y="650"/>
                  </a:cubicBezTo>
                  <a:cubicBezTo>
                    <a:pt x="735" y="650"/>
                    <a:pt x="793" y="593"/>
                    <a:pt x="793" y="522"/>
                  </a:cubicBezTo>
                  <a:cubicBezTo>
                    <a:pt x="793" y="520"/>
                    <a:pt x="793" y="519"/>
                    <a:pt x="793" y="517"/>
                  </a:cubicBezTo>
                  <a:cubicBezTo>
                    <a:pt x="795" y="517"/>
                    <a:pt x="798" y="517"/>
                    <a:pt x="800" y="516"/>
                  </a:cubicBezTo>
                  <a:cubicBezTo>
                    <a:pt x="818" y="511"/>
                    <a:pt x="829" y="493"/>
                    <a:pt x="824" y="475"/>
                  </a:cubicBezTo>
                  <a:cubicBezTo>
                    <a:pt x="801" y="388"/>
                    <a:pt x="728" y="356"/>
                    <a:pt x="688" y="345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de-DE" sz="1800" b="0" i="0" u="none" strike="noStrike" kern="0" cap="none" spc="0" normalizeH="0" baseline="0" noProof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grpSp>
        <p:nvGrpSpPr>
          <p:cNvPr id="204" name="Gruppieren 203">
            <a:extLst>
              <a:ext uri="{FF2B5EF4-FFF2-40B4-BE49-F238E27FC236}">
                <a16:creationId xmlns:a16="http://schemas.microsoft.com/office/drawing/2014/main" id="{608ADDB7-6C30-7B78-A52E-A03DF36EBC01}"/>
              </a:ext>
            </a:extLst>
          </p:cNvPr>
          <p:cNvGrpSpPr/>
          <p:nvPr/>
        </p:nvGrpSpPr>
        <p:grpSpPr>
          <a:xfrm>
            <a:off x="5051015" y="3780435"/>
            <a:ext cx="6931339" cy="2552359"/>
            <a:chOff x="-743169" y="3196157"/>
            <a:chExt cx="8998581" cy="3052877"/>
          </a:xfrm>
        </p:grpSpPr>
        <p:pic>
          <p:nvPicPr>
            <p:cNvPr id="205" name="Grafik 204">
              <a:extLst>
                <a:ext uri="{FF2B5EF4-FFF2-40B4-BE49-F238E27FC236}">
                  <a16:creationId xmlns:a16="http://schemas.microsoft.com/office/drawing/2014/main" id="{66498968-17D5-61F5-4794-7E64C7976353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19"/>
            <a:srcRect l="2197" t="11209" r="1207" b="6594"/>
            <a:stretch/>
          </p:blipFill>
          <p:spPr>
            <a:xfrm>
              <a:off x="1649367" y="3414323"/>
              <a:ext cx="6433220" cy="145795"/>
            </a:xfrm>
            <a:prstGeom prst="rect">
              <a:avLst/>
            </a:prstGeom>
          </p:spPr>
        </p:pic>
        <p:grpSp>
          <p:nvGrpSpPr>
            <p:cNvPr id="206" name="Gruppieren 205">
              <a:extLst>
                <a:ext uri="{FF2B5EF4-FFF2-40B4-BE49-F238E27FC236}">
                  <a16:creationId xmlns:a16="http://schemas.microsoft.com/office/drawing/2014/main" id="{5F987FE4-9AB1-DC68-B184-F03315BF1DD3}"/>
                </a:ext>
              </a:extLst>
            </p:cNvPr>
            <p:cNvGrpSpPr/>
            <p:nvPr/>
          </p:nvGrpSpPr>
          <p:grpSpPr>
            <a:xfrm>
              <a:off x="1595420" y="5163261"/>
              <a:ext cx="6573292" cy="425214"/>
              <a:chOff x="1649367" y="5209065"/>
              <a:chExt cx="6036653" cy="425214"/>
            </a:xfrm>
          </p:grpSpPr>
          <p:pic>
            <p:nvPicPr>
              <p:cNvPr id="261" name="Grafik 260">
                <a:extLst>
                  <a:ext uri="{FF2B5EF4-FFF2-40B4-BE49-F238E27FC236}">
                    <a16:creationId xmlns:a16="http://schemas.microsoft.com/office/drawing/2014/main" id="{FA13420B-8F9D-38E8-1A5B-0945A135B2ED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cstate="print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20"/>
                  </a:ext>
                  <a:ext uri="{837473B0-CC2E-450A-ABE3-18F120FF3D39}">
                    <a1611:picAttrSrcUrl xmlns:a1611="http://schemas.microsoft.com/office/drawing/2016/11/main" r:id="rId21"/>
                  </a:ext>
                </a:extLst>
              </a:blip>
              <a:srcRect r="56419"/>
              <a:stretch/>
            </p:blipFill>
            <p:spPr>
              <a:xfrm>
                <a:off x="1649367" y="5209065"/>
                <a:ext cx="572023" cy="425214"/>
              </a:xfrm>
              <a:prstGeom prst="rect">
                <a:avLst/>
              </a:prstGeom>
            </p:spPr>
          </p:pic>
          <p:pic>
            <p:nvPicPr>
              <p:cNvPr id="262" name="Grafik 261">
                <a:extLst>
                  <a:ext uri="{FF2B5EF4-FFF2-40B4-BE49-F238E27FC236}">
                    <a16:creationId xmlns:a16="http://schemas.microsoft.com/office/drawing/2014/main" id="{42774A60-6A6E-B47D-2764-356BF5D38F13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cstate="print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20"/>
                  </a:ext>
                  <a:ext uri="{837473B0-CC2E-450A-ABE3-18F120FF3D39}">
                    <a1611:picAttrSrcUrl xmlns:a1611="http://schemas.microsoft.com/office/drawing/2016/11/main" r:id="rId21"/>
                  </a:ext>
                </a:extLst>
              </a:blip>
              <a:srcRect r="56419"/>
              <a:stretch/>
            </p:blipFill>
            <p:spPr>
              <a:xfrm>
                <a:off x="2642936" y="5209065"/>
                <a:ext cx="572023" cy="425213"/>
              </a:xfrm>
              <a:prstGeom prst="rect">
                <a:avLst/>
              </a:prstGeom>
            </p:spPr>
          </p:pic>
          <p:pic>
            <p:nvPicPr>
              <p:cNvPr id="263" name="Grafik 262">
                <a:extLst>
                  <a:ext uri="{FF2B5EF4-FFF2-40B4-BE49-F238E27FC236}">
                    <a16:creationId xmlns:a16="http://schemas.microsoft.com/office/drawing/2014/main" id="{905F9186-78D0-430F-C3CC-090AADD60B86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cstate="print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20"/>
                  </a:ext>
                  <a:ext uri="{837473B0-CC2E-450A-ABE3-18F120FF3D39}">
                    <a1611:picAttrSrcUrl xmlns:a1611="http://schemas.microsoft.com/office/drawing/2016/11/main" r:id="rId21"/>
                  </a:ext>
                </a:extLst>
              </a:blip>
              <a:srcRect r="56419"/>
              <a:stretch/>
            </p:blipFill>
            <p:spPr>
              <a:xfrm>
                <a:off x="3636505" y="5209067"/>
                <a:ext cx="572023" cy="425212"/>
              </a:xfrm>
              <a:prstGeom prst="rect">
                <a:avLst/>
              </a:prstGeom>
            </p:spPr>
          </p:pic>
          <p:pic>
            <p:nvPicPr>
              <p:cNvPr id="264" name="Grafik 263">
                <a:extLst>
                  <a:ext uri="{FF2B5EF4-FFF2-40B4-BE49-F238E27FC236}">
                    <a16:creationId xmlns:a16="http://schemas.microsoft.com/office/drawing/2014/main" id="{B61C316A-E537-4C69-C912-592F50A044EB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cstate="print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20"/>
                  </a:ext>
                  <a:ext uri="{837473B0-CC2E-450A-ABE3-18F120FF3D39}">
                    <a1611:picAttrSrcUrl xmlns:a1611="http://schemas.microsoft.com/office/drawing/2016/11/main" r:id="rId21"/>
                  </a:ext>
                </a:extLst>
              </a:blip>
              <a:srcRect r="56419"/>
              <a:stretch/>
            </p:blipFill>
            <p:spPr>
              <a:xfrm>
                <a:off x="4630075" y="5209067"/>
                <a:ext cx="572023" cy="425210"/>
              </a:xfrm>
              <a:prstGeom prst="rect">
                <a:avLst/>
              </a:prstGeom>
            </p:spPr>
          </p:pic>
          <p:pic>
            <p:nvPicPr>
              <p:cNvPr id="265" name="Grafik 264">
                <a:extLst>
                  <a:ext uri="{FF2B5EF4-FFF2-40B4-BE49-F238E27FC236}">
                    <a16:creationId xmlns:a16="http://schemas.microsoft.com/office/drawing/2014/main" id="{9F925FAD-423F-22FA-0336-75C25C041EEA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cstate="print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20"/>
                  </a:ext>
                  <a:ext uri="{837473B0-CC2E-450A-ABE3-18F120FF3D39}">
                    <a1611:picAttrSrcUrl xmlns:a1611="http://schemas.microsoft.com/office/drawing/2016/11/main" r:id="rId21"/>
                  </a:ext>
                </a:extLst>
              </a:blip>
              <a:srcRect r="56419"/>
              <a:stretch/>
            </p:blipFill>
            <p:spPr>
              <a:xfrm>
                <a:off x="5623644" y="5209070"/>
                <a:ext cx="572023" cy="425208"/>
              </a:xfrm>
              <a:prstGeom prst="rect">
                <a:avLst/>
              </a:prstGeom>
            </p:spPr>
          </p:pic>
          <p:pic>
            <p:nvPicPr>
              <p:cNvPr id="266" name="Grafik 265">
                <a:extLst>
                  <a:ext uri="{FF2B5EF4-FFF2-40B4-BE49-F238E27FC236}">
                    <a16:creationId xmlns:a16="http://schemas.microsoft.com/office/drawing/2014/main" id="{F9FC0D5A-3CB5-5820-71AD-DADAE1EDE7E0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cstate="print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20"/>
                  </a:ext>
                  <a:ext uri="{837473B0-CC2E-450A-ABE3-18F120FF3D39}">
                    <a1611:picAttrSrcUrl xmlns:a1611="http://schemas.microsoft.com/office/drawing/2016/11/main" r:id="rId21"/>
                  </a:ext>
                </a:extLst>
              </a:blip>
              <a:srcRect r="56419"/>
              <a:stretch/>
            </p:blipFill>
            <p:spPr>
              <a:xfrm>
                <a:off x="6617213" y="5209070"/>
                <a:ext cx="572023" cy="425208"/>
              </a:xfrm>
              <a:prstGeom prst="rect">
                <a:avLst/>
              </a:prstGeom>
            </p:spPr>
          </p:pic>
          <p:pic>
            <p:nvPicPr>
              <p:cNvPr id="267" name="Grafik 266">
                <a:extLst>
                  <a:ext uri="{FF2B5EF4-FFF2-40B4-BE49-F238E27FC236}">
                    <a16:creationId xmlns:a16="http://schemas.microsoft.com/office/drawing/2014/main" id="{351145E8-EB37-110C-5CE8-6285E97D758E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cstate="print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20"/>
                  </a:ext>
                  <a:ext uri="{837473B0-CC2E-450A-ABE3-18F120FF3D39}">
                    <a1611:picAttrSrcUrl xmlns:a1611="http://schemas.microsoft.com/office/drawing/2016/11/main" r:id="rId21"/>
                  </a:ext>
                </a:extLst>
              </a:blip>
              <a:srcRect r="56419"/>
              <a:stretch/>
            </p:blipFill>
            <p:spPr>
              <a:xfrm>
                <a:off x="2146152" y="5209065"/>
                <a:ext cx="572023" cy="425214"/>
              </a:xfrm>
              <a:prstGeom prst="rect">
                <a:avLst/>
              </a:prstGeom>
            </p:spPr>
          </p:pic>
          <p:pic>
            <p:nvPicPr>
              <p:cNvPr id="268" name="Grafik 267">
                <a:extLst>
                  <a:ext uri="{FF2B5EF4-FFF2-40B4-BE49-F238E27FC236}">
                    <a16:creationId xmlns:a16="http://schemas.microsoft.com/office/drawing/2014/main" id="{6834B2D3-E116-8A1D-CF91-7CA8408D0F9F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cstate="print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20"/>
                  </a:ext>
                  <a:ext uri="{837473B0-CC2E-450A-ABE3-18F120FF3D39}">
                    <a1611:picAttrSrcUrl xmlns:a1611="http://schemas.microsoft.com/office/drawing/2016/11/main" r:id="rId21"/>
                  </a:ext>
                </a:extLst>
              </a:blip>
              <a:srcRect r="56419"/>
              <a:stretch/>
            </p:blipFill>
            <p:spPr>
              <a:xfrm>
                <a:off x="3139721" y="5209067"/>
                <a:ext cx="572023" cy="425212"/>
              </a:xfrm>
              <a:prstGeom prst="rect">
                <a:avLst/>
              </a:prstGeom>
            </p:spPr>
          </p:pic>
          <p:pic>
            <p:nvPicPr>
              <p:cNvPr id="269" name="Grafik 268">
                <a:extLst>
                  <a:ext uri="{FF2B5EF4-FFF2-40B4-BE49-F238E27FC236}">
                    <a16:creationId xmlns:a16="http://schemas.microsoft.com/office/drawing/2014/main" id="{E4DE54C2-C9BA-8154-CA05-4635BFE60021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cstate="print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20"/>
                  </a:ext>
                  <a:ext uri="{837473B0-CC2E-450A-ABE3-18F120FF3D39}">
                    <a1611:picAttrSrcUrl xmlns:a1611="http://schemas.microsoft.com/office/drawing/2016/11/main" r:id="rId21"/>
                  </a:ext>
                </a:extLst>
              </a:blip>
              <a:srcRect r="56419"/>
              <a:stretch/>
            </p:blipFill>
            <p:spPr>
              <a:xfrm>
                <a:off x="4133290" y="5209067"/>
                <a:ext cx="572023" cy="425210"/>
              </a:xfrm>
              <a:prstGeom prst="rect">
                <a:avLst/>
              </a:prstGeom>
            </p:spPr>
          </p:pic>
          <p:pic>
            <p:nvPicPr>
              <p:cNvPr id="270" name="Grafik 269">
                <a:extLst>
                  <a:ext uri="{FF2B5EF4-FFF2-40B4-BE49-F238E27FC236}">
                    <a16:creationId xmlns:a16="http://schemas.microsoft.com/office/drawing/2014/main" id="{51E88EEC-416D-7FD0-8D34-CE527E83AEEB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cstate="print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20"/>
                  </a:ext>
                  <a:ext uri="{837473B0-CC2E-450A-ABE3-18F120FF3D39}">
                    <a1611:picAttrSrcUrl xmlns:a1611="http://schemas.microsoft.com/office/drawing/2016/11/main" r:id="rId21"/>
                  </a:ext>
                </a:extLst>
              </a:blip>
              <a:srcRect r="56419"/>
              <a:stretch/>
            </p:blipFill>
            <p:spPr>
              <a:xfrm>
                <a:off x="5126859" y="5209069"/>
                <a:ext cx="572023" cy="425209"/>
              </a:xfrm>
              <a:prstGeom prst="rect">
                <a:avLst/>
              </a:prstGeom>
            </p:spPr>
          </p:pic>
          <p:pic>
            <p:nvPicPr>
              <p:cNvPr id="271" name="Grafik 270">
                <a:extLst>
                  <a:ext uri="{FF2B5EF4-FFF2-40B4-BE49-F238E27FC236}">
                    <a16:creationId xmlns:a16="http://schemas.microsoft.com/office/drawing/2014/main" id="{041C322E-0799-B05A-D6DF-A6009D4C4AE6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cstate="print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20"/>
                  </a:ext>
                  <a:ext uri="{837473B0-CC2E-450A-ABE3-18F120FF3D39}">
                    <a1611:picAttrSrcUrl xmlns:a1611="http://schemas.microsoft.com/office/drawing/2016/11/main" r:id="rId21"/>
                  </a:ext>
                </a:extLst>
              </a:blip>
              <a:srcRect r="56419"/>
              <a:stretch/>
            </p:blipFill>
            <p:spPr>
              <a:xfrm>
                <a:off x="6120428" y="5209070"/>
                <a:ext cx="572023" cy="425208"/>
              </a:xfrm>
              <a:prstGeom prst="rect">
                <a:avLst/>
              </a:prstGeom>
            </p:spPr>
          </p:pic>
          <p:pic>
            <p:nvPicPr>
              <p:cNvPr id="272" name="Grafik 271">
                <a:extLst>
                  <a:ext uri="{FF2B5EF4-FFF2-40B4-BE49-F238E27FC236}">
                    <a16:creationId xmlns:a16="http://schemas.microsoft.com/office/drawing/2014/main" id="{287FE247-FDFC-1BEE-4002-1FB8E246F577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cstate="print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20"/>
                  </a:ext>
                  <a:ext uri="{837473B0-CC2E-450A-ABE3-18F120FF3D39}">
                    <a1611:picAttrSrcUrl xmlns:a1611="http://schemas.microsoft.com/office/drawing/2016/11/main" r:id="rId21"/>
                  </a:ext>
                </a:extLst>
              </a:blip>
              <a:srcRect r="56419"/>
              <a:stretch/>
            </p:blipFill>
            <p:spPr>
              <a:xfrm>
                <a:off x="7113997" y="5209070"/>
                <a:ext cx="572023" cy="425208"/>
              </a:xfrm>
              <a:prstGeom prst="rect">
                <a:avLst/>
              </a:prstGeom>
            </p:spPr>
          </p:pic>
        </p:grpSp>
        <p:sp>
          <p:nvSpPr>
            <p:cNvPr id="207" name="Textfeld 206">
              <a:extLst>
                <a:ext uri="{FF2B5EF4-FFF2-40B4-BE49-F238E27FC236}">
                  <a16:creationId xmlns:a16="http://schemas.microsoft.com/office/drawing/2014/main" id="{8ED4DB1E-5E91-678A-EBF5-B8883056D394}"/>
                </a:ext>
              </a:extLst>
            </p:cNvPr>
            <p:cNvSpPr txBox="1"/>
            <p:nvPr/>
          </p:nvSpPr>
          <p:spPr>
            <a:xfrm>
              <a:off x="-743169" y="3320416"/>
              <a:ext cx="2252158" cy="62582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de-DE" sz="1400" b="1" i="0" u="none" strike="noStrike" kern="0" cap="none" spc="0" normalizeH="0" baseline="0" noProof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PE- und THG</a:t>
              </a:r>
            </a:p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de-DE" sz="1400" b="1" i="0" u="none" strike="noStrike" kern="0" cap="none" spc="0" normalizeH="0" baseline="0" noProof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Konversionsfaktoren</a:t>
              </a:r>
            </a:p>
          </p:txBody>
        </p:sp>
        <p:sp>
          <p:nvSpPr>
            <p:cNvPr id="208" name="Rechteck 207">
              <a:extLst>
                <a:ext uri="{FF2B5EF4-FFF2-40B4-BE49-F238E27FC236}">
                  <a16:creationId xmlns:a16="http://schemas.microsoft.com/office/drawing/2014/main" id="{881CBE16-FF3C-1383-B5C3-91A7B885BF9A}"/>
                </a:ext>
              </a:extLst>
            </p:cNvPr>
            <p:cNvSpPr/>
            <p:nvPr/>
          </p:nvSpPr>
          <p:spPr>
            <a:xfrm>
              <a:off x="1595420" y="3196157"/>
              <a:ext cx="6659992" cy="3052877"/>
            </a:xfrm>
            <a:prstGeom prst="rect">
              <a:avLst/>
            </a:prstGeom>
            <a:noFill/>
            <a:ln w="12700" cap="flat" cmpd="sng" algn="ctr">
              <a:solidFill>
                <a:srgbClr val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de-DE" sz="1800" b="0" i="0" u="none" strike="noStrike" kern="0" cap="none" spc="0" normalizeH="0" baseline="0" noProof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grpSp>
          <p:nvGrpSpPr>
            <p:cNvPr id="209" name="Gruppieren 208">
              <a:extLst>
                <a:ext uri="{FF2B5EF4-FFF2-40B4-BE49-F238E27FC236}">
                  <a16:creationId xmlns:a16="http://schemas.microsoft.com/office/drawing/2014/main" id="{9839DFDC-3F31-AE34-9166-E5AB56D36019}"/>
                </a:ext>
              </a:extLst>
            </p:cNvPr>
            <p:cNvGrpSpPr/>
            <p:nvPr/>
          </p:nvGrpSpPr>
          <p:grpSpPr>
            <a:xfrm>
              <a:off x="1616143" y="3722531"/>
              <a:ext cx="6514770" cy="382499"/>
              <a:chOff x="1463995" y="3180169"/>
              <a:chExt cx="7671392" cy="1807396"/>
            </a:xfrm>
          </p:grpSpPr>
          <p:sp>
            <p:nvSpPr>
              <p:cNvPr id="249" name="Freihandform: Form 248">
                <a:extLst>
                  <a:ext uri="{FF2B5EF4-FFF2-40B4-BE49-F238E27FC236}">
                    <a16:creationId xmlns:a16="http://schemas.microsoft.com/office/drawing/2014/main" id="{183BC5E7-4A46-8DC0-DBA7-5FC632A9D132}"/>
                  </a:ext>
                </a:extLst>
              </p:cNvPr>
              <p:cNvSpPr/>
              <p:nvPr/>
            </p:nvSpPr>
            <p:spPr>
              <a:xfrm flipV="1">
                <a:off x="1463995" y="3365677"/>
                <a:ext cx="571104" cy="1621888"/>
              </a:xfrm>
              <a:custGeom>
                <a:avLst/>
                <a:gdLst>
                  <a:gd name="connsiteX0" fmla="*/ 238655 w 571104"/>
                  <a:gd name="connsiteY0" fmla="*/ 1615309 h 1621888"/>
                  <a:gd name="connsiteX1" fmla="*/ 157546 w 571104"/>
                  <a:gd name="connsiteY1" fmla="*/ 1577674 h 1621888"/>
                  <a:gd name="connsiteX2" fmla="*/ 126486 w 571104"/>
                  <a:gd name="connsiteY2" fmla="*/ 1528063 h 1621888"/>
                  <a:gd name="connsiteX3" fmla="*/ 121456 w 571104"/>
                  <a:gd name="connsiteY3" fmla="*/ 1485723 h 1621888"/>
                  <a:gd name="connsiteX4" fmla="*/ 124851 w 571104"/>
                  <a:gd name="connsiteY4" fmla="*/ 1445735 h 1621888"/>
                  <a:gd name="connsiteX5" fmla="*/ 138558 w 571104"/>
                  <a:gd name="connsiteY5" fmla="*/ 1413445 h 1621888"/>
                  <a:gd name="connsiteX6" fmla="*/ 166349 w 571104"/>
                  <a:gd name="connsiteY6" fmla="*/ 1378162 h 1621888"/>
                  <a:gd name="connsiteX7" fmla="*/ 179930 w 571104"/>
                  <a:gd name="connsiteY7" fmla="*/ 1364476 h 1621888"/>
                  <a:gd name="connsiteX8" fmla="*/ 199295 w 571104"/>
                  <a:gd name="connsiteY8" fmla="*/ 1219707 h 1621888"/>
                  <a:gd name="connsiteX9" fmla="*/ 193133 w 571104"/>
                  <a:gd name="connsiteY9" fmla="*/ 1162826 h 1621888"/>
                  <a:gd name="connsiteX10" fmla="*/ 147486 w 571104"/>
                  <a:gd name="connsiteY10" fmla="*/ 1157052 h 1621888"/>
                  <a:gd name="connsiteX11" fmla="*/ 12431 w 571104"/>
                  <a:gd name="connsiteY11" fmla="*/ 1137379 h 1621888"/>
                  <a:gd name="connsiteX12" fmla="*/ 3880 w 571104"/>
                  <a:gd name="connsiteY12" fmla="*/ 1128398 h 1621888"/>
                  <a:gd name="connsiteX13" fmla="*/ -18 w 571104"/>
                  <a:gd name="connsiteY13" fmla="*/ 1121341 h 1621888"/>
                  <a:gd name="connsiteX14" fmla="*/ 1114 w 571104"/>
                  <a:gd name="connsiteY14" fmla="*/ 872219 h 1621888"/>
                  <a:gd name="connsiteX15" fmla="*/ -2282 w 571104"/>
                  <a:gd name="connsiteY15" fmla="*/ 106675 h 1621888"/>
                  <a:gd name="connsiteX16" fmla="*/ 3754 w 571104"/>
                  <a:gd name="connsiteY16" fmla="*/ 45090 h 1621888"/>
                  <a:gd name="connsiteX17" fmla="*/ 70779 w 571104"/>
                  <a:gd name="connsiteY17" fmla="*/ 16008 h 1621888"/>
                  <a:gd name="connsiteX18" fmla="*/ 352584 w 571104"/>
                  <a:gd name="connsiteY18" fmla="*/ -2596 h 1621888"/>
                  <a:gd name="connsiteX19" fmla="*/ 482609 w 571104"/>
                  <a:gd name="connsiteY19" fmla="*/ 14725 h 1621888"/>
                  <a:gd name="connsiteX20" fmla="*/ 541712 w 571104"/>
                  <a:gd name="connsiteY20" fmla="*/ 33115 h 1621888"/>
                  <a:gd name="connsiteX21" fmla="*/ 558688 w 571104"/>
                  <a:gd name="connsiteY21" fmla="*/ 60059 h 1621888"/>
                  <a:gd name="connsiteX22" fmla="*/ 564975 w 571104"/>
                  <a:gd name="connsiteY22" fmla="*/ 560014 h 1621888"/>
                  <a:gd name="connsiteX23" fmla="*/ 567993 w 571104"/>
                  <a:gd name="connsiteY23" fmla="*/ 981277 h 1621888"/>
                  <a:gd name="connsiteX24" fmla="*/ 567616 w 571104"/>
                  <a:gd name="connsiteY24" fmla="*/ 1115995 h 1621888"/>
                  <a:gd name="connsiteX25" fmla="*/ 533286 w 571104"/>
                  <a:gd name="connsiteY25" fmla="*/ 1135027 h 1621888"/>
                  <a:gd name="connsiteX26" fmla="*/ 409046 w 571104"/>
                  <a:gd name="connsiteY26" fmla="*/ 1151920 h 1621888"/>
                  <a:gd name="connsiteX27" fmla="*/ 385279 w 571104"/>
                  <a:gd name="connsiteY27" fmla="*/ 1153417 h 1621888"/>
                  <a:gd name="connsiteX28" fmla="*/ 382261 w 571104"/>
                  <a:gd name="connsiteY28" fmla="*/ 1169455 h 1621888"/>
                  <a:gd name="connsiteX29" fmla="*/ 378991 w 571104"/>
                  <a:gd name="connsiteY29" fmla="*/ 1307809 h 1621888"/>
                  <a:gd name="connsiteX30" fmla="*/ 408668 w 571104"/>
                  <a:gd name="connsiteY30" fmla="*/ 1378376 h 1621888"/>
                  <a:gd name="connsiteX31" fmla="*/ 430675 w 571104"/>
                  <a:gd name="connsiteY31" fmla="*/ 1405747 h 1621888"/>
                  <a:gd name="connsiteX32" fmla="*/ 448154 w 571104"/>
                  <a:gd name="connsiteY32" fmla="*/ 1476314 h 1621888"/>
                  <a:gd name="connsiteX33" fmla="*/ 434824 w 571104"/>
                  <a:gd name="connsiteY33" fmla="*/ 1551585 h 1621888"/>
                  <a:gd name="connsiteX34" fmla="*/ 371321 w 571104"/>
                  <a:gd name="connsiteY34" fmla="*/ 1600341 h 1621888"/>
                  <a:gd name="connsiteX35" fmla="*/ 238655 w 571104"/>
                  <a:gd name="connsiteY35" fmla="*/ 1615309 h 162188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</a:cxnLst>
                <a:rect l="l" t="t" r="r" b="b"/>
                <a:pathLst>
                  <a:path w="571104" h="1621888">
                    <a:moveTo>
                      <a:pt x="238655" y="1615309"/>
                    </a:moveTo>
                    <a:cubicBezTo>
                      <a:pt x="204577" y="1609322"/>
                      <a:pt x="179175" y="1597561"/>
                      <a:pt x="157546" y="1577674"/>
                    </a:cubicBezTo>
                    <a:cubicBezTo>
                      <a:pt x="141450" y="1563133"/>
                      <a:pt x="132774" y="1549233"/>
                      <a:pt x="126486" y="1528063"/>
                    </a:cubicBezTo>
                    <a:cubicBezTo>
                      <a:pt x="121456" y="1510956"/>
                      <a:pt x="121456" y="1510742"/>
                      <a:pt x="121456" y="1485723"/>
                    </a:cubicBezTo>
                    <a:cubicBezTo>
                      <a:pt x="121456" y="1463270"/>
                      <a:pt x="121708" y="1458993"/>
                      <a:pt x="124851" y="1445735"/>
                    </a:cubicBezTo>
                    <a:cubicBezTo>
                      <a:pt x="127744" y="1433118"/>
                      <a:pt x="130007" y="1427773"/>
                      <a:pt x="138558" y="1413445"/>
                    </a:cubicBezTo>
                    <a:cubicBezTo>
                      <a:pt x="151133" y="1392275"/>
                      <a:pt x="152265" y="1390778"/>
                      <a:pt x="166349" y="1378162"/>
                    </a:cubicBezTo>
                    <a:cubicBezTo>
                      <a:pt x="172636" y="1372388"/>
                      <a:pt x="178672" y="1366401"/>
                      <a:pt x="179930" y="1364476"/>
                    </a:cubicBezTo>
                    <a:cubicBezTo>
                      <a:pt x="193133" y="1344803"/>
                      <a:pt x="200804" y="1287066"/>
                      <a:pt x="199295" y="1219707"/>
                    </a:cubicBezTo>
                    <a:cubicBezTo>
                      <a:pt x="198541" y="1188487"/>
                      <a:pt x="196529" y="1170097"/>
                      <a:pt x="193133" y="1162826"/>
                    </a:cubicBezTo>
                    <a:cubicBezTo>
                      <a:pt x="191750" y="1159832"/>
                      <a:pt x="185211" y="1158977"/>
                      <a:pt x="147486" y="1157052"/>
                    </a:cubicBezTo>
                    <a:cubicBezTo>
                      <a:pt x="88384" y="1153845"/>
                      <a:pt x="29533" y="1145291"/>
                      <a:pt x="12431" y="1137379"/>
                    </a:cubicBezTo>
                    <a:cubicBezTo>
                      <a:pt x="9916" y="1136310"/>
                      <a:pt x="6018" y="1132247"/>
                      <a:pt x="3880" y="1128398"/>
                    </a:cubicBezTo>
                    <a:lnTo>
                      <a:pt x="-18" y="1121341"/>
                    </a:lnTo>
                    <a:lnTo>
                      <a:pt x="1114" y="872219"/>
                    </a:lnTo>
                    <a:cubicBezTo>
                      <a:pt x="2120" y="635285"/>
                      <a:pt x="359" y="236048"/>
                      <a:pt x="-2282" y="106675"/>
                    </a:cubicBezTo>
                    <a:cubicBezTo>
                      <a:pt x="-3162" y="63908"/>
                      <a:pt x="-2407" y="56423"/>
                      <a:pt x="3754" y="45090"/>
                    </a:cubicBezTo>
                    <a:cubicBezTo>
                      <a:pt x="12305" y="29693"/>
                      <a:pt x="24126" y="24561"/>
                      <a:pt x="70779" y="16008"/>
                    </a:cubicBezTo>
                    <a:cubicBezTo>
                      <a:pt x="154780" y="398"/>
                      <a:pt x="268583" y="-7087"/>
                      <a:pt x="352584" y="-2596"/>
                    </a:cubicBezTo>
                    <a:cubicBezTo>
                      <a:pt x="408920" y="398"/>
                      <a:pt x="432309" y="3605"/>
                      <a:pt x="482609" y="14725"/>
                    </a:cubicBezTo>
                    <a:cubicBezTo>
                      <a:pt x="524861" y="23920"/>
                      <a:pt x="527125" y="24775"/>
                      <a:pt x="541712" y="33115"/>
                    </a:cubicBezTo>
                    <a:cubicBezTo>
                      <a:pt x="553029" y="39744"/>
                      <a:pt x="557556" y="47014"/>
                      <a:pt x="558688" y="60059"/>
                    </a:cubicBezTo>
                    <a:cubicBezTo>
                      <a:pt x="560574" y="83795"/>
                      <a:pt x="563215" y="294426"/>
                      <a:pt x="564975" y="560014"/>
                    </a:cubicBezTo>
                    <a:cubicBezTo>
                      <a:pt x="565981" y="720607"/>
                      <a:pt x="567365" y="910068"/>
                      <a:pt x="567993" y="981277"/>
                    </a:cubicBezTo>
                    <a:cubicBezTo>
                      <a:pt x="568748" y="1076221"/>
                      <a:pt x="568748" y="1112146"/>
                      <a:pt x="567616" y="1115995"/>
                    </a:cubicBezTo>
                    <a:cubicBezTo>
                      <a:pt x="565856" y="1122624"/>
                      <a:pt x="554161" y="1129040"/>
                      <a:pt x="533286" y="1135027"/>
                    </a:cubicBezTo>
                    <a:cubicBezTo>
                      <a:pt x="516687" y="1139945"/>
                      <a:pt x="445765" y="1149568"/>
                      <a:pt x="409046" y="1151920"/>
                    </a:cubicBezTo>
                    <a:lnTo>
                      <a:pt x="385279" y="1153417"/>
                    </a:lnTo>
                    <a:lnTo>
                      <a:pt x="382261" y="1169455"/>
                    </a:lnTo>
                    <a:cubicBezTo>
                      <a:pt x="376854" y="1199179"/>
                      <a:pt x="375093" y="1270173"/>
                      <a:pt x="378991" y="1307809"/>
                    </a:cubicBezTo>
                    <a:cubicBezTo>
                      <a:pt x="383015" y="1348011"/>
                      <a:pt x="388297" y="1360413"/>
                      <a:pt x="408668" y="1378376"/>
                    </a:cubicBezTo>
                    <a:cubicBezTo>
                      <a:pt x="420237" y="1388640"/>
                      <a:pt x="423884" y="1393131"/>
                      <a:pt x="430675" y="1405747"/>
                    </a:cubicBezTo>
                    <a:cubicBezTo>
                      <a:pt x="442998" y="1428414"/>
                      <a:pt x="446519" y="1442955"/>
                      <a:pt x="448154" y="1476314"/>
                    </a:cubicBezTo>
                    <a:cubicBezTo>
                      <a:pt x="449537" y="1506251"/>
                      <a:pt x="444633" y="1533623"/>
                      <a:pt x="434824" y="1551585"/>
                    </a:cubicBezTo>
                    <a:cubicBezTo>
                      <a:pt x="426776" y="1566126"/>
                      <a:pt x="397980" y="1588152"/>
                      <a:pt x="371321" y="1600341"/>
                    </a:cubicBezTo>
                    <a:cubicBezTo>
                      <a:pt x="337997" y="1615523"/>
                      <a:pt x="277763" y="1622152"/>
                      <a:pt x="238655" y="1615309"/>
                    </a:cubicBezTo>
                    <a:close/>
                  </a:path>
                </a:pathLst>
              </a:custGeom>
              <a:solidFill>
                <a:srgbClr val="950F53"/>
              </a:solidFill>
              <a:ln w="5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de-DE" sz="1800" b="0" i="0" u="none" strike="noStrike" kern="0" cap="none" spc="0" normalizeH="0" baseline="0" noProof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50" name="Freihandform: Form 249">
                <a:extLst>
                  <a:ext uri="{FF2B5EF4-FFF2-40B4-BE49-F238E27FC236}">
                    <a16:creationId xmlns:a16="http://schemas.microsoft.com/office/drawing/2014/main" id="{E2B9F61C-74AB-3BAD-7C84-26A3362B9037}"/>
                  </a:ext>
                </a:extLst>
              </p:cNvPr>
              <p:cNvSpPr/>
              <p:nvPr/>
            </p:nvSpPr>
            <p:spPr>
              <a:xfrm flipV="1">
                <a:off x="2109476" y="3495759"/>
                <a:ext cx="571104" cy="1491806"/>
              </a:xfrm>
              <a:custGeom>
                <a:avLst/>
                <a:gdLst>
                  <a:gd name="connsiteX0" fmla="*/ 238655 w 571104"/>
                  <a:gd name="connsiteY0" fmla="*/ 1615309 h 1621888"/>
                  <a:gd name="connsiteX1" fmla="*/ 157546 w 571104"/>
                  <a:gd name="connsiteY1" fmla="*/ 1577674 h 1621888"/>
                  <a:gd name="connsiteX2" fmla="*/ 126486 w 571104"/>
                  <a:gd name="connsiteY2" fmla="*/ 1528063 h 1621888"/>
                  <a:gd name="connsiteX3" fmla="*/ 121456 w 571104"/>
                  <a:gd name="connsiteY3" fmla="*/ 1485723 h 1621888"/>
                  <a:gd name="connsiteX4" fmla="*/ 124851 w 571104"/>
                  <a:gd name="connsiteY4" fmla="*/ 1445735 h 1621888"/>
                  <a:gd name="connsiteX5" fmla="*/ 138558 w 571104"/>
                  <a:gd name="connsiteY5" fmla="*/ 1413445 h 1621888"/>
                  <a:gd name="connsiteX6" fmla="*/ 166349 w 571104"/>
                  <a:gd name="connsiteY6" fmla="*/ 1378162 h 1621888"/>
                  <a:gd name="connsiteX7" fmla="*/ 179930 w 571104"/>
                  <a:gd name="connsiteY7" fmla="*/ 1364476 h 1621888"/>
                  <a:gd name="connsiteX8" fmla="*/ 199295 w 571104"/>
                  <a:gd name="connsiteY8" fmla="*/ 1219707 h 1621888"/>
                  <a:gd name="connsiteX9" fmla="*/ 193133 w 571104"/>
                  <a:gd name="connsiteY9" fmla="*/ 1162826 h 1621888"/>
                  <a:gd name="connsiteX10" fmla="*/ 147486 w 571104"/>
                  <a:gd name="connsiteY10" fmla="*/ 1157052 h 1621888"/>
                  <a:gd name="connsiteX11" fmla="*/ 12431 w 571104"/>
                  <a:gd name="connsiteY11" fmla="*/ 1137379 h 1621888"/>
                  <a:gd name="connsiteX12" fmla="*/ 3880 w 571104"/>
                  <a:gd name="connsiteY12" fmla="*/ 1128398 h 1621888"/>
                  <a:gd name="connsiteX13" fmla="*/ -18 w 571104"/>
                  <a:gd name="connsiteY13" fmla="*/ 1121341 h 1621888"/>
                  <a:gd name="connsiteX14" fmla="*/ 1114 w 571104"/>
                  <a:gd name="connsiteY14" fmla="*/ 872219 h 1621888"/>
                  <a:gd name="connsiteX15" fmla="*/ -2282 w 571104"/>
                  <a:gd name="connsiteY15" fmla="*/ 106675 h 1621888"/>
                  <a:gd name="connsiteX16" fmla="*/ 3754 w 571104"/>
                  <a:gd name="connsiteY16" fmla="*/ 45090 h 1621888"/>
                  <a:gd name="connsiteX17" fmla="*/ 70779 w 571104"/>
                  <a:gd name="connsiteY17" fmla="*/ 16008 h 1621888"/>
                  <a:gd name="connsiteX18" fmla="*/ 352584 w 571104"/>
                  <a:gd name="connsiteY18" fmla="*/ -2596 h 1621888"/>
                  <a:gd name="connsiteX19" fmla="*/ 482609 w 571104"/>
                  <a:gd name="connsiteY19" fmla="*/ 14725 h 1621888"/>
                  <a:gd name="connsiteX20" fmla="*/ 541712 w 571104"/>
                  <a:gd name="connsiteY20" fmla="*/ 33115 h 1621888"/>
                  <a:gd name="connsiteX21" fmla="*/ 558688 w 571104"/>
                  <a:gd name="connsiteY21" fmla="*/ 60059 h 1621888"/>
                  <a:gd name="connsiteX22" fmla="*/ 564975 w 571104"/>
                  <a:gd name="connsiteY22" fmla="*/ 560014 h 1621888"/>
                  <a:gd name="connsiteX23" fmla="*/ 567993 w 571104"/>
                  <a:gd name="connsiteY23" fmla="*/ 981277 h 1621888"/>
                  <a:gd name="connsiteX24" fmla="*/ 567616 w 571104"/>
                  <a:gd name="connsiteY24" fmla="*/ 1115995 h 1621888"/>
                  <a:gd name="connsiteX25" fmla="*/ 533286 w 571104"/>
                  <a:gd name="connsiteY25" fmla="*/ 1135027 h 1621888"/>
                  <a:gd name="connsiteX26" fmla="*/ 409046 w 571104"/>
                  <a:gd name="connsiteY26" fmla="*/ 1151920 h 1621888"/>
                  <a:gd name="connsiteX27" fmla="*/ 385279 w 571104"/>
                  <a:gd name="connsiteY27" fmla="*/ 1153417 h 1621888"/>
                  <a:gd name="connsiteX28" fmla="*/ 382261 w 571104"/>
                  <a:gd name="connsiteY28" fmla="*/ 1169455 h 1621888"/>
                  <a:gd name="connsiteX29" fmla="*/ 378991 w 571104"/>
                  <a:gd name="connsiteY29" fmla="*/ 1307809 h 1621888"/>
                  <a:gd name="connsiteX30" fmla="*/ 408668 w 571104"/>
                  <a:gd name="connsiteY30" fmla="*/ 1378376 h 1621888"/>
                  <a:gd name="connsiteX31" fmla="*/ 430675 w 571104"/>
                  <a:gd name="connsiteY31" fmla="*/ 1405747 h 1621888"/>
                  <a:gd name="connsiteX32" fmla="*/ 448154 w 571104"/>
                  <a:gd name="connsiteY32" fmla="*/ 1476314 h 1621888"/>
                  <a:gd name="connsiteX33" fmla="*/ 434824 w 571104"/>
                  <a:gd name="connsiteY33" fmla="*/ 1551585 h 1621888"/>
                  <a:gd name="connsiteX34" fmla="*/ 371321 w 571104"/>
                  <a:gd name="connsiteY34" fmla="*/ 1600341 h 1621888"/>
                  <a:gd name="connsiteX35" fmla="*/ 238655 w 571104"/>
                  <a:gd name="connsiteY35" fmla="*/ 1615309 h 162188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</a:cxnLst>
                <a:rect l="l" t="t" r="r" b="b"/>
                <a:pathLst>
                  <a:path w="571104" h="1621888">
                    <a:moveTo>
                      <a:pt x="238655" y="1615309"/>
                    </a:moveTo>
                    <a:cubicBezTo>
                      <a:pt x="204577" y="1609322"/>
                      <a:pt x="179175" y="1597561"/>
                      <a:pt x="157546" y="1577674"/>
                    </a:cubicBezTo>
                    <a:cubicBezTo>
                      <a:pt x="141450" y="1563133"/>
                      <a:pt x="132774" y="1549233"/>
                      <a:pt x="126486" y="1528063"/>
                    </a:cubicBezTo>
                    <a:cubicBezTo>
                      <a:pt x="121456" y="1510956"/>
                      <a:pt x="121456" y="1510742"/>
                      <a:pt x="121456" y="1485723"/>
                    </a:cubicBezTo>
                    <a:cubicBezTo>
                      <a:pt x="121456" y="1463270"/>
                      <a:pt x="121708" y="1458993"/>
                      <a:pt x="124851" y="1445735"/>
                    </a:cubicBezTo>
                    <a:cubicBezTo>
                      <a:pt x="127744" y="1433118"/>
                      <a:pt x="130007" y="1427773"/>
                      <a:pt x="138558" y="1413445"/>
                    </a:cubicBezTo>
                    <a:cubicBezTo>
                      <a:pt x="151133" y="1392275"/>
                      <a:pt x="152265" y="1390778"/>
                      <a:pt x="166349" y="1378162"/>
                    </a:cubicBezTo>
                    <a:cubicBezTo>
                      <a:pt x="172636" y="1372388"/>
                      <a:pt x="178672" y="1366401"/>
                      <a:pt x="179930" y="1364476"/>
                    </a:cubicBezTo>
                    <a:cubicBezTo>
                      <a:pt x="193133" y="1344803"/>
                      <a:pt x="200804" y="1287066"/>
                      <a:pt x="199295" y="1219707"/>
                    </a:cubicBezTo>
                    <a:cubicBezTo>
                      <a:pt x="198541" y="1188487"/>
                      <a:pt x="196529" y="1170097"/>
                      <a:pt x="193133" y="1162826"/>
                    </a:cubicBezTo>
                    <a:cubicBezTo>
                      <a:pt x="191750" y="1159832"/>
                      <a:pt x="185211" y="1158977"/>
                      <a:pt x="147486" y="1157052"/>
                    </a:cubicBezTo>
                    <a:cubicBezTo>
                      <a:pt x="88384" y="1153845"/>
                      <a:pt x="29533" y="1145291"/>
                      <a:pt x="12431" y="1137379"/>
                    </a:cubicBezTo>
                    <a:cubicBezTo>
                      <a:pt x="9916" y="1136310"/>
                      <a:pt x="6018" y="1132247"/>
                      <a:pt x="3880" y="1128398"/>
                    </a:cubicBezTo>
                    <a:lnTo>
                      <a:pt x="-18" y="1121341"/>
                    </a:lnTo>
                    <a:lnTo>
                      <a:pt x="1114" y="872219"/>
                    </a:lnTo>
                    <a:cubicBezTo>
                      <a:pt x="2120" y="635285"/>
                      <a:pt x="359" y="236048"/>
                      <a:pt x="-2282" y="106675"/>
                    </a:cubicBezTo>
                    <a:cubicBezTo>
                      <a:pt x="-3162" y="63908"/>
                      <a:pt x="-2407" y="56423"/>
                      <a:pt x="3754" y="45090"/>
                    </a:cubicBezTo>
                    <a:cubicBezTo>
                      <a:pt x="12305" y="29693"/>
                      <a:pt x="24126" y="24561"/>
                      <a:pt x="70779" y="16008"/>
                    </a:cubicBezTo>
                    <a:cubicBezTo>
                      <a:pt x="154780" y="398"/>
                      <a:pt x="268583" y="-7087"/>
                      <a:pt x="352584" y="-2596"/>
                    </a:cubicBezTo>
                    <a:cubicBezTo>
                      <a:pt x="408920" y="398"/>
                      <a:pt x="432309" y="3605"/>
                      <a:pt x="482609" y="14725"/>
                    </a:cubicBezTo>
                    <a:cubicBezTo>
                      <a:pt x="524861" y="23920"/>
                      <a:pt x="527125" y="24775"/>
                      <a:pt x="541712" y="33115"/>
                    </a:cubicBezTo>
                    <a:cubicBezTo>
                      <a:pt x="553029" y="39744"/>
                      <a:pt x="557556" y="47014"/>
                      <a:pt x="558688" y="60059"/>
                    </a:cubicBezTo>
                    <a:cubicBezTo>
                      <a:pt x="560574" y="83795"/>
                      <a:pt x="563215" y="294426"/>
                      <a:pt x="564975" y="560014"/>
                    </a:cubicBezTo>
                    <a:cubicBezTo>
                      <a:pt x="565981" y="720607"/>
                      <a:pt x="567365" y="910068"/>
                      <a:pt x="567993" y="981277"/>
                    </a:cubicBezTo>
                    <a:cubicBezTo>
                      <a:pt x="568748" y="1076221"/>
                      <a:pt x="568748" y="1112146"/>
                      <a:pt x="567616" y="1115995"/>
                    </a:cubicBezTo>
                    <a:cubicBezTo>
                      <a:pt x="565856" y="1122624"/>
                      <a:pt x="554161" y="1129040"/>
                      <a:pt x="533286" y="1135027"/>
                    </a:cubicBezTo>
                    <a:cubicBezTo>
                      <a:pt x="516687" y="1139945"/>
                      <a:pt x="445765" y="1149568"/>
                      <a:pt x="409046" y="1151920"/>
                    </a:cubicBezTo>
                    <a:lnTo>
                      <a:pt x="385279" y="1153417"/>
                    </a:lnTo>
                    <a:lnTo>
                      <a:pt x="382261" y="1169455"/>
                    </a:lnTo>
                    <a:cubicBezTo>
                      <a:pt x="376854" y="1199179"/>
                      <a:pt x="375093" y="1270173"/>
                      <a:pt x="378991" y="1307809"/>
                    </a:cubicBezTo>
                    <a:cubicBezTo>
                      <a:pt x="383015" y="1348011"/>
                      <a:pt x="388297" y="1360413"/>
                      <a:pt x="408668" y="1378376"/>
                    </a:cubicBezTo>
                    <a:cubicBezTo>
                      <a:pt x="420237" y="1388640"/>
                      <a:pt x="423884" y="1393131"/>
                      <a:pt x="430675" y="1405747"/>
                    </a:cubicBezTo>
                    <a:cubicBezTo>
                      <a:pt x="442998" y="1428414"/>
                      <a:pt x="446519" y="1442955"/>
                      <a:pt x="448154" y="1476314"/>
                    </a:cubicBezTo>
                    <a:cubicBezTo>
                      <a:pt x="449537" y="1506251"/>
                      <a:pt x="444633" y="1533623"/>
                      <a:pt x="434824" y="1551585"/>
                    </a:cubicBezTo>
                    <a:cubicBezTo>
                      <a:pt x="426776" y="1566126"/>
                      <a:pt x="397980" y="1588152"/>
                      <a:pt x="371321" y="1600341"/>
                    </a:cubicBezTo>
                    <a:cubicBezTo>
                      <a:pt x="337997" y="1615523"/>
                      <a:pt x="277763" y="1622152"/>
                      <a:pt x="238655" y="1615309"/>
                    </a:cubicBezTo>
                    <a:close/>
                  </a:path>
                </a:pathLst>
              </a:custGeom>
              <a:solidFill>
                <a:srgbClr val="950F53"/>
              </a:solidFill>
              <a:ln w="5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de-DE" sz="1800" b="0" i="0" u="none" strike="noStrike" kern="0" cap="none" spc="0" normalizeH="0" baseline="0" noProof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51" name="Freihandform: Form 250">
                <a:extLst>
                  <a:ext uri="{FF2B5EF4-FFF2-40B4-BE49-F238E27FC236}">
                    <a16:creationId xmlns:a16="http://schemas.microsoft.com/office/drawing/2014/main" id="{5723E261-7395-A554-EF43-7D8C94A52BC8}"/>
                  </a:ext>
                </a:extLst>
              </p:cNvPr>
              <p:cNvSpPr/>
              <p:nvPr/>
            </p:nvSpPr>
            <p:spPr>
              <a:xfrm flipV="1">
                <a:off x="2754957" y="3495759"/>
                <a:ext cx="571104" cy="1491806"/>
              </a:xfrm>
              <a:custGeom>
                <a:avLst/>
                <a:gdLst>
                  <a:gd name="connsiteX0" fmla="*/ 238655 w 571104"/>
                  <a:gd name="connsiteY0" fmla="*/ 1615309 h 1621888"/>
                  <a:gd name="connsiteX1" fmla="*/ 157546 w 571104"/>
                  <a:gd name="connsiteY1" fmla="*/ 1577674 h 1621888"/>
                  <a:gd name="connsiteX2" fmla="*/ 126486 w 571104"/>
                  <a:gd name="connsiteY2" fmla="*/ 1528063 h 1621888"/>
                  <a:gd name="connsiteX3" fmla="*/ 121456 w 571104"/>
                  <a:gd name="connsiteY3" fmla="*/ 1485723 h 1621888"/>
                  <a:gd name="connsiteX4" fmla="*/ 124851 w 571104"/>
                  <a:gd name="connsiteY4" fmla="*/ 1445735 h 1621888"/>
                  <a:gd name="connsiteX5" fmla="*/ 138558 w 571104"/>
                  <a:gd name="connsiteY5" fmla="*/ 1413445 h 1621888"/>
                  <a:gd name="connsiteX6" fmla="*/ 166349 w 571104"/>
                  <a:gd name="connsiteY6" fmla="*/ 1378162 h 1621888"/>
                  <a:gd name="connsiteX7" fmla="*/ 179930 w 571104"/>
                  <a:gd name="connsiteY7" fmla="*/ 1364476 h 1621888"/>
                  <a:gd name="connsiteX8" fmla="*/ 199295 w 571104"/>
                  <a:gd name="connsiteY8" fmla="*/ 1219707 h 1621888"/>
                  <a:gd name="connsiteX9" fmla="*/ 193133 w 571104"/>
                  <a:gd name="connsiteY9" fmla="*/ 1162826 h 1621888"/>
                  <a:gd name="connsiteX10" fmla="*/ 147486 w 571104"/>
                  <a:gd name="connsiteY10" fmla="*/ 1157052 h 1621888"/>
                  <a:gd name="connsiteX11" fmla="*/ 12431 w 571104"/>
                  <a:gd name="connsiteY11" fmla="*/ 1137379 h 1621888"/>
                  <a:gd name="connsiteX12" fmla="*/ 3880 w 571104"/>
                  <a:gd name="connsiteY12" fmla="*/ 1128398 h 1621888"/>
                  <a:gd name="connsiteX13" fmla="*/ -18 w 571104"/>
                  <a:gd name="connsiteY13" fmla="*/ 1121341 h 1621888"/>
                  <a:gd name="connsiteX14" fmla="*/ 1114 w 571104"/>
                  <a:gd name="connsiteY14" fmla="*/ 872219 h 1621888"/>
                  <a:gd name="connsiteX15" fmla="*/ -2282 w 571104"/>
                  <a:gd name="connsiteY15" fmla="*/ 106675 h 1621888"/>
                  <a:gd name="connsiteX16" fmla="*/ 3754 w 571104"/>
                  <a:gd name="connsiteY16" fmla="*/ 45090 h 1621888"/>
                  <a:gd name="connsiteX17" fmla="*/ 70779 w 571104"/>
                  <a:gd name="connsiteY17" fmla="*/ 16008 h 1621888"/>
                  <a:gd name="connsiteX18" fmla="*/ 352584 w 571104"/>
                  <a:gd name="connsiteY18" fmla="*/ -2596 h 1621888"/>
                  <a:gd name="connsiteX19" fmla="*/ 482609 w 571104"/>
                  <a:gd name="connsiteY19" fmla="*/ 14725 h 1621888"/>
                  <a:gd name="connsiteX20" fmla="*/ 541712 w 571104"/>
                  <a:gd name="connsiteY20" fmla="*/ 33115 h 1621888"/>
                  <a:gd name="connsiteX21" fmla="*/ 558688 w 571104"/>
                  <a:gd name="connsiteY21" fmla="*/ 60059 h 1621888"/>
                  <a:gd name="connsiteX22" fmla="*/ 564975 w 571104"/>
                  <a:gd name="connsiteY22" fmla="*/ 560014 h 1621888"/>
                  <a:gd name="connsiteX23" fmla="*/ 567993 w 571104"/>
                  <a:gd name="connsiteY23" fmla="*/ 981277 h 1621888"/>
                  <a:gd name="connsiteX24" fmla="*/ 567616 w 571104"/>
                  <a:gd name="connsiteY24" fmla="*/ 1115995 h 1621888"/>
                  <a:gd name="connsiteX25" fmla="*/ 533286 w 571104"/>
                  <a:gd name="connsiteY25" fmla="*/ 1135027 h 1621888"/>
                  <a:gd name="connsiteX26" fmla="*/ 409046 w 571104"/>
                  <a:gd name="connsiteY26" fmla="*/ 1151920 h 1621888"/>
                  <a:gd name="connsiteX27" fmla="*/ 385279 w 571104"/>
                  <a:gd name="connsiteY27" fmla="*/ 1153417 h 1621888"/>
                  <a:gd name="connsiteX28" fmla="*/ 382261 w 571104"/>
                  <a:gd name="connsiteY28" fmla="*/ 1169455 h 1621888"/>
                  <a:gd name="connsiteX29" fmla="*/ 378991 w 571104"/>
                  <a:gd name="connsiteY29" fmla="*/ 1307809 h 1621888"/>
                  <a:gd name="connsiteX30" fmla="*/ 408668 w 571104"/>
                  <a:gd name="connsiteY30" fmla="*/ 1378376 h 1621888"/>
                  <a:gd name="connsiteX31" fmla="*/ 430675 w 571104"/>
                  <a:gd name="connsiteY31" fmla="*/ 1405747 h 1621888"/>
                  <a:gd name="connsiteX32" fmla="*/ 448154 w 571104"/>
                  <a:gd name="connsiteY32" fmla="*/ 1476314 h 1621888"/>
                  <a:gd name="connsiteX33" fmla="*/ 434824 w 571104"/>
                  <a:gd name="connsiteY33" fmla="*/ 1551585 h 1621888"/>
                  <a:gd name="connsiteX34" fmla="*/ 371321 w 571104"/>
                  <a:gd name="connsiteY34" fmla="*/ 1600341 h 1621888"/>
                  <a:gd name="connsiteX35" fmla="*/ 238655 w 571104"/>
                  <a:gd name="connsiteY35" fmla="*/ 1615309 h 162188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</a:cxnLst>
                <a:rect l="l" t="t" r="r" b="b"/>
                <a:pathLst>
                  <a:path w="571104" h="1621888">
                    <a:moveTo>
                      <a:pt x="238655" y="1615309"/>
                    </a:moveTo>
                    <a:cubicBezTo>
                      <a:pt x="204577" y="1609322"/>
                      <a:pt x="179175" y="1597561"/>
                      <a:pt x="157546" y="1577674"/>
                    </a:cubicBezTo>
                    <a:cubicBezTo>
                      <a:pt x="141450" y="1563133"/>
                      <a:pt x="132774" y="1549233"/>
                      <a:pt x="126486" y="1528063"/>
                    </a:cubicBezTo>
                    <a:cubicBezTo>
                      <a:pt x="121456" y="1510956"/>
                      <a:pt x="121456" y="1510742"/>
                      <a:pt x="121456" y="1485723"/>
                    </a:cubicBezTo>
                    <a:cubicBezTo>
                      <a:pt x="121456" y="1463270"/>
                      <a:pt x="121708" y="1458993"/>
                      <a:pt x="124851" y="1445735"/>
                    </a:cubicBezTo>
                    <a:cubicBezTo>
                      <a:pt x="127744" y="1433118"/>
                      <a:pt x="130007" y="1427773"/>
                      <a:pt x="138558" y="1413445"/>
                    </a:cubicBezTo>
                    <a:cubicBezTo>
                      <a:pt x="151133" y="1392275"/>
                      <a:pt x="152265" y="1390778"/>
                      <a:pt x="166349" y="1378162"/>
                    </a:cubicBezTo>
                    <a:cubicBezTo>
                      <a:pt x="172636" y="1372388"/>
                      <a:pt x="178672" y="1366401"/>
                      <a:pt x="179930" y="1364476"/>
                    </a:cubicBezTo>
                    <a:cubicBezTo>
                      <a:pt x="193133" y="1344803"/>
                      <a:pt x="200804" y="1287066"/>
                      <a:pt x="199295" y="1219707"/>
                    </a:cubicBezTo>
                    <a:cubicBezTo>
                      <a:pt x="198541" y="1188487"/>
                      <a:pt x="196529" y="1170097"/>
                      <a:pt x="193133" y="1162826"/>
                    </a:cubicBezTo>
                    <a:cubicBezTo>
                      <a:pt x="191750" y="1159832"/>
                      <a:pt x="185211" y="1158977"/>
                      <a:pt x="147486" y="1157052"/>
                    </a:cubicBezTo>
                    <a:cubicBezTo>
                      <a:pt x="88384" y="1153845"/>
                      <a:pt x="29533" y="1145291"/>
                      <a:pt x="12431" y="1137379"/>
                    </a:cubicBezTo>
                    <a:cubicBezTo>
                      <a:pt x="9916" y="1136310"/>
                      <a:pt x="6018" y="1132247"/>
                      <a:pt x="3880" y="1128398"/>
                    </a:cubicBezTo>
                    <a:lnTo>
                      <a:pt x="-18" y="1121341"/>
                    </a:lnTo>
                    <a:lnTo>
                      <a:pt x="1114" y="872219"/>
                    </a:lnTo>
                    <a:cubicBezTo>
                      <a:pt x="2120" y="635285"/>
                      <a:pt x="359" y="236048"/>
                      <a:pt x="-2282" y="106675"/>
                    </a:cubicBezTo>
                    <a:cubicBezTo>
                      <a:pt x="-3162" y="63908"/>
                      <a:pt x="-2407" y="56423"/>
                      <a:pt x="3754" y="45090"/>
                    </a:cubicBezTo>
                    <a:cubicBezTo>
                      <a:pt x="12305" y="29693"/>
                      <a:pt x="24126" y="24561"/>
                      <a:pt x="70779" y="16008"/>
                    </a:cubicBezTo>
                    <a:cubicBezTo>
                      <a:pt x="154780" y="398"/>
                      <a:pt x="268583" y="-7087"/>
                      <a:pt x="352584" y="-2596"/>
                    </a:cubicBezTo>
                    <a:cubicBezTo>
                      <a:pt x="408920" y="398"/>
                      <a:pt x="432309" y="3605"/>
                      <a:pt x="482609" y="14725"/>
                    </a:cubicBezTo>
                    <a:cubicBezTo>
                      <a:pt x="524861" y="23920"/>
                      <a:pt x="527125" y="24775"/>
                      <a:pt x="541712" y="33115"/>
                    </a:cubicBezTo>
                    <a:cubicBezTo>
                      <a:pt x="553029" y="39744"/>
                      <a:pt x="557556" y="47014"/>
                      <a:pt x="558688" y="60059"/>
                    </a:cubicBezTo>
                    <a:cubicBezTo>
                      <a:pt x="560574" y="83795"/>
                      <a:pt x="563215" y="294426"/>
                      <a:pt x="564975" y="560014"/>
                    </a:cubicBezTo>
                    <a:cubicBezTo>
                      <a:pt x="565981" y="720607"/>
                      <a:pt x="567365" y="910068"/>
                      <a:pt x="567993" y="981277"/>
                    </a:cubicBezTo>
                    <a:cubicBezTo>
                      <a:pt x="568748" y="1076221"/>
                      <a:pt x="568748" y="1112146"/>
                      <a:pt x="567616" y="1115995"/>
                    </a:cubicBezTo>
                    <a:cubicBezTo>
                      <a:pt x="565856" y="1122624"/>
                      <a:pt x="554161" y="1129040"/>
                      <a:pt x="533286" y="1135027"/>
                    </a:cubicBezTo>
                    <a:cubicBezTo>
                      <a:pt x="516687" y="1139945"/>
                      <a:pt x="445765" y="1149568"/>
                      <a:pt x="409046" y="1151920"/>
                    </a:cubicBezTo>
                    <a:lnTo>
                      <a:pt x="385279" y="1153417"/>
                    </a:lnTo>
                    <a:lnTo>
                      <a:pt x="382261" y="1169455"/>
                    </a:lnTo>
                    <a:cubicBezTo>
                      <a:pt x="376854" y="1199179"/>
                      <a:pt x="375093" y="1270173"/>
                      <a:pt x="378991" y="1307809"/>
                    </a:cubicBezTo>
                    <a:cubicBezTo>
                      <a:pt x="383015" y="1348011"/>
                      <a:pt x="388297" y="1360413"/>
                      <a:pt x="408668" y="1378376"/>
                    </a:cubicBezTo>
                    <a:cubicBezTo>
                      <a:pt x="420237" y="1388640"/>
                      <a:pt x="423884" y="1393131"/>
                      <a:pt x="430675" y="1405747"/>
                    </a:cubicBezTo>
                    <a:cubicBezTo>
                      <a:pt x="442998" y="1428414"/>
                      <a:pt x="446519" y="1442955"/>
                      <a:pt x="448154" y="1476314"/>
                    </a:cubicBezTo>
                    <a:cubicBezTo>
                      <a:pt x="449537" y="1506251"/>
                      <a:pt x="444633" y="1533623"/>
                      <a:pt x="434824" y="1551585"/>
                    </a:cubicBezTo>
                    <a:cubicBezTo>
                      <a:pt x="426776" y="1566126"/>
                      <a:pt x="397980" y="1588152"/>
                      <a:pt x="371321" y="1600341"/>
                    </a:cubicBezTo>
                    <a:cubicBezTo>
                      <a:pt x="337997" y="1615523"/>
                      <a:pt x="277763" y="1622152"/>
                      <a:pt x="238655" y="1615309"/>
                    </a:cubicBezTo>
                    <a:close/>
                  </a:path>
                </a:pathLst>
              </a:custGeom>
              <a:solidFill>
                <a:srgbClr val="950F53"/>
              </a:solidFill>
              <a:ln w="5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de-DE" sz="1800" b="0" i="0" u="none" strike="noStrike" kern="0" cap="none" spc="0" normalizeH="0" baseline="0" noProof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52" name="Freihandform: Form 251">
                <a:extLst>
                  <a:ext uri="{FF2B5EF4-FFF2-40B4-BE49-F238E27FC236}">
                    <a16:creationId xmlns:a16="http://schemas.microsoft.com/office/drawing/2014/main" id="{EC66662E-0C78-4A1D-5E51-4BC00D90B4FB}"/>
                  </a:ext>
                </a:extLst>
              </p:cNvPr>
              <p:cNvSpPr/>
              <p:nvPr/>
            </p:nvSpPr>
            <p:spPr>
              <a:xfrm flipV="1">
                <a:off x="3400438" y="4191674"/>
                <a:ext cx="571104" cy="795891"/>
              </a:xfrm>
              <a:custGeom>
                <a:avLst/>
                <a:gdLst>
                  <a:gd name="connsiteX0" fmla="*/ 238655 w 571104"/>
                  <a:gd name="connsiteY0" fmla="*/ 1615309 h 1621888"/>
                  <a:gd name="connsiteX1" fmla="*/ 157546 w 571104"/>
                  <a:gd name="connsiteY1" fmla="*/ 1577674 h 1621888"/>
                  <a:gd name="connsiteX2" fmla="*/ 126486 w 571104"/>
                  <a:gd name="connsiteY2" fmla="*/ 1528063 h 1621888"/>
                  <a:gd name="connsiteX3" fmla="*/ 121456 w 571104"/>
                  <a:gd name="connsiteY3" fmla="*/ 1485723 h 1621888"/>
                  <a:gd name="connsiteX4" fmla="*/ 124851 w 571104"/>
                  <a:gd name="connsiteY4" fmla="*/ 1445735 h 1621888"/>
                  <a:gd name="connsiteX5" fmla="*/ 138558 w 571104"/>
                  <a:gd name="connsiteY5" fmla="*/ 1413445 h 1621888"/>
                  <a:gd name="connsiteX6" fmla="*/ 166349 w 571104"/>
                  <a:gd name="connsiteY6" fmla="*/ 1378162 h 1621888"/>
                  <a:gd name="connsiteX7" fmla="*/ 179930 w 571104"/>
                  <a:gd name="connsiteY7" fmla="*/ 1364476 h 1621888"/>
                  <a:gd name="connsiteX8" fmla="*/ 199295 w 571104"/>
                  <a:gd name="connsiteY8" fmla="*/ 1219707 h 1621888"/>
                  <a:gd name="connsiteX9" fmla="*/ 193133 w 571104"/>
                  <a:gd name="connsiteY9" fmla="*/ 1162826 h 1621888"/>
                  <a:gd name="connsiteX10" fmla="*/ 147486 w 571104"/>
                  <a:gd name="connsiteY10" fmla="*/ 1157052 h 1621888"/>
                  <a:gd name="connsiteX11" fmla="*/ 12431 w 571104"/>
                  <a:gd name="connsiteY11" fmla="*/ 1137379 h 1621888"/>
                  <a:gd name="connsiteX12" fmla="*/ 3880 w 571104"/>
                  <a:gd name="connsiteY12" fmla="*/ 1128398 h 1621888"/>
                  <a:gd name="connsiteX13" fmla="*/ -18 w 571104"/>
                  <a:gd name="connsiteY13" fmla="*/ 1121341 h 1621888"/>
                  <a:gd name="connsiteX14" fmla="*/ 1114 w 571104"/>
                  <a:gd name="connsiteY14" fmla="*/ 872219 h 1621888"/>
                  <a:gd name="connsiteX15" fmla="*/ -2282 w 571104"/>
                  <a:gd name="connsiteY15" fmla="*/ 106675 h 1621888"/>
                  <a:gd name="connsiteX16" fmla="*/ 3754 w 571104"/>
                  <a:gd name="connsiteY16" fmla="*/ 45090 h 1621888"/>
                  <a:gd name="connsiteX17" fmla="*/ 70779 w 571104"/>
                  <a:gd name="connsiteY17" fmla="*/ 16008 h 1621888"/>
                  <a:gd name="connsiteX18" fmla="*/ 352584 w 571104"/>
                  <a:gd name="connsiteY18" fmla="*/ -2596 h 1621888"/>
                  <a:gd name="connsiteX19" fmla="*/ 482609 w 571104"/>
                  <a:gd name="connsiteY19" fmla="*/ 14725 h 1621888"/>
                  <a:gd name="connsiteX20" fmla="*/ 541712 w 571104"/>
                  <a:gd name="connsiteY20" fmla="*/ 33115 h 1621888"/>
                  <a:gd name="connsiteX21" fmla="*/ 558688 w 571104"/>
                  <a:gd name="connsiteY21" fmla="*/ 60059 h 1621888"/>
                  <a:gd name="connsiteX22" fmla="*/ 564975 w 571104"/>
                  <a:gd name="connsiteY22" fmla="*/ 560014 h 1621888"/>
                  <a:gd name="connsiteX23" fmla="*/ 567993 w 571104"/>
                  <a:gd name="connsiteY23" fmla="*/ 981277 h 1621888"/>
                  <a:gd name="connsiteX24" fmla="*/ 567616 w 571104"/>
                  <a:gd name="connsiteY24" fmla="*/ 1115995 h 1621888"/>
                  <a:gd name="connsiteX25" fmla="*/ 533286 w 571104"/>
                  <a:gd name="connsiteY25" fmla="*/ 1135027 h 1621888"/>
                  <a:gd name="connsiteX26" fmla="*/ 409046 w 571104"/>
                  <a:gd name="connsiteY26" fmla="*/ 1151920 h 1621888"/>
                  <a:gd name="connsiteX27" fmla="*/ 385279 w 571104"/>
                  <a:gd name="connsiteY27" fmla="*/ 1153417 h 1621888"/>
                  <a:gd name="connsiteX28" fmla="*/ 382261 w 571104"/>
                  <a:gd name="connsiteY28" fmla="*/ 1169455 h 1621888"/>
                  <a:gd name="connsiteX29" fmla="*/ 378991 w 571104"/>
                  <a:gd name="connsiteY29" fmla="*/ 1307809 h 1621888"/>
                  <a:gd name="connsiteX30" fmla="*/ 408668 w 571104"/>
                  <a:gd name="connsiteY30" fmla="*/ 1378376 h 1621888"/>
                  <a:gd name="connsiteX31" fmla="*/ 430675 w 571104"/>
                  <a:gd name="connsiteY31" fmla="*/ 1405747 h 1621888"/>
                  <a:gd name="connsiteX32" fmla="*/ 448154 w 571104"/>
                  <a:gd name="connsiteY32" fmla="*/ 1476314 h 1621888"/>
                  <a:gd name="connsiteX33" fmla="*/ 434824 w 571104"/>
                  <a:gd name="connsiteY33" fmla="*/ 1551585 h 1621888"/>
                  <a:gd name="connsiteX34" fmla="*/ 371321 w 571104"/>
                  <a:gd name="connsiteY34" fmla="*/ 1600341 h 1621888"/>
                  <a:gd name="connsiteX35" fmla="*/ 238655 w 571104"/>
                  <a:gd name="connsiteY35" fmla="*/ 1615309 h 162188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</a:cxnLst>
                <a:rect l="l" t="t" r="r" b="b"/>
                <a:pathLst>
                  <a:path w="571104" h="1621888">
                    <a:moveTo>
                      <a:pt x="238655" y="1615309"/>
                    </a:moveTo>
                    <a:cubicBezTo>
                      <a:pt x="204577" y="1609322"/>
                      <a:pt x="179175" y="1597561"/>
                      <a:pt x="157546" y="1577674"/>
                    </a:cubicBezTo>
                    <a:cubicBezTo>
                      <a:pt x="141450" y="1563133"/>
                      <a:pt x="132774" y="1549233"/>
                      <a:pt x="126486" y="1528063"/>
                    </a:cubicBezTo>
                    <a:cubicBezTo>
                      <a:pt x="121456" y="1510956"/>
                      <a:pt x="121456" y="1510742"/>
                      <a:pt x="121456" y="1485723"/>
                    </a:cubicBezTo>
                    <a:cubicBezTo>
                      <a:pt x="121456" y="1463270"/>
                      <a:pt x="121708" y="1458993"/>
                      <a:pt x="124851" y="1445735"/>
                    </a:cubicBezTo>
                    <a:cubicBezTo>
                      <a:pt x="127744" y="1433118"/>
                      <a:pt x="130007" y="1427773"/>
                      <a:pt x="138558" y="1413445"/>
                    </a:cubicBezTo>
                    <a:cubicBezTo>
                      <a:pt x="151133" y="1392275"/>
                      <a:pt x="152265" y="1390778"/>
                      <a:pt x="166349" y="1378162"/>
                    </a:cubicBezTo>
                    <a:cubicBezTo>
                      <a:pt x="172636" y="1372388"/>
                      <a:pt x="178672" y="1366401"/>
                      <a:pt x="179930" y="1364476"/>
                    </a:cubicBezTo>
                    <a:cubicBezTo>
                      <a:pt x="193133" y="1344803"/>
                      <a:pt x="200804" y="1287066"/>
                      <a:pt x="199295" y="1219707"/>
                    </a:cubicBezTo>
                    <a:cubicBezTo>
                      <a:pt x="198541" y="1188487"/>
                      <a:pt x="196529" y="1170097"/>
                      <a:pt x="193133" y="1162826"/>
                    </a:cubicBezTo>
                    <a:cubicBezTo>
                      <a:pt x="191750" y="1159832"/>
                      <a:pt x="185211" y="1158977"/>
                      <a:pt x="147486" y="1157052"/>
                    </a:cubicBezTo>
                    <a:cubicBezTo>
                      <a:pt x="88384" y="1153845"/>
                      <a:pt x="29533" y="1145291"/>
                      <a:pt x="12431" y="1137379"/>
                    </a:cubicBezTo>
                    <a:cubicBezTo>
                      <a:pt x="9916" y="1136310"/>
                      <a:pt x="6018" y="1132247"/>
                      <a:pt x="3880" y="1128398"/>
                    </a:cubicBezTo>
                    <a:lnTo>
                      <a:pt x="-18" y="1121341"/>
                    </a:lnTo>
                    <a:lnTo>
                      <a:pt x="1114" y="872219"/>
                    </a:lnTo>
                    <a:cubicBezTo>
                      <a:pt x="2120" y="635285"/>
                      <a:pt x="359" y="236048"/>
                      <a:pt x="-2282" y="106675"/>
                    </a:cubicBezTo>
                    <a:cubicBezTo>
                      <a:pt x="-3162" y="63908"/>
                      <a:pt x="-2407" y="56423"/>
                      <a:pt x="3754" y="45090"/>
                    </a:cubicBezTo>
                    <a:cubicBezTo>
                      <a:pt x="12305" y="29693"/>
                      <a:pt x="24126" y="24561"/>
                      <a:pt x="70779" y="16008"/>
                    </a:cubicBezTo>
                    <a:cubicBezTo>
                      <a:pt x="154780" y="398"/>
                      <a:pt x="268583" y="-7087"/>
                      <a:pt x="352584" y="-2596"/>
                    </a:cubicBezTo>
                    <a:cubicBezTo>
                      <a:pt x="408920" y="398"/>
                      <a:pt x="432309" y="3605"/>
                      <a:pt x="482609" y="14725"/>
                    </a:cubicBezTo>
                    <a:cubicBezTo>
                      <a:pt x="524861" y="23920"/>
                      <a:pt x="527125" y="24775"/>
                      <a:pt x="541712" y="33115"/>
                    </a:cubicBezTo>
                    <a:cubicBezTo>
                      <a:pt x="553029" y="39744"/>
                      <a:pt x="557556" y="47014"/>
                      <a:pt x="558688" y="60059"/>
                    </a:cubicBezTo>
                    <a:cubicBezTo>
                      <a:pt x="560574" y="83795"/>
                      <a:pt x="563215" y="294426"/>
                      <a:pt x="564975" y="560014"/>
                    </a:cubicBezTo>
                    <a:cubicBezTo>
                      <a:pt x="565981" y="720607"/>
                      <a:pt x="567365" y="910068"/>
                      <a:pt x="567993" y="981277"/>
                    </a:cubicBezTo>
                    <a:cubicBezTo>
                      <a:pt x="568748" y="1076221"/>
                      <a:pt x="568748" y="1112146"/>
                      <a:pt x="567616" y="1115995"/>
                    </a:cubicBezTo>
                    <a:cubicBezTo>
                      <a:pt x="565856" y="1122624"/>
                      <a:pt x="554161" y="1129040"/>
                      <a:pt x="533286" y="1135027"/>
                    </a:cubicBezTo>
                    <a:cubicBezTo>
                      <a:pt x="516687" y="1139945"/>
                      <a:pt x="445765" y="1149568"/>
                      <a:pt x="409046" y="1151920"/>
                    </a:cubicBezTo>
                    <a:lnTo>
                      <a:pt x="385279" y="1153417"/>
                    </a:lnTo>
                    <a:lnTo>
                      <a:pt x="382261" y="1169455"/>
                    </a:lnTo>
                    <a:cubicBezTo>
                      <a:pt x="376854" y="1199179"/>
                      <a:pt x="375093" y="1270173"/>
                      <a:pt x="378991" y="1307809"/>
                    </a:cubicBezTo>
                    <a:cubicBezTo>
                      <a:pt x="383015" y="1348011"/>
                      <a:pt x="388297" y="1360413"/>
                      <a:pt x="408668" y="1378376"/>
                    </a:cubicBezTo>
                    <a:cubicBezTo>
                      <a:pt x="420237" y="1388640"/>
                      <a:pt x="423884" y="1393131"/>
                      <a:pt x="430675" y="1405747"/>
                    </a:cubicBezTo>
                    <a:cubicBezTo>
                      <a:pt x="442998" y="1428414"/>
                      <a:pt x="446519" y="1442955"/>
                      <a:pt x="448154" y="1476314"/>
                    </a:cubicBezTo>
                    <a:cubicBezTo>
                      <a:pt x="449537" y="1506251"/>
                      <a:pt x="444633" y="1533623"/>
                      <a:pt x="434824" y="1551585"/>
                    </a:cubicBezTo>
                    <a:cubicBezTo>
                      <a:pt x="426776" y="1566126"/>
                      <a:pt x="397980" y="1588152"/>
                      <a:pt x="371321" y="1600341"/>
                    </a:cubicBezTo>
                    <a:cubicBezTo>
                      <a:pt x="337997" y="1615523"/>
                      <a:pt x="277763" y="1622152"/>
                      <a:pt x="238655" y="1615309"/>
                    </a:cubicBezTo>
                    <a:close/>
                  </a:path>
                </a:pathLst>
              </a:custGeom>
              <a:solidFill>
                <a:srgbClr val="950F53"/>
              </a:solidFill>
              <a:ln w="5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de-DE" sz="1800" b="0" i="0" u="none" strike="noStrike" kern="0" cap="none" spc="0" normalizeH="0" baseline="0" noProof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53" name="Freihandform: Form 252">
                <a:extLst>
                  <a:ext uri="{FF2B5EF4-FFF2-40B4-BE49-F238E27FC236}">
                    <a16:creationId xmlns:a16="http://schemas.microsoft.com/office/drawing/2014/main" id="{0DBBC84F-8507-32BA-C737-E56C29156056}"/>
                  </a:ext>
                </a:extLst>
              </p:cNvPr>
              <p:cNvSpPr/>
              <p:nvPr/>
            </p:nvSpPr>
            <p:spPr>
              <a:xfrm flipV="1">
                <a:off x="4045919" y="4580092"/>
                <a:ext cx="571104" cy="407473"/>
              </a:xfrm>
              <a:custGeom>
                <a:avLst/>
                <a:gdLst>
                  <a:gd name="connsiteX0" fmla="*/ 238655 w 571104"/>
                  <a:gd name="connsiteY0" fmla="*/ 1615309 h 1621888"/>
                  <a:gd name="connsiteX1" fmla="*/ 157546 w 571104"/>
                  <a:gd name="connsiteY1" fmla="*/ 1577674 h 1621888"/>
                  <a:gd name="connsiteX2" fmla="*/ 126486 w 571104"/>
                  <a:gd name="connsiteY2" fmla="*/ 1528063 h 1621888"/>
                  <a:gd name="connsiteX3" fmla="*/ 121456 w 571104"/>
                  <a:gd name="connsiteY3" fmla="*/ 1485723 h 1621888"/>
                  <a:gd name="connsiteX4" fmla="*/ 124851 w 571104"/>
                  <a:gd name="connsiteY4" fmla="*/ 1445735 h 1621888"/>
                  <a:gd name="connsiteX5" fmla="*/ 138558 w 571104"/>
                  <a:gd name="connsiteY5" fmla="*/ 1413445 h 1621888"/>
                  <a:gd name="connsiteX6" fmla="*/ 166349 w 571104"/>
                  <a:gd name="connsiteY6" fmla="*/ 1378162 h 1621888"/>
                  <a:gd name="connsiteX7" fmla="*/ 179930 w 571104"/>
                  <a:gd name="connsiteY7" fmla="*/ 1364476 h 1621888"/>
                  <a:gd name="connsiteX8" fmla="*/ 199295 w 571104"/>
                  <a:gd name="connsiteY8" fmla="*/ 1219707 h 1621888"/>
                  <a:gd name="connsiteX9" fmla="*/ 193133 w 571104"/>
                  <a:gd name="connsiteY9" fmla="*/ 1162826 h 1621888"/>
                  <a:gd name="connsiteX10" fmla="*/ 147486 w 571104"/>
                  <a:gd name="connsiteY10" fmla="*/ 1157052 h 1621888"/>
                  <a:gd name="connsiteX11" fmla="*/ 12431 w 571104"/>
                  <a:gd name="connsiteY11" fmla="*/ 1137379 h 1621888"/>
                  <a:gd name="connsiteX12" fmla="*/ 3880 w 571104"/>
                  <a:gd name="connsiteY12" fmla="*/ 1128398 h 1621888"/>
                  <a:gd name="connsiteX13" fmla="*/ -18 w 571104"/>
                  <a:gd name="connsiteY13" fmla="*/ 1121341 h 1621888"/>
                  <a:gd name="connsiteX14" fmla="*/ 1114 w 571104"/>
                  <a:gd name="connsiteY14" fmla="*/ 872219 h 1621888"/>
                  <a:gd name="connsiteX15" fmla="*/ -2282 w 571104"/>
                  <a:gd name="connsiteY15" fmla="*/ 106675 h 1621888"/>
                  <a:gd name="connsiteX16" fmla="*/ 3754 w 571104"/>
                  <a:gd name="connsiteY16" fmla="*/ 45090 h 1621888"/>
                  <a:gd name="connsiteX17" fmla="*/ 70779 w 571104"/>
                  <a:gd name="connsiteY17" fmla="*/ 16008 h 1621888"/>
                  <a:gd name="connsiteX18" fmla="*/ 352584 w 571104"/>
                  <a:gd name="connsiteY18" fmla="*/ -2596 h 1621888"/>
                  <a:gd name="connsiteX19" fmla="*/ 482609 w 571104"/>
                  <a:gd name="connsiteY19" fmla="*/ 14725 h 1621888"/>
                  <a:gd name="connsiteX20" fmla="*/ 541712 w 571104"/>
                  <a:gd name="connsiteY20" fmla="*/ 33115 h 1621888"/>
                  <a:gd name="connsiteX21" fmla="*/ 558688 w 571104"/>
                  <a:gd name="connsiteY21" fmla="*/ 60059 h 1621888"/>
                  <a:gd name="connsiteX22" fmla="*/ 564975 w 571104"/>
                  <a:gd name="connsiteY22" fmla="*/ 560014 h 1621888"/>
                  <a:gd name="connsiteX23" fmla="*/ 567993 w 571104"/>
                  <a:gd name="connsiteY23" fmla="*/ 981277 h 1621888"/>
                  <a:gd name="connsiteX24" fmla="*/ 567616 w 571104"/>
                  <a:gd name="connsiteY24" fmla="*/ 1115995 h 1621888"/>
                  <a:gd name="connsiteX25" fmla="*/ 533286 w 571104"/>
                  <a:gd name="connsiteY25" fmla="*/ 1135027 h 1621888"/>
                  <a:gd name="connsiteX26" fmla="*/ 409046 w 571104"/>
                  <a:gd name="connsiteY26" fmla="*/ 1151920 h 1621888"/>
                  <a:gd name="connsiteX27" fmla="*/ 385279 w 571104"/>
                  <a:gd name="connsiteY27" fmla="*/ 1153417 h 1621888"/>
                  <a:gd name="connsiteX28" fmla="*/ 382261 w 571104"/>
                  <a:gd name="connsiteY28" fmla="*/ 1169455 h 1621888"/>
                  <a:gd name="connsiteX29" fmla="*/ 378991 w 571104"/>
                  <a:gd name="connsiteY29" fmla="*/ 1307809 h 1621888"/>
                  <a:gd name="connsiteX30" fmla="*/ 408668 w 571104"/>
                  <a:gd name="connsiteY30" fmla="*/ 1378376 h 1621888"/>
                  <a:gd name="connsiteX31" fmla="*/ 430675 w 571104"/>
                  <a:gd name="connsiteY31" fmla="*/ 1405747 h 1621888"/>
                  <a:gd name="connsiteX32" fmla="*/ 448154 w 571104"/>
                  <a:gd name="connsiteY32" fmla="*/ 1476314 h 1621888"/>
                  <a:gd name="connsiteX33" fmla="*/ 434824 w 571104"/>
                  <a:gd name="connsiteY33" fmla="*/ 1551585 h 1621888"/>
                  <a:gd name="connsiteX34" fmla="*/ 371321 w 571104"/>
                  <a:gd name="connsiteY34" fmla="*/ 1600341 h 1621888"/>
                  <a:gd name="connsiteX35" fmla="*/ 238655 w 571104"/>
                  <a:gd name="connsiteY35" fmla="*/ 1615309 h 162188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</a:cxnLst>
                <a:rect l="l" t="t" r="r" b="b"/>
                <a:pathLst>
                  <a:path w="571104" h="1621888">
                    <a:moveTo>
                      <a:pt x="238655" y="1615309"/>
                    </a:moveTo>
                    <a:cubicBezTo>
                      <a:pt x="204577" y="1609322"/>
                      <a:pt x="179175" y="1597561"/>
                      <a:pt x="157546" y="1577674"/>
                    </a:cubicBezTo>
                    <a:cubicBezTo>
                      <a:pt x="141450" y="1563133"/>
                      <a:pt x="132774" y="1549233"/>
                      <a:pt x="126486" y="1528063"/>
                    </a:cubicBezTo>
                    <a:cubicBezTo>
                      <a:pt x="121456" y="1510956"/>
                      <a:pt x="121456" y="1510742"/>
                      <a:pt x="121456" y="1485723"/>
                    </a:cubicBezTo>
                    <a:cubicBezTo>
                      <a:pt x="121456" y="1463270"/>
                      <a:pt x="121708" y="1458993"/>
                      <a:pt x="124851" y="1445735"/>
                    </a:cubicBezTo>
                    <a:cubicBezTo>
                      <a:pt x="127744" y="1433118"/>
                      <a:pt x="130007" y="1427773"/>
                      <a:pt x="138558" y="1413445"/>
                    </a:cubicBezTo>
                    <a:cubicBezTo>
                      <a:pt x="151133" y="1392275"/>
                      <a:pt x="152265" y="1390778"/>
                      <a:pt x="166349" y="1378162"/>
                    </a:cubicBezTo>
                    <a:cubicBezTo>
                      <a:pt x="172636" y="1372388"/>
                      <a:pt x="178672" y="1366401"/>
                      <a:pt x="179930" y="1364476"/>
                    </a:cubicBezTo>
                    <a:cubicBezTo>
                      <a:pt x="193133" y="1344803"/>
                      <a:pt x="200804" y="1287066"/>
                      <a:pt x="199295" y="1219707"/>
                    </a:cubicBezTo>
                    <a:cubicBezTo>
                      <a:pt x="198541" y="1188487"/>
                      <a:pt x="196529" y="1170097"/>
                      <a:pt x="193133" y="1162826"/>
                    </a:cubicBezTo>
                    <a:cubicBezTo>
                      <a:pt x="191750" y="1159832"/>
                      <a:pt x="185211" y="1158977"/>
                      <a:pt x="147486" y="1157052"/>
                    </a:cubicBezTo>
                    <a:cubicBezTo>
                      <a:pt x="88384" y="1153845"/>
                      <a:pt x="29533" y="1145291"/>
                      <a:pt x="12431" y="1137379"/>
                    </a:cubicBezTo>
                    <a:cubicBezTo>
                      <a:pt x="9916" y="1136310"/>
                      <a:pt x="6018" y="1132247"/>
                      <a:pt x="3880" y="1128398"/>
                    </a:cubicBezTo>
                    <a:lnTo>
                      <a:pt x="-18" y="1121341"/>
                    </a:lnTo>
                    <a:lnTo>
                      <a:pt x="1114" y="872219"/>
                    </a:lnTo>
                    <a:cubicBezTo>
                      <a:pt x="2120" y="635285"/>
                      <a:pt x="359" y="236048"/>
                      <a:pt x="-2282" y="106675"/>
                    </a:cubicBezTo>
                    <a:cubicBezTo>
                      <a:pt x="-3162" y="63908"/>
                      <a:pt x="-2407" y="56423"/>
                      <a:pt x="3754" y="45090"/>
                    </a:cubicBezTo>
                    <a:cubicBezTo>
                      <a:pt x="12305" y="29693"/>
                      <a:pt x="24126" y="24561"/>
                      <a:pt x="70779" y="16008"/>
                    </a:cubicBezTo>
                    <a:cubicBezTo>
                      <a:pt x="154780" y="398"/>
                      <a:pt x="268583" y="-7087"/>
                      <a:pt x="352584" y="-2596"/>
                    </a:cubicBezTo>
                    <a:cubicBezTo>
                      <a:pt x="408920" y="398"/>
                      <a:pt x="432309" y="3605"/>
                      <a:pt x="482609" y="14725"/>
                    </a:cubicBezTo>
                    <a:cubicBezTo>
                      <a:pt x="524861" y="23920"/>
                      <a:pt x="527125" y="24775"/>
                      <a:pt x="541712" y="33115"/>
                    </a:cubicBezTo>
                    <a:cubicBezTo>
                      <a:pt x="553029" y="39744"/>
                      <a:pt x="557556" y="47014"/>
                      <a:pt x="558688" y="60059"/>
                    </a:cubicBezTo>
                    <a:cubicBezTo>
                      <a:pt x="560574" y="83795"/>
                      <a:pt x="563215" y="294426"/>
                      <a:pt x="564975" y="560014"/>
                    </a:cubicBezTo>
                    <a:cubicBezTo>
                      <a:pt x="565981" y="720607"/>
                      <a:pt x="567365" y="910068"/>
                      <a:pt x="567993" y="981277"/>
                    </a:cubicBezTo>
                    <a:cubicBezTo>
                      <a:pt x="568748" y="1076221"/>
                      <a:pt x="568748" y="1112146"/>
                      <a:pt x="567616" y="1115995"/>
                    </a:cubicBezTo>
                    <a:cubicBezTo>
                      <a:pt x="565856" y="1122624"/>
                      <a:pt x="554161" y="1129040"/>
                      <a:pt x="533286" y="1135027"/>
                    </a:cubicBezTo>
                    <a:cubicBezTo>
                      <a:pt x="516687" y="1139945"/>
                      <a:pt x="445765" y="1149568"/>
                      <a:pt x="409046" y="1151920"/>
                    </a:cubicBezTo>
                    <a:lnTo>
                      <a:pt x="385279" y="1153417"/>
                    </a:lnTo>
                    <a:lnTo>
                      <a:pt x="382261" y="1169455"/>
                    </a:lnTo>
                    <a:cubicBezTo>
                      <a:pt x="376854" y="1199179"/>
                      <a:pt x="375093" y="1270173"/>
                      <a:pt x="378991" y="1307809"/>
                    </a:cubicBezTo>
                    <a:cubicBezTo>
                      <a:pt x="383015" y="1348011"/>
                      <a:pt x="388297" y="1360413"/>
                      <a:pt x="408668" y="1378376"/>
                    </a:cubicBezTo>
                    <a:cubicBezTo>
                      <a:pt x="420237" y="1388640"/>
                      <a:pt x="423884" y="1393131"/>
                      <a:pt x="430675" y="1405747"/>
                    </a:cubicBezTo>
                    <a:cubicBezTo>
                      <a:pt x="442998" y="1428414"/>
                      <a:pt x="446519" y="1442955"/>
                      <a:pt x="448154" y="1476314"/>
                    </a:cubicBezTo>
                    <a:cubicBezTo>
                      <a:pt x="449537" y="1506251"/>
                      <a:pt x="444633" y="1533623"/>
                      <a:pt x="434824" y="1551585"/>
                    </a:cubicBezTo>
                    <a:cubicBezTo>
                      <a:pt x="426776" y="1566126"/>
                      <a:pt x="397980" y="1588152"/>
                      <a:pt x="371321" y="1600341"/>
                    </a:cubicBezTo>
                    <a:cubicBezTo>
                      <a:pt x="337997" y="1615523"/>
                      <a:pt x="277763" y="1622152"/>
                      <a:pt x="238655" y="1615309"/>
                    </a:cubicBezTo>
                    <a:close/>
                  </a:path>
                </a:pathLst>
              </a:custGeom>
              <a:solidFill>
                <a:srgbClr val="950F53"/>
              </a:solidFill>
              <a:ln w="5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de-DE" sz="1800" b="0" i="0" u="none" strike="noStrike" kern="0" cap="none" spc="0" normalizeH="0" baseline="0" noProof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54" name="Freihandform: Form 253">
                <a:extLst>
                  <a:ext uri="{FF2B5EF4-FFF2-40B4-BE49-F238E27FC236}">
                    <a16:creationId xmlns:a16="http://schemas.microsoft.com/office/drawing/2014/main" id="{93D0ABB9-EF4D-5E53-E397-4E133783A1EA}"/>
                  </a:ext>
                </a:extLst>
              </p:cNvPr>
              <p:cNvSpPr/>
              <p:nvPr/>
            </p:nvSpPr>
            <p:spPr>
              <a:xfrm flipV="1">
                <a:off x="4691400" y="4580091"/>
                <a:ext cx="571104" cy="407474"/>
              </a:xfrm>
              <a:custGeom>
                <a:avLst/>
                <a:gdLst>
                  <a:gd name="connsiteX0" fmla="*/ 238655 w 571104"/>
                  <a:gd name="connsiteY0" fmla="*/ 1615309 h 1621888"/>
                  <a:gd name="connsiteX1" fmla="*/ 157546 w 571104"/>
                  <a:gd name="connsiteY1" fmla="*/ 1577674 h 1621888"/>
                  <a:gd name="connsiteX2" fmla="*/ 126486 w 571104"/>
                  <a:gd name="connsiteY2" fmla="*/ 1528063 h 1621888"/>
                  <a:gd name="connsiteX3" fmla="*/ 121456 w 571104"/>
                  <a:gd name="connsiteY3" fmla="*/ 1485723 h 1621888"/>
                  <a:gd name="connsiteX4" fmla="*/ 124851 w 571104"/>
                  <a:gd name="connsiteY4" fmla="*/ 1445735 h 1621888"/>
                  <a:gd name="connsiteX5" fmla="*/ 138558 w 571104"/>
                  <a:gd name="connsiteY5" fmla="*/ 1413445 h 1621888"/>
                  <a:gd name="connsiteX6" fmla="*/ 166349 w 571104"/>
                  <a:gd name="connsiteY6" fmla="*/ 1378162 h 1621888"/>
                  <a:gd name="connsiteX7" fmla="*/ 179930 w 571104"/>
                  <a:gd name="connsiteY7" fmla="*/ 1364476 h 1621888"/>
                  <a:gd name="connsiteX8" fmla="*/ 199295 w 571104"/>
                  <a:gd name="connsiteY8" fmla="*/ 1219707 h 1621888"/>
                  <a:gd name="connsiteX9" fmla="*/ 193133 w 571104"/>
                  <a:gd name="connsiteY9" fmla="*/ 1162826 h 1621888"/>
                  <a:gd name="connsiteX10" fmla="*/ 147486 w 571104"/>
                  <a:gd name="connsiteY10" fmla="*/ 1157052 h 1621888"/>
                  <a:gd name="connsiteX11" fmla="*/ 12431 w 571104"/>
                  <a:gd name="connsiteY11" fmla="*/ 1137379 h 1621888"/>
                  <a:gd name="connsiteX12" fmla="*/ 3880 w 571104"/>
                  <a:gd name="connsiteY12" fmla="*/ 1128398 h 1621888"/>
                  <a:gd name="connsiteX13" fmla="*/ -18 w 571104"/>
                  <a:gd name="connsiteY13" fmla="*/ 1121341 h 1621888"/>
                  <a:gd name="connsiteX14" fmla="*/ 1114 w 571104"/>
                  <a:gd name="connsiteY14" fmla="*/ 872219 h 1621888"/>
                  <a:gd name="connsiteX15" fmla="*/ -2282 w 571104"/>
                  <a:gd name="connsiteY15" fmla="*/ 106675 h 1621888"/>
                  <a:gd name="connsiteX16" fmla="*/ 3754 w 571104"/>
                  <a:gd name="connsiteY16" fmla="*/ 45090 h 1621888"/>
                  <a:gd name="connsiteX17" fmla="*/ 70779 w 571104"/>
                  <a:gd name="connsiteY17" fmla="*/ 16008 h 1621888"/>
                  <a:gd name="connsiteX18" fmla="*/ 352584 w 571104"/>
                  <a:gd name="connsiteY18" fmla="*/ -2596 h 1621888"/>
                  <a:gd name="connsiteX19" fmla="*/ 482609 w 571104"/>
                  <a:gd name="connsiteY19" fmla="*/ 14725 h 1621888"/>
                  <a:gd name="connsiteX20" fmla="*/ 541712 w 571104"/>
                  <a:gd name="connsiteY20" fmla="*/ 33115 h 1621888"/>
                  <a:gd name="connsiteX21" fmla="*/ 558688 w 571104"/>
                  <a:gd name="connsiteY21" fmla="*/ 60059 h 1621888"/>
                  <a:gd name="connsiteX22" fmla="*/ 564975 w 571104"/>
                  <a:gd name="connsiteY22" fmla="*/ 560014 h 1621888"/>
                  <a:gd name="connsiteX23" fmla="*/ 567993 w 571104"/>
                  <a:gd name="connsiteY23" fmla="*/ 981277 h 1621888"/>
                  <a:gd name="connsiteX24" fmla="*/ 567616 w 571104"/>
                  <a:gd name="connsiteY24" fmla="*/ 1115995 h 1621888"/>
                  <a:gd name="connsiteX25" fmla="*/ 533286 w 571104"/>
                  <a:gd name="connsiteY25" fmla="*/ 1135027 h 1621888"/>
                  <a:gd name="connsiteX26" fmla="*/ 409046 w 571104"/>
                  <a:gd name="connsiteY26" fmla="*/ 1151920 h 1621888"/>
                  <a:gd name="connsiteX27" fmla="*/ 385279 w 571104"/>
                  <a:gd name="connsiteY27" fmla="*/ 1153417 h 1621888"/>
                  <a:gd name="connsiteX28" fmla="*/ 382261 w 571104"/>
                  <a:gd name="connsiteY28" fmla="*/ 1169455 h 1621888"/>
                  <a:gd name="connsiteX29" fmla="*/ 378991 w 571104"/>
                  <a:gd name="connsiteY29" fmla="*/ 1307809 h 1621888"/>
                  <a:gd name="connsiteX30" fmla="*/ 408668 w 571104"/>
                  <a:gd name="connsiteY30" fmla="*/ 1378376 h 1621888"/>
                  <a:gd name="connsiteX31" fmla="*/ 430675 w 571104"/>
                  <a:gd name="connsiteY31" fmla="*/ 1405747 h 1621888"/>
                  <a:gd name="connsiteX32" fmla="*/ 448154 w 571104"/>
                  <a:gd name="connsiteY32" fmla="*/ 1476314 h 1621888"/>
                  <a:gd name="connsiteX33" fmla="*/ 434824 w 571104"/>
                  <a:gd name="connsiteY33" fmla="*/ 1551585 h 1621888"/>
                  <a:gd name="connsiteX34" fmla="*/ 371321 w 571104"/>
                  <a:gd name="connsiteY34" fmla="*/ 1600341 h 1621888"/>
                  <a:gd name="connsiteX35" fmla="*/ 238655 w 571104"/>
                  <a:gd name="connsiteY35" fmla="*/ 1615309 h 162188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</a:cxnLst>
                <a:rect l="l" t="t" r="r" b="b"/>
                <a:pathLst>
                  <a:path w="571104" h="1621888">
                    <a:moveTo>
                      <a:pt x="238655" y="1615309"/>
                    </a:moveTo>
                    <a:cubicBezTo>
                      <a:pt x="204577" y="1609322"/>
                      <a:pt x="179175" y="1597561"/>
                      <a:pt x="157546" y="1577674"/>
                    </a:cubicBezTo>
                    <a:cubicBezTo>
                      <a:pt x="141450" y="1563133"/>
                      <a:pt x="132774" y="1549233"/>
                      <a:pt x="126486" y="1528063"/>
                    </a:cubicBezTo>
                    <a:cubicBezTo>
                      <a:pt x="121456" y="1510956"/>
                      <a:pt x="121456" y="1510742"/>
                      <a:pt x="121456" y="1485723"/>
                    </a:cubicBezTo>
                    <a:cubicBezTo>
                      <a:pt x="121456" y="1463270"/>
                      <a:pt x="121708" y="1458993"/>
                      <a:pt x="124851" y="1445735"/>
                    </a:cubicBezTo>
                    <a:cubicBezTo>
                      <a:pt x="127744" y="1433118"/>
                      <a:pt x="130007" y="1427773"/>
                      <a:pt x="138558" y="1413445"/>
                    </a:cubicBezTo>
                    <a:cubicBezTo>
                      <a:pt x="151133" y="1392275"/>
                      <a:pt x="152265" y="1390778"/>
                      <a:pt x="166349" y="1378162"/>
                    </a:cubicBezTo>
                    <a:cubicBezTo>
                      <a:pt x="172636" y="1372388"/>
                      <a:pt x="178672" y="1366401"/>
                      <a:pt x="179930" y="1364476"/>
                    </a:cubicBezTo>
                    <a:cubicBezTo>
                      <a:pt x="193133" y="1344803"/>
                      <a:pt x="200804" y="1287066"/>
                      <a:pt x="199295" y="1219707"/>
                    </a:cubicBezTo>
                    <a:cubicBezTo>
                      <a:pt x="198541" y="1188487"/>
                      <a:pt x="196529" y="1170097"/>
                      <a:pt x="193133" y="1162826"/>
                    </a:cubicBezTo>
                    <a:cubicBezTo>
                      <a:pt x="191750" y="1159832"/>
                      <a:pt x="185211" y="1158977"/>
                      <a:pt x="147486" y="1157052"/>
                    </a:cubicBezTo>
                    <a:cubicBezTo>
                      <a:pt x="88384" y="1153845"/>
                      <a:pt x="29533" y="1145291"/>
                      <a:pt x="12431" y="1137379"/>
                    </a:cubicBezTo>
                    <a:cubicBezTo>
                      <a:pt x="9916" y="1136310"/>
                      <a:pt x="6018" y="1132247"/>
                      <a:pt x="3880" y="1128398"/>
                    </a:cubicBezTo>
                    <a:lnTo>
                      <a:pt x="-18" y="1121341"/>
                    </a:lnTo>
                    <a:lnTo>
                      <a:pt x="1114" y="872219"/>
                    </a:lnTo>
                    <a:cubicBezTo>
                      <a:pt x="2120" y="635285"/>
                      <a:pt x="359" y="236048"/>
                      <a:pt x="-2282" y="106675"/>
                    </a:cubicBezTo>
                    <a:cubicBezTo>
                      <a:pt x="-3162" y="63908"/>
                      <a:pt x="-2407" y="56423"/>
                      <a:pt x="3754" y="45090"/>
                    </a:cubicBezTo>
                    <a:cubicBezTo>
                      <a:pt x="12305" y="29693"/>
                      <a:pt x="24126" y="24561"/>
                      <a:pt x="70779" y="16008"/>
                    </a:cubicBezTo>
                    <a:cubicBezTo>
                      <a:pt x="154780" y="398"/>
                      <a:pt x="268583" y="-7087"/>
                      <a:pt x="352584" y="-2596"/>
                    </a:cubicBezTo>
                    <a:cubicBezTo>
                      <a:pt x="408920" y="398"/>
                      <a:pt x="432309" y="3605"/>
                      <a:pt x="482609" y="14725"/>
                    </a:cubicBezTo>
                    <a:cubicBezTo>
                      <a:pt x="524861" y="23920"/>
                      <a:pt x="527125" y="24775"/>
                      <a:pt x="541712" y="33115"/>
                    </a:cubicBezTo>
                    <a:cubicBezTo>
                      <a:pt x="553029" y="39744"/>
                      <a:pt x="557556" y="47014"/>
                      <a:pt x="558688" y="60059"/>
                    </a:cubicBezTo>
                    <a:cubicBezTo>
                      <a:pt x="560574" y="83795"/>
                      <a:pt x="563215" y="294426"/>
                      <a:pt x="564975" y="560014"/>
                    </a:cubicBezTo>
                    <a:cubicBezTo>
                      <a:pt x="565981" y="720607"/>
                      <a:pt x="567365" y="910068"/>
                      <a:pt x="567993" y="981277"/>
                    </a:cubicBezTo>
                    <a:cubicBezTo>
                      <a:pt x="568748" y="1076221"/>
                      <a:pt x="568748" y="1112146"/>
                      <a:pt x="567616" y="1115995"/>
                    </a:cubicBezTo>
                    <a:cubicBezTo>
                      <a:pt x="565856" y="1122624"/>
                      <a:pt x="554161" y="1129040"/>
                      <a:pt x="533286" y="1135027"/>
                    </a:cubicBezTo>
                    <a:cubicBezTo>
                      <a:pt x="516687" y="1139945"/>
                      <a:pt x="445765" y="1149568"/>
                      <a:pt x="409046" y="1151920"/>
                    </a:cubicBezTo>
                    <a:lnTo>
                      <a:pt x="385279" y="1153417"/>
                    </a:lnTo>
                    <a:lnTo>
                      <a:pt x="382261" y="1169455"/>
                    </a:lnTo>
                    <a:cubicBezTo>
                      <a:pt x="376854" y="1199179"/>
                      <a:pt x="375093" y="1270173"/>
                      <a:pt x="378991" y="1307809"/>
                    </a:cubicBezTo>
                    <a:cubicBezTo>
                      <a:pt x="383015" y="1348011"/>
                      <a:pt x="388297" y="1360413"/>
                      <a:pt x="408668" y="1378376"/>
                    </a:cubicBezTo>
                    <a:cubicBezTo>
                      <a:pt x="420237" y="1388640"/>
                      <a:pt x="423884" y="1393131"/>
                      <a:pt x="430675" y="1405747"/>
                    </a:cubicBezTo>
                    <a:cubicBezTo>
                      <a:pt x="442998" y="1428414"/>
                      <a:pt x="446519" y="1442955"/>
                      <a:pt x="448154" y="1476314"/>
                    </a:cubicBezTo>
                    <a:cubicBezTo>
                      <a:pt x="449537" y="1506251"/>
                      <a:pt x="444633" y="1533623"/>
                      <a:pt x="434824" y="1551585"/>
                    </a:cubicBezTo>
                    <a:cubicBezTo>
                      <a:pt x="426776" y="1566126"/>
                      <a:pt x="397980" y="1588152"/>
                      <a:pt x="371321" y="1600341"/>
                    </a:cubicBezTo>
                    <a:cubicBezTo>
                      <a:pt x="337997" y="1615523"/>
                      <a:pt x="277763" y="1622152"/>
                      <a:pt x="238655" y="1615309"/>
                    </a:cubicBezTo>
                    <a:close/>
                  </a:path>
                </a:pathLst>
              </a:custGeom>
              <a:solidFill>
                <a:srgbClr val="950F53"/>
              </a:solidFill>
              <a:ln w="5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de-DE" sz="1800" b="0" i="0" u="none" strike="noStrike" kern="0" cap="none" spc="0" normalizeH="0" baseline="0" noProof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55" name="Freihandform: Form 254">
                <a:extLst>
                  <a:ext uri="{FF2B5EF4-FFF2-40B4-BE49-F238E27FC236}">
                    <a16:creationId xmlns:a16="http://schemas.microsoft.com/office/drawing/2014/main" id="{6ADDE3C8-7A89-A1C6-35DF-72087EE4989E}"/>
                  </a:ext>
                </a:extLst>
              </p:cNvPr>
              <p:cNvSpPr/>
              <p:nvPr/>
            </p:nvSpPr>
            <p:spPr>
              <a:xfrm flipV="1">
                <a:off x="5336881" y="4374921"/>
                <a:ext cx="571104" cy="612644"/>
              </a:xfrm>
              <a:custGeom>
                <a:avLst/>
                <a:gdLst>
                  <a:gd name="connsiteX0" fmla="*/ 238655 w 571104"/>
                  <a:gd name="connsiteY0" fmla="*/ 1615309 h 1621888"/>
                  <a:gd name="connsiteX1" fmla="*/ 157546 w 571104"/>
                  <a:gd name="connsiteY1" fmla="*/ 1577674 h 1621888"/>
                  <a:gd name="connsiteX2" fmla="*/ 126486 w 571104"/>
                  <a:gd name="connsiteY2" fmla="*/ 1528063 h 1621888"/>
                  <a:gd name="connsiteX3" fmla="*/ 121456 w 571104"/>
                  <a:gd name="connsiteY3" fmla="*/ 1485723 h 1621888"/>
                  <a:gd name="connsiteX4" fmla="*/ 124851 w 571104"/>
                  <a:gd name="connsiteY4" fmla="*/ 1445735 h 1621888"/>
                  <a:gd name="connsiteX5" fmla="*/ 138558 w 571104"/>
                  <a:gd name="connsiteY5" fmla="*/ 1413445 h 1621888"/>
                  <a:gd name="connsiteX6" fmla="*/ 166349 w 571104"/>
                  <a:gd name="connsiteY6" fmla="*/ 1378162 h 1621888"/>
                  <a:gd name="connsiteX7" fmla="*/ 179930 w 571104"/>
                  <a:gd name="connsiteY7" fmla="*/ 1364476 h 1621888"/>
                  <a:gd name="connsiteX8" fmla="*/ 199295 w 571104"/>
                  <a:gd name="connsiteY8" fmla="*/ 1219707 h 1621888"/>
                  <a:gd name="connsiteX9" fmla="*/ 193133 w 571104"/>
                  <a:gd name="connsiteY9" fmla="*/ 1162826 h 1621888"/>
                  <a:gd name="connsiteX10" fmla="*/ 147486 w 571104"/>
                  <a:gd name="connsiteY10" fmla="*/ 1157052 h 1621888"/>
                  <a:gd name="connsiteX11" fmla="*/ 12431 w 571104"/>
                  <a:gd name="connsiteY11" fmla="*/ 1137379 h 1621888"/>
                  <a:gd name="connsiteX12" fmla="*/ 3880 w 571104"/>
                  <a:gd name="connsiteY12" fmla="*/ 1128398 h 1621888"/>
                  <a:gd name="connsiteX13" fmla="*/ -18 w 571104"/>
                  <a:gd name="connsiteY13" fmla="*/ 1121341 h 1621888"/>
                  <a:gd name="connsiteX14" fmla="*/ 1114 w 571104"/>
                  <a:gd name="connsiteY14" fmla="*/ 872219 h 1621888"/>
                  <a:gd name="connsiteX15" fmla="*/ -2282 w 571104"/>
                  <a:gd name="connsiteY15" fmla="*/ 106675 h 1621888"/>
                  <a:gd name="connsiteX16" fmla="*/ 3754 w 571104"/>
                  <a:gd name="connsiteY16" fmla="*/ 45090 h 1621888"/>
                  <a:gd name="connsiteX17" fmla="*/ 70779 w 571104"/>
                  <a:gd name="connsiteY17" fmla="*/ 16008 h 1621888"/>
                  <a:gd name="connsiteX18" fmla="*/ 352584 w 571104"/>
                  <a:gd name="connsiteY18" fmla="*/ -2596 h 1621888"/>
                  <a:gd name="connsiteX19" fmla="*/ 482609 w 571104"/>
                  <a:gd name="connsiteY19" fmla="*/ 14725 h 1621888"/>
                  <a:gd name="connsiteX20" fmla="*/ 541712 w 571104"/>
                  <a:gd name="connsiteY20" fmla="*/ 33115 h 1621888"/>
                  <a:gd name="connsiteX21" fmla="*/ 558688 w 571104"/>
                  <a:gd name="connsiteY21" fmla="*/ 60059 h 1621888"/>
                  <a:gd name="connsiteX22" fmla="*/ 564975 w 571104"/>
                  <a:gd name="connsiteY22" fmla="*/ 560014 h 1621888"/>
                  <a:gd name="connsiteX23" fmla="*/ 567993 w 571104"/>
                  <a:gd name="connsiteY23" fmla="*/ 981277 h 1621888"/>
                  <a:gd name="connsiteX24" fmla="*/ 567616 w 571104"/>
                  <a:gd name="connsiteY24" fmla="*/ 1115995 h 1621888"/>
                  <a:gd name="connsiteX25" fmla="*/ 533286 w 571104"/>
                  <a:gd name="connsiteY25" fmla="*/ 1135027 h 1621888"/>
                  <a:gd name="connsiteX26" fmla="*/ 409046 w 571104"/>
                  <a:gd name="connsiteY26" fmla="*/ 1151920 h 1621888"/>
                  <a:gd name="connsiteX27" fmla="*/ 385279 w 571104"/>
                  <a:gd name="connsiteY27" fmla="*/ 1153417 h 1621888"/>
                  <a:gd name="connsiteX28" fmla="*/ 382261 w 571104"/>
                  <a:gd name="connsiteY28" fmla="*/ 1169455 h 1621888"/>
                  <a:gd name="connsiteX29" fmla="*/ 378991 w 571104"/>
                  <a:gd name="connsiteY29" fmla="*/ 1307809 h 1621888"/>
                  <a:gd name="connsiteX30" fmla="*/ 408668 w 571104"/>
                  <a:gd name="connsiteY30" fmla="*/ 1378376 h 1621888"/>
                  <a:gd name="connsiteX31" fmla="*/ 430675 w 571104"/>
                  <a:gd name="connsiteY31" fmla="*/ 1405747 h 1621888"/>
                  <a:gd name="connsiteX32" fmla="*/ 448154 w 571104"/>
                  <a:gd name="connsiteY32" fmla="*/ 1476314 h 1621888"/>
                  <a:gd name="connsiteX33" fmla="*/ 434824 w 571104"/>
                  <a:gd name="connsiteY33" fmla="*/ 1551585 h 1621888"/>
                  <a:gd name="connsiteX34" fmla="*/ 371321 w 571104"/>
                  <a:gd name="connsiteY34" fmla="*/ 1600341 h 1621888"/>
                  <a:gd name="connsiteX35" fmla="*/ 238655 w 571104"/>
                  <a:gd name="connsiteY35" fmla="*/ 1615309 h 162188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</a:cxnLst>
                <a:rect l="l" t="t" r="r" b="b"/>
                <a:pathLst>
                  <a:path w="571104" h="1621888">
                    <a:moveTo>
                      <a:pt x="238655" y="1615309"/>
                    </a:moveTo>
                    <a:cubicBezTo>
                      <a:pt x="204577" y="1609322"/>
                      <a:pt x="179175" y="1597561"/>
                      <a:pt x="157546" y="1577674"/>
                    </a:cubicBezTo>
                    <a:cubicBezTo>
                      <a:pt x="141450" y="1563133"/>
                      <a:pt x="132774" y="1549233"/>
                      <a:pt x="126486" y="1528063"/>
                    </a:cubicBezTo>
                    <a:cubicBezTo>
                      <a:pt x="121456" y="1510956"/>
                      <a:pt x="121456" y="1510742"/>
                      <a:pt x="121456" y="1485723"/>
                    </a:cubicBezTo>
                    <a:cubicBezTo>
                      <a:pt x="121456" y="1463270"/>
                      <a:pt x="121708" y="1458993"/>
                      <a:pt x="124851" y="1445735"/>
                    </a:cubicBezTo>
                    <a:cubicBezTo>
                      <a:pt x="127744" y="1433118"/>
                      <a:pt x="130007" y="1427773"/>
                      <a:pt x="138558" y="1413445"/>
                    </a:cubicBezTo>
                    <a:cubicBezTo>
                      <a:pt x="151133" y="1392275"/>
                      <a:pt x="152265" y="1390778"/>
                      <a:pt x="166349" y="1378162"/>
                    </a:cubicBezTo>
                    <a:cubicBezTo>
                      <a:pt x="172636" y="1372388"/>
                      <a:pt x="178672" y="1366401"/>
                      <a:pt x="179930" y="1364476"/>
                    </a:cubicBezTo>
                    <a:cubicBezTo>
                      <a:pt x="193133" y="1344803"/>
                      <a:pt x="200804" y="1287066"/>
                      <a:pt x="199295" y="1219707"/>
                    </a:cubicBezTo>
                    <a:cubicBezTo>
                      <a:pt x="198541" y="1188487"/>
                      <a:pt x="196529" y="1170097"/>
                      <a:pt x="193133" y="1162826"/>
                    </a:cubicBezTo>
                    <a:cubicBezTo>
                      <a:pt x="191750" y="1159832"/>
                      <a:pt x="185211" y="1158977"/>
                      <a:pt x="147486" y="1157052"/>
                    </a:cubicBezTo>
                    <a:cubicBezTo>
                      <a:pt x="88384" y="1153845"/>
                      <a:pt x="29533" y="1145291"/>
                      <a:pt x="12431" y="1137379"/>
                    </a:cubicBezTo>
                    <a:cubicBezTo>
                      <a:pt x="9916" y="1136310"/>
                      <a:pt x="6018" y="1132247"/>
                      <a:pt x="3880" y="1128398"/>
                    </a:cubicBezTo>
                    <a:lnTo>
                      <a:pt x="-18" y="1121341"/>
                    </a:lnTo>
                    <a:lnTo>
                      <a:pt x="1114" y="872219"/>
                    </a:lnTo>
                    <a:cubicBezTo>
                      <a:pt x="2120" y="635285"/>
                      <a:pt x="359" y="236048"/>
                      <a:pt x="-2282" y="106675"/>
                    </a:cubicBezTo>
                    <a:cubicBezTo>
                      <a:pt x="-3162" y="63908"/>
                      <a:pt x="-2407" y="56423"/>
                      <a:pt x="3754" y="45090"/>
                    </a:cubicBezTo>
                    <a:cubicBezTo>
                      <a:pt x="12305" y="29693"/>
                      <a:pt x="24126" y="24561"/>
                      <a:pt x="70779" y="16008"/>
                    </a:cubicBezTo>
                    <a:cubicBezTo>
                      <a:pt x="154780" y="398"/>
                      <a:pt x="268583" y="-7087"/>
                      <a:pt x="352584" y="-2596"/>
                    </a:cubicBezTo>
                    <a:cubicBezTo>
                      <a:pt x="408920" y="398"/>
                      <a:pt x="432309" y="3605"/>
                      <a:pt x="482609" y="14725"/>
                    </a:cubicBezTo>
                    <a:cubicBezTo>
                      <a:pt x="524861" y="23920"/>
                      <a:pt x="527125" y="24775"/>
                      <a:pt x="541712" y="33115"/>
                    </a:cubicBezTo>
                    <a:cubicBezTo>
                      <a:pt x="553029" y="39744"/>
                      <a:pt x="557556" y="47014"/>
                      <a:pt x="558688" y="60059"/>
                    </a:cubicBezTo>
                    <a:cubicBezTo>
                      <a:pt x="560574" y="83795"/>
                      <a:pt x="563215" y="294426"/>
                      <a:pt x="564975" y="560014"/>
                    </a:cubicBezTo>
                    <a:cubicBezTo>
                      <a:pt x="565981" y="720607"/>
                      <a:pt x="567365" y="910068"/>
                      <a:pt x="567993" y="981277"/>
                    </a:cubicBezTo>
                    <a:cubicBezTo>
                      <a:pt x="568748" y="1076221"/>
                      <a:pt x="568748" y="1112146"/>
                      <a:pt x="567616" y="1115995"/>
                    </a:cubicBezTo>
                    <a:cubicBezTo>
                      <a:pt x="565856" y="1122624"/>
                      <a:pt x="554161" y="1129040"/>
                      <a:pt x="533286" y="1135027"/>
                    </a:cubicBezTo>
                    <a:cubicBezTo>
                      <a:pt x="516687" y="1139945"/>
                      <a:pt x="445765" y="1149568"/>
                      <a:pt x="409046" y="1151920"/>
                    </a:cubicBezTo>
                    <a:lnTo>
                      <a:pt x="385279" y="1153417"/>
                    </a:lnTo>
                    <a:lnTo>
                      <a:pt x="382261" y="1169455"/>
                    </a:lnTo>
                    <a:cubicBezTo>
                      <a:pt x="376854" y="1199179"/>
                      <a:pt x="375093" y="1270173"/>
                      <a:pt x="378991" y="1307809"/>
                    </a:cubicBezTo>
                    <a:cubicBezTo>
                      <a:pt x="383015" y="1348011"/>
                      <a:pt x="388297" y="1360413"/>
                      <a:pt x="408668" y="1378376"/>
                    </a:cubicBezTo>
                    <a:cubicBezTo>
                      <a:pt x="420237" y="1388640"/>
                      <a:pt x="423884" y="1393131"/>
                      <a:pt x="430675" y="1405747"/>
                    </a:cubicBezTo>
                    <a:cubicBezTo>
                      <a:pt x="442998" y="1428414"/>
                      <a:pt x="446519" y="1442955"/>
                      <a:pt x="448154" y="1476314"/>
                    </a:cubicBezTo>
                    <a:cubicBezTo>
                      <a:pt x="449537" y="1506251"/>
                      <a:pt x="444633" y="1533623"/>
                      <a:pt x="434824" y="1551585"/>
                    </a:cubicBezTo>
                    <a:cubicBezTo>
                      <a:pt x="426776" y="1566126"/>
                      <a:pt x="397980" y="1588152"/>
                      <a:pt x="371321" y="1600341"/>
                    </a:cubicBezTo>
                    <a:cubicBezTo>
                      <a:pt x="337997" y="1615523"/>
                      <a:pt x="277763" y="1622152"/>
                      <a:pt x="238655" y="1615309"/>
                    </a:cubicBezTo>
                    <a:close/>
                  </a:path>
                </a:pathLst>
              </a:custGeom>
              <a:solidFill>
                <a:srgbClr val="950F53"/>
              </a:solidFill>
              <a:ln w="5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de-DE" sz="1800" b="0" i="0" u="none" strike="noStrike" kern="0" cap="none" spc="0" normalizeH="0" baseline="0" noProof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56" name="Freihandform: Form 255">
                <a:extLst>
                  <a:ext uri="{FF2B5EF4-FFF2-40B4-BE49-F238E27FC236}">
                    <a16:creationId xmlns:a16="http://schemas.microsoft.com/office/drawing/2014/main" id="{ED4674F8-ED42-A0B4-3420-D3E4FC4779B1}"/>
                  </a:ext>
                </a:extLst>
              </p:cNvPr>
              <p:cNvSpPr/>
              <p:nvPr/>
            </p:nvSpPr>
            <p:spPr>
              <a:xfrm flipV="1">
                <a:off x="5982362" y="4191673"/>
                <a:ext cx="571104" cy="795891"/>
              </a:xfrm>
              <a:custGeom>
                <a:avLst/>
                <a:gdLst>
                  <a:gd name="connsiteX0" fmla="*/ 238655 w 571104"/>
                  <a:gd name="connsiteY0" fmla="*/ 1615309 h 1621888"/>
                  <a:gd name="connsiteX1" fmla="*/ 157546 w 571104"/>
                  <a:gd name="connsiteY1" fmla="*/ 1577674 h 1621888"/>
                  <a:gd name="connsiteX2" fmla="*/ 126486 w 571104"/>
                  <a:gd name="connsiteY2" fmla="*/ 1528063 h 1621888"/>
                  <a:gd name="connsiteX3" fmla="*/ 121456 w 571104"/>
                  <a:gd name="connsiteY3" fmla="*/ 1485723 h 1621888"/>
                  <a:gd name="connsiteX4" fmla="*/ 124851 w 571104"/>
                  <a:gd name="connsiteY4" fmla="*/ 1445735 h 1621888"/>
                  <a:gd name="connsiteX5" fmla="*/ 138558 w 571104"/>
                  <a:gd name="connsiteY5" fmla="*/ 1413445 h 1621888"/>
                  <a:gd name="connsiteX6" fmla="*/ 166349 w 571104"/>
                  <a:gd name="connsiteY6" fmla="*/ 1378162 h 1621888"/>
                  <a:gd name="connsiteX7" fmla="*/ 179930 w 571104"/>
                  <a:gd name="connsiteY7" fmla="*/ 1364476 h 1621888"/>
                  <a:gd name="connsiteX8" fmla="*/ 199295 w 571104"/>
                  <a:gd name="connsiteY8" fmla="*/ 1219707 h 1621888"/>
                  <a:gd name="connsiteX9" fmla="*/ 193133 w 571104"/>
                  <a:gd name="connsiteY9" fmla="*/ 1162826 h 1621888"/>
                  <a:gd name="connsiteX10" fmla="*/ 147486 w 571104"/>
                  <a:gd name="connsiteY10" fmla="*/ 1157052 h 1621888"/>
                  <a:gd name="connsiteX11" fmla="*/ 12431 w 571104"/>
                  <a:gd name="connsiteY11" fmla="*/ 1137379 h 1621888"/>
                  <a:gd name="connsiteX12" fmla="*/ 3880 w 571104"/>
                  <a:gd name="connsiteY12" fmla="*/ 1128398 h 1621888"/>
                  <a:gd name="connsiteX13" fmla="*/ -18 w 571104"/>
                  <a:gd name="connsiteY13" fmla="*/ 1121341 h 1621888"/>
                  <a:gd name="connsiteX14" fmla="*/ 1114 w 571104"/>
                  <a:gd name="connsiteY14" fmla="*/ 872219 h 1621888"/>
                  <a:gd name="connsiteX15" fmla="*/ -2282 w 571104"/>
                  <a:gd name="connsiteY15" fmla="*/ 106675 h 1621888"/>
                  <a:gd name="connsiteX16" fmla="*/ 3754 w 571104"/>
                  <a:gd name="connsiteY16" fmla="*/ 45090 h 1621888"/>
                  <a:gd name="connsiteX17" fmla="*/ 70779 w 571104"/>
                  <a:gd name="connsiteY17" fmla="*/ 16008 h 1621888"/>
                  <a:gd name="connsiteX18" fmla="*/ 352584 w 571104"/>
                  <a:gd name="connsiteY18" fmla="*/ -2596 h 1621888"/>
                  <a:gd name="connsiteX19" fmla="*/ 482609 w 571104"/>
                  <a:gd name="connsiteY19" fmla="*/ 14725 h 1621888"/>
                  <a:gd name="connsiteX20" fmla="*/ 541712 w 571104"/>
                  <a:gd name="connsiteY20" fmla="*/ 33115 h 1621888"/>
                  <a:gd name="connsiteX21" fmla="*/ 558688 w 571104"/>
                  <a:gd name="connsiteY21" fmla="*/ 60059 h 1621888"/>
                  <a:gd name="connsiteX22" fmla="*/ 564975 w 571104"/>
                  <a:gd name="connsiteY22" fmla="*/ 560014 h 1621888"/>
                  <a:gd name="connsiteX23" fmla="*/ 567993 w 571104"/>
                  <a:gd name="connsiteY23" fmla="*/ 981277 h 1621888"/>
                  <a:gd name="connsiteX24" fmla="*/ 567616 w 571104"/>
                  <a:gd name="connsiteY24" fmla="*/ 1115995 h 1621888"/>
                  <a:gd name="connsiteX25" fmla="*/ 533286 w 571104"/>
                  <a:gd name="connsiteY25" fmla="*/ 1135027 h 1621888"/>
                  <a:gd name="connsiteX26" fmla="*/ 409046 w 571104"/>
                  <a:gd name="connsiteY26" fmla="*/ 1151920 h 1621888"/>
                  <a:gd name="connsiteX27" fmla="*/ 385279 w 571104"/>
                  <a:gd name="connsiteY27" fmla="*/ 1153417 h 1621888"/>
                  <a:gd name="connsiteX28" fmla="*/ 382261 w 571104"/>
                  <a:gd name="connsiteY28" fmla="*/ 1169455 h 1621888"/>
                  <a:gd name="connsiteX29" fmla="*/ 378991 w 571104"/>
                  <a:gd name="connsiteY29" fmla="*/ 1307809 h 1621888"/>
                  <a:gd name="connsiteX30" fmla="*/ 408668 w 571104"/>
                  <a:gd name="connsiteY30" fmla="*/ 1378376 h 1621888"/>
                  <a:gd name="connsiteX31" fmla="*/ 430675 w 571104"/>
                  <a:gd name="connsiteY31" fmla="*/ 1405747 h 1621888"/>
                  <a:gd name="connsiteX32" fmla="*/ 448154 w 571104"/>
                  <a:gd name="connsiteY32" fmla="*/ 1476314 h 1621888"/>
                  <a:gd name="connsiteX33" fmla="*/ 434824 w 571104"/>
                  <a:gd name="connsiteY33" fmla="*/ 1551585 h 1621888"/>
                  <a:gd name="connsiteX34" fmla="*/ 371321 w 571104"/>
                  <a:gd name="connsiteY34" fmla="*/ 1600341 h 1621888"/>
                  <a:gd name="connsiteX35" fmla="*/ 238655 w 571104"/>
                  <a:gd name="connsiteY35" fmla="*/ 1615309 h 162188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</a:cxnLst>
                <a:rect l="l" t="t" r="r" b="b"/>
                <a:pathLst>
                  <a:path w="571104" h="1621888">
                    <a:moveTo>
                      <a:pt x="238655" y="1615309"/>
                    </a:moveTo>
                    <a:cubicBezTo>
                      <a:pt x="204577" y="1609322"/>
                      <a:pt x="179175" y="1597561"/>
                      <a:pt x="157546" y="1577674"/>
                    </a:cubicBezTo>
                    <a:cubicBezTo>
                      <a:pt x="141450" y="1563133"/>
                      <a:pt x="132774" y="1549233"/>
                      <a:pt x="126486" y="1528063"/>
                    </a:cubicBezTo>
                    <a:cubicBezTo>
                      <a:pt x="121456" y="1510956"/>
                      <a:pt x="121456" y="1510742"/>
                      <a:pt x="121456" y="1485723"/>
                    </a:cubicBezTo>
                    <a:cubicBezTo>
                      <a:pt x="121456" y="1463270"/>
                      <a:pt x="121708" y="1458993"/>
                      <a:pt x="124851" y="1445735"/>
                    </a:cubicBezTo>
                    <a:cubicBezTo>
                      <a:pt x="127744" y="1433118"/>
                      <a:pt x="130007" y="1427773"/>
                      <a:pt x="138558" y="1413445"/>
                    </a:cubicBezTo>
                    <a:cubicBezTo>
                      <a:pt x="151133" y="1392275"/>
                      <a:pt x="152265" y="1390778"/>
                      <a:pt x="166349" y="1378162"/>
                    </a:cubicBezTo>
                    <a:cubicBezTo>
                      <a:pt x="172636" y="1372388"/>
                      <a:pt x="178672" y="1366401"/>
                      <a:pt x="179930" y="1364476"/>
                    </a:cubicBezTo>
                    <a:cubicBezTo>
                      <a:pt x="193133" y="1344803"/>
                      <a:pt x="200804" y="1287066"/>
                      <a:pt x="199295" y="1219707"/>
                    </a:cubicBezTo>
                    <a:cubicBezTo>
                      <a:pt x="198541" y="1188487"/>
                      <a:pt x="196529" y="1170097"/>
                      <a:pt x="193133" y="1162826"/>
                    </a:cubicBezTo>
                    <a:cubicBezTo>
                      <a:pt x="191750" y="1159832"/>
                      <a:pt x="185211" y="1158977"/>
                      <a:pt x="147486" y="1157052"/>
                    </a:cubicBezTo>
                    <a:cubicBezTo>
                      <a:pt x="88384" y="1153845"/>
                      <a:pt x="29533" y="1145291"/>
                      <a:pt x="12431" y="1137379"/>
                    </a:cubicBezTo>
                    <a:cubicBezTo>
                      <a:pt x="9916" y="1136310"/>
                      <a:pt x="6018" y="1132247"/>
                      <a:pt x="3880" y="1128398"/>
                    </a:cubicBezTo>
                    <a:lnTo>
                      <a:pt x="-18" y="1121341"/>
                    </a:lnTo>
                    <a:lnTo>
                      <a:pt x="1114" y="872219"/>
                    </a:lnTo>
                    <a:cubicBezTo>
                      <a:pt x="2120" y="635285"/>
                      <a:pt x="359" y="236048"/>
                      <a:pt x="-2282" y="106675"/>
                    </a:cubicBezTo>
                    <a:cubicBezTo>
                      <a:pt x="-3162" y="63908"/>
                      <a:pt x="-2407" y="56423"/>
                      <a:pt x="3754" y="45090"/>
                    </a:cubicBezTo>
                    <a:cubicBezTo>
                      <a:pt x="12305" y="29693"/>
                      <a:pt x="24126" y="24561"/>
                      <a:pt x="70779" y="16008"/>
                    </a:cubicBezTo>
                    <a:cubicBezTo>
                      <a:pt x="154780" y="398"/>
                      <a:pt x="268583" y="-7087"/>
                      <a:pt x="352584" y="-2596"/>
                    </a:cubicBezTo>
                    <a:cubicBezTo>
                      <a:pt x="408920" y="398"/>
                      <a:pt x="432309" y="3605"/>
                      <a:pt x="482609" y="14725"/>
                    </a:cubicBezTo>
                    <a:cubicBezTo>
                      <a:pt x="524861" y="23920"/>
                      <a:pt x="527125" y="24775"/>
                      <a:pt x="541712" y="33115"/>
                    </a:cubicBezTo>
                    <a:cubicBezTo>
                      <a:pt x="553029" y="39744"/>
                      <a:pt x="557556" y="47014"/>
                      <a:pt x="558688" y="60059"/>
                    </a:cubicBezTo>
                    <a:cubicBezTo>
                      <a:pt x="560574" y="83795"/>
                      <a:pt x="563215" y="294426"/>
                      <a:pt x="564975" y="560014"/>
                    </a:cubicBezTo>
                    <a:cubicBezTo>
                      <a:pt x="565981" y="720607"/>
                      <a:pt x="567365" y="910068"/>
                      <a:pt x="567993" y="981277"/>
                    </a:cubicBezTo>
                    <a:cubicBezTo>
                      <a:pt x="568748" y="1076221"/>
                      <a:pt x="568748" y="1112146"/>
                      <a:pt x="567616" y="1115995"/>
                    </a:cubicBezTo>
                    <a:cubicBezTo>
                      <a:pt x="565856" y="1122624"/>
                      <a:pt x="554161" y="1129040"/>
                      <a:pt x="533286" y="1135027"/>
                    </a:cubicBezTo>
                    <a:cubicBezTo>
                      <a:pt x="516687" y="1139945"/>
                      <a:pt x="445765" y="1149568"/>
                      <a:pt x="409046" y="1151920"/>
                    </a:cubicBezTo>
                    <a:lnTo>
                      <a:pt x="385279" y="1153417"/>
                    </a:lnTo>
                    <a:lnTo>
                      <a:pt x="382261" y="1169455"/>
                    </a:lnTo>
                    <a:cubicBezTo>
                      <a:pt x="376854" y="1199179"/>
                      <a:pt x="375093" y="1270173"/>
                      <a:pt x="378991" y="1307809"/>
                    </a:cubicBezTo>
                    <a:cubicBezTo>
                      <a:pt x="383015" y="1348011"/>
                      <a:pt x="388297" y="1360413"/>
                      <a:pt x="408668" y="1378376"/>
                    </a:cubicBezTo>
                    <a:cubicBezTo>
                      <a:pt x="420237" y="1388640"/>
                      <a:pt x="423884" y="1393131"/>
                      <a:pt x="430675" y="1405747"/>
                    </a:cubicBezTo>
                    <a:cubicBezTo>
                      <a:pt x="442998" y="1428414"/>
                      <a:pt x="446519" y="1442955"/>
                      <a:pt x="448154" y="1476314"/>
                    </a:cubicBezTo>
                    <a:cubicBezTo>
                      <a:pt x="449537" y="1506251"/>
                      <a:pt x="444633" y="1533623"/>
                      <a:pt x="434824" y="1551585"/>
                    </a:cubicBezTo>
                    <a:cubicBezTo>
                      <a:pt x="426776" y="1566126"/>
                      <a:pt x="397980" y="1588152"/>
                      <a:pt x="371321" y="1600341"/>
                    </a:cubicBezTo>
                    <a:cubicBezTo>
                      <a:pt x="337997" y="1615523"/>
                      <a:pt x="277763" y="1622152"/>
                      <a:pt x="238655" y="1615309"/>
                    </a:cubicBezTo>
                    <a:close/>
                  </a:path>
                </a:pathLst>
              </a:custGeom>
              <a:solidFill>
                <a:srgbClr val="950F53"/>
              </a:solidFill>
              <a:ln w="5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de-DE" sz="1800" b="0" i="0" u="none" strike="noStrike" kern="0" cap="none" spc="0" normalizeH="0" baseline="0" noProof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57" name="Freihandform: Form 256">
                <a:extLst>
                  <a:ext uri="{FF2B5EF4-FFF2-40B4-BE49-F238E27FC236}">
                    <a16:creationId xmlns:a16="http://schemas.microsoft.com/office/drawing/2014/main" id="{BF8DAF96-F729-0E24-ECAA-6759D1E25F74}"/>
                  </a:ext>
                </a:extLst>
              </p:cNvPr>
              <p:cNvSpPr/>
              <p:nvPr/>
            </p:nvSpPr>
            <p:spPr>
              <a:xfrm flipV="1">
                <a:off x="6627843" y="3778982"/>
                <a:ext cx="571104" cy="1208583"/>
              </a:xfrm>
              <a:custGeom>
                <a:avLst/>
                <a:gdLst>
                  <a:gd name="connsiteX0" fmla="*/ 238655 w 571104"/>
                  <a:gd name="connsiteY0" fmla="*/ 1615309 h 1621888"/>
                  <a:gd name="connsiteX1" fmla="*/ 157546 w 571104"/>
                  <a:gd name="connsiteY1" fmla="*/ 1577674 h 1621888"/>
                  <a:gd name="connsiteX2" fmla="*/ 126486 w 571104"/>
                  <a:gd name="connsiteY2" fmla="*/ 1528063 h 1621888"/>
                  <a:gd name="connsiteX3" fmla="*/ 121456 w 571104"/>
                  <a:gd name="connsiteY3" fmla="*/ 1485723 h 1621888"/>
                  <a:gd name="connsiteX4" fmla="*/ 124851 w 571104"/>
                  <a:gd name="connsiteY4" fmla="*/ 1445735 h 1621888"/>
                  <a:gd name="connsiteX5" fmla="*/ 138558 w 571104"/>
                  <a:gd name="connsiteY5" fmla="*/ 1413445 h 1621888"/>
                  <a:gd name="connsiteX6" fmla="*/ 166349 w 571104"/>
                  <a:gd name="connsiteY6" fmla="*/ 1378162 h 1621888"/>
                  <a:gd name="connsiteX7" fmla="*/ 179930 w 571104"/>
                  <a:gd name="connsiteY7" fmla="*/ 1364476 h 1621888"/>
                  <a:gd name="connsiteX8" fmla="*/ 199295 w 571104"/>
                  <a:gd name="connsiteY8" fmla="*/ 1219707 h 1621888"/>
                  <a:gd name="connsiteX9" fmla="*/ 193133 w 571104"/>
                  <a:gd name="connsiteY9" fmla="*/ 1162826 h 1621888"/>
                  <a:gd name="connsiteX10" fmla="*/ 147486 w 571104"/>
                  <a:gd name="connsiteY10" fmla="*/ 1157052 h 1621888"/>
                  <a:gd name="connsiteX11" fmla="*/ 12431 w 571104"/>
                  <a:gd name="connsiteY11" fmla="*/ 1137379 h 1621888"/>
                  <a:gd name="connsiteX12" fmla="*/ 3880 w 571104"/>
                  <a:gd name="connsiteY12" fmla="*/ 1128398 h 1621888"/>
                  <a:gd name="connsiteX13" fmla="*/ -18 w 571104"/>
                  <a:gd name="connsiteY13" fmla="*/ 1121341 h 1621888"/>
                  <a:gd name="connsiteX14" fmla="*/ 1114 w 571104"/>
                  <a:gd name="connsiteY14" fmla="*/ 872219 h 1621888"/>
                  <a:gd name="connsiteX15" fmla="*/ -2282 w 571104"/>
                  <a:gd name="connsiteY15" fmla="*/ 106675 h 1621888"/>
                  <a:gd name="connsiteX16" fmla="*/ 3754 w 571104"/>
                  <a:gd name="connsiteY16" fmla="*/ 45090 h 1621888"/>
                  <a:gd name="connsiteX17" fmla="*/ 70779 w 571104"/>
                  <a:gd name="connsiteY17" fmla="*/ 16008 h 1621888"/>
                  <a:gd name="connsiteX18" fmla="*/ 352584 w 571104"/>
                  <a:gd name="connsiteY18" fmla="*/ -2596 h 1621888"/>
                  <a:gd name="connsiteX19" fmla="*/ 482609 w 571104"/>
                  <a:gd name="connsiteY19" fmla="*/ 14725 h 1621888"/>
                  <a:gd name="connsiteX20" fmla="*/ 541712 w 571104"/>
                  <a:gd name="connsiteY20" fmla="*/ 33115 h 1621888"/>
                  <a:gd name="connsiteX21" fmla="*/ 558688 w 571104"/>
                  <a:gd name="connsiteY21" fmla="*/ 60059 h 1621888"/>
                  <a:gd name="connsiteX22" fmla="*/ 564975 w 571104"/>
                  <a:gd name="connsiteY22" fmla="*/ 560014 h 1621888"/>
                  <a:gd name="connsiteX23" fmla="*/ 567993 w 571104"/>
                  <a:gd name="connsiteY23" fmla="*/ 981277 h 1621888"/>
                  <a:gd name="connsiteX24" fmla="*/ 567616 w 571104"/>
                  <a:gd name="connsiteY24" fmla="*/ 1115995 h 1621888"/>
                  <a:gd name="connsiteX25" fmla="*/ 533286 w 571104"/>
                  <a:gd name="connsiteY25" fmla="*/ 1135027 h 1621888"/>
                  <a:gd name="connsiteX26" fmla="*/ 409046 w 571104"/>
                  <a:gd name="connsiteY26" fmla="*/ 1151920 h 1621888"/>
                  <a:gd name="connsiteX27" fmla="*/ 385279 w 571104"/>
                  <a:gd name="connsiteY27" fmla="*/ 1153417 h 1621888"/>
                  <a:gd name="connsiteX28" fmla="*/ 382261 w 571104"/>
                  <a:gd name="connsiteY28" fmla="*/ 1169455 h 1621888"/>
                  <a:gd name="connsiteX29" fmla="*/ 378991 w 571104"/>
                  <a:gd name="connsiteY29" fmla="*/ 1307809 h 1621888"/>
                  <a:gd name="connsiteX30" fmla="*/ 408668 w 571104"/>
                  <a:gd name="connsiteY30" fmla="*/ 1378376 h 1621888"/>
                  <a:gd name="connsiteX31" fmla="*/ 430675 w 571104"/>
                  <a:gd name="connsiteY31" fmla="*/ 1405747 h 1621888"/>
                  <a:gd name="connsiteX32" fmla="*/ 448154 w 571104"/>
                  <a:gd name="connsiteY32" fmla="*/ 1476314 h 1621888"/>
                  <a:gd name="connsiteX33" fmla="*/ 434824 w 571104"/>
                  <a:gd name="connsiteY33" fmla="*/ 1551585 h 1621888"/>
                  <a:gd name="connsiteX34" fmla="*/ 371321 w 571104"/>
                  <a:gd name="connsiteY34" fmla="*/ 1600341 h 1621888"/>
                  <a:gd name="connsiteX35" fmla="*/ 238655 w 571104"/>
                  <a:gd name="connsiteY35" fmla="*/ 1615309 h 162188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</a:cxnLst>
                <a:rect l="l" t="t" r="r" b="b"/>
                <a:pathLst>
                  <a:path w="571104" h="1621888">
                    <a:moveTo>
                      <a:pt x="238655" y="1615309"/>
                    </a:moveTo>
                    <a:cubicBezTo>
                      <a:pt x="204577" y="1609322"/>
                      <a:pt x="179175" y="1597561"/>
                      <a:pt x="157546" y="1577674"/>
                    </a:cubicBezTo>
                    <a:cubicBezTo>
                      <a:pt x="141450" y="1563133"/>
                      <a:pt x="132774" y="1549233"/>
                      <a:pt x="126486" y="1528063"/>
                    </a:cubicBezTo>
                    <a:cubicBezTo>
                      <a:pt x="121456" y="1510956"/>
                      <a:pt x="121456" y="1510742"/>
                      <a:pt x="121456" y="1485723"/>
                    </a:cubicBezTo>
                    <a:cubicBezTo>
                      <a:pt x="121456" y="1463270"/>
                      <a:pt x="121708" y="1458993"/>
                      <a:pt x="124851" y="1445735"/>
                    </a:cubicBezTo>
                    <a:cubicBezTo>
                      <a:pt x="127744" y="1433118"/>
                      <a:pt x="130007" y="1427773"/>
                      <a:pt x="138558" y="1413445"/>
                    </a:cubicBezTo>
                    <a:cubicBezTo>
                      <a:pt x="151133" y="1392275"/>
                      <a:pt x="152265" y="1390778"/>
                      <a:pt x="166349" y="1378162"/>
                    </a:cubicBezTo>
                    <a:cubicBezTo>
                      <a:pt x="172636" y="1372388"/>
                      <a:pt x="178672" y="1366401"/>
                      <a:pt x="179930" y="1364476"/>
                    </a:cubicBezTo>
                    <a:cubicBezTo>
                      <a:pt x="193133" y="1344803"/>
                      <a:pt x="200804" y="1287066"/>
                      <a:pt x="199295" y="1219707"/>
                    </a:cubicBezTo>
                    <a:cubicBezTo>
                      <a:pt x="198541" y="1188487"/>
                      <a:pt x="196529" y="1170097"/>
                      <a:pt x="193133" y="1162826"/>
                    </a:cubicBezTo>
                    <a:cubicBezTo>
                      <a:pt x="191750" y="1159832"/>
                      <a:pt x="185211" y="1158977"/>
                      <a:pt x="147486" y="1157052"/>
                    </a:cubicBezTo>
                    <a:cubicBezTo>
                      <a:pt x="88384" y="1153845"/>
                      <a:pt x="29533" y="1145291"/>
                      <a:pt x="12431" y="1137379"/>
                    </a:cubicBezTo>
                    <a:cubicBezTo>
                      <a:pt x="9916" y="1136310"/>
                      <a:pt x="6018" y="1132247"/>
                      <a:pt x="3880" y="1128398"/>
                    </a:cubicBezTo>
                    <a:lnTo>
                      <a:pt x="-18" y="1121341"/>
                    </a:lnTo>
                    <a:lnTo>
                      <a:pt x="1114" y="872219"/>
                    </a:lnTo>
                    <a:cubicBezTo>
                      <a:pt x="2120" y="635285"/>
                      <a:pt x="359" y="236048"/>
                      <a:pt x="-2282" y="106675"/>
                    </a:cubicBezTo>
                    <a:cubicBezTo>
                      <a:pt x="-3162" y="63908"/>
                      <a:pt x="-2407" y="56423"/>
                      <a:pt x="3754" y="45090"/>
                    </a:cubicBezTo>
                    <a:cubicBezTo>
                      <a:pt x="12305" y="29693"/>
                      <a:pt x="24126" y="24561"/>
                      <a:pt x="70779" y="16008"/>
                    </a:cubicBezTo>
                    <a:cubicBezTo>
                      <a:pt x="154780" y="398"/>
                      <a:pt x="268583" y="-7087"/>
                      <a:pt x="352584" y="-2596"/>
                    </a:cubicBezTo>
                    <a:cubicBezTo>
                      <a:pt x="408920" y="398"/>
                      <a:pt x="432309" y="3605"/>
                      <a:pt x="482609" y="14725"/>
                    </a:cubicBezTo>
                    <a:cubicBezTo>
                      <a:pt x="524861" y="23920"/>
                      <a:pt x="527125" y="24775"/>
                      <a:pt x="541712" y="33115"/>
                    </a:cubicBezTo>
                    <a:cubicBezTo>
                      <a:pt x="553029" y="39744"/>
                      <a:pt x="557556" y="47014"/>
                      <a:pt x="558688" y="60059"/>
                    </a:cubicBezTo>
                    <a:cubicBezTo>
                      <a:pt x="560574" y="83795"/>
                      <a:pt x="563215" y="294426"/>
                      <a:pt x="564975" y="560014"/>
                    </a:cubicBezTo>
                    <a:cubicBezTo>
                      <a:pt x="565981" y="720607"/>
                      <a:pt x="567365" y="910068"/>
                      <a:pt x="567993" y="981277"/>
                    </a:cubicBezTo>
                    <a:cubicBezTo>
                      <a:pt x="568748" y="1076221"/>
                      <a:pt x="568748" y="1112146"/>
                      <a:pt x="567616" y="1115995"/>
                    </a:cubicBezTo>
                    <a:cubicBezTo>
                      <a:pt x="565856" y="1122624"/>
                      <a:pt x="554161" y="1129040"/>
                      <a:pt x="533286" y="1135027"/>
                    </a:cubicBezTo>
                    <a:cubicBezTo>
                      <a:pt x="516687" y="1139945"/>
                      <a:pt x="445765" y="1149568"/>
                      <a:pt x="409046" y="1151920"/>
                    </a:cubicBezTo>
                    <a:lnTo>
                      <a:pt x="385279" y="1153417"/>
                    </a:lnTo>
                    <a:lnTo>
                      <a:pt x="382261" y="1169455"/>
                    </a:lnTo>
                    <a:cubicBezTo>
                      <a:pt x="376854" y="1199179"/>
                      <a:pt x="375093" y="1270173"/>
                      <a:pt x="378991" y="1307809"/>
                    </a:cubicBezTo>
                    <a:cubicBezTo>
                      <a:pt x="383015" y="1348011"/>
                      <a:pt x="388297" y="1360413"/>
                      <a:pt x="408668" y="1378376"/>
                    </a:cubicBezTo>
                    <a:cubicBezTo>
                      <a:pt x="420237" y="1388640"/>
                      <a:pt x="423884" y="1393131"/>
                      <a:pt x="430675" y="1405747"/>
                    </a:cubicBezTo>
                    <a:cubicBezTo>
                      <a:pt x="442998" y="1428414"/>
                      <a:pt x="446519" y="1442955"/>
                      <a:pt x="448154" y="1476314"/>
                    </a:cubicBezTo>
                    <a:cubicBezTo>
                      <a:pt x="449537" y="1506251"/>
                      <a:pt x="444633" y="1533623"/>
                      <a:pt x="434824" y="1551585"/>
                    </a:cubicBezTo>
                    <a:cubicBezTo>
                      <a:pt x="426776" y="1566126"/>
                      <a:pt x="397980" y="1588152"/>
                      <a:pt x="371321" y="1600341"/>
                    </a:cubicBezTo>
                    <a:cubicBezTo>
                      <a:pt x="337997" y="1615523"/>
                      <a:pt x="277763" y="1622152"/>
                      <a:pt x="238655" y="1615309"/>
                    </a:cubicBezTo>
                    <a:close/>
                  </a:path>
                </a:pathLst>
              </a:custGeom>
              <a:solidFill>
                <a:srgbClr val="950F53"/>
              </a:solidFill>
              <a:ln w="5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de-DE" sz="1800" b="0" i="0" u="none" strike="noStrike" kern="0" cap="none" spc="0" normalizeH="0" baseline="0" noProof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58" name="Freihandform: Form 257">
                <a:extLst>
                  <a:ext uri="{FF2B5EF4-FFF2-40B4-BE49-F238E27FC236}">
                    <a16:creationId xmlns:a16="http://schemas.microsoft.com/office/drawing/2014/main" id="{2D5B833D-3AB6-171D-CAD9-DE9CFD5FBAF1}"/>
                  </a:ext>
                </a:extLst>
              </p:cNvPr>
              <p:cNvSpPr/>
              <p:nvPr/>
            </p:nvSpPr>
            <p:spPr>
              <a:xfrm flipV="1">
                <a:off x="7273324" y="3365677"/>
                <a:ext cx="571104" cy="1621888"/>
              </a:xfrm>
              <a:custGeom>
                <a:avLst/>
                <a:gdLst>
                  <a:gd name="connsiteX0" fmla="*/ 238655 w 571104"/>
                  <a:gd name="connsiteY0" fmla="*/ 1615309 h 1621888"/>
                  <a:gd name="connsiteX1" fmla="*/ 157546 w 571104"/>
                  <a:gd name="connsiteY1" fmla="*/ 1577674 h 1621888"/>
                  <a:gd name="connsiteX2" fmla="*/ 126486 w 571104"/>
                  <a:gd name="connsiteY2" fmla="*/ 1528063 h 1621888"/>
                  <a:gd name="connsiteX3" fmla="*/ 121456 w 571104"/>
                  <a:gd name="connsiteY3" fmla="*/ 1485723 h 1621888"/>
                  <a:gd name="connsiteX4" fmla="*/ 124851 w 571104"/>
                  <a:gd name="connsiteY4" fmla="*/ 1445735 h 1621888"/>
                  <a:gd name="connsiteX5" fmla="*/ 138558 w 571104"/>
                  <a:gd name="connsiteY5" fmla="*/ 1413445 h 1621888"/>
                  <a:gd name="connsiteX6" fmla="*/ 166349 w 571104"/>
                  <a:gd name="connsiteY6" fmla="*/ 1378162 h 1621888"/>
                  <a:gd name="connsiteX7" fmla="*/ 179930 w 571104"/>
                  <a:gd name="connsiteY7" fmla="*/ 1364476 h 1621888"/>
                  <a:gd name="connsiteX8" fmla="*/ 199295 w 571104"/>
                  <a:gd name="connsiteY8" fmla="*/ 1219707 h 1621888"/>
                  <a:gd name="connsiteX9" fmla="*/ 193133 w 571104"/>
                  <a:gd name="connsiteY9" fmla="*/ 1162826 h 1621888"/>
                  <a:gd name="connsiteX10" fmla="*/ 147486 w 571104"/>
                  <a:gd name="connsiteY10" fmla="*/ 1157052 h 1621888"/>
                  <a:gd name="connsiteX11" fmla="*/ 12431 w 571104"/>
                  <a:gd name="connsiteY11" fmla="*/ 1137379 h 1621888"/>
                  <a:gd name="connsiteX12" fmla="*/ 3880 w 571104"/>
                  <a:gd name="connsiteY12" fmla="*/ 1128398 h 1621888"/>
                  <a:gd name="connsiteX13" fmla="*/ -18 w 571104"/>
                  <a:gd name="connsiteY13" fmla="*/ 1121341 h 1621888"/>
                  <a:gd name="connsiteX14" fmla="*/ 1114 w 571104"/>
                  <a:gd name="connsiteY14" fmla="*/ 872219 h 1621888"/>
                  <a:gd name="connsiteX15" fmla="*/ -2282 w 571104"/>
                  <a:gd name="connsiteY15" fmla="*/ 106675 h 1621888"/>
                  <a:gd name="connsiteX16" fmla="*/ 3754 w 571104"/>
                  <a:gd name="connsiteY16" fmla="*/ 45090 h 1621888"/>
                  <a:gd name="connsiteX17" fmla="*/ 70779 w 571104"/>
                  <a:gd name="connsiteY17" fmla="*/ 16008 h 1621888"/>
                  <a:gd name="connsiteX18" fmla="*/ 352584 w 571104"/>
                  <a:gd name="connsiteY18" fmla="*/ -2596 h 1621888"/>
                  <a:gd name="connsiteX19" fmla="*/ 482609 w 571104"/>
                  <a:gd name="connsiteY19" fmla="*/ 14725 h 1621888"/>
                  <a:gd name="connsiteX20" fmla="*/ 541712 w 571104"/>
                  <a:gd name="connsiteY20" fmla="*/ 33115 h 1621888"/>
                  <a:gd name="connsiteX21" fmla="*/ 558688 w 571104"/>
                  <a:gd name="connsiteY21" fmla="*/ 60059 h 1621888"/>
                  <a:gd name="connsiteX22" fmla="*/ 564975 w 571104"/>
                  <a:gd name="connsiteY22" fmla="*/ 560014 h 1621888"/>
                  <a:gd name="connsiteX23" fmla="*/ 567993 w 571104"/>
                  <a:gd name="connsiteY23" fmla="*/ 981277 h 1621888"/>
                  <a:gd name="connsiteX24" fmla="*/ 567616 w 571104"/>
                  <a:gd name="connsiteY24" fmla="*/ 1115995 h 1621888"/>
                  <a:gd name="connsiteX25" fmla="*/ 533286 w 571104"/>
                  <a:gd name="connsiteY25" fmla="*/ 1135027 h 1621888"/>
                  <a:gd name="connsiteX26" fmla="*/ 409046 w 571104"/>
                  <a:gd name="connsiteY26" fmla="*/ 1151920 h 1621888"/>
                  <a:gd name="connsiteX27" fmla="*/ 385279 w 571104"/>
                  <a:gd name="connsiteY27" fmla="*/ 1153417 h 1621888"/>
                  <a:gd name="connsiteX28" fmla="*/ 382261 w 571104"/>
                  <a:gd name="connsiteY28" fmla="*/ 1169455 h 1621888"/>
                  <a:gd name="connsiteX29" fmla="*/ 378991 w 571104"/>
                  <a:gd name="connsiteY29" fmla="*/ 1307809 h 1621888"/>
                  <a:gd name="connsiteX30" fmla="*/ 408668 w 571104"/>
                  <a:gd name="connsiteY30" fmla="*/ 1378376 h 1621888"/>
                  <a:gd name="connsiteX31" fmla="*/ 430675 w 571104"/>
                  <a:gd name="connsiteY31" fmla="*/ 1405747 h 1621888"/>
                  <a:gd name="connsiteX32" fmla="*/ 448154 w 571104"/>
                  <a:gd name="connsiteY32" fmla="*/ 1476314 h 1621888"/>
                  <a:gd name="connsiteX33" fmla="*/ 434824 w 571104"/>
                  <a:gd name="connsiteY33" fmla="*/ 1551585 h 1621888"/>
                  <a:gd name="connsiteX34" fmla="*/ 371321 w 571104"/>
                  <a:gd name="connsiteY34" fmla="*/ 1600341 h 1621888"/>
                  <a:gd name="connsiteX35" fmla="*/ 238655 w 571104"/>
                  <a:gd name="connsiteY35" fmla="*/ 1615309 h 162188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</a:cxnLst>
                <a:rect l="l" t="t" r="r" b="b"/>
                <a:pathLst>
                  <a:path w="571104" h="1621888">
                    <a:moveTo>
                      <a:pt x="238655" y="1615309"/>
                    </a:moveTo>
                    <a:cubicBezTo>
                      <a:pt x="204577" y="1609322"/>
                      <a:pt x="179175" y="1597561"/>
                      <a:pt x="157546" y="1577674"/>
                    </a:cubicBezTo>
                    <a:cubicBezTo>
                      <a:pt x="141450" y="1563133"/>
                      <a:pt x="132774" y="1549233"/>
                      <a:pt x="126486" y="1528063"/>
                    </a:cubicBezTo>
                    <a:cubicBezTo>
                      <a:pt x="121456" y="1510956"/>
                      <a:pt x="121456" y="1510742"/>
                      <a:pt x="121456" y="1485723"/>
                    </a:cubicBezTo>
                    <a:cubicBezTo>
                      <a:pt x="121456" y="1463270"/>
                      <a:pt x="121708" y="1458993"/>
                      <a:pt x="124851" y="1445735"/>
                    </a:cubicBezTo>
                    <a:cubicBezTo>
                      <a:pt x="127744" y="1433118"/>
                      <a:pt x="130007" y="1427773"/>
                      <a:pt x="138558" y="1413445"/>
                    </a:cubicBezTo>
                    <a:cubicBezTo>
                      <a:pt x="151133" y="1392275"/>
                      <a:pt x="152265" y="1390778"/>
                      <a:pt x="166349" y="1378162"/>
                    </a:cubicBezTo>
                    <a:cubicBezTo>
                      <a:pt x="172636" y="1372388"/>
                      <a:pt x="178672" y="1366401"/>
                      <a:pt x="179930" y="1364476"/>
                    </a:cubicBezTo>
                    <a:cubicBezTo>
                      <a:pt x="193133" y="1344803"/>
                      <a:pt x="200804" y="1287066"/>
                      <a:pt x="199295" y="1219707"/>
                    </a:cubicBezTo>
                    <a:cubicBezTo>
                      <a:pt x="198541" y="1188487"/>
                      <a:pt x="196529" y="1170097"/>
                      <a:pt x="193133" y="1162826"/>
                    </a:cubicBezTo>
                    <a:cubicBezTo>
                      <a:pt x="191750" y="1159832"/>
                      <a:pt x="185211" y="1158977"/>
                      <a:pt x="147486" y="1157052"/>
                    </a:cubicBezTo>
                    <a:cubicBezTo>
                      <a:pt x="88384" y="1153845"/>
                      <a:pt x="29533" y="1145291"/>
                      <a:pt x="12431" y="1137379"/>
                    </a:cubicBezTo>
                    <a:cubicBezTo>
                      <a:pt x="9916" y="1136310"/>
                      <a:pt x="6018" y="1132247"/>
                      <a:pt x="3880" y="1128398"/>
                    </a:cubicBezTo>
                    <a:lnTo>
                      <a:pt x="-18" y="1121341"/>
                    </a:lnTo>
                    <a:lnTo>
                      <a:pt x="1114" y="872219"/>
                    </a:lnTo>
                    <a:cubicBezTo>
                      <a:pt x="2120" y="635285"/>
                      <a:pt x="359" y="236048"/>
                      <a:pt x="-2282" y="106675"/>
                    </a:cubicBezTo>
                    <a:cubicBezTo>
                      <a:pt x="-3162" y="63908"/>
                      <a:pt x="-2407" y="56423"/>
                      <a:pt x="3754" y="45090"/>
                    </a:cubicBezTo>
                    <a:cubicBezTo>
                      <a:pt x="12305" y="29693"/>
                      <a:pt x="24126" y="24561"/>
                      <a:pt x="70779" y="16008"/>
                    </a:cubicBezTo>
                    <a:cubicBezTo>
                      <a:pt x="154780" y="398"/>
                      <a:pt x="268583" y="-7087"/>
                      <a:pt x="352584" y="-2596"/>
                    </a:cubicBezTo>
                    <a:cubicBezTo>
                      <a:pt x="408920" y="398"/>
                      <a:pt x="432309" y="3605"/>
                      <a:pt x="482609" y="14725"/>
                    </a:cubicBezTo>
                    <a:cubicBezTo>
                      <a:pt x="524861" y="23920"/>
                      <a:pt x="527125" y="24775"/>
                      <a:pt x="541712" y="33115"/>
                    </a:cubicBezTo>
                    <a:cubicBezTo>
                      <a:pt x="553029" y="39744"/>
                      <a:pt x="557556" y="47014"/>
                      <a:pt x="558688" y="60059"/>
                    </a:cubicBezTo>
                    <a:cubicBezTo>
                      <a:pt x="560574" y="83795"/>
                      <a:pt x="563215" y="294426"/>
                      <a:pt x="564975" y="560014"/>
                    </a:cubicBezTo>
                    <a:cubicBezTo>
                      <a:pt x="565981" y="720607"/>
                      <a:pt x="567365" y="910068"/>
                      <a:pt x="567993" y="981277"/>
                    </a:cubicBezTo>
                    <a:cubicBezTo>
                      <a:pt x="568748" y="1076221"/>
                      <a:pt x="568748" y="1112146"/>
                      <a:pt x="567616" y="1115995"/>
                    </a:cubicBezTo>
                    <a:cubicBezTo>
                      <a:pt x="565856" y="1122624"/>
                      <a:pt x="554161" y="1129040"/>
                      <a:pt x="533286" y="1135027"/>
                    </a:cubicBezTo>
                    <a:cubicBezTo>
                      <a:pt x="516687" y="1139945"/>
                      <a:pt x="445765" y="1149568"/>
                      <a:pt x="409046" y="1151920"/>
                    </a:cubicBezTo>
                    <a:lnTo>
                      <a:pt x="385279" y="1153417"/>
                    </a:lnTo>
                    <a:lnTo>
                      <a:pt x="382261" y="1169455"/>
                    </a:lnTo>
                    <a:cubicBezTo>
                      <a:pt x="376854" y="1199179"/>
                      <a:pt x="375093" y="1270173"/>
                      <a:pt x="378991" y="1307809"/>
                    </a:cubicBezTo>
                    <a:cubicBezTo>
                      <a:pt x="383015" y="1348011"/>
                      <a:pt x="388297" y="1360413"/>
                      <a:pt x="408668" y="1378376"/>
                    </a:cubicBezTo>
                    <a:cubicBezTo>
                      <a:pt x="420237" y="1388640"/>
                      <a:pt x="423884" y="1393131"/>
                      <a:pt x="430675" y="1405747"/>
                    </a:cubicBezTo>
                    <a:cubicBezTo>
                      <a:pt x="442998" y="1428414"/>
                      <a:pt x="446519" y="1442955"/>
                      <a:pt x="448154" y="1476314"/>
                    </a:cubicBezTo>
                    <a:cubicBezTo>
                      <a:pt x="449537" y="1506251"/>
                      <a:pt x="444633" y="1533623"/>
                      <a:pt x="434824" y="1551585"/>
                    </a:cubicBezTo>
                    <a:cubicBezTo>
                      <a:pt x="426776" y="1566126"/>
                      <a:pt x="397980" y="1588152"/>
                      <a:pt x="371321" y="1600341"/>
                    </a:cubicBezTo>
                    <a:cubicBezTo>
                      <a:pt x="337997" y="1615523"/>
                      <a:pt x="277763" y="1622152"/>
                      <a:pt x="238655" y="1615309"/>
                    </a:cubicBezTo>
                    <a:close/>
                  </a:path>
                </a:pathLst>
              </a:custGeom>
              <a:solidFill>
                <a:srgbClr val="950F53"/>
              </a:solidFill>
              <a:ln w="5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de-DE" sz="1800" b="0" i="0" u="none" strike="noStrike" kern="0" cap="none" spc="0" normalizeH="0" baseline="0" noProof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59" name="Freihandform: Form 258">
                <a:extLst>
                  <a:ext uri="{FF2B5EF4-FFF2-40B4-BE49-F238E27FC236}">
                    <a16:creationId xmlns:a16="http://schemas.microsoft.com/office/drawing/2014/main" id="{AB678FB7-9749-F81A-9004-A8E09E7BDE9E}"/>
                  </a:ext>
                </a:extLst>
              </p:cNvPr>
              <p:cNvSpPr/>
              <p:nvPr/>
            </p:nvSpPr>
            <p:spPr>
              <a:xfrm flipV="1">
                <a:off x="7918805" y="3381861"/>
                <a:ext cx="571104" cy="1605704"/>
              </a:xfrm>
              <a:custGeom>
                <a:avLst/>
                <a:gdLst>
                  <a:gd name="connsiteX0" fmla="*/ 238655 w 571104"/>
                  <a:gd name="connsiteY0" fmla="*/ 1615309 h 1621888"/>
                  <a:gd name="connsiteX1" fmla="*/ 157546 w 571104"/>
                  <a:gd name="connsiteY1" fmla="*/ 1577674 h 1621888"/>
                  <a:gd name="connsiteX2" fmla="*/ 126486 w 571104"/>
                  <a:gd name="connsiteY2" fmla="*/ 1528063 h 1621888"/>
                  <a:gd name="connsiteX3" fmla="*/ 121456 w 571104"/>
                  <a:gd name="connsiteY3" fmla="*/ 1485723 h 1621888"/>
                  <a:gd name="connsiteX4" fmla="*/ 124851 w 571104"/>
                  <a:gd name="connsiteY4" fmla="*/ 1445735 h 1621888"/>
                  <a:gd name="connsiteX5" fmla="*/ 138558 w 571104"/>
                  <a:gd name="connsiteY5" fmla="*/ 1413445 h 1621888"/>
                  <a:gd name="connsiteX6" fmla="*/ 166349 w 571104"/>
                  <a:gd name="connsiteY6" fmla="*/ 1378162 h 1621888"/>
                  <a:gd name="connsiteX7" fmla="*/ 179930 w 571104"/>
                  <a:gd name="connsiteY7" fmla="*/ 1364476 h 1621888"/>
                  <a:gd name="connsiteX8" fmla="*/ 199295 w 571104"/>
                  <a:gd name="connsiteY8" fmla="*/ 1219707 h 1621888"/>
                  <a:gd name="connsiteX9" fmla="*/ 193133 w 571104"/>
                  <a:gd name="connsiteY9" fmla="*/ 1162826 h 1621888"/>
                  <a:gd name="connsiteX10" fmla="*/ 147486 w 571104"/>
                  <a:gd name="connsiteY10" fmla="*/ 1157052 h 1621888"/>
                  <a:gd name="connsiteX11" fmla="*/ 12431 w 571104"/>
                  <a:gd name="connsiteY11" fmla="*/ 1137379 h 1621888"/>
                  <a:gd name="connsiteX12" fmla="*/ 3880 w 571104"/>
                  <a:gd name="connsiteY12" fmla="*/ 1128398 h 1621888"/>
                  <a:gd name="connsiteX13" fmla="*/ -18 w 571104"/>
                  <a:gd name="connsiteY13" fmla="*/ 1121341 h 1621888"/>
                  <a:gd name="connsiteX14" fmla="*/ 1114 w 571104"/>
                  <a:gd name="connsiteY14" fmla="*/ 872219 h 1621888"/>
                  <a:gd name="connsiteX15" fmla="*/ -2282 w 571104"/>
                  <a:gd name="connsiteY15" fmla="*/ 106675 h 1621888"/>
                  <a:gd name="connsiteX16" fmla="*/ 3754 w 571104"/>
                  <a:gd name="connsiteY16" fmla="*/ 45090 h 1621888"/>
                  <a:gd name="connsiteX17" fmla="*/ 70779 w 571104"/>
                  <a:gd name="connsiteY17" fmla="*/ 16008 h 1621888"/>
                  <a:gd name="connsiteX18" fmla="*/ 352584 w 571104"/>
                  <a:gd name="connsiteY18" fmla="*/ -2596 h 1621888"/>
                  <a:gd name="connsiteX19" fmla="*/ 482609 w 571104"/>
                  <a:gd name="connsiteY19" fmla="*/ 14725 h 1621888"/>
                  <a:gd name="connsiteX20" fmla="*/ 541712 w 571104"/>
                  <a:gd name="connsiteY20" fmla="*/ 33115 h 1621888"/>
                  <a:gd name="connsiteX21" fmla="*/ 558688 w 571104"/>
                  <a:gd name="connsiteY21" fmla="*/ 60059 h 1621888"/>
                  <a:gd name="connsiteX22" fmla="*/ 564975 w 571104"/>
                  <a:gd name="connsiteY22" fmla="*/ 560014 h 1621888"/>
                  <a:gd name="connsiteX23" fmla="*/ 567993 w 571104"/>
                  <a:gd name="connsiteY23" fmla="*/ 981277 h 1621888"/>
                  <a:gd name="connsiteX24" fmla="*/ 567616 w 571104"/>
                  <a:gd name="connsiteY24" fmla="*/ 1115995 h 1621888"/>
                  <a:gd name="connsiteX25" fmla="*/ 533286 w 571104"/>
                  <a:gd name="connsiteY25" fmla="*/ 1135027 h 1621888"/>
                  <a:gd name="connsiteX26" fmla="*/ 409046 w 571104"/>
                  <a:gd name="connsiteY26" fmla="*/ 1151920 h 1621888"/>
                  <a:gd name="connsiteX27" fmla="*/ 385279 w 571104"/>
                  <a:gd name="connsiteY27" fmla="*/ 1153417 h 1621888"/>
                  <a:gd name="connsiteX28" fmla="*/ 382261 w 571104"/>
                  <a:gd name="connsiteY28" fmla="*/ 1169455 h 1621888"/>
                  <a:gd name="connsiteX29" fmla="*/ 378991 w 571104"/>
                  <a:gd name="connsiteY29" fmla="*/ 1307809 h 1621888"/>
                  <a:gd name="connsiteX30" fmla="*/ 408668 w 571104"/>
                  <a:gd name="connsiteY30" fmla="*/ 1378376 h 1621888"/>
                  <a:gd name="connsiteX31" fmla="*/ 430675 w 571104"/>
                  <a:gd name="connsiteY31" fmla="*/ 1405747 h 1621888"/>
                  <a:gd name="connsiteX32" fmla="*/ 448154 w 571104"/>
                  <a:gd name="connsiteY32" fmla="*/ 1476314 h 1621888"/>
                  <a:gd name="connsiteX33" fmla="*/ 434824 w 571104"/>
                  <a:gd name="connsiteY33" fmla="*/ 1551585 h 1621888"/>
                  <a:gd name="connsiteX34" fmla="*/ 371321 w 571104"/>
                  <a:gd name="connsiteY34" fmla="*/ 1600341 h 1621888"/>
                  <a:gd name="connsiteX35" fmla="*/ 238655 w 571104"/>
                  <a:gd name="connsiteY35" fmla="*/ 1615309 h 162188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</a:cxnLst>
                <a:rect l="l" t="t" r="r" b="b"/>
                <a:pathLst>
                  <a:path w="571104" h="1621888">
                    <a:moveTo>
                      <a:pt x="238655" y="1615309"/>
                    </a:moveTo>
                    <a:cubicBezTo>
                      <a:pt x="204577" y="1609322"/>
                      <a:pt x="179175" y="1597561"/>
                      <a:pt x="157546" y="1577674"/>
                    </a:cubicBezTo>
                    <a:cubicBezTo>
                      <a:pt x="141450" y="1563133"/>
                      <a:pt x="132774" y="1549233"/>
                      <a:pt x="126486" y="1528063"/>
                    </a:cubicBezTo>
                    <a:cubicBezTo>
                      <a:pt x="121456" y="1510956"/>
                      <a:pt x="121456" y="1510742"/>
                      <a:pt x="121456" y="1485723"/>
                    </a:cubicBezTo>
                    <a:cubicBezTo>
                      <a:pt x="121456" y="1463270"/>
                      <a:pt x="121708" y="1458993"/>
                      <a:pt x="124851" y="1445735"/>
                    </a:cubicBezTo>
                    <a:cubicBezTo>
                      <a:pt x="127744" y="1433118"/>
                      <a:pt x="130007" y="1427773"/>
                      <a:pt x="138558" y="1413445"/>
                    </a:cubicBezTo>
                    <a:cubicBezTo>
                      <a:pt x="151133" y="1392275"/>
                      <a:pt x="152265" y="1390778"/>
                      <a:pt x="166349" y="1378162"/>
                    </a:cubicBezTo>
                    <a:cubicBezTo>
                      <a:pt x="172636" y="1372388"/>
                      <a:pt x="178672" y="1366401"/>
                      <a:pt x="179930" y="1364476"/>
                    </a:cubicBezTo>
                    <a:cubicBezTo>
                      <a:pt x="193133" y="1344803"/>
                      <a:pt x="200804" y="1287066"/>
                      <a:pt x="199295" y="1219707"/>
                    </a:cubicBezTo>
                    <a:cubicBezTo>
                      <a:pt x="198541" y="1188487"/>
                      <a:pt x="196529" y="1170097"/>
                      <a:pt x="193133" y="1162826"/>
                    </a:cubicBezTo>
                    <a:cubicBezTo>
                      <a:pt x="191750" y="1159832"/>
                      <a:pt x="185211" y="1158977"/>
                      <a:pt x="147486" y="1157052"/>
                    </a:cubicBezTo>
                    <a:cubicBezTo>
                      <a:pt x="88384" y="1153845"/>
                      <a:pt x="29533" y="1145291"/>
                      <a:pt x="12431" y="1137379"/>
                    </a:cubicBezTo>
                    <a:cubicBezTo>
                      <a:pt x="9916" y="1136310"/>
                      <a:pt x="6018" y="1132247"/>
                      <a:pt x="3880" y="1128398"/>
                    </a:cubicBezTo>
                    <a:lnTo>
                      <a:pt x="-18" y="1121341"/>
                    </a:lnTo>
                    <a:lnTo>
                      <a:pt x="1114" y="872219"/>
                    </a:lnTo>
                    <a:cubicBezTo>
                      <a:pt x="2120" y="635285"/>
                      <a:pt x="359" y="236048"/>
                      <a:pt x="-2282" y="106675"/>
                    </a:cubicBezTo>
                    <a:cubicBezTo>
                      <a:pt x="-3162" y="63908"/>
                      <a:pt x="-2407" y="56423"/>
                      <a:pt x="3754" y="45090"/>
                    </a:cubicBezTo>
                    <a:cubicBezTo>
                      <a:pt x="12305" y="29693"/>
                      <a:pt x="24126" y="24561"/>
                      <a:pt x="70779" y="16008"/>
                    </a:cubicBezTo>
                    <a:cubicBezTo>
                      <a:pt x="154780" y="398"/>
                      <a:pt x="268583" y="-7087"/>
                      <a:pt x="352584" y="-2596"/>
                    </a:cubicBezTo>
                    <a:cubicBezTo>
                      <a:pt x="408920" y="398"/>
                      <a:pt x="432309" y="3605"/>
                      <a:pt x="482609" y="14725"/>
                    </a:cubicBezTo>
                    <a:cubicBezTo>
                      <a:pt x="524861" y="23920"/>
                      <a:pt x="527125" y="24775"/>
                      <a:pt x="541712" y="33115"/>
                    </a:cubicBezTo>
                    <a:cubicBezTo>
                      <a:pt x="553029" y="39744"/>
                      <a:pt x="557556" y="47014"/>
                      <a:pt x="558688" y="60059"/>
                    </a:cubicBezTo>
                    <a:cubicBezTo>
                      <a:pt x="560574" y="83795"/>
                      <a:pt x="563215" y="294426"/>
                      <a:pt x="564975" y="560014"/>
                    </a:cubicBezTo>
                    <a:cubicBezTo>
                      <a:pt x="565981" y="720607"/>
                      <a:pt x="567365" y="910068"/>
                      <a:pt x="567993" y="981277"/>
                    </a:cubicBezTo>
                    <a:cubicBezTo>
                      <a:pt x="568748" y="1076221"/>
                      <a:pt x="568748" y="1112146"/>
                      <a:pt x="567616" y="1115995"/>
                    </a:cubicBezTo>
                    <a:cubicBezTo>
                      <a:pt x="565856" y="1122624"/>
                      <a:pt x="554161" y="1129040"/>
                      <a:pt x="533286" y="1135027"/>
                    </a:cubicBezTo>
                    <a:cubicBezTo>
                      <a:pt x="516687" y="1139945"/>
                      <a:pt x="445765" y="1149568"/>
                      <a:pt x="409046" y="1151920"/>
                    </a:cubicBezTo>
                    <a:lnTo>
                      <a:pt x="385279" y="1153417"/>
                    </a:lnTo>
                    <a:lnTo>
                      <a:pt x="382261" y="1169455"/>
                    </a:lnTo>
                    <a:cubicBezTo>
                      <a:pt x="376854" y="1199179"/>
                      <a:pt x="375093" y="1270173"/>
                      <a:pt x="378991" y="1307809"/>
                    </a:cubicBezTo>
                    <a:cubicBezTo>
                      <a:pt x="383015" y="1348011"/>
                      <a:pt x="388297" y="1360413"/>
                      <a:pt x="408668" y="1378376"/>
                    </a:cubicBezTo>
                    <a:cubicBezTo>
                      <a:pt x="420237" y="1388640"/>
                      <a:pt x="423884" y="1393131"/>
                      <a:pt x="430675" y="1405747"/>
                    </a:cubicBezTo>
                    <a:cubicBezTo>
                      <a:pt x="442998" y="1428414"/>
                      <a:pt x="446519" y="1442955"/>
                      <a:pt x="448154" y="1476314"/>
                    </a:cubicBezTo>
                    <a:cubicBezTo>
                      <a:pt x="449537" y="1506251"/>
                      <a:pt x="444633" y="1533623"/>
                      <a:pt x="434824" y="1551585"/>
                    </a:cubicBezTo>
                    <a:cubicBezTo>
                      <a:pt x="426776" y="1566126"/>
                      <a:pt x="397980" y="1588152"/>
                      <a:pt x="371321" y="1600341"/>
                    </a:cubicBezTo>
                    <a:cubicBezTo>
                      <a:pt x="337997" y="1615523"/>
                      <a:pt x="277763" y="1622152"/>
                      <a:pt x="238655" y="1615309"/>
                    </a:cubicBezTo>
                    <a:close/>
                  </a:path>
                </a:pathLst>
              </a:custGeom>
              <a:solidFill>
                <a:srgbClr val="950F53"/>
              </a:solidFill>
              <a:ln w="5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de-DE" sz="1800" b="0" i="0" u="none" strike="noStrike" kern="0" cap="none" spc="0" normalizeH="0" baseline="0" noProof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60" name="Freihandform: Form 259">
                <a:extLst>
                  <a:ext uri="{FF2B5EF4-FFF2-40B4-BE49-F238E27FC236}">
                    <a16:creationId xmlns:a16="http://schemas.microsoft.com/office/drawing/2014/main" id="{F95B0C1E-8649-9048-8F36-F4223FB94BC8}"/>
                  </a:ext>
                </a:extLst>
              </p:cNvPr>
              <p:cNvSpPr/>
              <p:nvPr/>
            </p:nvSpPr>
            <p:spPr>
              <a:xfrm flipV="1">
                <a:off x="8564283" y="3180169"/>
                <a:ext cx="571104" cy="1807395"/>
              </a:xfrm>
              <a:custGeom>
                <a:avLst/>
                <a:gdLst>
                  <a:gd name="connsiteX0" fmla="*/ 238655 w 571104"/>
                  <a:gd name="connsiteY0" fmla="*/ 1615309 h 1621888"/>
                  <a:gd name="connsiteX1" fmla="*/ 157546 w 571104"/>
                  <a:gd name="connsiteY1" fmla="*/ 1577674 h 1621888"/>
                  <a:gd name="connsiteX2" fmla="*/ 126486 w 571104"/>
                  <a:gd name="connsiteY2" fmla="*/ 1528063 h 1621888"/>
                  <a:gd name="connsiteX3" fmla="*/ 121456 w 571104"/>
                  <a:gd name="connsiteY3" fmla="*/ 1485723 h 1621888"/>
                  <a:gd name="connsiteX4" fmla="*/ 124851 w 571104"/>
                  <a:gd name="connsiteY4" fmla="*/ 1445735 h 1621888"/>
                  <a:gd name="connsiteX5" fmla="*/ 138558 w 571104"/>
                  <a:gd name="connsiteY5" fmla="*/ 1413445 h 1621888"/>
                  <a:gd name="connsiteX6" fmla="*/ 166349 w 571104"/>
                  <a:gd name="connsiteY6" fmla="*/ 1378162 h 1621888"/>
                  <a:gd name="connsiteX7" fmla="*/ 179930 w 571104"/>
                  <a:gd name="connsiteY7" fmla="*/ 1364476 h 1621888"/>
                  <a:gd name="connsiteX8" fmla="*/ 199295 w 571104"/>
                  <a:gd name="connsiteY8" fmla="*/ 1219707 h 1621888"/>
                  <a:gd name="connsiteX9" fmla="*/ 193133 w 571104"/>
                  <a:gd name="connsiteY9" fmla="*/ 1162826 h 1621888"/>
                  <a:gd name="connsiteX10" fmla="*/ 147486 w 571104"/>
                  <a:gd name="connsiteY10" fmla="*/ 1157052 h 1621888"/>
                  <a:gd name="connsiteX11" fmla="*/ 12431 w 571104"/>
                  <a:gd name="connsiteY11" fmla="*/ 1137379 h 1621888"/>
                  <a:gd name="connsiteX12" fmla="*/ 3880 w 571104"/>
                  <a:gd name="connsiteY12" fmla="*/ 1128398 h 1621888"/>
                  <a:gd name="connsiteX13" fmla="*/ -18 w 571104"/>
                  <a:gd name="connsiteY13" fmla="*/ 1121341 h 1621888"/>
                  <a:gd name="connsiteX14" fmla="*/ 1114 w 571104"/>
                  <a:gd name="connsiteY14" fmla="*/ 872219 h 1621888"/>
                  <a:gd name="connsiteX15" fmla="*/ -2282 w 571104"/>
                  <a:gd name="connsiteY15" fmla="*/ 106675 h 1621888"/>
                  <a:gd name="connsiteX16" fmla="*/ 3754 w 571104"/>
                  <a:gd name="connsiteY16" fmla="*/ 45090 h 1621888"/>
                  <a:gd name="connsiteX17" fmla="*/ 70779 w 571104"/>
                  <a:gd name="connsiteY17" fmla="*/ 16008 h 1621888"/>
                  <a:gd name="connsiteX18" fmla="*/ 352584 w 571104"/>
                  <a:gd name="connsiteY18" fmla="*/ -2596 h 1621888"/>
                  <a:gd name="connsiteX19" fmla="*/ 482609 w 571104"/>
                  <a:gd name="connsiteY19" fmla="*/ 14725 h 1621888"/>
                  <a:gd name="connsiteX20" fmla="*/ 541712 w 571104"/>
                  <a:gd name="connsiteY20" fmla="*/ 33115 h 1621888"/>
                  <a:gd name="connsiteX21" fmla="*/ 558688 w 571104"/>
                  <a:gd name="connsiteY21" fmla="*/ 60059 h 1621888"/>
                  <a:gd name="connsiteX22" fmla="*/ 564975 w 571104"/>
                  <a:gd name="connsiteY22" fmla="*/ 560014 h 1621888"/>
                  <a:gd name="connsiteX23" fmla="*/ 567993 w 571104"/>
                  <a:gd name="connsiteY23" fmla="*/ 981277 h 1621888"/>
                  <a:gd name="connsiteX24" fmla="*/ 567616 w 571104"/>
                  <a:gd name="connsiteY24" fmla="*/ 1115995 h 1621888"/>
                  <a:gd name="connsiteX25" fmla="*/ 533286 w 571104"/>
                  <a:gd name="connsiteY25" fmla="*/ 1135027 h 1621888"/>
                  <a:gd name="connsiteX26" fmla="*/ 409046 w 571104"/>
                  <a:gd name="connsiteY26" fmla="*/ 1151920 h 1621888"/>
                  <a:gd name="connsiteX27" fmla="*/ 385279 w 571104"/>
                  <a:gd name="connsiteY27" fmla="*/ 1153417 h 1621888"/>
                  <a:gd name="connsiteX28" fmla="*/ 382261 w 571104"/>
                  <a:gd name="connsiteY28" fmla="*/ 1169455 h 1621888"/>
                  <a:gd name="connsiteX29" fmla="*/ 378991 w 571104"/>
                  <a:gd name="connsiteY29" fmla="*/ 1307809 h 1621888"/>
                  <a:gd name="connsiteX30" fmla="*/ 408668 w 571104"/>
                  <a:gd name="connsiteY30" fmla="*/ 1378376 h 1621888"/>
                  <a:gd name="connsiteX31" fmla="*/ 430675 w 571104"/>
                  <a:gd name="connsiteY31" fmla="*/ 1405747 h 1621888"/>
                  <a:gd name="connsiteX32" fmla="*/ 448154 w 571104"/>
                  <a:gd name="connsiteY32" fmla="*/ 1476314 h 1621888"/>
                  <a:gd name="connsiteX33" fmla="*/ 434824 w 571104"/>
                  <a:gd name="connsiteY33" fmla="*/ 1551585 h 1621888"/>
                  <a:gd name="connsiteX34" fmla="*/ 371321 w 571104"/>
                  <a:gd name="connsiteY34" fmla="*/ 1600341 h 1621888"/>
                  <a:gd name="connsiteX35" fmla="*/ 238655 w 571104"/>
                  <a:gd name="connsiteY35" fmla="*/ 1615309 h 162188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</a:cxnLst>
                <a:rect l="l" t="t" r="r" b="b"/>
                <a:pathLst>
                  <a:path w="571104" h="1621888">
                    <a:moveTo>
                      <a:pt x="238655" y="1615309"/>
                    </a:moveTo>
                    <a:cubicBezTo>
                      <a:pt x="204577" y="1609322"/>
                      <a:pt x="179175" y="1597561"/>
                      <a:pt x="157546" y="1577674"/>
                    </a:cubicBezTo>
                    <a:cubicBezTo>
                      <a:pt x="141450" y="1563133"/>
                      <a:pt x="132774" y="1549233"/>
                      <a:pt x="126486" y="1528063"/>
                    </a:cubicBezTo>
                    <a:cubicBezTo>
                      <a:pt x="121456" y="1510956"/>
                      <a:pt x="121456" y="1510742"/>
                      <a:pt x="121456" y="1485723"/>
                    </a:cubicBezTo>
                    <a:cubicBezTo>
                      <a:pt x="121456" y="1463270"/>
                      <a:pt x="121708" y="1458993"/>
                      <a:pt x="124851" y="1445735"/>
                    </a:cubicBezTo>
                    <a:cubicBezTo>
                      <a:pt x="127744" y="1433118"/>
                      <a:pt x="130007" y="1427773"/>
                      <a:pt x="138558" y="1413445"/>
                    </a:cubicBezTo>
                    <a:cubicBezTo>
                      <a:pt x="151133" y="1392275"/>
                      <a:pt x="152265" y="1390778"/>
                      <a:pt x="166349" y="1378162"/>
                    </a:cubicBezTo>
                    <a:cubicBezTo>
                      <a:pt x="172636" y="1372388"/>
                      <a:pt x="178672" y="1366401"/>
                      <a:pt x="179930" y="1364476"/>
                    </a:cubicBezTo>
                    <a:cubicBezTo>
                      <a:pt x="193133" y="1344803"/>
                      <a:pt x="200804" y="1287066"/>
                      <a:pt x="199295" y="1219707"/>
                    </a:cubicBezTo>
                    <a:cubicBezTo>
                      <a:pt x="198541" y="1188487"/>
                      <a:pt x="196529" y="1170097"/>
                      <a:pt x="193133" y="1162826"/>
                    </a:cubicBezTo>
                    <a:cubicBezTo>
                      <a:pt x="191750" y="1159832"/>
                      <a:pt x="185211" y="1158977"/>
                      <a:pt x="147486" y="1157052"/>
                    </a:cubicBezTo>
                    <a:cubicBezTo>
                      <a:pt x="88384" y="1153845"/>
                      <a:pt x="29533" y="1145291"/>
                      <a:pt x="12431" y="1137379"/>
                    </a:cubicBezTo>
                    <a:cubicBezTo>
                      <a:pt x="9916" y="1136310"/>
                      <a:pt x="6018" y="1132247"/>
                      <a:pt x="3880" y="1128398"/>
                    </a:cubicBezTo>
                    <a:lnTo>
                      <a:pt x="-18" y="1121341"/>
                    </a:lnTo>
                    <a:lnTo>
                      <a:pt x="1114" y="872219"/>
                    </a:lnTo>
                    <a:cubicBezTo>
                      <a:pt x="2120" y="635285"/>
                      <a:pt x="359" y="236048"/>
                      <a:pt x="-2282" y="106675"/>
                    </a:cubicBezTo>
                    <a:cubicBezTo>
                      <a:pt x="-3162" y="63908"/>
                      <a:pt x="-2407" y="56423"/>
                      <a:pt x="3754" y="45090"/>
                    </a:cubicBezTo>
                    <a:cubicBezTo>
                      <a:pt x="12305" y="29693"/>
                      <a:pt x="24126" y="24561"/>
                      <a:pt x="70779" y="16008"/>
                    </a:cubicBezTo>
                    <a:cubicBezTo>
                      <a:pt x="154780" y="398"/>
                      <a:pt x="268583" y="-7087"/>
                      <a:pt x="352584" y="-2596"/>
                    </a:cubicBezTo>
                    <a:cubicBezTo>
                      <a:pt x="408920" y="398"/>
                      <a:pt x="432309" y="3605"/>
                      <a:pt x="482609" y="14725"/>
                    </a:cubicBezTo>
                    <a:cubicBezTo>
                      <a:pt x="524861" y="23920"/>
                      <a:pt x="527125" y="24775"/>
                      <a:pt x="541712" y="33115"/>
                    </a:cubicBezTo>
                    <a:cubicBezTo>
                      <a:pt x="553029" y="39744"/>
                      <a:pt x="557556" y="47014"/>
                      <a:pt x="558688" y="60059"/>
                    </a:cubicBezTo>
                    <a:cubicBezTo>
                      <a:pt x="560574" y="83795"/>
                      <a:pt x="563215" y="294426"/>
                      <a:pt x="564975" y="560014"/>
                    </a:cubicBezTo>
                    <a:cubicBezTo>
                      <a:pt x="565981" y="720607"/>
                      <a:pt x="567365" y="910068"/>
                      <a:pt x="567993" y="981277"/>
                    </a:cubicBezTo>
                    <a:cubicBezTo>
                      <a:pt x="568748" y="1076221"/>
                      <a:pt x="568748" y="1112146"/>
                      <a:pt x="567616" y="1115995"/>
                    </a:cubicBezTo>
                    <a:cubicBezTo>
                      <a:pt x="565856" y="1122624"/>
                      <a:pt x="554161" y="1129040"/>
                      <a:pt x="533286" y="1135027"/>
                    </a:cubicBezTo>
                    <a:cubicBezTo>
                      <a:pt x="516687" y="1139945"/>
                      <a:pt x="445765" y="1149568"/>
                      <a:pt x="409046" y="1151920"/>
                    </a:cubicBezTo>
                    <a:lnTo>
                      <a:pt x="385279" y="1153417"/>
                    </a:lnTo>
                    <a:lnTo>
                      <a:pt x="382261" y="1169455"/>
                    </a:lnTo>
                    <a:cubicBezTo>
                      <a:pt x="376854" y="1199179"/>
                      <a:pt x="375093" y="1270173"/>
                      <a:pt x="378991" y="1307809"/>
                    </a:cubicBezTo>
                    <a:cubicBezTo>
                      <a:pt x="383015" y="1348011"/>
                      <a:pt x="388297" y="1360413"/>
                      <a:pt x="408668" y="1378376"/>
                    </a:cubicBezTo>
                    <a:cubicBezTo>
                      <a:pt x="420237" y="1388640"/>
                      <a:pt x="423884" y="1393131"/>
                      <a:pt x="430675" y="1405747"/>
                    </a:cubicBezTo>
                    <a:cubicBezTo>
                      <a:pt x="442998" y="1428414"/>
                      <a:pt x="446519" y="1442955"/>
                      <a:pt x="448154" y="1476314"/>
                    </a:cubicBezTo>
                    <a:cubicBezTo>
                      <a:pt x="449537" y="1506251"/>
                      <a:pt x="444633" y="1533623"/>
                      <a:pt x="434824" y="1551585"/>
                    </a:cubicBezTo>
                    <a:cubicBezTo>
                      <a:pt x="426776" y="1566126"/>
                      <a:pt x="397980" y="1588152"/>
                      <a:pt x="371321" y="1600341"/>
                    </a:cubicBezTo>
                    <a:cubicBezTo>
                      <a:pt x="337997" y="1615523"/>
                      <a:pt x="277763" y="1622152"/>
                      <a:pt x="238655" y="1615309"/>
                    </a:cubicBezTo>
                    <a:close/>
                  </a:path>
                </a:pathLst>
              </a:custGeom>
              <a:solidFill>
                <a:srgbClr val="950F53"/>
              </a:solidFill>
              <a:ln w="5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de-DE" sz="1800" b="0" i="0" u="none" strike="noStrike" kern="0" cap="none" spc="0" normalizeH="0" baseline="0" noProof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  <p:grpSp>
          <p:nvGrpSpPr>
            <p:cNvPr id="210" name="Gruppieren 209">
              <a:extLst>
                <a:ext uri="{FF2B5EF4-FFF2-40B4-BE49-F238E27FC236}">
                  <a16:creationId xmlns:a16="http://schemas.microsoft.com/office/drawing/2014/main" id="{159068E7-1BC9-B8D4-9977-A4FD8AFD676E}"/>
                </a:ext>
              </a:extLst>
            </p:cNvPr>
            <p:cNvGrpSpPr/>
            <p:nvPr/>
          </p:nvGrpSpPr>
          <p:grpSpPr>
            <a:xfrm flipV="1">
              <a:off x="1616143" y="4172051"/>
              <a:ext cx="6529637" cy="382499"/>
              <a:chOff x="1463995" y="3180169"/>
              <a:chExt cx="7671392" cy="1807396"/>
            </a:xfrm>
            <a:solidFill>
              <a:srgbClr val="5FB564">
                <a:lumMod val="60000"/>
                <a:lumOff val="40000"/>
              </a:srgbClr>
            </a:solidFill>
          </p:grpSpPr>
          <p:sp>
            <p:nvSpPr>
              <p:cNvPr id="237" name="Freihandform: Form 236">
                <a:extLst>
                  <a:ext uri="{FF2B5EF4-FFF2-40B4-BE49-F238E27FC236}">
                    <a16:creationId xmlns:a16="http://schemas.microsoft.com/office/drawing/2014/main" id="{78283D47-62D0-823B-CF1B-5B9245504FC9}"/>
                  </a:ext>
                </a:extLst>
              </p:cNvPr>
              <p:cNvSpPr/>
              <p:nvPr/>
            </p:nvSpPr>
            <p:spPr>
              <a:xfrm flipV="1">
                <a:off x="1463995" y="3365677"/>
                <a:ext cx="571104" cy="1621888"/>
              </a:xfrm>
              <a:custGeom>
                <a:avLst/>
                <a:gdLst>
                  <a:gd name="connsiteX0" fmla="*/ 238655 w 571104"/>
                  <a:gd name="connsiteY0" fmla="*/ 1615309 h 1621888"/>
                  <a:gd name="connsiteX1" fmla="*/ 157546 w 571104"/>
                  <a:gd name="connsiteY1" fmla="*/ 1577674 h 1621888"/>
                  <a:gd name="connsiteX2" fmla="*/ 126486 w 571104"/>
                  <a:gd name="connsiteY2" fmla="*/ 1528063 h 1621888"/>
                  <a:gd name="connsiteX3" fmla="*/ 121456 w 571104"/>
                  <a:gd name="connsiteY3" fmla="*/ 1485723 h 1621888"/>
                  <a:gd name="connsiteX4" fmla="*/ 124851 w 571104"/>
                  <a:gd name="connsiteY4" fmla="*/ 1445735 h 1621888"/>
                  <a:gd name="connsiteX5" fmla="*/ 138558 w 571104"/>
                  <a:gd name="connsiteY5" fmla="*/ 1413445 h 1621888"/>
                  <a:gd name="connsiteX6" fmla="*/ 166349 w 571104"/>
                  <a:gd name="connsiteY6" fmla="*/ 1378162 h 1621888"/>
                  <a:gd name="connsiteX7" fmla="*/ 179930 w 571104"/>
                  <a:gd name="connsiteY7" fmla="*/ 1364476 h 1621888"/>
                  <a:gd name="connsiteX8" fmla="*/ 199295 w 571104"/>
                  <a:gd name="connsiteY8" fmla="*/ 1219707 h 1621888"/>
                  <a:gd name="connsiteX9" fmla="*/ 193133 w 571104"/>
                  <a:gd name="connsiteY9" fmla="*/ 1162826 h 1621888"/>
                  <a:gd name="connsiteX10" fmla="*/ 147486 w 571104"/>
                  <a:gd name="connsiteY10" fmla="*/ 1157052 h 1621888"/>
                  <a:gd name="connsiteX11" fmla="*/ 12431 w 571104"/>
                  <a:gd name="connsiteY11" fmla="*/ 1137379 h 1621888"/>
                  <a:gd name="connsiteX12" fmla="*/ 3880 w 571104"/>
                  <a:gd name="connsiteY12" fmla="*/ 1128398 h 1621888"/>
                  <a:gd name="connsiteX13" fmla="*/ -18 w 571104"/>
                  <a:gd name="connsiteY13" fmla="*/ 1121341 h 1621888"/>
                  <a:gd name="connsiteX14" fmla="*/ 1114 w 571104"/>
                  <a:gd name="connsiteY14" fmla="*/ 872219 h 1621888"/>
                  <a:gd name="connsiteX15" fmla="*/ -2282 w 571104"/>
                  <a:gd name="connsiteY15" fmla="*/ 106675 h 1621888"/>
                  <a:gd name="connsiteX16" fmla="*/ 3754 w 571104"/>
                  <a:gd name="connsiteY16" fmla="*/ 45090 h 1621888"/>
                  <a:gd name="connsiteX17" fmla="*/ 70779 w 571104"/>
                  <a:gd name="connsiteY17" fmla="*/ 16008 h 1621888"/>
                  <a:gd name="connsiteX18" fmla="*/ 352584 w 571104"/>
                  <a:gd name="connsiteY18" fmla="*/ -2596 h 1621888"/>
                  <a:gd name="connsiteX19" fmla="*/ 482609 w 571104"/>
                  <a:gd name="connsiteY19" fmla="*/ 14725 h 1621888"/>
                  <a:gd name="connsiteX20" fmla="*/ 541712 w 571104"/>
                  <a:gd name="connsiteY20" fmla="*/ 33115 h 1621888"/>
                  <a:gd name="connsiteX21" fmla="*/ 558688 w 571104"/>
                  <a:gd name="connsiteY21" fmla="*/ 60059 h 1621888"/>
                  <a:gd name="connsiteX22" fmla="*/ 564975 w 571104"/>
                  <a:gd name="connsiteY22" fmla="*/ 560014 h 1621888"/>
                  <a:gd name="connsiteX23" fmla="*/ 567993 w 571104"/>
                  <a:gd name="connsiteY23" fmla="*/ 981277 h 1621888"/>
                  <a:gd name="connsiteX24" fmla="*/ 567616 w 571104"/>
                  <a:gd name="connsiteY24" fmla="*/ 1115995 h 1621888"/>
                  <a:gd name="connsiteX25" fmla="*/ 533286 w 571104"/>
                  <a:gd name="connsiteY25" fmla="*/ 1135027 h 1621888"/>
                  <a:gd name="connsiteX26" fmla="*/ 409046 w 571104"/>
                  <a:gd name="connsiteY26" fmla="*/ 1151920 h 1621888"/>
                  <a:gd name="connsiteX27" fmla="*/ 385279 w 571104"/>
                  <a:gd name="connsiteY27" fmla="*/ 1153417 h 1621888"/>
                  <a:gd name="connsiteX28" fmla="*/ 382261 w 571104"/>
                  <a:gd name="connsiteY28" fmla="*/ 1169455 h 1621888"/>
                  <a:gd name="connsiteX29" fmla="*/ 378991 w 571104"/>
                  <a:gd name="connsiteY29" fmla="*/ 1307809 h 1621888"/>
                  <a:gd name="connsiteX30" fmla="*/ 408668 w 571104"/>
                  <a:gd name="connsiteY30" fmla="*/ 1378376 h 1621888"/>
                  <a:gd name="connsiteX31" fmla="*/ 430675 w 571104"/>
                  <a:gd name="connsiteY31" fmla="*/ 1405747 h 1621888"/>
                  <a:gd name="connsiteX32" fmla="*/ 448154 w 571104"/>
                  <a:gd name="connsiteY32" fmla="*/ 1476314 h 1621888"/>
                  <a:gd name="connsiteX33" fmla="*/ 434824 w 571104"/>
                  <a:gd name="connsiteY33" fmla="*/ 1551585 h 1621888"/>
                  <a:gd name="connsiteX34" fmla="*/ 371321 w 571104"/>
                  <a:gd name="connsiteY34" fmla="*/ 1600341 h 1621888"/>
                  <a:gd name="connsiteX35" fmla="*/ 238655 w 571104"/>
                  <a:gd name="connsiteY35" fmla="*/ 1615309 h 162188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</a:cxnLst>
                <a:rect l="l" t="t" r="r" b="b"/>
                <a:pathLst>
                  <a:path w="571104" h="1621888">
                    <a:moveTo>
                      <a:pt x="238655" y="1615309"/>
                    </a:moveTo>
                    <a:cubicBezTo>
                      <a:pt x="204577" y="1609322"/>
                      <a:pt x="179175" y="1597561"/>
                      <a:pt x="157546" y="1577674"/>
                    </a:cubicBezTo>
                    <a:cubicBezTo>
                      <a:pt x="141450" y="1563133"/>
                      <a:pt x="132774" y="1549233"/>
                      <a:pt x="126486" y="1528063"/>
                    </a:cubicBezTo>
                    <a:cubicBezTo>
                      <a:pt x="121456" y="1510956"/>
                      <a:pt x="121456" y="1510742"/>
                      <a:pt x="121456" y="1485723"/>
                    </a:cubicBezTo>
                    <a:cubicBezTo>
                      <a:pt x="121456" y="1463270"/>
                      <a:pt x="121708" y="1458993"/>
                      <a:pt x="124851" y="1445735"/>
                    </a:cubicBezTo>
                    <a:cubicBezTo>
                      <a:pt x="127744" y="1433118"/>
                      <a:pt x="130007" y="1427773"/>
                      <a:pt x="138558" y="1413445"/>
                    </a:cubicBezTo>
                    <a:cubicBezTo>
                      <a:pt x="151133" y="1392275"/>
                      <a:pt x="152265" y="1390778"/>
                      <a:pt x="166349" y="1378162"/>
                    </a:cubicBezTo>
                    <a:cubicBezTo>
                      <a:pt x="172636" y="1372388"/>
                      <a:pt x="178672" y="1366401"/>
                      <a:pt x="179930" y="1364476"/>
                    </a:cubicBezTo>
                    <a:cubicBezTo>
                      <a:pt x="193133" y="1344803"/>
                      <a:pt x="200804" y="1287066"/>
                      <a:pt x="199295" y="1219707"/>
                    </a:cubicBezTo>
                    <a:cubicBezTo>
                      <a:pt x="198541" y="1188487"/>
                      <a:pt x="196529" y="1170097"/>
                      <a:pt x="193133" y="1162826"/>
                    </a:cubicBezTo>
                    <a:cubicBezTo>
                      <a:pt x="191750" y="1159832"/>
                      <a:pt x="185211" y="1158977"/>
                      <a:pt x="147486" y="1157052"/>
                    </a:cubicBezTo>
                    <a:cubicBezTo>
                      <a:pt x="88384" y="1153845"/>
                      <a:pt x="29533" y="1145291"/>
                      <a:pt x="12431" y="1137379"/>
                    </a:cubicBezTo>
                    <a:cubicBezTo>
                      <a:pt x="9916" y="1136310"/>
                      <a:pt x="6018" y="1132247"/>
                      <a:pt x="3880" y="1128398"/>
                    </a:cubicBezTo>
                    <a:lnTo>
                      <a:pt x="-18" y="1121341"/>
                    </a:lnTo>
                    <a:lnTo>
                      <a:pt x="1114" y="872219"/>
                    </a:lnTo>
                    <a:cubicBezTo>
                      <a:pt x="2120" y="635285"/>
                      <a:pt x="359" y="236048"/>
                      <a:pt x="-2282" y="106675"/>
                    </a:cubicBezTo>
                    <a:cubicBezTo>
                      <a:pt x="-3162" y="63908"/>
                      <a:pt x="-2407" y="56423"/>
                      <a:pt x="3754" y="45090"/>
                    </a:cubicBezTo>
                    <a:cubicBezTo>
                      <a:pt x="12305" y="29693"/>
                      <a:pt x="24126" y="24561"/>
                      <a:pt x="70779" y="16008"/>
                    </a:cubicBezTo>
                    <a:cubicBezTo>
                      <a:pt x="154780" y="398"/>
                      <a:pt x="268583" y="-7087"/>
                      <a:pt x="352584" y="-2596"/>
                    </a:cubicBezTo>
                    <a:cubicBezTo>
                      <a:pt x="408920" y="398"/>
                      <a:pt x="432309" y="3605"/>
                      <a:pt x="482609" y="14725"/>
                    </a:cubicBezTo>
                    <a:cubicBezTo>
                      <a:pt x="524861" y="23920"/>
                      <a:pt x="527125" y="24775"/>
                      <a:pt x="541712" y="33115"/>
                    </a:cubicBezTo>
                    <a:cubicBezTo>
                      <a:pt x="553029" y="39744"/>
                      <a:pt x="557556" y="47014"/>
                      <a:pt x="558688" y="60059"/>
                    </a:cubicBezTo>
                    <a:cubicBezTo>
                      <a:pt x="560574" y="83795"/>
                      <a:pt x="563215" y="294426"/>
                      <a:pt x="564975" y="560014"/>
                    </a:cubicBezTo>
                    <a:cubicBezTo>
                      <a:pt x="565981" y="720607"/>
                      <a:pt x="567365" y="910068"/>
                      <a:pt x="567993" y="981277"/>
                    </a:cubicBezTo>
                    <a:cubicBezTo>
                      <a:pt x="568748" y="1076221"/>
                      <a:pt x="568748" y="1112146"/>
                      <a:pt x="567616" y="1115995"/>
                    </a:cubicBezTo>
                    <a:cubicBezTo>
                      <a:pt x="565856" y="1122624"/>
                      <a:pt x="554161" y="1129040"/>
                      <a:pt x="533286" y="1135027"/>
                    </a:cubicBezTo>
                    <a:cubicBezTo>
                      <a:pt x="516687" y="1139945"/>
                      <a:pt x="445765" y="1149568"/>
                      <a:pt x="409046" y="1151920"/>
                    </a:cubicBezTo>
                    <a:lnTo>
                      <a:pt x="385279" y="1153417"/>
                    </a:lnTo>
                    <a:lnTo>
                      <a:pt x="382261" y="1169455"/>
                    </a:lnTo>
                    <a:cubicBezTo>
                      <a:pt x="376854" y="1199179"/>
                      <a:pt x="375093" y="1270173"/>
                      <a:pt x="378991" y="1307809"/>
                    </a:cubicBezTo>
                    <a:cubicBezTo>
                      <a:pt x="383015" y="1348011"/>
                      <a:pt x="388297" y="1360413"/>
                      <a:pt x="408668" y="1378376"/>
                    </a:cubicBezTo>
                    <a:cubicBezTo>
                      <a:pt x="420237" y="1388640"/>
                      <a:pt x="423884" y="1393131"/>
                      <a:pt x="430675" y="1405747"/>
                    </a:cubicBezTo>
                    <a:cubicBezTo>
                      <a:pt x="442998" y="1428414"/>
                      <a:pt x="446519" y="1442955"/>
                      <a:pt x="448154" y="1476314"/>
                    </a:cubicBezTo>
                    <a:cubicBezTo>
                      <a:pt x="449537" y="1506251"/>
                      <a:pt x="444633" y="1533623"/>
                      <a:pt x="434824" y="1551585"/>
                    </a:cubicBezTo>
                    <a:cubicBezTo>
                      <a:pt x="426776" y="1566126"/>
                      <a:pt x="397980" y="1588152"/>
                      <a:pt x="371321" y="1600341"/>
                    </a:cubicBezTo>
                    <a:cubicBezTo>
                      <a:pt x="337997" y="1615523"/>
                      <a:pt x="277763" y="1622152"/>
                      <a:pt x="238655" y="1615309"/>
                    </a:cubicBezTo>
                    <a:close/>
                  </a:path>
                </a:pathLst>
              </a:custGeom>
              <a:grpFill/>
              <a:ln w="5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de-DE" sz="1800" b="0" i="0" u="none" strike="noStrike" kern="0" cap="none" spc="0" normalizeH="0" baseline="0" noProof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38" name="Freihandform: Form 237">
                <a:extLst>
                  <a:ext uri="{FF2B5EF4-FFF2-40B4-BE49-F238E27FC236}">
                    <a16:creationId xmlns:a16="http://schemas.microsoft.com/office/drawing/2014/main" id="{8F61C3BE-F91F-415E-7D7B-42380AF04204}"/>
                  </a:ext>
                </a:extLst>
              </p:cNvPr>
              <p:cNvSpPr/>
              <p:nvPr/>
            </p:nvSpPr>
            <p:spPr>
              <a:xfrm flipV="1">
                <a:off x="2109476" y="3495759"/>
                <a:ext cx="571104" cy="1491806"/>
              </a:xfrm>
              <a:custGeom>
                <a:avLst/>
                <a:gdLst>
                  <a:gd name="connsiteX0" fmla="*/ 238655 w 571104"/>
                  <a:gd name="connsiteY0" fmla="*/ 1615309 h 1621888"/>
                  <a:gd name="connsiteX1" fmla="*/ 157546 w 571104"/>
                  <a:gd name="connsiteY1" fmla="*/ 1577674 h 1621888"/>
                  <a:gd name="connsiteX2" fmla="*/ 126486 w 571104"/>
                  <a:gd name="connsiteY2" fmla="*/ 1528063 h 1621888"/>
                  <a:gd name="connsiteX3" fmla="*/ 121456 w 571104"/>
                  <a:gd name="connsiteY3" fmla="*/ 1485723 h 1621888"/>
                  <a:gd name="connsiteX4" fmla="*/ 124851 w 571104"/>
                  <a:gd name="connsiteY4" fmla="*/ 1445735 h 1621888"/>
                  <a:gd name="connsiteX5" fmla="*/ 138558 w 571104"/>
                  <a:gd name="connsiteY5" fmla="*/ 1413445 h 1621888"/>
                  <a:gd name="connsiteX6" fmla="*/ 166349 w 571104"/>
                  <a:gd name="connsiteY6" fmla="*/ 1378162 h 1621888"/>
                  <a:gd name="connsiteX7" fmla="*/ 179930 w 571104"/>
                  <a:gd name="connsiteY7" fmla="*/ 1364476 h 1621888"/>
                  <a:gd name="connsiteX8" fmla="*/ 199295 w 571104"/>
                  <a:gd name="connsiteY8" fmla="*/ 1219707 h 1621888"/>
                  <a:gd name="connsiteX9" fmla="*/ 193133 w 571104"/>
                  <a:gd name="connsiteY9" fmla="*/ 1162826 h 1621888"/>
                  <a:gd name="connsiteX10" fmla="*/ 147486 w 571104"/>
                  <a:gd name="connsiteY10" fmla="*/ 1157052 h 1621888"/>
                  <a:gd name="connsiteX11" fmla="*/ 12431 w 571104"/>
                  <a:gd name="connsiteY11" fmla="*/ 1137379 h 1621888"/>
                  <a:gd name="connsiteX12" fmla="*/ 3880 w 571104"/>
                  <a:gd name="connsiteY12" fmla="*/ 1128398 h 1621888"/>
                  <a:gd name="connsiteX13" fmla="*/ -18 w 571104"/>
                  <a:gd name="connsiteY13" fmla="*/ 1121341 h 1621888"/>
                  <a:gd name="connsiteX14" fmla="*/ 1114 w 571104"/>
                  <a:gd name="connsiteY14" fmla="*/ 872219 h 1621888"/>
                  <a:gd name="connsiteX15" fmla="*/ -2282 w 571104"/>
                  <a:gd name="connsiteY15" fmla="*/ 106675 h 1621888"/>
                  <a:gd name="connsiteX16" fmla="*/ 3754 w 571104"/>
                  <a:gd name="connsiteY16" fmla="*/ 45090 h 1621888"/>
                  <a:gd name="connsiteX17" fmla="*/ 70779 w 571104"/>
                  <a:gd name="connsiteY17" fmla="*/ 16008 h 1621888"/>
                  <a:gd name="connsiteX18" fmla="*/ 352584 w 571104"/>
                  <a:gd name="connsiteY18" fmla="*/ -2596 h 1621888"/>
                  <a:gd name="connsiteX19" fmla="*/ 482609 w 571104"/>
                  <a:gd name="connsiteY19" fmla="*/ 14725 h 1621888"/>
                  <a:gd name="connsiteX20" fmla="*/ 541712 w 571104"/>
                  <a:gd name="connsiteY20" fmla="*/ 33115 h 1621888"/>
                  <a:gd name="connsiteX21" fmla="*/ 558688 w 571104"/>
                  <a:gd name="connsiteY21" fmla="*/ 60059 h 1621888"/>
                  <a:gd name="connsiteX22" fmla="*/ 564975 w 571104"/>
                  <a:gd name="connsiteY22" fmla="*/ 560014 h 1621888"/>
                  <a:gd name="connsiteX23" fmla="*/ 567993 w 571104"/>
                  <a:gd name="connsiteY23" fmla="*/ 981277 h 1621888"/>
                  <a:gd name="connsiteX24" fmla="*/ 567616 w 571104"/>
                  <a:gd name="connsiteY24" fmla="*/ 1115995 h 1621888"/>
                  <a:gd name="connsiteX25" fmla="*/ 533286 w 571104"/>
                  <a:gd name="connsiteY25" fmla="*/ 1135027 h 1621888"/>
                  <a:gd name="connsiteX26" fmla="*/ 409046 w 571104"/>
                  <a:gd name="connsiteY26" fmla="*/ 1151920 h 1621888"/>
                  <a:gd name="connsiteX27" fmla="*/ 385279 w 571104"/>
                  <a:gd name="connsiteY27" fmla="*/ 1153417 h 1621888"/>
                  <a:gd name="connsiteX28" fmla="*/ 382261 w 571104"/>
                  <a:gd name="connsiteY28" fmla="*/ 1169455 h 1621888"/>
                  <a:gd name="connsiteX29" fmla="*/ 378991 w 571104"/>
                  <a:gd name="connsiteY29" fmla="*/ 1307809 h 1621888"/>
                  <a:gd name="connsiteX30" fmla="*/ 408668 w 571104"/>
                  <a:gd name="connsiteY30" fmla="*/ 1378376 h 1621888"/>
                  <a:gd name="connsiteX31" fmla="*/ 430675 w 571104"/>
                  <a:gd name="connsiteY31" fmla="*/ 1405747 h 1621888"/>
                  <a:gd name="connsiteX32" fmla="*/ 448154 w 571104"/>
                  <a:gd name="connsiteY32" fmla="*/ 1476314 h 1621888"/>
                  <a:gd name="connsiteX33" fmla="*/ 434824 w 571104"/>
                  <a:gd name="connsiteY33" fmla="*/ 1551585 h 1621888"/>
                  <a:gd name="connsiteX34" fmla="*/ 371321 w 571104"/>
                  <a:gd name="connsiteY34" fmla="*/ 1600341 h 1621888"/>
                  <a:gd name="connsiteX35" fmla="*/ 238655 w 571104"/>
                  <a:gd name="connsiteY35" fmla="*/ 1615309 h 162188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</a:cxnLst>
                <a:rect l="l" t="t" r="r" b="b"/>
                <a:pathLst>
                  <a:path w="571104" h="1621888">
                    <a:moveTo>
                      <a:pt x="238655" y="1615309"/>
                    </a:moveTo>
                    <a:cubicBezTo>
                      <a:pt x="204577" y="1609322"/>
                      <a:pt x="179175" y="1597561"/>
                      <a:pt x="157546" y="1577674"/>
                    </a:cubicBezTo>
                    <a:cubicBezTo>
                      <a:pt x="141450" y="1563133"/>
                      <a:pt x="132774" y="1549233"/>
                      <a:pt x="126486" y="1528063"/>
                    </a:cubicBezTo>
                    <a:cubicBezTo>
                      <a:pt x="121456" y="1510956"/>
                      <a:pt x="121456" y="1510742"/>
                      <a:pt x="121456" y="1485723"/>
                    </a:cubicBezTo>
                    <a:cubicBezTo>
                      <a:pt x="121456" y="1463270"/>
                      <a:pt x="121708" y="1458993"/>
                      <a:pt x="124851" y="1445735"/>
                    </a:cubicBezTo>
                    <a:cubicBezTo>
                      <a:pt x="127744" y="1433118"/>
                      <a:pt x="130007" y="1427773"/>
                      <a:pt x="138558" y="1413445"/>
                    </a:cubicBezTo>
                    <a:cubicBezTo>
                      <a:pt x="151133" y="1392275"/>
                      <a:pt x="152265" y="1390778"/>
                      <a:pt x="166349" y="1378162"/>
                    </a:cubicBezTo>
                    <a:cubicBezTo>
                      <a:pt x="172636" y="1372388"/>
                      <a:pt x="178672" y="1366401"/>
                      <a:pt x="179930" y="1364476"/>
                    </a:cubicBezTo>
                    <a:cubicBezTo>
                      <a:pt x="193133" y="1344803"/>
                      <a:pt x="200804" y="1287066"/>
                      <a:pt x="199295" y="1219707"/>
                    </a:cubicBezTo>
                    <a:cubicBezTo>
                      <a:pt x="198541" y="1188487"/>
                      <a:pt x="196529" y="1170097"/>
                      <a:pt x="193133" y="1162826"/>
                    </a:cubicBezTo>
                    <a:cubicBezTo>
                      <a:pt x="191750" y="1159832"/>
                      <a:pt x="185211" y="1158977"/>
                      <a:pt x="147486" y="1157052"/>
                    </a:cubicBezTo>
                    <a:cubicBezTo>
                      <a:pt x="88384" y="1153845"/>
                      <a:pt x="29533" y="1145291"/>
                      <a:pt x="12431" y="1137379"/>
                    </a:cubicBezTo>
                    <a:cubicBezTo>
                      <a:pt x="9916" y="1136310"/>
                      <a:pt x="6018" y="1132247"/>
                      <a:pt x="3880" y="1128398"/>
                    </a:cubicBezTo>
                    <a:lnTo>
                      <a:pt x="-18" y="1121341"/>
                    </a:lnTo>
                    <a:lnTo>
                      <a:pt x="1114" y="872219"/>
                    </a:lnTo>
                    <a:cubicBezTo>
                      <a:pt x="2120" y="635285"/>
                      <a:pt x="359" y="236048"/>
                      <a:pt x="-2282" y="106675"/>
                    </a:cubicBezTo>
                    <a:cubicBezTo>
                      <a:pt x="-3162" y="63908"/>
                      <a:pt x="-2407" y="56423"/>
                      <a:pt x="3754" y="45090"/>
                    </a:cubicBezTo>
                    <a:cubicBezTo>
                      <a:pt x="12305" y="29693"/>
                      <a:pt x="24126" y="24561"/>
                      <a:pt x="70779" y="16008"/>
                    </a:cubicBezTo>
                    <a:cubicBezTo>
                      <a:pt x="154780" y="398"/>
                      <a:pt x="268583" y="-7087"/>
                      <a:pt x="352584" y="-2596"/>
                    </a:cubicBezTo>
                    <a:cubicBezTo>
                      <a:pt x="408920" y="398"/>
                      <a:pt x="432309" y="3605"/>
                      <a:pt x="482609" y="14725"/>
                    </a:cubicBezTo>
                    <a:cubicBezTo>
                      <a:pt x="524861" y="23920"/>
                      <a:pt x="527125" y="24775"/>
                      <a:pt x="541712" y="33115"/>
                    </a:cubicBezTo>
                    <a:cubicBezTo>
                      <a:pt x="553029" y="39744"/>
                      <a:pt x="557556" y="47014"/>
                      <a:pt x="558688" y="60059"/>
                    </a:cubicBezTo>
                    <a:cubicBezTo>
                      <a:pt x="560574" y="83795"/>
                      <a:pt x="563215" y="294426"/>
                      <a:pt x="564975" y="560014"/>
                    </a:cubicBezTo>
                    <a:cubicBezTo>
                      <a:pt x="565981" y="720607"/>
                      <a:pt x="567365" y="910068"/>
                      <a:pt x="567993" y="981277"/>
                    </a:cubicBezTo>
                    <a:cubicBezTo>
                      <a:pt x="568748" y="1076221"/>
                      <a:pt x="568748" y="1112146"/>
                      <a:pt x="567616" y="1115995"/>
                    </a:cubicBezTo>
                    <a:cubicBezTo>
                      <a:pt x="565856" y="1122624"/>
                      <a:pt x="554161" y="1129040"/>
                      <a:pt x="533286" y="1135027"/>
                    </a:cubicBezTo>
                    <a:cubicBezTo>
                      <a:pt x="516687" y="1139945"/>
                      <a:pt x="445765" y="1149568"/>
                      <a:pt x="409046" y="1151920"/>
                    </a:cubicBezTo>
                    <a:lnTo>
                      <a:pt x="385279" y="1153417"/>
                    </a:lnTo>
                    <a:lnTo>
                      <a:pt x="382261" y="1169455"/>
                    </a:lnTo>
                    <a:cubicBezTo>
                      <a:pt x="376854" y="1199179"/>
                      <a:pt x="375093" y="1270173"/>
                      <a:pt x="378991" y="1307809"/>
                    </a:cubicBezTo>
                    <a:cubicBezTo>
                      <a:pt x="383015" y="1348011"/>
                      <a:pt x="388297" y="1360413"/>
                      <a:pt x="408668" y="1378376"/>
                    </a:cubicBezTo>
                    <a:cubicBezTo>
                      <a:pt x="420237" y="1388640"/>
                      <a:pt x="423884" y="1393131"/>
                      <a:pt x="430675" y="1405747"/>
                    </a:cubicBezTo>
                    <a:cubicBezTo>
                      <a:pt x="442998" y="1428414"/>
                      <a:pt x="446519" y="1442955"/>
                      <a:pt x="448154" y="1476314"/>
                    </a:cubicBezTo>
                    <a:cubicBezTo>
                      <a:pt x="449537" y="1506251"/>
                      <a:pt x="444633" y="1533623"/>
                      <a:pt x="434824" y="1551585"/>
                    </a:cubicBezTo>
                    <a:cubicBezTo>
                      <a:pt x="426776" y="1566126"/>
                      <a:pt x="397980" y="1588152"/>
                      <a:pt x="371321" y="1600341"/>
                    </a:cubicBezTo>
                    <a:cubicBezTo>
                      <a:pt x="337997" y="1615523"/>
                      <a:pt x="277763" y="1622152"/>
                      <a:pt x="238655" y="1615309"/>
                    </a:cubicBezTo>
                    <a:close/>
                  </a:path>
                </a:pathLst>
              </a:custGeom>
              <a:grpFill/>
              <a:ln w="5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de-DE" sz="1800" b="0" i="0" u="none" strike="noStrike" kern="0" cap="none" spc="0" normalizeH="0" baseline="0" noProof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39" name="Freihandform: Form 238">
                <a:extLst>
                  <a:ext uri="{FF2B5EF4-FFF2-40B4-BE49-F238E27FC236}">
                    <a16:creationId xmlns:a16="http://schemas.microsoft.com/office/drawing/2014/main" id="{2A6BFF34-F2D7-5245-7BD8-997C4195147A}"/>
                  </a:ext>
                </a:extLst>
              </p:cNvPr>
              <p:cNvSpPr/>
              <p:nvPr/>
            </p:nvSpPr>
            <p:spPr>
              <a:xfrm flipV="1">
                <a:off x="2754957" y="3495759"/>
                <a:ext cx="571104" cy="1491806"/>
              </a:xfrm>
              <a:custGeom>
                <a:avLst/>
                <a:gdLst>
                  <a:gd name="connsiteX0" fmla="*/ 238655 w 571104"/>
                  <a:gd name="connsiteY0" fmla="*/ 1615309 h 1621888"/>
                  <a:gd name="connsiteX1" fmla="*/ 157546 w 571104"/>
                  <a:gd name="connsiteY1" fmla="*/ 1577674 h 1621888"/>
                  <a:gd name="connsiteX2" fmla="*/ 126486 w 571104"/>
                  <a:gd name="connsiteY2" fmla="*/ 1528063 h 1621888"/>
                  <a:gd name="connsiteX3" fmla="*/ 121456 w 571104"/>
                  <a:gd name="connsiteY3" fmla="*/ 1485723 h 1621888"/>
                  <a:gd name="connsiteX4" fmla="*/ 124851 w 571104"/>
                  <a:gd name="connsiteY4" fmla="*/ 1445735 h 1621888"/>
                  <a:gd name="connsiteX5" fmla="*/ 138558 w 571104"/>
                  <a:gd name="connsiteY5" fmla="*/ 1413445 h 1621888"/>
                  <a:gd name="connsiteX6" fmla="*/ 166349 w 571104"/>
                  <a:gd name="connsiteY6" fmla="*/ 1378162 h 1621888"/>
                  <a:gd name="connsiteX7" fmla="*/ 179930 w 571104"/>
                  <a:gd name="connsiteY7" fmla="*/ 1364476 h 1621888"/>
                  <a:gd name="connsiteX8" fmla="*/ 199295 w 571104"/>
                  <a:gd name="connsiteY8" fmla="*/ 1219707 h 1621888"/>
                  <a:gd name="connsiteX9" fmla="*/ 193133 w 571104"/>
                  <a:gd name="connsiteY9" fmla="*/ 1162826 h 1621888"/>
                  <a:gd name="connsiteX10" fmla="*/ 147486 w 571104"/>
                  <a:gd name="connsiteY10" fmla="*/ 1157052 h 1621888"/>
                  <a:gd name="connsiteX11" fmla="*/ 12431 w 571104"/>
                  <a:gd name="connsiteY11" fmla="*/ 1137379 h 1621888"/>
                  <a:gd name="connsiteX12" fmla="*/ 3880 w 571104"/>
                  <a:gd name="connsiteY12" fmla="*/ 1128398 h 1621888"/>
                  <a:gd name="connsiteX13" fmla="*/ -18 w 571104"/>
                  <a:gd name="connsiteY13" fmla="*/ 1121341 h 1621888"/>
                  <a:gd name="connsiteX14" fmla="*/ 1114 w 571104"/>
                  <a:gd name="connsiteY14" fmla="*/ 872219 h 1621888"/>
                  <a:gd name="connsiteX15" fmla="*/ -2282 w 571104"/>
                  <a:gd name="connsiteY15" fmla="*/ 106675 h 1621888"/>
                  <a:gd name="connsiteX16" fmla="*/ 3754 w 571104"/>
                  <a:gd name="connsiteY16" fmla="*/ 45090 h 1621888"/>
                  <a:gd name="connsiteX17" fmla="*/ 70779 w 571104"/>
                  <a:gd name="connsiteY17" fmla="*/ 16008 h 1621888"/>
                  <a:gd name="connsiteX18" fmla="*/ 352584 w 571104"/>
                  <a:gd name="connsiteY18" fmla="*/ -2596 h 1621888"/>
                  <a:gd name="connsiteX19" fmla="*/ 482609 w 571104"/>
                  <a:gd name="connsiteY19" fmla="*/ 14725 h 1621888"/>
                  <a:gd name="connsiteX20" fmla="*/ 541712 w 571104"/>
                  <a:gd name="connsiteY20" fmla="*/ 33115 h 1621888"/>
                  <a:gd name="connsiteX21" fmla="*/ 558688 w 571104"/>
                  <a:gd name="connsiteY21" fmla="*/ 60059 h 1621888"/>
                  <a:gd name="connsiteX22" fmla="*/ 564975 w 571104"/>
                  <a:gd name="connsiteY22" fmla="*/ 560014 h 1621888"/>
                  <a:gd name="connsiteX23" fmla="*/ 567993 w 571104"/>
                  <a:gd name="connsiteY23" fmla="*/ 981277 h 1621888"/>
                  <a:gd name="connsiteX24" fmla="*/ 567616 w 571104"/>
                  <a:gd name="connsiteY24" fmla="*/ 1115995 h 1621888"/>
                  <a:gd name="connsiteX25" fmla="*/ 533286 w 571104"/>
                  <a:gd name="connsiteY25" fmla="*/ 1135027 h 1621888"/>
                  <a:gd name="connsiteX26" fmla="*/ 409046 w 571104"/>
                  <a:gd name="connsiteY26" fmla="*/ 1151920 h 1621888"/>
                  <a:gd name="connsiteX27" fmla="*/ 385279 w 571104"/>
                  <a:gd name="connsiteY27" fmla="*/ 1153417 h 1621888"/>
                  <a:gd name="connsiteX28" fmla="*/ 382261 w 571104"/>
                  <a:gd name="connsiteY28" fmla="*/ 1169455 h 1621888"/>
                  <a:gd name="connsiteX29" fmla="*/ 378991 w 571104"/>
                  <a:gd name="connsiteY29" fmla="*/ 1307809 h 1621888"/>
                  <a:gd name="connsiteX30" fmla="*/ 408668 w 571104"/>
                  <a:gd name="connsiteY30" fmla="*/ 1378376 h 1621888"/>
                  <a:gd name="connsiteX31" fmla="*/ 430675 w 571104"/>
                  <a:gd name="connsiteY31" fmla="*/ 1405747 h 1621888"/>
                  <a:gd name="connsiteX32" fmla="*/ 448154 w 571104"/>
                  <a:gd name="connsiteY32" fmla="*/ 1476314 h 1621888"/>
                  <a:gd name="connsiteX33" fmla="*/ 434824 w 571104"/>
                  <a:gd name="connsiteY33" fmla="*/ 1551585 h 1621888"/>
                  <a:gd name="connsiteX34" fmla="*/ 371321 w 571104"/>
                  <a:gd name="connsiteY34" fmla="*/ 1600341 h 1621888"/>
                  <a:gd name="connsiteX35" fmla="*/ 238655 w 571104"/>
                  <a:gd name="connsiteY35" fmla="*/ 1615309 h 162188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</a:cxnLst>
                <a:rect l="l" t="t" r="r" b="b"/>
                <a:pathLst>
                  <a:path w="571104" h="1621888">
                    <a:moveTo>
                      <a:pt x="238655" y="1615309"/>
                    </a:moveTo>
                    <a:cubicBezTo>
                      <a:pt x="204577" y="1609322"/>
                      <a:pt x="179175" y="1597561"/>
                      <a:pt x="157546" y="1577674"/>
                    </a:cubicBezTo>
                    <a:cubicBezTo>
                      <a:pt x="141450" y="1563133"/>
                      <a:pt x="132774" y="1549233"/>
                      <a:pt x="126486" y="1528063"/>
                    </a:cubicBezTo>
                    <a:cubicBezTo>
                      <a:pt x="121456" y="1510956"/>
                      <a:pt x="121456" y="1510742"/>
                      <a:pt x="121456" y="1485723"/>
                    </a:cubicBezTo>
                    <a:cubicBezTo>
                      <a:pt x="121456" y="1463270"/>
                      <a:pt x="121708" y="1458993"/>
                      <a:pt x="124851" y="1445735"/>
                    </a:cubicBezTo>
                    <a:cubicBezTo>
                      <a:pt x="127744" y="1433118"/>
                      <a:pt x="130007" y="1427773"/>
                      <a:pt x="138558" y="1413445"/>
                    </a:cubicBezTo>
                    <a:cubicBezTo>
                      <a:pt x="151133" y="1392275"/>
                      <a:pt x="152265" y="1390778"/>
                      <a:pt x="166349" y="1378162"/>
                    </a:cubicBezTo>
                    <a:cubicBezTo>
                      <a:pt x="172636" y="1372388"/>
                      <a:pt x="178672" y="1366401"/>
                      <a:pt x="179930" y="1364476"/>
                    </a:cubicBezTo>
                    <a:cubicBezTo>
                      <a:pt x="193133" y="1344803"/>
                      <a:pt x="200804" y="1287066"/>
                      <a:pt x="199295" y="1219707"/>
                    </a:cubicBezTo>
                    <a:cubicBezTo>
                      <a:pt x="198541" y="1188487"/>
                      <a:pt x="196529" y="1170097"/>
                      <a:pt x="193133" y="1162826"/>
                    </a:cubicBezTo>
                    <a:cubicBezTo>
                      <a:pt x="191750" y="1159832"/>
                      <a:pt x="185211" y="1158977"/>
                      <a:pt x="147486" y="1157052"/>
                    </a:cubicBezTo>
                    <a:cubicBezTo>
                      <a:pt x="88384" y="1153845"/>
                      <a:pt x="29533" y="1145291"/>
                      <a:pt x="12431" y="1137379"/>
                    </a:cubicBezTo>
                    <a:cubicBezTo>
                      <a:pt x="9916" y="1136310"/>
                      <a:pt x="6018" y="1132247"/>
                      <a:pt x="3880" y="1128398"/>
                    </a:cubicBezTo>
                    <a:lnTo>
                      <a:pt x="-18" y="1121341"/>
                    </a:lnTo>
                    <a:lnTo>
                      <a:pt x="1114" y="872219"/>
                    </a:lnTo>
                    <a:cubicBezTo>
                      <a:pt x="2120" y="635285"/>
                      <a:pt x="359" y="236048"/>
                      <a:pt x="-2282" y="106675"/>
                    </a:cubicBezTo>
                    <a:cubicBezTo>
                      <a:pt x="-3162" y="63908"/>
                      <a:pt x="-2407" y="56423"/>
                      <a:pt x="3754" y="45090"/>
                    </a:cubicBezTo>
                    <a:cubicBezTo>
                      <a:pt x="12305" y="29693"/>
                      <a:pt x="24126" y="24561"/>
                      <a:pt x="70779" y="16008"/>
                    </a:cubicBezTo>
                    <a:cubicBezTo>
                      <a:pt x="154780" y="398"/>
                      <a:pt x="268583" y="-7087"/>
                      <a:pt x="352584" y="-2596"/>
                    </a:cubicBezTo>
                    <a:cubicBezTo>
                      <a:pt x="408920" y="398"/>
                      <a:pt x="432309" y="3605"/>
                      <a:pt x="482609" y="14725"/>
                    </a:cubicBezTo>
                    <a:cubicBezTo>
                      <a:pt x="524861" y="23920"/>
                      <a:pt x="527125" y="24775"/>
                      <a:pt x="541712" y="33115"/>
                    </a:cubicBezTo>
                    <a:cubicBezTo>
                      <a:pt x="553029" y="39744"/>
                      <a:pt x="557556" y="47014"/>
                      <a:pt x="558688" y="60059"/>
                    </a:cubicBezTo>
                    <a:cubicBezTo>
                      <a:pt x="560574" y="83795"/>
                      <a:pt x="563215" y="294426"/>
                      <a:pt x="564975" y="560014"/>
                    </a:cubicBezTo>
                    <a:cubicBezTo>
                      <a:pt x="565981" y="720607"/>
                      <a:pt x="567365" y="910068"/>
                      <a:pt x="567993" y="981277"/>
                    </a:cubicBezTo>
                    <a:cubicBezTo>
                      <a:pt x="568748" y="1076221"/>
                      <a:pt x="568748" y="1112146"/>
                      <a:pt x="567616" y="1115995"/>
                    </a:cubicBezTo>
                    <a:cubicBezTo>
                      <a:pt x="565856" y="1122624"/>
                      <a:pt x="554161" y="1129040"/>
                      <a:pt x="533286" y="1135027"/>
                    </a:cubicBezTo>
                    <a:cubicBezTo>
                      <a:pt x="516687" y="1139945"/>
                      <a:pt x="445765" y="1149568"/>
                      <a:pt x="409046" y="1151920"/>
                    </a:cubicBezTo>
                    <a:lnTo>
                      <a:pt x="385279" y="1153417"/>
                    </a:lnTo>
                    <a:lnTo>
                      <a:pt x="382261" y="1169455"/>
                    </a:lnTo>
                    <a:cubicBezTo>
                      <a:pt x="376854" y="1199179"/>
                      <a:pt x="375093" y="1270173"/>
                      <a:pt x="378991" y="1307809"/>
                    </a:cubicBezTo>
                    <a:cubicBezTo>
                      <a:pt x="383015" y="1348011"/>
                      <a:pt x="388297" y="1360413"/>
                      <a:pt x="408668" y="1378376"/>
                    </a:cubicBezTo>
                    <a:cubicBezTo>
                      <a:pt x="420237" y="1388640"/>
                      <a:pt x="423884" y="1393131"/>
                      <a:pt x="430675" y="1405747"/>
                    </a:cubicBezTo>
                    <a:cubicBezTo>
                      <a:pt x="442998" y="1428414"/>
                      <a:pt x="446519" y="1442955"/>
                      <a:pt x="448154" y="1476314"/>
                    </a:cubicBezTo>
                    <a:cubicBezTo>
                      <a:pt x="449537" y="1506251"/>
                      <a:pt x="444633" y="1533623"/>
                      <a:pt x="434824" y="1551585"/>
                    </a:cubicBezTo>
                    <a:cubicBezTo>
                      <a:pt x="426776" y="1566126"/>
                      <a:pt x="397980" y="1588152"/>
                      <a:pt x="371321" y="1600341"/>
                    </a:cubicBezTo>
                    <a:cubicBezTo>
                      <a:pt x="337997" y="1615523"/>
                      <a:pt x="277763" y="1622152"/>
                      <a:pt x="238655" y="1615309"/>
                    </a:cubicBezTo>
                    <a:close/>
                  </a:path>
                </a:pathLst>
              </a:custGeom>
              <a:grpFill/>
              <a:ln w="5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de-DE" sz="1800" b="0" i="0" u="none" strike="noStrike" kern="0" cap="none" spc="0" normalizeH="0" baseline="0" noProof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40" name="Freihandform: Form 239">
                <a:extLst>
                  <a:ext uri="{FF2B5EF4-FFF2-40B4-BE49-F238E27FC236}">
                    <a16:creationId xmlns:a16="http://schemas.microsoft.com/office/drawing/2014/main" id="{D5A72472-0B59-322D-36A5-DA4C7529E0E5}"/>
                  </a:ext>
                </a:extLst>
              </p:cNvPr>
              <p:cNvSpPr/>
              <p:nvPr/>
            </p:nvSpPr>
            <p:spPr>
              <a:xfrm flipV="1">
                <a:off x="3400438" y="4191674"/>
                <a:ext cx="571104" cy="795891"/>
              </a:xfrm>
              <a:custGeom>
                <a:avLst/>
                <a:gdLst>
                  <a:gd name="connsiteX0" fmla="*/ 238655 w 571104"/>
                  <a:gd name="connsiteY0" fmla="*/ 1615309 h 1621888"/>
                  <a:gd name="connsiteX1" fmla="*/ 157546 w 571104"/>
                  <a:gd name="connsiteY1" fmla="*/ 1577674 h 1621888"/>
                  <a:gd name="connsiteX2" fmla="*/ 126486 w 571104"/>
                  <a:gd name="connsiteY2" fmla="*/ 1528063 h 1621888"/>
                  <a:gd name="connsiteX3" fmla="*/ 121456 w 571104"/>
                  <a:gd name="connsiteY3" fmla="*/ 1485723 h 1621888"/>
                  <a:gd name="connsiteX4" fmla="*/ 124851 w 571104"/>
                  <a:gd name="connsiteY4" fmla="*/ 1445735 h 1621888"/>
                  <a:gd name="connsiteX5" fmla="*/ 138558 w 571104"/>
                  <a:gd name="connsiteY5" fmla="*/ 1413445 h 1621888"/>
                  <a:gd name="connsiteX6" fmla="*/ 166349 w 571104"/>
                  <a:gd name="connsiteY6" fmla="*/ 1378162 h 1621888"/>
                  <a:gd name="connsiteX7" fmla="*/ 179930 w 571104"/>
                  <a:gd name="connsiteY7" fmla="*/ 1364476 h 1621888"/>
                  <a:gd name="connsiteX8" fmla="*/ 199295 w 571104"/>
                  <a:gd name="connsiteY8" fmla="*/ 1219707 h 1621888"/>
                  <a:gd name="connsiteX9" fmla="*/ 193133 w 571104"/>
                  <a:gd name="connsiteY9" fmla="*/ 1162826 h 1621888"/>
                  <a:gd name="connsiteX10" fmla="*/ 147486 w 571104"/>
                  <a:gd name="connsiteY10" fmla="*/ 1157052 h 1621888"/>
                  <a:gd name="connsiteX11" fmla="*/ 12431 w 571104"/>
                  <a:gd name="connsiteY11" fmla="*/ 1137379 h 1621888"/>
                  <a:gd name="connsiteX12" fmla="*/ 3880 w 571104"/>
                  <a:gd name="connsiteY12" fmla="*/ 1128398 h 1621888"/>
                  <a:gd name="connsiteX13" fmla="*/ -18 w 571104"/>
                  <a:gd name="connsiteY13" fmla="*/ 1121341 h 1621888"/>
                  <a:gd name="connsiteX14" fmla="*/ 1114 w 571104"/>
                  <a:gd name="connsiteY14" fmla="*/ 872219 h 1621888"/>
                  <a:gd name="connsiteX15" fmla="*/ -2282 w 571104"/>
                  <a:gd name="connsiteY15" fmla="*/ 106675 h 1621888"/>
                  <a:gd name="connsiteX16" fmla="*/ 3754 w 571104"/>
                  <a:gd name="connsiteY16" fmla="*/ 45090 h 1621888"/>
                  <a:gd name="connsiteX17" fmla="*/ 70779 w 571104"/>
                  <a:gd name="connsiteY17" fmla="*/ 16008 h 1621888"/>
                  <a:gd name="connsiteX18" fmla="*/ 352584 w 571104"/>
                  <a:gd name="connsiteY18" fmla="*/ -2596 h 1621888"/>
                  <a:gd name="connsiteX19" fmla="*/ 482609 w 571104"/>
                  <a:gd name="connsiteY19" fmla="*/ 14725 h 1621888"/>
                  <a:gd name="connsiteX20" fmla="*/ 541712 w 571104"/>
                  <a:gd name="connsiteY20" fmla="*/ 33115 h 1621888"/>
                  <a:gd name="connsiteX21" fmla="*/ 558688 w 571104"/>
                  <a:gd name="connsiteY21" fmla="*/ 60059 h 1621888"/>
                  <a:gd name="connsiteX22" fmla="*/ 564975 w 571104"/>
                  <a:gd name="connsiteY22" fmla="*/ 560014 h 1621888"/>
                  <a:gd name="connsiteX23" fmla="*/ 567993 w 571104"/>
                  <a:gd name="connsiteY23" fmla="*/ 981277 h 1621888"/>
                  <a:gd name="connsiteX24" fmla="*/ 567616 w 571104"/>
                  <a:gd name="connsiteY24" fmla="*/ 1115995 h 1621888"/>
                  <a:gd name="connsiteX25" fmla="*/ 533286 w 571104"/>
                  <a:gd name="connsiteY25" fmla="*/ 1135027 h 1621888"/>
                  <a:gd name="connsiteX26" fmla="*/ 409046 w 571104"/>
                  <a:gd name="connsiteY26" fmla="*/ 1151920 h 1621888"/>
                  <a:gd name="connsiteX27" fmla="*/ 385279 w 571104"/>
                  <a:gd name="connsiteY27" fmla="*/ 1153417 h 1621888"/>
                  <a:gd name="connsiteX28" fmla="*/ 382261 w 571104"/>
                  <a:gd name="connsiteY28" fmla="*/ 1169455 h 1621888"/>
                  <a:gd name="connsiteX29" fmla="*/ 378991 w 571104"/>
                  <a:gd name="connsiteY29" fmla="*/ 1307809 h 1621888"/>
                  <a:gd name="connsiteX30" fmla="*/ 408668 w 571104"/>
                  <a:gd name="connsiteY30" fmla="*/ 1378376 h 1621888"/>
                  <a:gd name="connsiteX31" fmla="*/ 430675 w 571104"/>
                  <a:gd name="connsiteY31" fmla="*/ 1405747 h 1621888"/>
                  <a:gd name="connsiteX32" fmla="*/ 448154 w 571104"/>
                  <a:gd name="connsiteY32" fmla="*/ 1476314 h 1621888"/>
                  <a:gd name="connsiteX33" fmla="*/ 434824 w 571104"/>
                  <a:gd name="connsiteY33" fmla="*/ 1551585 h 1621888"/>
                  <a:gd name="connsiteX34" fmla="*/ 371321 w 571104"/>
                  <a:gd name="connsiteY34" fmla="*/ 1600341 h 1621888"/>
                  <a:gd name="connsiteX35" fmla="*/ 238655 w 571104"/>
                  <a:gd name="connsiteY35" fmla="*/ 1615309 h 162188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</a:cxnLst>
                <a:rect l="l" t="t" r="r" b="b"/>
                <a:pathLst>
                  <a:path w="571104" h="1621888">
                    <a:moveTo>
                      <a:pt x="238655" y="1615309"/>
                    </a:moveTo>
                    <a:cubicBezTo>
                      <a:pt x="204577" y="1609322"/>
                      <a:pt x="179175" y="1597561"/>
                      <a:pt x="157546" y="1577674"/>
                    </a:cubicBezTo>
                    <a:cubicBezTo>
                      <a:pt x="141450" y="1563133"/>
                      <a:pt x="132774" y="1549233"/>
                      <a:pt x="126486" y="1528063"/>
                    </a:cubicBezTo>
                    <a:cubicBezTo>
                      <a:pt x="121456" y="1510956"/>
                      <a:pt x="121456" y="1510742"/>
                      <a:pt x="121456" y="1485723"/>
                    </a:cubicBezTo>
                    <a:cubicBezTo>
                      <a:pt x="121456" y="1463270"/>
                      <a:pt x="121708" y="1458993"/>
                      <a:pt x="124851" y="1445735"/>
                    </a:cubicBezTo>
                    <a:cubicBezTo>
                      <a:pt x="127744" y="1433118"/>
                      <a:pt x="130007" y="1427773"/>
                      <a:pt x="138558" y="1413445"/>
                    </a:cubicBezTo>
                    <a:cubicBezTo>
                      <a:pt x="151133" y="1392275"/>
                      <a:pt x="152265" y="1390778"/>
                      <a:pt x="166349" y="1378162"/>
                    </a:cubicBezTo>
                    <a:cubicBezTo>
                      <a:pt x="172636" y="1372388"/>
                      <a:pt x="178672" y="1366401"/>
                      <a:pt x="179930" y="1364476"/>
                    </a:cubicBezTo>
                    <a:cubicBezTo>
                      <a:pt x="193133" y="1344803"/>
                      <a:pt x="200804" y="1287066"/>
                      <a:pt x="199295" y="1219707"/>
                    </a:cubicBezTo>
                    <a:cubicBezTo>
                      <a:pt x="198541" y="1188487"/>
                      <a:pt x="196529" y="1170097"/>
                      <a:pt x="193133" y="1162826"/>
                    </a:cubicBezTo>
                    <a:cubicBezTo>
                      <a:pt x="191750" y="1159832"/>
                      <a:pt x="185211" y="1158977"/>
                      <a:pt x="147486" y="1157052"/>
                    </a:cubicBezTo>
                    <a:cubicBezTo>
                      <a:pt x="88384" y="1153845"/>
                      <a:pt x="29533" y="1145291"/>
                      <a:pt x="12431" y="1137379"/>
                    </a:cubicBezTo>
                    <a:cubicBezTo>
                      <a:pt x="9916" y="1136310"/>
                      <a:pt x="6018" y="1132247"/>
                      <a:pt x="3880" y="1128398"/>
                    </a:cubicBezTo>
                    <a:lnTo>
                      <a:pt x="-18" y="1121341"/>
                    </a:lnTo>
                    <a:lnTo>
                      <a:pt x="1114" y="872219"/>
                    </a:lnTo>
                    <a:cubicBezTo>
                      <a:pt x="2120" y="635285"/>
                      <a:pt x="359" y="236048"/>
                      <a:pt x="-2282" y="106675"/>
                    </a:cubicBezTo>
                    <a:cubicBezTo>
                      <a:pt x="-3162" y="63908"/>
                      <a:pt x="-2407" y="56423"/>
                      <a:pt x="3754" y="45090"/>
                    </a:cubicBezTo>
                    <a:cubicBezTo>
                      <a:pt x="12305" y="29693"/>
                      <a:pt x="24126" y="24561"/>
                      <a:pt x="70779" y="16008"/>
                    </a:cubicBezTo>
                    <a:cubicBezTo>
                      <a:pt x="154780" y="398"/>
                      <a:pt x="268583" y="-7087"/>
                      <a:pt x="352584" y="-2596"/>
                    </a:cubicBezTo>
                    <a:cubicBezTo>
                      <a:pt x="408920" y="398"/>
                      <a:pt x="432309" y="3605"/>
                      <a:pt x="482609" y="14725"/>
                    </a:cubicBezTo>
                    <a:cubicBezTo>
                      <a:pt x="524861" y="23920"/>
                      <a:pt x="527125" y="24775"/>
                      <a:pt x="541712" y="33115"/>
                    </a:cubicBezTo>
                    <a:cubicBezTo>
                      <a:pt x="553029" y="39744"/>
                      <a:pt x="557556" y="47014"/>
                      <a:pt x="558688" y="60059"/>
                    </a:cubicBezTo>
                    <a:cubicBezTo>
                      <a:pt x="560574" y="83795"/>
                      <a:pt x="563215" y="294426"/>
                      <a:pt x="564975" y="560014"/>
                    </a:cubicBezTo>
                    <a:cubicBezTo>
                      <a:pt x="565981" y="720607"/>
                      <a:pt x="567365" y="910068"/>
                      <a:pt x="567993" y="981277"/>
                    </a:cubicBezTo>
                    <a:cubicBezTo>
                      <a:pt x="568748" y="1076221"/>
                      <a:pt x="568748" y="1112146"/>
                      <a:pt x="567616" y="1115995"/>
                    </a:cubicBezTo>
                    <a:cubicBezTo>
                      <a:pt x="565856" y="1122624"/>
                      <a:pt x="554161" y="1129040"/>
                      <a:pt x="533286" y="1135027"/>
                    </a:cubicBezTo>
                    <a:cubicBezTo>
                      <a:pt x="516687" y="1139945"/>
                      <a:pt x="445765" y="1149568"/>
                      <a:pt x="409046" y="1151920"/>
                    </a:cubicBezTo>
                    <a:lnTo>
                      <a:pt x="385279" y="1153417"/>
                    </a:lnTo>
                    <a:lnTo>
                      <a:pt x="382261" y="1169455"/>
                    </a:lnTo>
                    <a:cubicBezTo>
                      <a:pt x="376854" y="1199179"/>
                      <a:pt x="375093" y="1270173"/>
                      <a:pt x="378991" y="1307809"/>
                    </a:cubicBezTo>
                    <a:cubicBezTo>
                      <a:pt x="383015" y="1348011"/>
                      <a:pt x="388297" y="1360413"/>
                      <a:pt x="408668" y="1378376"/>
                    </a:cubicBezTo>
                    <a:cubicBezTo>
                      <a:pt x="420237" y="1388640"/>
                      <a:pt x="423884" y="1393131"/>
                      <a:pt x="430675" y="1405747"/>
                    </a:cubicBezTo>
                    <a:cubicBezTo>
                      <a:pt x="442998" y="1428414"/>
                      <a:pt x="446519" y="1442955"/>
                      <a:pt x="448154" y="1476314"/>
                    </a:cubicBezTo>
                    <a:cubicBezTo>
                      <a:pt x="449537" y="1506251"/>
                      <a:pt x="444633" y="1533623"/>
                      <a:pt x="434824" y="1551585"/>
                    </a:cubicBezTo>
                    <a:cubicBezTo>
                      <a:pt x="426776" y="1566126"/>
                      <a:pt x="397980" y="1588152"/>
                      <a:pt x="371321" y="1600341"/>
                    </a:cubicBezTo>
                    <a:cubicBezTo>
                      <a:pt x="337997" y="1615523"/>
                      <a:pt x="277763" y="1622152"/>
                      <a:pt x="238655" y="1615309"/>
                    </a:cubicBezTo>
                    <a:close/>
                  </a:path>
                </a:pathLst>
              </a:custGeom>
              <a:grpFill/>
              <a:ln w="5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de-DE" sz="1800" b="0" i="0" u="none" strike="noStrike" kern="0" cap="none" spc="0" normalizeH="0" baseline="0" noProof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41" name="Freihandform: Form 240">
                <a:extLst>
                  <a:ext uri="{FF2B5EF4-FFF2-40B4-BE49-F238E27FC236}">
                    <a16:creationId xmlns:a16="http://schemas.microsoft.com/office/drawing/2014/main" id="{FB3CFB08-ADEF-91F7-8B8E-A9A55E856F5D}"/>
                  </a:ext>
                </a:extLst>
              </p:cNvPr>
              <p:cNvSpPr/>
              <p:nvPr/>
            </p:nvSpPr>
            <p:spPr>
              <a:xfrm flipV="1">
                <a:off x="4045919" y="4580092"/>
                <a:ext cx="571104" cy="407473"/>
              </a:xfrm>
              <a:custGeom>
                <a:avLst/>
                <a:gdLst>
                  <a:gd name="connsiteX0" fmla="*/ 238655 w 571104"/>
                  <a:gd name="connsiteY0" fmla="*/ 1615309 h 1621888"/>
                  <a:gd name="connsiteX1" fmla="*/ 157546 w 571104"/>
                  <a:gd name="connsiteY1" fmla="*/ 1577674 h 1621888"/>
                  <a:gd name="connsiteX2" fmla="*/ 126486 w 571104"/>
                  <a:gd name="connsiteY2" fmla="*/ 1528063 h 1621888"/>
                  <a:gd name="connsiteX3" fmla="*/ 121456 w 571104"/>
                  <a:gd name="connsiteY3" fmla="*/ 1485723 h 1621888"/>
                  <a:gd name="connsiteX4" fmla="*/ 124851 w 571104"/>
                  <a:gd name="connsiteY4" fmla="*/ 1445735 h 1621888"/>
                  <a:gd name="connsiteX5" fmla="*/ 138558 w 571104"/>
                  <a:gd name="connsiteY5" fmla="*/ 1413445 h 1621888"/>
                  <a:gd name="connsiteX6" fmla="*/ 166349 w 571104"/>
                  <a:gd name="connsiteY6" fmla="*/ 1378162 h 1621888"/>
                  <a:gd name="connsiteX7" fmla="*/ 179930 w 571104"/>
                  <a:gd name="connsiteY7" fmla="*/ 1364476 h 1621888"/>
                  <a:gd name="connsiteX8" fmla="*/ 199295 w 571104"/>
                  <a:gd name="connsiteY8" fmla="*/ 1219707 h 1621888"/>
                  <a:gd name="connsiteX9" fmla="*/ 193133 w 571104"/>
                  <a:gd name="connsiteY9" fmla="*/ 1162826 h 1621888"/>
                  <a:gd name="connsiteX10" fmla="*/ 147486 w 571104"/>
                  <a:gd name="connsiteY10" fmla="*/ 1157052 h 1621888"/>
                  <a:gd name="connsiteX11" fmla="*/ 12431 w 571104"/>
                  <a:gd name="connsiteY11" fmla="*/ 1137379 h 1621888"/>
                  <a:gd name="connsiteX12" fmla="*/ 3880 w 571104"/>
                  <a:gd name="connsiteY12" fmla="*/ 1128398 h 1621888"/>
                  <a:gd name="connsiteX13" fmla="*/ -18 w 571104"/>
                  <a:gd name="connsiteY13" fmla="*/ 1121341 h 1621888"/>
                  <a:gd name="connsiteX14" fmla="*/ 1114 w 571104"/>
                  <a:gd name="connsiteY14" fmla="*/ 872219 h 1621888"/>
                  <a:gd name="connsiteX15" fmla="*/ -2282 w 571104"/>
                  <a:gd name="connsiteY15" fmla="*/ 106675 h 1621888"/>
                  <a:gd name="connsiteX16" fmla="*/ 3754 w 571104"/>
                  <a:gd name="connsiteY16" fmla="*/ 45090 h 1621888"/>
                  <a:gd name="connsiteX17" fmla="*/ 70779 w 571104"/>
                  <a:gd name="connsiteY17" fmla="*/ 16008 h 1621888"/>
                  <a:gd name="connsiteX18" fmla="*/ 352584 w 571104"/>
                  <a:gd name="connsiteY18" fmla="*/ -2596 h 1621888"/>
                  <a:gd name="connsiteX19" fmla="*/ 482609 w 571104"/>
                  <a:gd name="connsiteY19" fmla="*/ 14725 h 1621888"/>
                  <a:gd name="connsiteX20" fmla="*/ 541712 w 571104"/>
                  <a:gd name="connsiteY20" fmla="*/ 33115 h 1621888"/>
                  <a:gd name="connsiteX21" fmla="*/ 558688 w 571104"/>
                  <a:gd name="connsiteY21" fmla="*/ 60059 h 1621888"/>
                  <a:gd name="connsiteX22" fmla="*/ 564975 w 571104"/>
                  <a:gd name="connsiteY22" fmla="*/ 560014 h 1621888"/>
                  <a:gd name="connsiteX23" fmla="*/ 567993 w 571104"/>
                  <a:gd name="connsiteY23" fmla="*/ 981277 h 1621888"/>
                  <a:gd name="connsiteX24" fmla="*/ 567616 w 571104"/>
                  <a:gd name="connsiteY24" fmla="*/ 1115995 h 1621888"/>
                  <a:gd name="connsiteX25" fmla="*/ 533286 w 571104"/>
                  <a:gd name="connsiteY25" fmla="*/ 1135027 h 1621888"/>
                  <a:gd name="connsiteX26" fmla="*/ 409046 w 571104"/>
                  <a:gd name="connsiteY26" fmla="*/ 1151920 h 1621888"/>
                  <a:gd name="connsiteX27" fmla="*/ 385279 w 571104"/>
                  <a:gd name="connsiteY27" fmla="*/ 1153417 h 1621888"/>
                  <a:gd name="connsiteX28" fmla="*/ 382261 w 571104"/>
                  <a:gd name="connsiteY28" fmla="*/ 1169455 h 1621888"/>
                  <a:gd name="connsiteX29" fmla="*/ 378991 w 571104"/>
                  <a:gd name="connsiteY29" fmla="*/ 1307809 h 1621888"/>
                  <a:gd name="connsiteX30" fmla="*/ 408668 w 571104"/>
                  <a:gd name="connsiteY30" fmla="*/ 1378376 h 1621888"/>
                  <a:gd name="connsiteX31" fmla="*/ 430675 w 571104"/>
                  <a:gd name="connsiteY31" fmla="*/ 1405747 h 1621888"/>
                  <a:gd name="connsiteX32" fmla="*/ 448154 w 571104"/>
                  <a:gd name="connsiteY32" fmla="*/ 1476314 h 1621888"/>
                  <a:gd name="connsiteX33" fmla="*/ 434824 w 571104"/>
                  <a:gd name="connsiteY33" fmla="*/ 1551585 h 1621888"/>
                  <a:gd name="connsiteX34" fmla="*/ 371321 w 571104"/>
                  <a:gd name="connsiteY34" fmla="*/ 1600341 h 1621888"/>
                  <a:gd name="connsiteX35" fmla="*/ 238655 w 571104"/>
                  <a:gd name="connsiteY35" fmla="*/ 1615309 h 162188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</a:cxnLst>
                <a:rect l="l" t="t" r="r" b="b"/>
                <a:pathLst>
                  <a:path w="571104" h="1621888">
                    <a:moveTo>
                      <a:pt x="238655" y="1615309"/>
                    </a:moveTo>
                    <a:cubicBezTo>
                      <a:pt x="204577" y="1609322"/>
                      <a:pt x="179175" y="1597561"/>
                      <a:pt x="157546" y="1577674"/>
                    </a:cubicBezTo>
                    <a:cubicBezTo>
                      <a:pt x="141450" y="1563133"/>
                      <a:pt x="132774" y="1549233"/>
                      <a:pt x="126486" y="1528063"/>
                    </a:cubicBezTo>
                    <a:cubicBezTo>
                      <a:pt x="121456" y="1510956"/>
                      <a:pt x="121456" y="1510742"/>
                      <a:pt x="121456" y="1485723"/>
                    </a:cubicBezTo>
                    <a:cubicBezTo>
                      <a:pt x="121456" y="1463270"/>
                      <a:pt x="121708" y="1458993"/>
                      <a:pt x="124851" y="1445735"/>
                    </a:cubicBezTo>
                    <a:cubicBezTo>
                      <a:pt x="127744" y="1433118"/>
                      <a:pt x="130007" y="1427773"/>
                      <a:pt x="138558" y="1413445"/>
                    </a:cubicBezTo>
                    <a:cubicBezTo>
                      <a:pt x="151133" y="1392275"/>
                      <a:pt x="152265" y="1390778"/>
                      <a:pt x="166349" y="1378162"/>
                    </a:cubicBezTo>
                    <a:cubicBezTo>
                      <a:pt x="172636" y="1372388"/>
                      <a:pt x="178672" y="1366401"/>
                      <a:pt x="179930" y="1364476"/>
                    </a:cubicBezTo>
                    <a:cubicBezTo>
                      <a:pt x="193133" y="1344803"/>
                      <a:pt x="200804" y="1287066"/>
                      <a:pt x="199295" y="1219707"/>
                    </a:cubicBezTo>
                    <a:cubicBezTo>
                      <a:pt x="198541" y="1188487"/>
                      <a:pt x="196529" y="1170097"/>
                      <a:pt x="193133" y="1162826"/>
                    </a:cubicBezTo>
                    <a:cubicBezTo>
                      <a:pt x="191750" y="1159832"/>
                      <a:pt x="185211" y="1158977"/>
                      <a:pt x="147486" y="1157052"/>
                    </a:cubicBezTo>
                    <a:cubicBezTo>
                      <a:pt x="88384" y="1153845"/>
                      <a:pt x="29533" y="1145291"/>
                      <a:pt x="12431" y="1137379"/>
                    </a:cubicBezTo>
                    <a:cubicBezTo>
                      <a:pt x="9916" y="1136310"/>
                      <a:pt x="6018" y="1132247"/>
                      <a:pt x="3880" y="1128398"/>
                    </a:cubicBezTo>
                    <a:lnTo>
                      <a:pt x="-18" y="1121341"/>
                    </a:lnTo>
                    <a:lnTo>
                      <a:pt x="1114" y="872219"/>
                    </a:lnTo>
                    <a:cubicBezTo>
                      <a:pt x="2120" y="635285"/>
                      <a:pt x="359" y="236048"/>
                      <a:pt x="-2282" y="106675"/>
                    </a:cubicBezTo>
                    <a:cubicBezTo>
                      <a:pt x="-3162" y="63908"/>
                      <a:pt x="-2407" y="56423"/>
                      <a:pt x="3754" y="45090"/>
                    </a:cubicBezTo>
                    <a:cubicBezTo>
                      <a:pt x="12305" y="29693"/>
                      <a:pt x="24126" y="24561"/>
                      <a:pt x="70779" y="16008"/>
                    </a:cubicBezTo>
                    <a:cubicBezTo>
                      <a:pt x="154780" y="398"/>
                      <a:pt x="268583" y="-7087"/>
                      <a:pt x="352584" y="-2596"/>
                    </a:cubicBezTo>
                    <a:cubicBezTo>
                      <a:pt x="408920" y="398"/>
                      <a:pt x="432309" y="3605"/>
                      <a:pt x="482609" y="14725"/>
                    </a:cubicBezTo>
                    <a:cubicBezTo>
                      <a:pt x="524861" y="23920"/>
                      <a:pt x="527125" y="24775"/>
                      <a:pt x="541712" y="33115"/>
                    </a:cubicBezTo>
                    <a:cubicBezTo>
                      <a:pt x="553029" y="39744"/>
                      <a:pt x="557556" y="47014"/>
                      <a:pt x="558688" y="60059"/>
                    </a:cubicBezTo>
                    <a:cubicBezTo>
                      <a:pt x="560574" y="83795"/>
                      <a:pt x="563215" y="294426"/>
                      <a:pt x="564975" y="560014"/>
                    </a:cubicBezTo>
                    <a:cubicBezTo>
                      <a:pt x="565981" y="720607"/>
                      <a:pt x="567365" y="910068"/>
                      <a:pt x="567993" y="981277"/>
                    </a:cubicBezTo>
                    <a:cubicBezTo>
                      <a:pt x="568748" y="1076221"/>
                      <a:pt x="568748" y="1112146"/>
                      <a:pt x="567616" y="1115995"/>
                    </a:cubicBezTo>
                    <a:cubicBezTo>
                      <a:pt x="565856" y="1122624"/>
                      <a:pt x="554161" y="1129040"/>
                      <a:pt x="533286" y="1135027"/>
                    </a:cubicBezTo>
                    <a:cubicBezTo>
                      <a:pt x="516687" y="1139945"/>
                      <a:pt x="445765" y="1149568"/>
                      <a:pt x="409046" y="1151920"/>
                    </a:cubicBezTo>
                    <a:lnTo>
                      <a:pt x="385279" y="1153417"/>
                    </a:lnTo>
                    <a:lnTo>
                      <a:pt x="382261" y="1169455"/>
                    </a:lnTo>
                    <a:cubicBezTo>
                      <a:pt x="376854" y="1199179"/>
                      <a:pt x="375093" y="1270173"/>
                      <a:pt x="378991" y="1307809"/>
                    </a:cubicBezTo>
                    <a:cubicBezTo>
                      <a:pt x="383015" y="1348011"/>
                      <a:pt x="388297" y="1360413"/>
                      <a:pt x="408668" y="1378376"/>
                    </a:cubicBezTo>
                    <a:cubicBezTo>
                      <a:pt x="420237" y="1388640"/>
                      <a:pt x="423884" y="1393131"/>
                      <a:pt x="430675" y="1405747"/>
                    </a:cubicBezTo>
                    <a:cubicBezTo>
                      <a:pt x="442998" y="1428414"/>
                      <a:pt x="446519" y="1442955"/>
                      <a:pt x="448154" y="1476314"/>
                    </a:cubicBezTo>
                    <a:cubicBezTo>
                      <a:pt x="449537" y="1506251"/>
                      <a:pt x="444633" y="1533623"/>
                      <a:pt x="434824" y="1551585"/>
                    </a:cubicBezTo>
                    <a:cubicBezTo>
                      <a:pt x="426776" y="1566126"/>
                      <a:pt x="397980" y="1588152"/>
                      <a:pt x="371321" y="1600341"/>
                    </a:cubicBezTo>
                    <a:cubicBezTo>
                      <a:pt x="337997" y="1615523"/>
                      <a:pt x="277763" y="1622152"/>
                      <a:pt x="238655" y="1615309"/>
                    </a:cubicBezTo>
                    <a:close/>
                  </a:path>
                </a:pathLst>
              </a:custGeom>
              <a:grpFill/>
              <a:ln w="5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de-DE" sz="1800" b="0" i="0" u="none" strike="noStrike" kern="0" cap="none" spc="0" normalizeH="0" baseline="0" noProof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42" name="Freihandform: Form 241">
                <a:extLst>
                  <a:ext uri="{FF2B5EF4-FFF2-40B4-BE49-F238E27FC236}">
                    <a16:creationId xmlns:a16="http://schemas.microsoft.com/office/drawing/2014/main" id="{4921A916-C167-6C93-B2F6-179FC51E26D2}"/>
                  </a:ext>
                </a:extLst>
              </p:cNvPr>
              <p:cNvSpPr/>
              <p:nvPr/>
            </p:nvSpPr>
            <p:spPr>
              <a:xfrm flipV="1">
                <a:off x="4691400" y="4580091"/>
                <a:ext cx="571104" cy="407474"/>
              </a:xfrm>
              <a:custGeom>
                <a:avLst/>
                <a:gdLst>
                  <a:gd name="connsiteX0" fmla="*/ 238655 w 571104"/>
                  <a:gd name="connsiteY0" fmla="*/ 1615309 h 1621888"/>
                  <a:gd name="connsiteX1" fmla="*/ 157546 w 571104"/>
                  <a:gd name="connsiteY1" fmla="*/ 1577674 h 1621888"/>
                  <a:gd name="connsiteX2" fmla="*/ 126486 w 571104"/>
                  <a:gd name="connsiteY2" fmla="*/ 1528063 h 1621888"/>
                  <a:gd name="connsiteX3" fmla="*/ 121456 w 571104"/>
                  <a:gd name="connsiteY3" fmla="*/ 1485723 h 1621888"/>
                  <a:gd name="connsiteX4" fmla="*/ 124851 w 571104"/>
                  <a:gd name="connsiteY4" fmla="*/ 1445735 h 1621888"/>
                  <a:gd name="connsiteX5" fmla="*/ 138558 w 571104"/>
                  <a:gd name="connsiteY5" fmla="*/ 1413445 h 1621888"/>
                  <a:gd name="connsiteX6" fmla="*/ 166349 w 571104"/>
                  <a:gd name="connsiteY6" fmla="*/ 1378162 h 1621888"/>
                  <a:gd name="connsiteX7" fmla="*/ 179930 w 571104"/>
                  <a:gd name="connsiteY7" fmla="*/ 1364476 h 1621888"/>
                  <a:gd name="connsiteX8" fmla="*/ 199295 w 571104"/>
                  <a:gd name="connsiteY8" fmla="*/ 1219707 h 1621888"/>
                  <a:gd name="connsiteX9" fmla="*/ 193133 w 571104"/>
                  <a:gd name="connsiteY9" fmla="*/ 1162826 h 1621888"/>
                  <a:gd name="connsiteX10" fmla="*/ 147486 w 571104"/>
                  <a:gd name="connsiteY10" fmla="*/ 1157052 h 1621888"/>
                  <a:gd name="connsiteX11" fmla="*/ 12431 w 571104"/>
                  <a:gd name="connsiteY11" fmla="*/ 1137379 h 1621888"/>
                  <a:gd name="connsiteX12" fmla="*/ 3880 w 571104"/>
                  <a:gd name="connsiteY12" fmla="*/ 1128398 h 1621888"/>
                  <a:gd name="connsiteX13" fmla="*/ -18 w 571104"/>
                  <a:gd name="connsiteY13" fmla="*/ 1121341 h 1621888"/>
                  <a:gd name="connsiteX14" fmla="*/ 1114 w 571104"/>
                  <a:gd name="connsiteY14" fmla="*/ 872219 h 1621888"/>
                  <a:gd name="connsiteX15" fmla="*/ -2282 w 571104"/>
                  <a:gd name="connsiteY15" fmla="*/ 106675 h 1621888"/>
                  <a:gd name="connsiteX16" fmla="*/ 3754 w 571104"/>
                  <a:gd name="connsiteY16" fmla="*/ 45090 h 1621888"/>
                  <a:gd name="connsiteX17" fmla="*/ 70779 w 571104"/>
                  <a:gd name="connsiteY17" fmla="*/ 16008 h 1621888"/>
                  <a:gd name="connsiteX18" fmla="*/ 352584 w 571104"/>
                  <a:gd name="connsiteY18" fmla="*/ -2596 h 1621888"/>
                  <a:gd name="connsiteX19" fmla="*/ 482609 w 571104"/>
                  <a:gd name="connsiteY19" fmla="*/ 14725 h 1621888"/>
                  <a:gd name="connsiteX20" fmla="*/ 541712 w 571104"/>
                  <a:gd name="connsiteY20" fmla="*/ 33115 h 1621888"/>
                  <a:gd name="connsiteX21" fmla="*/ 558688 w 571104"/>
                  <a:gd name="connsiteY21" fmla="*/ 60059 h 1621888"/>
                  <a:gd name="connsiteX22" fmla="*/ 564975 w 571104"/>
                  <a:gd name="connsiteY22" fmla="*/ 560014 h 1621888"/>
                  <a:gd name="connsiteX23" fmla="*/ 567993 w 571104"/>
                  <a:gd name="connsiteY23" fmla="*/ 981277 h 1621888"/>
                  <a:gd name="connsiteX24" fmla="*/ 567616 w 571104"/>
                  <a:gd name="connsiteY24" fmla="*/ 1115995 h 1621888"/>
                  <a:gd name="connsiteX25" fmla="*/ 533286 w 571104"/>
                  <a:gd name="connsiteY25" fmla="*/ 1135027 h 1621888"/>
                  <a:gd name="connsiteX26" fmla="*/ 409046 w 571104"/>
                  <a:gd name="connsiteY26" fmla="*/ 1151920 h 1621888"/>
                  <a:gd name="connsiteX27" fmla="*/ 385279 w 571104"/>
                  <a:gd name="connsiteY27" fmla="*/ 1153417 h 1621888"/>
                  <a:gd name="connsiteX28" fmla="*/ 382261 w 571104"/>
                  <a:gd name="connsiteY28" fmla="*/ 1169455 h 1621888"/>
                  <a:gd name="connsiteX29" fmla="*/ 378991 w 571104"/>
                  <a:gd name="connsiteY29" fmla="*/ 1307809 h 1621888"/>
                  <a:gd name="connsiteX30" fmla="*/ 408668 w 571104"/>
                  <a:gd name="connsiteY30" fmla="*/ 1378376 h 1621888"/>
                  <a:gd name="connsiteX31" fmla="*/ 430675 w 571104"/>
                  <a:gd name="connsiteY31" fmla="*/ 1405747 h 1621888"/>
                  <a:gd name="connsiteX32" fmla="*/ 448154 w 571104"/>
                  <a:gd name="connsiteY32" fmla="*/ 1476314 h 1621888"/>
                  <a:gd name="connsiteX33" fmla="*/ 434824 w 571104"/>
                  <a:gd name="connsiteY33" fmla="*/ 1551585 h 1621888"/>
                  <a:gd name="connsiteX34" fmla="*/ 371321 w 571104"/>
                  <a:gd name="connsiteY34" fmla="*/ 1600341 h 1621888"/>
                  <a:gd name="connsiteX35" fmla="*/ 238655 w 571104"/>
                  <a:gd name="connsiteY35" fmla="*/ 1615309 h 162188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</a:cxnLst>
                <a:rect l="l" t="t" r="r" b="b"/>
                <a:pathLst>
                  <a:path w="571104" h="1621888">
                    <a:moveTo>
                      <a:pt x="238655" y="1615309"/>
                    </a:moveTo>
                    <a:cubicBezTo>
                      <a:pt x="204577" y="1609322"/>
                      <a:pt x="179175" y="1597561"/>
                      <a:pt x="157546" y="1577674"/>
                    </a:cubicBezTo>
                    <a:cubicBezTo>
                      <a:pt x="141450" y="1563133"/>
                      <a:pt x="132774" y="1549233"/>
                      <a:pt x="126486" y="1528063"/>
                    </a:cubicBezTo>
                    <a:cubicBezTo>
                      <a:pt x="121456" y="1510956"/>
                      <a:pt x="121456" y="1510742"/>
                      <a:pt x="121456" y="1485723"/>
                    </a:cubicBezTo>
                    <a:cubicBezTo>
                      <a:pt x="121456" y="1463270"/>
                      <a:pt x="121708" y="1458993"/>
                      <a:pt x="124851" y="1445735"/>
                    </a:cubicBezTo>
                    <a:cubicBezTo>
                      <a:pt x="127744" y="1433118"/>
                      <a:pt x="130007" y="1427773"/>
                      <a:pt x="138558" y="1413445"/>
                    </a:cubicBezTo>
                    <a:cubicBezTo>
                      <a:pt x="151133" y="1392275"/>
                      <a:pt x="152265" y="1390778"/>
                      <a:pt x="166349" y="1378162"/>
                    </a:cubicBezTo>
                    <a:cubicBezTo>
                      <a:pt x="172636" y="1372388"/>
                      <a:pt x="178672" y="1366401"/>
                      <a:pt x="179930" y="1364476"/>
                    </a:cubicBezTo>
                    <a:cubicBezTo>
                      <a:pt x="193133" y="1344803"/>
                      <a:pt x="200804" y="1287066"/>
                      <a:pt x="199295" y="1219707"/>
                    </a:cubicBezTo>
                    <a:cubicBezTo>
                      <a:pt x="198541" y="1188487"/>
                      <a:pt x="196529" y="1170097"/>
                      <a:pt x="193133" y="1162826"/>
                    </a:cubicBezTo>
                    <a:cubicBezTo>
                      <a:pt x="191750" y="1159832"/>
                      <a:pt x="185211" y="1158977"/>
                      <a:pt x="147486" y="1157052"/>
                    </a:cubicBezTo>
                    <a:cubicBezTo>
                      <a:pt x="88384" y="1153845"/>
                      <a:pt x="29533" y="1145291"/>
                      <a:pt x="12431" y="1137379"/>
                    </a:cubicBezTo>
                    <a:cubicBezTo>
                      <a:pt x="9916" y="1136310"/>
                      <a:pt x="6018" y="1132247"/>
                      <a:pt x="3880" y="1128398"/>
                    </a:cubicBezTo>
                    <a:lnTo>
                      <a:pt x="-18" y="1121341"/>
                    </a:lnTo>
                    <a:lnTo>
                      <a:pt x="1114" y="872219"/>
                    </a:lnTo>
                    <a:cubicBezTo>
                      <a:pt x="2120" y="635285"/>
                      <a:pt x="359" y="236048"/>
                      <a:pt x="-2282" y="106675"/>
                    </a:cubicBezTo>
                    <a:cubicBezTo>
                      <a:pt x="-3162" y="63908"/>
                      <a:pt x="-2407" y="56423"/>
                      <a:pt x="3754" y="45090"/>
                    </a:cubicBezTo>
                    <a:cubicBezTo>
                      <a:pt x="12305" y="29693"/>
                      <a:pt x="24126" y="24561"/>
                      <a:pt x="70779" y="16008"/>
                    </a:cubicBezTo>
                    <a:cubicBezTo>
                      <a:pt x="154780" y="398"/>
                      <a:pt x="268583" y="-7087"/>
                      <a:pt x="352584" y="-2596"/>
                    </a:cubicBezTo>
                    <a:cubicBezTo>
                      <a:pt x="408920" y="398"/>
                      <a:pt x="432309" y="3605"/>
                      <a:pt x="482609" y="14725"/>
                    </a:cubicBezTo>
                    <a:cubicBezTo>
                      <a:pt x="524861" y="23920"/>
                      <a:pt x="527125" y="24775"/>
                      <a:pt x="541712" y="33115"/>
                    </a:cubicBezTo>
                    <a:cubicBezTo>
                      <a:pt x="553029" y="39744"/>
                      <a:pt x="557556" y="47014"/>
                      <a:pt x="558688" y="60059"/>
                    </a:cubicBezTo>
                    <a:cubicBezTo>
                      <a:pt x="560574" y="83795"/>
                      <a:pt x="563215" y="294426"/>
                      <a:pt x="564975" y="560014"/>
                    </a:cubicBezTo>
                    <a:cubicBezTo>
                      <a:pt x="565981" y="720607"/>
                      <a:pt x="567365" y="910068"/>
                      <a:pt x="567993" y="981277"/>
                    </a:cubicBezTo>
                    <a:cubicBezTo>
                      <a:pt x="568748" y="1076221"/>
                      <a:pt x="568748" y="1112146"/>
                      <a:pt x="567616" y="1115995"/>
                    </a:cubicBezTo>
                    <a:cubicBezTo>
                      <a:pt x="565856" y="1122624"/>
                      <a:pt x="554161" y="1129040"/>
                      <a:pt x="533286" y="1135027"/>
                    </a:cubicBezTo>
                    <a:cubicBezTo>
                      <a:pt x="516687" y="1139945"/>
                      <a:pt x="445765" y="1149568"/>
                      <a:pt x="409046" y="1151920"/>
                    </a:cubicBezTo>
                    <a:lnTo>
                      <a:pt x="385279" y="1153417"/>
                    </a:lnTo>
                    <a:lnTo>
                      <a:pt x="382261" y="1169455"/>
                    </a:lnTo>
                    <a:cubicBezTo>
                      <a:pt x="376854" y="1199179"/>
                      <a:pt x="375093" y="1270173"/>
                      <a:pt x="378991" y="1307809"/>
                    </a:cubicBezTo>
                    <a:cubicBezTo>
                      <a:pt x="383015" y="1348011"/>
                      <a:pt x="388297" y="1360413"/>
                      <a:pt x="408668" y="1378376"/>
                    </a:cubicBezTo>
                    <a:cubicBezTo>
                      <a:pt x="420237" y="1388640"/>
                      <a:pt x="423884" y="1393131"/>
                      <a:pt x="430675" y="1405747"/>
                    </a:cubicBezTo>
                    <a:cubicBezTo>
                      <a:pt x="442998" y="1428414"/>
                      <a:pt x="446519" y="1442955"/>
                      <a:pt x="448154" y="1476314"/>
                    </a:cubicBezTo>
                    <a:cubicBezTo>
                      <a:pt x="449537" y="1506251"/>
                      <a:pt x="444633" y="1533623"/>
                      <a:pt x="434824" y="1551585"/>
                    </a:cubicBezTo>
                    <a:cubicBezTo>
                      <a:pt x="426776" y="1566126"/>
                      <a:pt x="397980" y="1588152"/>
                      <a:pt x="371321" y="1600341"/>
                    </a:cubicBezTo>
                    <a:cubicBezTo>
                      <a:pt x="337997" y="1615523"/>
                      <a:pt x="277763" y="1622152"/>
                      <a:pt x="238655" y="1615309"/>
                    </a:cubicBezTo>
                    <a:close/>
                  </a:path>
                </a:pathLst>
              </a:custGeom>
              <a:grpFill/>
              <a:ln w="5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de-DE" sz="1800" b="0" i="0" u="none" strike="noStrike" kern="0" cap="none" spc="0" normalizeH="0" baseline="0" noProof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43" name="Freihandform: Form 242">
                <a:extLst>
                  <a:ext uri="{FF2B5EF4-FFF2-40B4-BE49-F238E27FC236}">
                    <a16:creationId xmlns:a16="http://schemas.microsoft.com/office/drawing/2014/main" id="{158308E9-2CF5-25F9-1E60-EE58C61E3CDE}"/>
                  </a:ext>
                </a:extLst>
              </p:cNvPr>
              <p:cNvSpPr/>
              <p:nvPr/>
            </p:nvSpPr>
            <p:spPr>
              <a:xfrm flipV="1">
                <a:off x="5336881" y="4374921"/>
                <a:ext cx="571104" cy="612644"/>
              </a:xfrm>
              <a:custGeom>
                <a:avLst/>
                <a:gdLst>
                  <a:gd name="connsiteX0" fmla="*/ 238655 w 571104"/>
                  <a:gd name="connsiteY0" fmla="*/ 1615309 h 1621888"/>
                  <a:gd name="connsiteX1" fmla="*/ 157546 w 571104"/>
                  <a:gd name="connsiteY1" fmla="*/ 1577674 h 1621888"/>
                  <a:gd name="connsiteX2" fmla="*/ 126486 w 571104"/>
                  <a:gd name="connsiteY2" fmla="*/ 1528063 h 1621888"/>
                  <a:gd name="connsiteX3" fmla="*/ 121456 w 571104"/>
                  <a:gd name="connsiteY3" fmla="*/ 1485723 h 1621888"/>
                  <a:gd name="connsiteX4" fmla="*/ 124851 w 571104"/>
                  <a:gd name="connsiteY4" fmla="*/ 1445735 h 1621888"/>
                  <a:gd name="connsiteX5" fmla="*/ 138558 w 571104"/>
                  <a:gd name="connsiteY5" fmla="*/ 1413445 h 1621888"/>
                  <a:gd name="connsiteX6" fmla="*/ 166349 w 571104"/>
                  <a:gd name="connsiteY6" fmla="*/ 1378162 h 1621888"/>
                  <a:gd name="connsiteX7" fmla="*/ 179930 w 571104"/>
                  <a:gd name="connsiteY7" fmla="*/ 1364476 h 1621888"/>
                  <a:gd name="connsiteX8" fmla="*/ 199295 w 571104"/>
                  <a:gd name="connsiteY8" fmla="*/ 1219707 h 1621888"/>
                  <a:gd name="connsiteX9" fmla="*/ 193133 w 571104"/>
                  <a:gd name="connsiteY9" fmla="*/ 1162826 h 1621888"/>
                  <a:gd name="connsiteX10" fmla="*/ 147486 w 571104"/>
                  <a:gd name="connsiteY10" fmla="*/ 1157052 h 1621888"/>
                  <a:gd name="connsiteX11" fmla="*/ 12431 w 571104"/>
                  <a:gd name="connsiteY11" fmla="*/ 1137379 h 1621888"/>
                  <a:gd name="connsiteX12" fmla="*/ 3880 w 571104"/>
                  <a:gd name="connsiteY12" fmla="*/ 1128398 h 1621888"/>
                  <a:gd name="connsiteX13" fmla="*/ -18 w 571104"/>
                  <a:gd name="connsiteY13" fmla="*/ 1121341 h 1621888"/>
                  <a:gd name="connsiteX14" fmla="*/ 1114 w 571104"/>
                  <a:gd name="connsiteY14" fmla="*/ 872219 h 1621888"/>
                  <a:gd name="connsiteX15" fmla="*/ -2282 w 571104"/>
                  <a:gd name="connsiteY15" fmla="*/ 106675 h 1621888"/>
                  <a:gd name="connsiteX16" fmla="*/ 3754 w 571104"/>
                  <a:gd name="connsiteY16" fmla="*/ 45090 h 1621888"/>
                  <a:gd name="connsiteX17" fmla="*/ 70779 w 571104"/>
                  <a:gd name="connsiteY17" fmla="*/ 16008 h 1621888"/>
                  <a:gd name="connsiteX18" fmla="*/ 352584 w 571104"/>
                  <a:gd name="connsiteY18" fmla="*/ -2596 h 1621888"/>
                  <a:gd name="connsiteX19" fmla="*/ 482609 w 571104"/>
                  <a:gd name="connsiteY19" fmla="*/ 14725 h 1621888"/>
                  <a:gd name="connsiteX20" fmla="*/ 541712 w 571104"/>
                  <a:gd name="connsiteY20" fmla="*/ 33115 h 1621888"/>
                  <a:gd name="connsiteX21" fmla="*/ 558688 w 571104"/>
                  <a:gd name="connsiteY21" fmla="*/ 60059 h 1621888"/>
                  <a:gd name="connsiteX22" fmla="*/ 564975 w 571104"/>
                  <a:gd name="connsiteY22" fmla="*/ 560014 h 1621888"/>
                  <a:gd name="connsiteX23" fmla="*/ 567993 w 571104"/>
                  <a:gd name="connsiteY23" fmla="*/ 981277 h 1621888"/>
                  <a:gd name="connsiteX24" fmla="*/ 567616 w 571104"/>
                  <a:gd name="connsiteY24" fmla="*/ 1115995 h 1621888"/>
                  <a:gd name="connsiteX25" fmla="*/ 533286 w 571104"/>
                  <a:gd name="connsiteY25" fmla="*/ 1135027 h 1621888"/>
                  <a:gd name="connsiteX26" fmla="*/ 409046 w 571104"/>
                  <a:gd name="connsiteY26" fmla="*/ 1151920 h 1621888"/>
                  <a:gd name="connsiteX27" fmla="*/ 385279 w 571104"/>
                  <a:gd name="connsiteY27" fmla="*/ 1153417 h 1621888"/>
                  <a:gd name="connsiteX28" fmla="*/ 382261 w 571104"/>
                  <a:gd name="connsiteY28" fmla="*/ 1169455 h 1621888"/>
                  <a:gd name="connsiteX29" fmla="*/ 378991 w 571104"/>
                  <a:gd name="connsiteY29" fmla="*/ 1307809 h 1621888"/>
                  <a:gd name="connsiteX30" fmla="*/ 408668 w 571104"/>
                  <a:gd name="connsiteY30" fmla="*/ 1378376 h 1621888"/>
                  <a:gd name="connsiteX31" fmla="*/ 430675 w 571104"/>
                  <a:gd name="connsiteY31" fmla="*/ 1405747 h 1621888"/>
                  <a:gd name="connsiteX32" fmla="*/ 448154 w 571104"/>
                  <a:gd name="connsiteY32" fmla="*/ 1476314 h 1621888"/>
                  <a:gd name="connsiteX33" fmla="*/ 434824 w 571104"/>
                  <a:gd name="connsiteY33" fmla="*/ 1551585 h 1621888"/>
                  <a:gd name="connsiteX34" fmla="*/ 371321 w 571104"/>
                  <a:gd name="connsiteY34" fmla="*/ 1600341 h 1621888"/>
                  <a:gd name="connsiteX35" fmla="*/ 238655 w 571104"/>
                  <a:gd name="connsiteY35" fmla="*/ 1615309 h 162188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</a:cxnLst>
                <a:rect l="l" t="t" r="r" b="b"/>
                <a:pathLst>
                  <a:path w="571104" h="1621888">
                    <a:moveTo>
                      <a:pt x="238655" y="1615309"/>
                    </a:moveTo>
                    <a:cubicBezTo>
                      <a:pt x="204577" y="1609322"/>
                      <a:pt x="179175" y="1597561"/>
                      <a:pt x="157546" y="1577674"/>
                    </a:cubicBezTo>
                    <a:cubicBezTo>
                      <a:pt x="141450" y="1563133"/>
                      <a:pt x="132774" y="1549233"/>
                      <a:pt x="126486" y="1528063"/>
                    </a:cubicBezTo>
                    <a:cubicBezTo>
                      <a:pt x="121456" y="1510956"/>
                      <a:pt x="121456" y="1510742"/>
                      <a:pt x="121456" y="1485723"/>
                    </a:cubicBezTo>
                    <a:cubicBezTo>
                      <a:pt x="121456" y="1463270"/>
                      <a:pt x="121708" y="1458993"/>
                      <a:pt x="124851" y="1445735"/>
                    </a:cubicBezTo>
                    <a:cubicBezTo>
                      <a:pt x="127744" y="1433118"/>
                      <a:pt x="130007" y="1427773"/>
                      <a:pt x="138558" y="1413445"/>
                    </a:cubicBezTo>
                    <a:cubicBezTo>
                      <a:pt x="151133" y="1392275"/>
                      <a:pt x="152265" y="1390778"/>
                      <a:pt x="166349" y="1378162"/>
                    </a:cubicBezTo>
                    <a:cubicBezTo>
                      <a:pt x="172636" y="1372388"/>
                      <a:pt x="178672" y="1366401"/>
                      <a:pt x="179930" y="1364476"/>
                    </a:cubicBezTo>
                    <a:cubicBezTo>
                      <a:pt x="193133" y="1344803"/>
                      <a:pt x="200804" y="1287066"/>
                      <a:pt x="199295" y="1219707"/>
                    </a:cubicBezTo>
                    <a:cubicBezTo>
                      <a:pt x="198541" y="1188487"/>
                      <a:pt x="196529" y="1170097"/>
                      <a:pt x="193133" y="1162826"/>
                    </a:cubicBezTo>
                    <a:cubicBezTo>
                      <a:pt x="191750" y="1159832"/>
                      <a:pt x="185211" y="1158977"/>
                      <a:pt x="147486" y="1157052"/>
                    </a:cubicBezTo>
                    <a:cubicBezTo>
                      <a:pt x="88384" y="1153845"/>
                      <a:pt x="29533" y="1145291"/>
                      <a:pt x="12431" y="1137379"/>
                    </a:cubicBezTo>
                    <a:cubicBezTo>
                      <a:pt x="9916" y="1136310"/>
                      <a:pt x="6018" y="1132247"/>
                      <a:pt x="3880" y="1128398"/>
                    </a:cubicBezTo>
                    <a:lnTo>
                      <a:pt x="-18" y="1121341"/>
                    </a:lnTo>
                    <a:lnTo>
                      <a:pt x="1114" y="872219"/>
                    </a:lnTo>
                    <a:cubicBezTo>
                      <a:pt x="2120" y="635285"/>
                      <a:pt x="359" y="236048"/>
                      <a:pt x="-2282" y="106675"/>
                    </a:cubicBezTo>
                    <a:cubicBezTo>
                      <a:pt x="-3162" y="63908"/>
                      <a:pt x="-2407" y="56423"/>
                      <a:pt x="3754" y="45090"/>
                    </a:cubicBezTo>
                    <a:cubicBezTo>
                      <a:pt x="12305" y="29693"/>
                      <a:pt x="24126" y="24561"/>
                      <a:pt x="70779" y="16008"/>
                    </a:cubicBezTo>
                    <a:cubicBezTo>
                      <a:pt x="154780" y="398"/>
                      <a:pt x="268583" y="-7087"/>
                      <a:pt x="352584" y="-2596"/>
                    </a:cubicBezTo>
                    <a:cubicBezTo>
                      <a:pt x="408920" y="398"/>
                      <a:pt x="432309" y="3605"/>
                      <a:pt x="482609" y="14725"/>
                    </a:cubicBezTo>
                    <a:cubicBezTo>
                      <a:pt x="524861" y="23920"/>
                      <a:pt x="527125" y="24775"/>
                      <a:pt x="541712" y="33115"/>
                    </a:cubicBezTo>
                    <a:cubicBezTo>
                      <a:pt x="553029" y="39744"/>
                      <a:pt x="557556" y="47014"/>
                      <a:pt x="558688" y="60059"/>
                    </a:cubicBezTo>
                    <a:cubicBezTo>
                      <a:pt x="560574" y="83795"/>
                      <a:pt x="563215" y="294426"/>
                      <a:pt x="564975" y="560014"/>
                    </a:cubicBezTo>
                    <a:cubicBezTo>
                      <a:pt x="565981" y="720607"/>
                      <a:pt x="567365" y="910068"/>
                      <a:pt x="567993" y="981277"/>
                    </a:cubicBezTo>
                    <a:cubicBezTo>
                      <a:pt x="568748" y="1076221"/>
                      <a:pt x="568748" y="1112146"/>
                      <a:pt x="567616" y="1115995"/>
                    </a:cubicBezTo>
                    <a:cubicBezTo>
                      <a:pt x="565856" y="1122624"/>
                      <a:pt x="554161" y="1129040"/>
                      <a:pt x="533286" y="1135027"/>
                    </a:cubicBezTo>
                    <a:cubicBezTo>
                      <a:pt x="516687" y="1139945"/>
                      <a:pt x="445765" y="1149568"/>
                      <a:pt x="409046" y="1151920"/>
                    </a:cubicBezTo>
                    <a:lnTo>
                      <a:pt x="385279" y="1153417"/>
                    </a:lnTo>
                    <a:lnTo>
                      <a:pt x="382261" y="1169455"/>
                    </a:lnTo>
                    <a:cubicBezTo>
                      <a:pt x="376854" y="1199179"/>
                      <a:pt x="375093" y="1270173"/>
                      <a:pt x="378991" y="1307809"/>
                    </a:cubicBezTo>
                    <a:cubicBezTo>
                      <a:pt x="383015" y="1348011"/>
                      <a:pt x="388297" y="1360413"/>
                      <a:pt x="408668" y="1378376"/>
                    </a:cubicBezTo>
                    <a:cubicBezTo>
                      <a:pt x="420237" y="1388640"/>
                      <a:pt x="423884" y="1393131"/>
                      <a:pt x="430675" y="1405747"/>
                    </a:cubicBezTo>
                    <a:cubicBezTo>
                      <a:pt x="442998" y="1428414"/>
                      <a:pt x="446519" y="1442955"/>
                      <a:pt x="448154" y="1476314"/>
                    </a:cubicBezTo>
                    <a:cubicBezTo>
                      <a:pt x="449537" y="1506251"/>
                      <a:pt x="444633" y="1533623"/>
                      <a:pt x="434824" y="1551585"/>
                    </a:cubicBezTo>
                    <a:cubicBezTo>
                      <a:pt x="426776" y="1566126"/>
                      <a:pt x="397980" y="1588152"/>
                      <a:pt x="371321" y="1600341"/>
                    </a:cubicBezTo>
                    <a:cubicBezTo>
                      <a:pt x="337997" y="1615523"/>
                      <a:pt x="277763" y="1622152"/>
                      <a:pt x="238655" y="1615309"/>
                    </a:cubicBezTo>
                    <a:close/>
                  </a:path>
                </a:pathLst>
              </a:custGeom>
              <a:grpFill/>
              <a:ln w="5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de-DE" sz="1800" b="0" i="0" u="none" strike="noStrike" kern="0" cap="none" spc="0" normalizeH="0" baseline="0" noProof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44" name="Freihandform: Form 243">
                <a:extLst>
                  <a:ext uri="{FF2B5EF4-FFF2-40B4-BE49-F238E27FC236}">
                    <a16:creationId xmlns:a16="http://schemas.microsoft.com/office/drawing/2014/main" id="{1BFB87E8-CB96-70E4-C36E-5D03F7CB8A93}"/>
                  </a:ext>
                </a:extLst>
              </p:cNvPr>
              <p:cNvSpPr/>
              <p:nvPr/>
            </p:nvSpPr>
            <p:spPr>
              <a:xfrm flipV="1">
                <a:off x="5982362" y="4191673"/>
                <a:ext cx="571104" cy="795891"/>
              </a:xfrm>
              <a:custGeom>
                <a:avLst/>
                <a:gdLst>
                  <a:gd name="connsiteX0" fmla="*/ 238655 w 571104"/>
                  <a:gd name="connsiteY0" fmla="*/ 1615309 h 1621888"/>
                  <a:gd name="connsiteX1" fmla="*/ 157546 w 571104"/>
                  <a:gd name="connsiteY1" fmla="*/ 1577674 h 1621888"/>
                  <a:gd name="connsiteX2" fmla="*/ 126486 w 571104"/>
                  <a:gd name="connsiteY2" fmla="*/ 1528063 h 1621888"/>
                  <a:gd name="connsiteX3" fmla="*/ 121456 w 571104"/>
                  <a:gd name="connsiteY3" fmla="*/ 1485723 h 1621888"/>
                  <a:gd name="connsiteX4" fmla="*/ 124851 w 571104"/>
                  <a:gd name="connsiteY4" fmla="*/ 1445735 h 1621888"/>
                  <a:gd name="connsiteX5" fmla="*/ 138558 w 571104"/>
                  <a:gd name="connsiteY5" fmla="*/ 1413445 h 1621888"/>
                  <a:gd name="connsiteX6" fmla="*/ 166349 w 571104"/>
                  <a:gd name="connsiteY6" fmla="*/ 1378162 h 1621888"/>
                  <a:gd name="connsiteX7" fmla="*/ 179930 w 571104"/>
                  <a:gd name="connsiteY7" fmla="*/ 1364476 h 1621888"/>
                  <a:gd name="connsiteX8" fmla="*/ 199295 w 571104"/>
                  <a:gd name="connsiteY8" fmla="*/ 1219707 h 1621888"/>
                  <a:gd name="connsiteX9" fmla="*/ 193133 w 571104"/>
                  <a:gd name="connsiteY9" fmla="*/ 1162826 h 1621888"/>
                  <a:gd name="connsiteX10" fmla="*/ 147486 w 571104"/>
                  <a:gd name="connsiteY10" fmla="*/ 1157052 h 1621888"/>
                  <a:gd name="connsiteX11" fmla="*/ 12431 w 571104"/>
                  <a:gd name="connsiteY11" fmla="*/ 1137379 h 1621888"/>
                  <a:gd name="connsiteX12" fmla="*/ 3880 w 571104"/>
                  <a:gd name="connsiteY12" fmla="*/ 1128398 h 1621888"/>
                  <a:gd name="connsiteX13" fmla="*/ -18 w 571104"/>
                  <a:gd name="connsiteY13" fmla="*/ 1121341 h 1621888"/>
                  <a:gd name="connsiteX14" fmla="*/ 1114 w 571104"/>
                  <a:gd name="connsiteY14" fmla="*/ 872219 h 1621888"/>
                  <a:gd name="connsiteX15" fmla="*/ -2282 w 571104"/>
                  <a:gd name="connsiteY15" fmla="*/ 106675 h 1621888"/>
                  <a:gd name="connsiteX16" fmla="*/ 3754 w 571104"/>
                  <a:gd name="connsiteY16" fmla="*/ 45090 h 1621888"/>
                  <a:gd name="connsiteX17" fmla="*/ 70779 w 571104"/>
                  <a:gd name="connsiteY17" fmla="*/ 16008 h 1621888"/>
                  <a:gd name="connsiteX18" fmla="*/ 352584 w 571104"/>
                  <a:gd name="connsiteY18" fmla="*/ -2596 h 1621888"/>
                  <a:gd name="connsiteX19" fmla="*/ 482609 w 571104"/>
                  <a:gd name="connsiteY19" fmla="*/ 14725 h 1621888"/>
                  <a:gd name="connsiteX20" fmla="*/ 541712 w 571104"/>
                  <a:gd name="connsiteY20" fmla="*/ 33115 h 1621888"/>
                  <a:gd name="connsiteX21" fmla="*/ 558688 w 571104"/>
                  <a:gd name="connsiteY21" fmla="*/ 60059 h 1621888"/>
                  <a:gd name="connsiteX22" fmla="*/ 564975 w 571104"/>
                  <a:gd name="connsiteY22" fmla="*/ 560014 h 1621888"/>
                  <a:gd name="connsiteX23" fmla="*/ 567993 w 571104"/>
                  <a:gd name="connsiteY23" fmla="*/ 981277 h 1621888"/>
                  <a:gd name="connsiteX24" fmla="*/ 567616 w 571104"/>
                  <a:gd name="connsiteY24" fmla="*/ 1115995 h 1621888"/>
                  <a:gd name="connsiteX25" fmla="*/ 533286 w 571104"/>
                  <a:gd name="connsiteY25" fmla="*/ 1135027 h 1621888"/>
                  <a:gd name="connsiteX26" fmla="*/ 409046 w 571104"/>
                  <a:gd name="connsiteY26" fmla="*/ 1151920 h 1621888"/>
                  <a:gd name="connsiteX27" fmla="*/ 385279 w 571104"/>
                  <a:gd name="connsiteY27" fmla="*/ 1153417 h 1621888"/>
                  <a:gd name="connsiteX28" fmla="*/ 382261 w 571104"/>
                  <a:gd name="connsiteY28" fmla="*/ 1169455 h 1621888"/>
                  <a:gd name="connsiteX29" fmla="*/ 378991 w 571104"/>
                  <a:gd name="connsiteY29" fmla="*/ 1307809 h 1621888"/>
                  <a:gd name="connsiteX30" fmla="*/ 408668 w 571104"/>
                  <a:gd name="connsiteY30" fmla="*/ 1378376 h 1621888"/>
                  <a:gd name="connsiteX31" fmla="*/ 430675 w 571104"/>
                  <a:gd name="connsiteY31" fmla="*/ 1405747 h 1621888"/>
                  <a:gd name="connsiteX32" fmla="*/ 448154 w 571104"/>
                  <a:gd name="connsiteY32" fmla="*/ 1476314 h 1621888"/>
                  <a:gd name="connsiteX33" fmla="*/ 434824 w 571104"/>
                  <a:gd name="connsiteY33" fmla="*/ 1551585 h 1621888"/>
                  <a:gd name="connsiteX34" fmla="*/ 371321 w 571104"/>
                  <a:gd name="connsiteY34" fmla="*/ 1600341 h 1621888"/>
                  <a:gd name="connsiteX35" fmla="*/ 238655 w 571104"/>
                  <a:gd name="connsiteY35" fmla="*/ 1615309 h 162188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</a:cxnLst>
                <a:rect l="l" t="t" r="r" b="b"/>
                <a:pathLst>
                  <a:path w="571104" h="1621888">
                    <a:moveTo>
                      <a:pt x="238655" y="1615309"/>
                    </a:moveTo>
                    <a:cubicBezTo>
                      <a:pt x="204577" y="1609322"/>
                      <a:pt x="179175" y="1597561"/>
                      <a:pt x="157546" y="1577674"/>
                    </a:cubicBezTo>
                    <a:cubicBezTo>
                      <a:pt x="141450" y="1563133"/>
                      <a:pt x="132774" y="1549233"/>
                      <a:pt x="126486" y="1528063"/>
                    </a:cubicBezTo>
                    <a:cubicBezTo>
                      <a:pt x="121456" y="1510956"/>
                      <a:pt x="121456" y="1510742"/>
                      <a:pt x="121456" y="1485723"/>
                    </a:cubicBezTo>
                    <a:cubicBezTo>
                      <a:pt x="121456" y="1463270"/>
                      <a:pt x="121708" y="1458993"/>
                      <a:pt x="124851" y="1445735"/>
                    </a:cubicBezTo>
                    <a:cubicBezTo>
                      <a:pt x="127744" y="1433118"/>
                      <a:pt x="130007" y="1427773"/>
                      <a:pt x="138558" y="1413445"/>
                    </a:cubicBezTo>
                    <a:cubicBezTo>
                      <a:pt x="151133" y="1392275"/>
                      <a:pt x="152265" y="1390778"/>
                      <a:pt x="166349" y="1378162"/>
                    </a:cubicBezTo>
                    <a:cubicBezTo>
                      <a:pt x="172636" y="1372388"/>
                      <a:pt x="178672" y="1366401"/>
                      <a:pt x="179930" y="1364476"/>
                    </a:cubicBezTo>
                    <a:cubicBezTo>
                      <a:pt x="193133" y="1344803"/>
                      <a:pt x="200804" y="1287066"/>
                      <a:pt x="199295" y="1219707"/>
                    </a:cubicBezTo>
                    <a:cubicBezTo>
                      <a:pt x="198541" y="1188487"/>
                      <a:pt x="196529" y="1170097"/>
                      <a:pt x="193133" y="1162826"/>
                    </a:cubicBezTo>
                    <a:cubicBezTo>
                      <a:pt x="191750" y="1159832"/>
                      <a:pt x="185211" y="1158977"/>
                      <a:pt x="147486" y="1157052"/>
                    </a:cubicBezTo>
                    <a:cubicBezTo>
                      <a:pt x="88384" y="1153845"/>
                      <a:pt x="29533" y="1145291"/>
                      <a:pt x="12431" y="1137379"/>
                    </a:cubicBezTo>
                    <a:cubicBezTo>
                      <a:pt x="9916" y="1136310"/>
                      <a:pt x="6018" y="1132247"/>
                      <a:pt x="3880" y="1128398"/>
                    </a:cubicBezTo>
                    <a:lnTo>
                      <a:pt x="-18" y="1121341"/>
                    </a:lnTo>
                    <a:lnTo>
                      <a:pt x="1114" y="872219"/>
                    </a:lnTo>
                    <a:cubicBezTo>
                      <a:pt x="2120" y="635285"/>
                      <a:pt x="359" y="236048"/>
                      <a:pt x="-2282" y="106675"/>
                    </a:cubicBezTo>
                    <a:cubicBezTo>
                      <a:pt x="-3162" y="63908"/>
                      <a:pt x="-2407" y="56423"/>
                      <a:pt x="3754" y="45090"/>
                    </a:cubicBezTo>
                    <a:cubicBezTo>
                      <a:pt x="12305" y="29693"/>
                      <a:pt x="24126" y="24561"/>
                      <a:pt x="70779" y="16008"/>
                    </a:cubicBezTo>
                    <a:cubicBezTo>
                      <a:pt x="154780" y="398"/>
                      <a:pt x="268583" y="-7087"/>
                      <a:pt x="352584" y="-2596"/>
                    </a:cubicBezTo>
                    <a:cubicBezTo>
                      <a:pt x="408920" y="398"/>
                      <a:pt x="432309" y="3605"/>
                      <a:pt x="482609" y="14725"/>
                    </a:cubicBezTo>
                    <a:cubicBezTo>
                      <a:pt x="524861" y="23920"/>
                      <a:pt x="527125" y="24775"/>
                      <a:pt x="541712" y="33115"/>
                    </a:cubicBezTo>
                    <a:cubicBezTo>
                      <a:pt x="553029" y="39744"/>
                      <a:pt x="557556" y="47014"/>
                      <a:pt x="558688" y="60059"/>
                    </a:cubicBezTo>
                    <a:cubicBezTo>
                      <a:pt x="560574" y="83795"/>
                      <a:pt x="563215" y="294426"/>
                      <a:pt x="564975" y="560014"/>
                    </a:cubicBezTo>
                    <a:cubicBezTo>
                      <a:pt x="565981" y="720607"/>
                      <a:pt x="567365" y="910068"/>
                      <a:pt x="567993" y="981277"/>
                    </a:cubicBezTo>
                    <a:cubicBezTo>
                      <a:pt x="568748" y="1076221"/>
                      <a:pt x="568748" y="1112146"/>
                      <a:pt x="567616" y="1115995"/>
                    </a:cubicBezTo>
                    <a:cubicBezTo>
                      <a:pt x="565856" y="1122624"/>
                      <a:pt x="554161" y="1129040"/>
                      <a:pt x="533286" y="1135027"/>
                    </a:cubicBezTo>
                    <a:cubicBezTo>
                      <a:pt x="516687" y="1139945"/>
                      <a:pt x="445765" y="1149568"/>
                      <a:pt x="409046" y="1151920"/>
                    </a:cubicBezTo>
                    <a:lnTo>
                      <a:pt x="385279" y="1153417"/>
                    </a:lnTo>
                    <a:lnTo>
                      <a:pt x="382261" y="1169455"/>
                    </a:lnTo>
                    <a:cubicBezTo>
                      <a:pt x="376854" y="1199179"/>
                      <a:pt x="375093" y="1270173"/>
                      <a:pt x="378991" y="1307809"/>
                    </a:cubicBezTo>
                    <a:cubicBezTo>
                      <a:pt x="383015" y="1348011"/>
                      <a:pt x="388297" y="1360413"/>
                      <a:pt x="408668" y="1378376"/>
                    </a:cubicBezTo>
                    <a:cubicBezTo>
                      <a:pt x="420237" y="1388640"/>
                      <a:pt x="423884" y="1393131"/>
                      <a:pt x="430675" y="1405747"/>
                    </a:cubicBezTo>
                    <a:cubicBezTo>
                      <a:pt x="442998" y="1428414"/>
                      <a:pt x="446519" y="1442955"/>
                      <a:pt x="448154" y="1476314"/>
                    </a:cubicBezTo>
                    <a:cubicBezTo>
                      <a:pt x="449537" y="1506251"/>
                      <a:pt x="444633" y="1533623"/>
                      <a:pt x="434824" y="1551585"/>
                    </a:cubicBezTo>
                    <a:cubicBezTo>
                      <a:pt x="426776" y="1566126"/>
                      <a:pt x="397980" y="1588152"/>
                      <a:pt x="371321" y="1600341"/>
                    </a:cubicBezTo>
                    <a:cubicBezTo>
                      <a:pt x="337997" y="1615523"/>
                      <a:pt x="277763" y="1622152"/>
                      <a:pt x="238655" y="1615309"/>
                    </a:cubicBezTo>
                    <a:close/>
                  </a:path>
                </a:pathLst>
              </a:custGeom>
              <a:grpFill/>
              <a:ln w="5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de-DE" sz="1800" b="0" i="0" u="none" strike="noStrike" kern="0" cap="none" spc="0" normalizeH="0" baseline="0" noProof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45" name="Freihandform: Form 244">
                <a:extLst>
                  <a:ext uri="{FF2B5EF4-FFF2-40B4-BE49-F238E27FC236}">
                    <a16:creationId xmlns:a16="http://schemas.microsoft.com/office/drawing/2014/main" id="{578FBE45-CDAF-E6F2-12A0-1E51A3EC899C}"/>
                  </a:ext>
                </a:extLst>
              </p:cNvPr>
              <p:cNvSpPr/>
              <p:nvPr/>
            </p:nvSpPr>
            <p:spPr>
              <a:xfrm flipV="1">
                <a:off x="6627843" y="3778982"/>
                <a:ext cx="571104" cy="1208583"/>
              </a:xfrm>
              <a:custGeom>
                <a:avLst/>
                <a:gdLst>
                  <a:gd name="connsiteX0" fmla="*/ 238655 w 571104"/>
                  <a:gd name="connsiteY0" fmla="*/ 1615309 h 1621888"/>
                  <a:gd name="connsiteX1" fmla="*/ 157546 w 571104"/>
                  <a:gd name="connsiteY1" fmla="*/ 1577674 h 1621888"/>
                  <a:gd name="connsiteX2" fmla="*/ 126486 w 571104"/>
                  <a:gd name="connsiteY2" fmla="*/ 1528063 h 1621888"/>
                  <a:gd name="connsiteX3" fmla="*/ 121456 w 571104"/>
                  <a:gd name="connsiteY3" fmla="*/ 1485723 h 1621888"/>
                  <a:gd name="connsiteX4" fmla="*/ 124851 w 571104"/>
                  <a:gd name="connsiteY4" fmla="*/ 1445735 h 1621888"/>
                  <a:gd name="connsiteX5" fmla="*/ 138558 w 571104"/>
                  <a:gd name="connsiteY5" fmla="*/ 1413445 h 1621888"/>
                  <a:gd name="connsiteX6" fmla="*/ 166349 w 571104"/>
                  <a:gd name="connsiteY6" fmla="*/ 1378162 h 1621888"/>
                  <a:gd name="connsiteX7" fmla="*/ 179930 w 571104"/>
                  <a:gd name="connsiteY7" fmla="*/ 1364476 h 1621888"/>
                  <a:gd name="connsiteX8" fmla="*/ 199295 w 571104"/>
                  <a:gd name="connsiteY8" fmla="*/ 1219707 h 1621888"/>
                  <a:gd name="connsiteX9" fmla="*/ 193133 w 571104"/>
                  <a:gd name="connsiteY9" fmla="*/ 1162826 h 1621888"/>
                  <a:gd name="connsiteX10" fmla="*/ 147486 w 571104"/>
                  <a:gd name="connsiteY10" fmla="*/ 1157052 h 1621888"/>
                  <a:gd name="connsiteX11" fmla="*/ 12431 w 571104"/>
                  <a:gd name="connsiteY11" fmla="*/ 1137379 h 1621888"/>
                  <a:gd name="connsiteX12" fmla="*/ 3880 w 571104"/>
                  <a:gd name="connsiteY12" fmla="*/ 1128398 h 1621888"/>
                  <a:gd name="connsiteX13" fmla="*/ -18 w 571104"/>
                  <a:gd name="connsiteY13" fmla="*/ 1121341 h 1621888"/>
                  <a:gd name="connsiteX14" fmla="*/ 1114 w 571104"/>
                  <a:gd name="connsiteY14" fmla="*/ 872219 h 1621888"/>
                  <a:gd name="connsiteX15" fmla="*/ -2282 w 571104"/>
                  <a:gd name="connsiteY15" fmla="*/ 106675 h 1621888"/>
                  <a:gd name="connsiteX16" fmla="*/ 3754 w 571104"/>
                  <a:gd name="connsiteY16" fmla="*/ 45090 h 1621888"/>
                  <a:gd name="connsiteX17" fmla="*/ 70779 w 571104"/>
                  <a:gd name="connsiteY17" fmla="*/ 16008 h 1621888"/>
                  <a:gd name="connsiteX18" fmla="*/ 352584 w 571104"/>
                  <a:gd name="connsiteY18" fmla="*/ -2596 h 1621888"/>
                  <a:gd name="connsiteX19" fmla="*/ 482609 w 571104"/>
                  <a:gd name="connsiteY19" fmla="*/ 14725 h 1621888"/>
                  <a:gd name="connsiteX20" fmla="*/ 541712 w 571104"/>
                  <a:gd name="connsiteY20" fmla="*/ 33115 h 1621888"/>
                  <a:gd name="connsiteX21" fmla="*/ 558688 w 571104"/>
                  <a:gd name="connsiteY21" fmla="*/ 60059 h 1621888"/>
                  <a:gd name="connsiteX22" fmla="*/ 564975 w 571104"/>
                  <a:gd name="connsiteY22" fmla="*/ 560014 h 1621888"/>
                  <a:gd name="connsiteX23" fmla="*/ 567993 w 571104"/>
                  <a:gd name="connsiteY23" fmla="*/ 981277 h 1621888"/>
                  <a:gd name="connsiteX24" fmla="*/ 567616 w 571104"/>
                  <a:gd name="connsiteY24" fmla="*/ 1115995 h 1621888"/>
                  <a:gd name="connsiteX25" fmla="*/ 533286 w 571104"/>
                  <a:gd name="connsiteY25" fmla="*/ 1135027 h 1621888"/>
                  <a:gd name="connsiteX26" fmla="*/ 409046 w 571104"/>
                  <a:gd name="connsiteY26" fmla="*/ 1151920 h 1621888"/>
                  <a:gd name="connsiteX27" fmla="*/ 385279 w 571104"/>
                  <a:gd name="connsiteY27" fmla="*/ 1153417 h 1621888"/>
                  <a:gd name="connsiteX28" fmla="*/ 382261 w 571104"/>
                  <a:gd name="connsiteY28" fmla="*/ 1169455 h 1621888"/>
                  <a:gd name="connsiteX29" fmla="*/ 378991 w 571104"/>
                  <a:gd name="connsiteY29" fmla="*/ 1307809 h 1621888"/>
                  <a:gd name="connsiteX30" fmla="*/ 408668 w 571104"/>
                  <a:gd name="connsiteY30" fmla="*/ 1378376 h 1621888"/>
                  <a:gd name="connsiteX31" fmla="*/ 430675 w 571104"/>
                  <a:gd name="connsiteY31" fmla="*/ 1405747 h 1621888"/>
                  <a:gd name="connsiteX32" fmla="*/ 448154 w 571104"/>
                  <a:gd name="connsiteY32" fmla="*/ 1476314 h 1621888"/>
                  <a:gd name="connsiteX33" fmla="*/ 434824 w 571104"/>
                  <a:gd name="connsiteY33" fmla="*/ 1551585 h 1621888"/>
                  <a:gd name="connsiteX34" fmla="*/ 371321 w 571104"/>
                  <a:gd name="connsiteY34" fmla="*/ 1600341 h 1621888"/>
                  <a:gd name="connsiteX35" fmla="*/ 238655 w 571104"/>
                  <a:gd name="connsiteY35" fmla="*/ 1615309 h 162188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</a:cxnLst>
                <a:rect l="l" t="t" r="r" b="b"/>
                <a:pathLst>
                  <a:path w="571104" h="1621888">
                    <a:moveTo>
                      <a:pt x="238655" y="1615309"/>
                    </a:moveTo>
                    <a:cubicBezTo>
                      <a:pt x="204577" y="1609322"/>
                      <a:pt x="179175" y="1597561"/>
                      <a:pt x="157546" y="1577674"/>
                    </a:cubicBezTo>
                    <a:cubicBezTo>
                      <a:pt x="141450" y="1563133"/>
                      <a:pt x="132774" y="1549233"/>
                      <a:pt x="126486" y="1528063"/>
                    </a:cubicBezTo>
                    <a:cubicBezTo>
                      <a:pt x="121456" y="1510956"/>
                      <a:pt x="121456" y="1510742"/>
                      <a:pt x="121456" y="1485723"/>
                    </a:cubicBezTo>
                    <a:cubicBezTo>
                      <a:pt x="121456" y="1463270"/>
                      <a:pt x="121708" y="1458993"/>
                      <a:pt x="124851" y="1445735"/>
                    </a:cubicBezTo>
                    <a:cubicBezTo>
                      <a:pt x="127744" y="1433118"/>
                      <a:pt x="130007" y="1427773"/>
                      <a:pt x="138558" y="1413445"/>
                    </a:cubicBezTo>
                    <a:cubicBezTo>
                      <a:pt x="151133" y="1392275"/>
                      <a:pt x="152265" y="1390778"/>
                      <a:pt x="166349" y="1378162"/>
                    </a:cubicBezTo>
                    <a:cubicBezTo>
                      <a:pt x="172636" y="1372388"/>
                      <a:pt x="178672" y="1366401"/>
                      <a:pt x="179930" y="1364476"/>
                    </a:cubicBezTo>
                    <a:cubicBezTo>
                      <a:pt x="193133" y="1344803"/>
                      <a:pt x="200804" y="1287066"/>
                      <a:pt x="199295" y="1219707"/>
                    </a:cubicBezTo>
                    <a:cubicBezTo>
                      <a:pt x="198541" y="1188487"/>
                      <a:pt x="196529" y="1170097"/>
                      <a:pt x="193133" y="1162826"/>
                    </a:cubicBezTo>
                    <a:cubicBezTo>
                      <a:pt x="191750" y="1159832"/>
                      <a:pt x="185211" y="1158977"/>
                      <a:pt x="147486" y="1157052"/>
                    </a:cubicBezTo>
                    <a:cubicBezTo>
                      <a:pt x="88384" y="1153845"/>
                      <a:pt x="29533" y="1145291"/>
                      <a:pt x="12431" y="1137379"/>
                    </a:cubicBezTo>
                    <a:cubicBezTo>
                      <a:pt x="9916" y="1136310"/>
                      <a:pt x="6018" y="1132247"/>
                      <a:pt x="3880" y="1128398"/>
                    </a:cubicBezTo>
                    <a:lnTo>
                      <a:pt x="-18" y="1121341"/>
                    </a:lnTo>
                    <a:lnTo>
                      <a:pt x="1114" y="872219"/>
                    </a:lnTo>
                    <a:cubicBezTo>
                      <a:pt x="2120" y="635285"/>
                      <a:pt x="359" y="236048"/>
                      <a:pt x="-2282" y="106675"/>
                    </a:cubicBezTo>
                    <a:cubicBezTo>
                      <a:pt x="-3162" y="63908"/>
                      <a:pt x="-2407" y="56423"/>
                      <a:pt x="3754" y="45090"/>
                    </a:cubicBezTo>
                    <a:cubicBezTo>
                      <a:pt x="12305" y="29693"/>
                      <a:pt x="24126" y="24561"/>
                      <a:pt x="70779" y="16008"/>
                    </a:cubicBezTo>
                    <a:cubicBezTo>
                      <a:pt x="154780" y="398"/>
                      <a:pt x="268583" y="-7087"/>
                      <a:pt x="352584" y="-2596"/>
                    </a:cubicBezTo>
                    <a:cubicBezTo>
                      <a:pt x="408920" y="398"/>
                      <a:pt x="432309" y="3605"/>
                      <a:pt x="482609" y="14725"/>
                    </a:cubicBezTo>
                    <a:cubicBezTo>
                      <a:pt x="524861" y="23920"/>
                      <a:pt x="527125" y="24775"/>
                      <a:pt x="541712" y="33115"/>
                    </a:cubicBezTo>
                    <a:cubicBezTo>
                      <a:pt x="553029" y="39744"/>
                      <a:pt x="557556" y="47014"/>
                      <a:pt x="558688" y="60059"/>
                    </a:cubicBezTo>
                    <a:cubicBezTo>
                      <a:pt x="560574" y="83795"/>
                      <a:pt x="563215" y="294426"/>
                      <a:pt x="564975" y="560014"/>
                    </a:cubicBezTo>
                    <a:cubicBezTo>
                      <a:pt x="565981" y="720607"/>
                      <a:pt x="567365" y="910068"/>
                      <a:pt x="567993" y="981277"/>
                    </a:cubicBezTo>
                    <a:cubicBezTo>
                      <a:pt x="568748" y="1076221"/>
                      <a:pt x="568748" y="1112146"/>
                      <a:pt x="567616" y="1115995"/>
                    </a:cubicBezTo>
                    <a:cubicBezTo>
                      <a:pt x="565856" y="1122624"/>
                      <a:pt x="554161" y="1129040"/>
                      <a:pt x="533286" y="1135027"/>
                    </a:cubicBezTo>
                    <a:cubicBezTo>
                      <a:pt x="516687" y="1139945"/>
                      <a:pt x="445765" y="1149568"/>
                      <a:pt x="409046" y="1151920"/>
                    </a:cubicBezTo>
                    <a:lnTo>
                      <a:pt x="385279" y="1153417"/>
                    </a:lnTo>
                    <a:lnTo>
                      <a:pt x="382261" y="1169455"/>
                    </a:lnTo>
                    <a:cubicBezTo>
                      <a:pt x="376854" y="1199179"/>
                      <a:pt x="375093" y="1270173"/>
                      <a:pt x="378991" y="1307809"/>
                    </a:cubicBezTo>
                    <a:cubicBezTo>
                      <a:pt x="383015" y="1348011"/>
                      <a:pt x="388297" y="1360413"/>
                      <a:pt x="408668" y="1378376"/>
                    </a:cubicBezTo>
                    <a:cubicBezTo>
                      <a:pt x="420237" y="1388640"/>
                      <a:pt x="423884" y="1393131"/>
                      <a:pt x="430675" y="1405747"/>
                    </a:cubicBezTo>
                    <a:cubicBezTo>
                      <a:pt x="442998" y="1428414"/>
                      <a:pt x="446519" y="1442955"/>
                      <a:pt x="448154" y="1476314"/>
                    </a:cubicBezTo>
                    <a:cubicBezTo>
                      <a:pt x="449537" y="1506251"/>
                      <a:pt x="444633" y="1533623"/>
                      <a:pt x="434824" y="1551585"/>
                    </a:cubicBezTo>
                    <a:cubicBezTo>
                      <a:pt x="426776" y="1566126"/>
                      <a:pt x="397980" y="1588152"/>
                      <a:pt x="371321" y="1600341"/>
                    </a:cubicBezTo>
                    <a:cubicBezTo>
                      <a:pt x="337997" y="1615523"/>
                      <a:pt x="277763" y="1622152"/>
                      <a:pt x="238655" y="1615309"/>
                    </a:cubicBezTo>
                    <a:close/>
                  </a:path>
                </a:pathLst>
              </a:custGeom>
              <a:grpFill/>
              <a:ln w="5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de-DE" sz="1800" b="0" i="0" u="none" strike="noStrike" kern="0" cap="none" spc="0" normalizeH="0" baseline="0" noProof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46" name="Freihandform: Form 245">
                <a:extLst>
                  <a:ext uri="{FF2B5EF4-FFF2-40B4-BE49-F238E27FC236}">
                    <a16:creationId xmlns:a16="http://schemas.microsoft.com/office/drawing/2014/main" id="{B52BC782-954A-5DFE-C338-0D1338E7E92F}"/>
                  </a:ext>
                </a:extLst>
              </p:cNvPr>
              <p:cNvSpPr/>
              <p:nvPr/>
            </p:nvSpPr>
            <p:spPr>
              <a:xfrm flipV="1">
                <a:off x="7273324" y="3365677"/>
                <a:ext cx="571104" cy="1621888"/>
              </a:xfrm>
              <a:custGeom>
                <a:avLst/>
                <a:gdLst>
                  <a:gd name="connsiteX0" fmla="*/ 238655 w 571104"/>
                  <a:gd name="connsiteY0" fmla="*/ 1615309 h 1621888"/>
                  <a:gd name="connsiteX1" fmla="*/ 157546 w 571104"/>
                  <a:gd name="connsiteY1" fmla="*/ 1577674 h 1621888"/>
                  <a:gd name="connsiteX2" fmla="*/ 126486 w 571104"/>
                  <a:gd name="connsiteY2" fmla="*/ 1528063 h 1621888"/>
                  <a:gd name="connsiteX3" fmla="*/ 121456 w 571104"/>
                  <a:gd name="connsiteY3" fmla="*/ 1485723 h 1621888"/>
                  <a:gd name="connsiteX4" fmla="*/ 124851 w 571104"/>
                  <a:gd name="connsiteY4" fmla="*/ 1445735 h 1621888"/>
                  <a:gd name="connsiteX5" fmla="*/ 138558 w 571104"/>
                  <a:gd name="connsiteY5" fmla="*/ 1413445 h 1621888"/>
                  <a:gd name="connsiteX6" fmla="*/ 166349 w 571104"/>
                  <a:gd name="connsiteY6" fmla="*/ 1378162 h 1621888"/>
                  <a:gd name="connsiteX7" fmla="*/ 179930 w 571104"/>
                  <a:gd name="connsiteY7" fmla="*/ 1364476 h 1621888"/>
                  <a:gd name="connsiteX8" fmla="*/ 199295 w 571104"/>
                  <a:gd name="connsiteY8" fmla="*/ 1219707 h 1621888"/>
                  <a:gd name="connsiteX9" fmla="*/ 193133 w 571104"/>
                  <a:gd name="connsiteY9" fmla="*/ 1162826 h 1621888"/>
                  <a:gd name="connsiteX10" fmla="*/ 147486 w 571104"/>
                  <a:gd name="connsiteY10" fmla="*/ 1157052 h 1621888"/>
                  <a:gd name="connsiteX11" fmla="*/ 12431 w 571104"/>
                  <a:gd name="connsiteY11" fmla="*/ 1137379 h 1621888"/>
                  <a:gd name="connsiteX12" fmla="*/ 3880 w 571104"/>
                  <a:gd name="connsiteY12" fmla="*/ 1128398 h 1621888"/>
                  <a:gd name="connsiteX13" fmla="*/ -18 w 571104"/>
                  <a:gd name="connsiteY13" fmla="*/ 1121341 h 1621888"/>
                  <a:gd name="connsiteX14" fmla="*/ 1114 w 571104"/>
                  <a:gd name="connsiteY14" fmla="*/ 872219 h 1621888"/>
                  <a:gd name="connsiteX15" fmla="*/ -2282 w 571104"/>
                  <a:gd name="connsiteY15" fmla="*/ 106675 h 1621888"/>
                  <a:gd name="connsiteX16" fmla="*/ 3754 w 571104"/>
                  <a:gd name="connsiteY16" fmla="*/ 45090 h 1621888"/>
                  <a:gd name="connsiteX17" fmla="*/ 70779 w 571104"/>
                  <a:gd name="connsiteY17" fmla="*/ 16008 h 1621888"/>
                  <a:gd name="connsiteX18" fmla="*/ 352584 w 571104"/>
                  <a:gd name="connsiteY18" fmla="*/ -2596 h 1621888"/>
                  <a:gd name="connsiteX19" fmla="*/ 482609 w 571104"/>
                  <a:gd name="connsiteY19" fmla="*/ 14725 h 1621888"/>
                  <a:gd name="connsiteX20" fmla="*/ 541712 w 571104"/>
                  <a:gd name="connsiteY20" fmla="*/ 33115 h 1621888"/>
                  <a:gd name="connsiteX21" fmla="*/ 558688 w 571104"/>
                  <a:gd name="connsiteY21" fmla="*/ 60059 h 1621888"/>
                  <a:gd name="connsiteX22" fmla="*/ 564975 w 571104"/>
                  <a:gd name="connsiteY22" fmla="*/ 560014 h 1621888"/>
                  <a:gd name="connsiteX23" fmla="*/ 567993 w 571104"/>
                  <a:gd name="connsiteY23" fmla="*/ 981277 h 1621888"/>
                  <a:gd name="connsiteX24" fmla="*/ 567616 w 571104"/>
                  <a:gd name="connsiteY24" fmla="*/ 1115995 h 1621888"/>
                  <a:gd name="connsiteX25" fmla="*/ 533286 w 571104"/>
                  <a:gd name="connsiteY25" fmla="*/ 1135027 h 1621888"/>
                  <a:gd name="connsiteX26" fmla="*/ 409046 w 571104"/>
                  <a:gd name="connsiteY26" fmla="*/ 1151920 h 1621888"/>
                  <a:gd name="connsiteX27" fmla="*/ 385279 w 571104"/>
                  <a:gd name="connsiteY27" fmla="*/ 1153417 h 1621888"/>
                  <a:gd name="connsiteX28" fmla="*/ 382261 w 571104"/>
                  <a:gd name="connsiteY28" fmla="*/ 1169455 h 1621888"/>
                  <a:gd name="connsiteX29" fmla="*/ 378991 w 571104"/>
                  <a:gd name="connsiteY29" fmla="*/ 1307809 h 1621888"/>
                  <a:gd name="connsiteX30" fmla="*/ 408668 w 571104"/>
                  <a:gd name="connsiteY30" fmla="*/ 1378376 h 1621888"/>
                  <a:gd name="connsiteX31" fmla="*/ 430675 w 571104"/>
                  <a:gd name="connsiteY31" fmla="*/ 1405747 h 1621888"/>
                  <a:gd name="connsiteX32" fmla="*/ 448154 w 571104"/>
                  <a:gd name="connsiteY32" fmla="*/ 1476314 h 1621888"/>
                  <a:gd name="connsiteX33" fmla="*/ 434824 w 571104"/>
                  <a:gd name="connsiteY33" fmla="*/ 1551585 h 1621888"/>
                  <a:gd name="connsiteX34" fmla="*/ 371321 w 571104"/>
                  <a:gd name="connsiteY34" fmla="*/ 1600341 h 1621888"/>
                  <a:gd name="connsiteX35" fmla="*/ 238655 w 571104"/>
                  <a:gd name="connsiteY35" fmla="*/ 1615309 h 162188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</a:cxnLst>
                <a:rect l="l" t="t" r="r" b="b"/>
                <a:pathLst>
                  <a:path w="571104" h="1621888">
                    <a:moveTo>
                      <a:pt x="238655" y="1615309"/>
                    </a:moveTo>
                    <a:cubicBezTo>
                      <a:pt x="204577" y="1609322"/>
                      <a:pt x="179175" y="1597561"/>
                      <a:pt x="157546" y="1577674"/>
                    </a:cubicBezTo>
                    <a:cubicBezTo>
                      <a:pt x="141450" y="1563133"/>
                      <a:pt x="132774" y="1549233"/>
                      <a:pt x="126486" y="1528063"/>
                    </a:cubicBezTo>
                    <a:cubicBezTo>
                      <a:pt x="121456" y="1510956"/>
                      <a:pt x="121456" y="1510742"/>
                      <a:pt x="121456" y="1485723"/>
                    </a:cubicBezTo>
                    <a:cubicBezTo>
                      <a:pt x="121456" y="1463270"/>
                      <a:pt x="121708" y="1458993"/>
                      <a:pt x="124851" y="1445735"/>
                    </a:cubicBezTo>
                    <a:cubicBezTo>
                      <a:pt x="127744" y="1433118"/>
                      <a:pt x="130007" y="1427773"/>
                      <a:pt x="138558" y="1413445"/>
                    </a:cubicBezTo>
                    <a:cubicBezTo>
                      <a:pt x="151133" y="1392275"/>
                      <a:pt x="152265" y="1390778"/>
                      <a:pt x="166349" y="1378162"/>
                    </a:cubicBezTo>
                    <a:cubicBezTo>
                      <a:pt x="172636" y="1372388"/>
                      <a:pt x="178672" y="1366401"/>
                      <a:pt x="179930" y="1364476"/>
                    </a:cubicBezTo>
                    <a:cubicBezTo>
                      <a:pt x="193133" y="1344803"/>
                      <a:pt x="200804" y="1287066"/>
                      <a:pt x="199295" y="1219707"/>
                    </a:cubicBezTo>
                    <a:cubicBezTo>
                      <a:pt x="198541" y="1188487"/>
                      <a:pt x="196529" y="1170097"/>
                      <a:pt x="193133" y="1162826"/>
                    </a:cubicBezTo>
                    <a:cubicBezTo>
                      <a:pt x="191750" y="1159832"/>
                      <a:pt x="185211" y="1158977"/>
                      <a:pt x="147486" y="1157052"/>
                    </a:cubicBezTo>
                    <a:cubicBezTo>
                      <a:pt x="88384" y="1153845"/>
                      <a:pt x="29533" y="1145291"/>
                      <a:pt x="12431" y="1137379"/>
                    </a:cubicBezTo>
                    <a:cubicBezTo>
                      <a:pt x="9916" y="1136310"/>
                      <a:pt x="6018" y="1132247"/>
                      <a:pt x="3880" y="1128398"/>
                    </a:cubicBezTo>
                    <a:lnTo>
                      <a:pt x="-18" y="1121341"/>
                    </a:lnTo>
                    <a:lnTo>
                      <a:pt x="1114" y="872219"/>
                    </a:lnTo>
                    <a:cubicBezTo>
                      <a:pt x="2120" y="635285"/>
                      <a:pt x="359" y="236048"/>
                      <a:pt x="-2282" y="106675"/>
                    </a:cubicBezTo>
                    <a:cubicBezTo>
                      <a:pt x="-3162" y="63908"/>
                      <a:pt x="-2407" y="56423"/>
                      <a:pt x="3754" y="45090"/>
                    </a:cubicBezTo>
                    <a:cubicBezTo>
                      <a:pt x="12305" y="29693"/>
                      <a:pt x="24126" y="24561"/>
                      <a:pt x="70779" y="16008"/>
                    </a:cubicBezTo>
                    <a:cubicBezTo>
                      <a:pt x="154780" y="398"/>
                      <a:pt x="268583" y="-7087"/>
                      <a:pt x="352584" y="-2596"/>
                    </a:cubicBezTo>
                    <a:cubicBezTo>
                      <a:pt x="408920" y="398"/>
                      <a:pt x="432309" y="3605"/>
                      <a:pt x="482609" y="14725"/>
                    </a:cubicBezTo>
                    <a:cubicBezTo>
                      <a:pt x="524861" y="23920"/>
                      <a:pt x="527125" y="24775"/>
                      <a:pt x="541712" y="33115"/>
                    </a:cubicBezTo>
                    <a:cubicBezTo>
                      <a:pt x="553029" y="39744"/>
                      <a:pt x="557556" y="47014"/>
                      <a:pt x="558688" y="60059"/>
                    </a:cubicBezTo>
                    <a:cubicBezTo>
                      <a:pt x="560574" y="83795"/>
                      <a:pt x="563215" y="294426"/>
                      <a:pt x="564975" y="560014"/>
                    </a:cubicBezTo>
                    <a:cubicBezTo>
                      <a:pt x="565981" y="720607"/>
                      <a:pt x="567365" y="910068"/>
                      <a:pt x="567993" y="981277"/>
                    </a:cubicBezTo>
                    <a:cubicBezTo>
                      <a:pt x="568748" y="1076221"/>
                      <a:pt x="568748" y="1112146"/>
                      <a:pt x="567616" y="1115995"/>
                    </a:cubicBezTo>
                    <a:cubicBezTo>
                      <a:pt x="565856" y="1122624"/>
                      <a:pt x="554161" y="1129040"/>
                      <a:pt x="533286" y="1135027"/>
                    </a:cubicBezTo>
                    <a:cubicBezTo>
                      <a:pt x="516687" y="1139945"/>
                      <a:pt x="445765" y="1149568"/>
                      <a:pt x="409046" y="1151920"/>
                    </a:cubicBezTo>
                    <a:lnTo>
                      <a:pt x="385279" y="1153417"/>
                    </a:lnTo>
                    <a:lnTo>
                      <a:pt x="382261" y="1169455"/>
                    </a:lnTo>
                    <a:cubicBezTo>
                      <a:pt x="376854" y="1199179"/>
                      <a:pt x="375093" y="1270173"/>
                      <a:pt x="378991" y="1307809"/>
                    </a:cubicBezTo>
                    <a:cubicBezTo>
                      <a:pt x="383015" y="1348011"/>
                      <a:pt x="388297" y="1360413"/>
                      <a:pt x="408668" y="1378376"/>
                    </a:cubicBezTo>
                    <a:cubicBezTo>
                      <a:pt x="420237" y="1388640"/>
                      <a:pt x="423884" y="1393131"/>
                      <a:pt x="430675" y="1405747"/>
                    </a:cubicBezTo>
                    <a:cubicBezTo>
                      <a:pt x="442998" y="1428414"/>
                      <a:pt x="446519" y="1442955"/>
                      <a:pt x="448154" y="1476314"/>
                    </a:cubicBezTo>
                    <a:cubicBezTo>
                      <a:pt x="449537" y="1506251"/>
                      <a:pt x="444633" y="1533623"/>
                      <a:pt x="434824" y="1551585"/>
                    </a:cubicBezTo>
                    <a:cubicBezTo>
                      <a:pt x="426776" y="1566126"/>
                      <a:pt x="397980" y="1588152"/>
                      <a:pt x="371321" y="1600341"/>
                    </a:cubicBezTo>
                    <a:cubicBezTo>
                      <a:pt x="337997" y="1615523"/>
                      <a:pt x="277763" y="1622152"/>
                      <a:pt x="238655" y="1615309"/>
                    </a:cubicBezTo>
                    <a:close/>
                  </a:path>
                </a:pathLst>
              </a:custGeom>
              <a:grpFill/>
              <a:ln w="5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de-DE" sz="1800" b="0" i="0" u="none" strike="noStrike" kern="0" cap="none" spc="0" normalizeH="0" baseline="0" noProof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47" name="Freihandform: Form 246">
                <a:extLst>
                  <a:ext uri="{FF2B5EF4-FFF2-40B4-BE49-F238E27FC236}">
                    <a16:creationId xmlns:a16="http://schemas.microsoft.com/office/drawing/2014/main" id="{F8ABF64A-B26F-9C7E-86B5-12459BE68FFE}"/>
                  </a:ext>
                </a:extLst>
              </p:cNvPr>
              <p:cNvSpPr/>
              <p:nvPr/>
            </p:nvSpPr>
            <p:spPr>
              <a:xfrm flipV="1">
                <a:off x="7918805" y="3381861"/>
                <a:ext cx="571104" cy="1605704"/>
              </a:xfrm>
              <a:custGeom>
                <a:avLst/>
                <a:gdLst>
                  <a:gd name="connsiteX0" fmla="*/ 238655 w 571104"/>
                  <a:gd name="connsiteY0" fmla="*/ 1615309 h 1621888"/>
                  <a:gd name="connsiteX1" fmla="*/ 157546 w 571104"/>
                  <a:gd name="connsiteY1" fmla="*/ 1577674 h 1621888"/>
                  <a:gd name="connsiteX2" fmla="*/ 126486 w 571104"/>
                  <a:gd name="connsiteY2" fmla="*/ 1528063 h 1621888"/>
                  <a:gd name="connsiteX3" fmla="*/ 121456 w 571104"/>
                  <a:gd name="connsiteY3" fmla="*/ 1485723 h 1621888"/>
                  <a:gd name="connsiteX4" fmla="*/ 124851 w 571104"/>
                  <a:gd name="connsiteY4" fmla="*/ 1445735 h 1621888"/>
                  <a:gd name="connsiteX5" fmla="*/ 138558 w 571104"/>
                  <a:gd name="connsiteY5" fmla="*/ 1413445 h 1621888"/>
                  <a:gd name="connsiteX6" fmla="*/ 166349 w 571104"/>
                  <a:gd name="connsiteY6" fmla="*/ 1378162 h 1621888"/>
                  <a:gd name="connsiteX7" fmla="*/ 179930 w 571104"/>
                  <a:gd name="connsiteY7" fmla="*/ 1364476 h 1621888"/>
                  <a:gd name="connsiteX8" fmla="*/ 199295 w 571104"/>
                  <a:gd name="connsiteY8" fmla="*/ 1219707 h 1621888"/>
                  <a:gd name="connsiteX9" fmla="*/ 193133 w 571104"/>
                  <a:gd name="connsiteY9" fmla="*/ 1162826 h 1621888"/>
                  <a:gd name="connsiteX10" fmla="*/ 147486 w 571104"/>
                  <a:gd name="connsiteY10" fmla="*/ 1157052 h 1621888"/>
                  <a:gd name="connsiteX11" fmla="*/ 12431 w 571104"/>
                  <a:gd name="connsiteY11" fmla="*/ 1137379 h 1621888"/>
                  <a:gd name="connsiteX12" fmla="*/ 3880 w 571104"/>
                  <a:gd name="connsiteY12" fmla="*/ 1128398 h 1621888"/>
                  <a:gd name="connsiteX13" fmla="*/ -18 w 571104"/>
                  <a:gd name="connsiteY13" fmla="*/ 1121341 h 1621888"/>
                  <a:gd name="connsiteX14" fmla="*/ 1114 w 571104"/>
                  <a:gd name="connsiteY14" fmla="*/ 872219 h 1621888"/>
                  <a:gd name="connsiteX15" fmla="*/ -2282 w 571104"/>
                  <a:gd name="connsiteY15" fmla="*/ 106675 h 1621888"/>
                  <a:gd name="connsiteX16" fmla="*/ 3754 w 571104"/>
                  <a:gd name="connsiteY16" fmla="*/ 45090 h 1621888"/>
                  <a:gd name="connsiteX17" fmla="*/ 70779 w 571104"/>
                  <a:gd name="connsiteY17" fmla="*/ 16008 h 1621888"/>
                  <a:gd name="connsiteX18" fmla="*/ 352584 w 571104"/>
                  <a:gd name="connsiteY18" fmla="*/ -2596 h 1621888"/>
                  <a:gd name="connsiteX19" fmla="*/ 482609 w 571104"/>
                  <a:gd name="connsiteY19" fmla="*/ 14725 h 1621888"/>
                  <a:gd name="connsiteX20" fmla="*/ 541712 w 571104"/>
                  <a:gd name="connsiteY20" fmla="*/ 33115 h 1621888"/>
                  <a:gd name="connsiteX21" fmla="*/ 558688 w 571104"/>
                  <a:gd name="connsiteY21" fmla="*/ 60059 h 1621888"/>
                  <a:gd name="connsiteX22" fmla="*/ 564975 w 571104"/>
                  <a:gd name="connsiteY22" fmla="*/ 560014 h 1621888"/>
                  <a:gd name="connsiteX23" fmla="*/ 567993 w 571104"/>
                  <a:gd name="connsiteY23" fmla="*/ 981277 h 1621888"/>
                  <a:gd name="connsiteX24" fmla="*/ 567616 w 571104"/>
                  <a:gd name="connsiteY24" fmla="*/ 1115995 h 1621888"/>
                  <a:gd name="connsiteX25" fmla="*/ 533286 w 571104"/>
                  <a:gd name="connsiteY25" fmla="*/ 1135027 h 1621888"/>
                  <a:gd name="connsiteX26" fmla="*/ 409046 w 571104"/>
                  <a:gd name="connsiteY26" fmla="*/ 1151920 h 1621888"/>
                  <a:gd name="connsiteX27" fmla="*/ 385279 w 571104"/>
                  <a:gd name="connsiteY27" fmla="*/ 1153417 h 1621888"/>
                  <a:gd name="connsiteX28" fmla="*/ 382261 w 571104"/>
                  <a:gd name="connsiteY28" fmla="*/ 1169455 h 1621888"/>
                  <a:gd name="connsiteX29" fmla="*/ 378991 w 571104"/>
                  <a:gd name="connsiteY29" fmla="*/ 1307809 h 1621888"/>
                  <a:gd name="connsiteX30" fmla="*/ 408668 w 571104"/>
                  <a:gd name="connsiteY30" fmla="*/ 1378376 h 1621888"/>
                  <a:gd name="connsiteX31" fmla="*/ 430675 w 571104"/>
                  <a:gd name="connsiteY31" fmla="*/ 1405747 h 1621888"/>
                  <a:gd name="connsiteX32" fmla="*/ 448154 w 571104"/>
                  <a:gd name="connsiteY32" fmla="*/ 1476314 h 1621888"/>
                  <a:gd name="connsiteX33" fmla="*/ 434824 w 571104"/>
                  <a:gd name="connsiteY33" fmla="*/ 1551585 h 1621888"/>
                  <a:gd name="connsiteX34" fmla="*/ 371321 w 571104"/>
                  <a:gd name="connsiteY34" fmla="*/ 1600341 h 1621888"/>
                  <a:gd name="connsiteX35" fmla="*/ 238655 w 571104"/>
                  <a:gd name="connsiteY35" fmla="*/ 1615309 h 162188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</a:cxnLst>
                <a:rect l="l" t="t" r="r" b="b"/>
                <a:pathLst>
                  <a:path w="571104" h="1621888">
                    <a:moveTo>
                      <a:pt x="238655" y="1615309"/>
                    </a:moveTo>
                    <a:cubicBezTo>
                      <a:pt x="204577" y="1609322"/>
                      <a:pt x="179175" y="1597561"/>
                      <a:pt x="157546" y="1577674"/>
                    </a:cubicBezTo>
                    <a:cubicBezTo>
                      <a:pt x="141450" y="1563133"/>
                      <a:pt x="132774" y="1549233"/>
                      <a:pt x="126486" y="1528063"/>
                    </a:cubicBezTo>
                    <a:cubicBezTo>
                      <a:pt x="121456" y="1510956"/>
                      <a:pt x="121456" y="1510742"/>
                      <a:pt x="121456" y="1485723"/>
                    </a:cubicBezTo>
                    <a:cubicBezTo>
                      <a:pt x="121456" y="1463270"/>
                      <a:pt x="121708" y="1458993"/>
                      <a:pt x="124851" y="1445735"/>
                    </a:cubicBezTo>
                    <a:cubicBezTo>
                      <a:pt x="127744" y="1433118"/>
                      <a:pt x="130007" y="1427773"/>
                      <a:pt x="138558" y="1413445"/>
                    </a:cubicBezTo>
                    <a:cubicBezTo>
                      <a:pt x="151133" y="1392275"/>
                      <a:pt x="152265" y="1390778"/>
                      <a:pt x="166349" y="1378162"/>
                    </a:cubicBezTo>
                    <a:cubicBezTo>
                      <a:pt x="172636" y="1372388"/>
                      <a:pt x="178672" y="1366401"/>
                      <a:pt x="179930" y="1364476"/>
                    </a:cubicBezTo>
                    <a:cubicBezTo>
                      <a:pt x="193133" y="1344803"/>
                      <a:pt x="200804" y="1287066"/>
                      <a:pt x="199295" y="1219707"/>
                    </a:cubicBezTo>
                    <a:cubicBezTo>
                      <a:pt x="198541" y="1188487"/>
                      <a:pt x="196529" y="1170097"/>
                      <a:pt x="193133" y="1162826"/>
                    </a:cubicBezTo>
                    <a:cubicBezTo>
                      <a:pt x="191750" y="1159832"/>
                      <a:pt x="185211" y="1158977"/>
                      <a:pt x="147486" y="1157052"/>
                    </a:cubicBezTo>
                    <a:cubicBezTo>
                      <a:pt x="88384" y="1153845"/>
                      <a:pt x="29533" y="1145291"/>
                      <a:pt x="12431" y="1137379"/>
                    </a:cubicBezTo>
                    <a:cubicBezTo>
                      <a:pt x="9916" y="1136310"/>
                      <a:pt x="6018" y="1132247"/>
                      <a:pt x="3880" y="1128398"/>
                    </a:cubicBezTo>
                    <a:lnTo>
                      <a:pt x="-18" y="1121341"/>
                    </a:lnTo>
                    <a:lnTo>
                      <a:pt x="1114" y="872219"/>
                    </a:lnTo>
                    <a:cubicBezTo>
                      <a:pt x="2120" y="635285"/>
                      <a:pt x="359" y="236048"/>
                      <a:pt x="-2282" y="106675"/>
                    </a:cubicBezTo>
                    <a:cubicBezTo>
                      <a:pt x="-3162" y="63908"/>
                      <a:pt x="-2407" y="56423"/>
                      <a:pt x="3754" y="45090"/>
                    </a:cubicBezTo>
                    <a:cubicBezTo>
                      <a:pt x="12305" y="29693"/>
                      <a:pt x="24126" y="24561"/>
                      <a:pt x="70779" y="16008"/>
                    </a:cubicBezTo>
                    <a:cubicBezTo>
                      <a:pt x="154780" y="398"/>
                      <a:pt x="268583" y="-7087"/>
                      <a:pt x="352584" y="-2596"/>
                    </a:cubicBezTo>
                    <a:cubicBezTo>
                      <a:pt x="408920" y="398"/>
                      <a:pt x="432309" y="3605"/>
                      <a:pt x="482609" y="14725"/>
                    </a:cubicBezTo>
                    <a:cubicBezTo>
                      <a:pt x="524861" y="23920"/>
                      <a:pt x="527125" y="24775"/>
                      <a:pt x="541712" y="33115"/>
                    </a:cubicBezTo>
                    <a:cubicBezTo>
                      <a:pt x="553029" y="39744"/>
                      <a:pt x="557556" y="47014"/>
                      <a:pt x="558688" y="60059"/>
                    </a:cubicBezTo>
                    <a:cubicBezTo>
                      <a:pt x="560574" y="83795"/>
                      <a:pt x="563215" y="294426"/>
                      <a:pt x="564975" y="560014"/>
                    </a:cubicBezTo>
                    <a:cubicBezTo>
                      <a:pt x="565981" y="720607"/>
                      <a:pt x="567365" y="910068"/>
                      <a:pt x="567993" y="981277"/>
                    </a:cubicBezTo>
                    <a:cubicBezTo>
                      <a:pt x="568748" y="1076221"/>
                      <a:pt x="568748" y="1112146"/>
                      <a:pt x="567616" y="1115995"/>
                    </a:cubicBezTo>
                    <a:cubicBezTo>
                      <a:pt x="565856" y="1122624"/>
                      <a:pt x="554161" y="1129040"/>
                      <a:pt x="533286" y="1135027"/>
                    </a:cubicBezTo>
                    <a:cubicBezTo>
                      <a:pt x="516687" y="1139945"/>
                      <a:pt x="445765" y="1149568"/>
                      <a:pt x="409046" y="1151920"/>
                    </a:cubicBezTo>
                    <a:lnTo>
                      <a:pt x="385279" y="1153417"/>
                    </a:lnTo>
                    <a:lnTo>
                      <a:pt x="382261" y="1169455"/>
                    </a:lnTo>
                    <a:cubicBezTo>
                      <a:pt x="376854" y="1199179"/>
                      <a:pt x="375093" y="1270173"/>
                      <a:pt x="378991" y="1307809"/>
                    </a:cubicBezTo>
                    <a:cubicBezTo>
                      <a:pt x="383015" y="1348011"/>
                      <a:pt x="388297" y="1360413"/>
                      <a:pt x="408668" y="1378376"/>
                    </a:cubicBezTo>
                    <a:cubicBezTo>
                      <a:pt x="420237" y="1388640"/>
                      <a:pt x="423884" y="1393131"/>
                      <a:pt x="430675" y="1405747"/>
                    </a:cubicBezTo>
                    <a:cubicBezTo>
                      <a:pt x="442998" y="1428414"/>
                      <a:pt x="446519" y="1442955"/>
                      <a:pt x="448154" y="1476314"/>
                    </a:cubicBezTo>
                    <a:cubicBezTo>
                      <a:pt x="449537" y="1506251"/>
                      <a:pt x="444633" y="1533623"/>
                      <a:pt x="434824" y="1551585"/>
                    </a:cubicBezTo>
                    <a:cubicBezTo>
                      <a:pt x="426776" y="1566126"/>
                      <a:pt x="397980" y="1588152"/>
                      <a:pt x="371321" y="1600341"/>
                    </a:cubicBezTo>
                    <a:cubicBezTo>
                      <a:pt x="337997" y="1615523"/>
                      <a:pt x="277763" y="1622152"/>
                      <a:pt x="238655" y="1615309"/>
                    </a:cubicBezTo>
                    <a:close/>
                  </a:path>
                </a:pathLst>
              </a:custGeom>
              <a:grpFill/>
              <a:ln w="5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de-DE" sz="1800" b="0" i="0" u="none" strike="noStrike" kern="0" cap="none" spc="0" normalizeH="0" baseline="0" noProof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48" name="Freihandform: Form 247">
                <a:extLst>
                  <a:ext uri="{FF2B5EF4-FFF2-40B4-BE49-F238E27FC236}">
                    <a16:creationId xmlns:a16="http://schemas.microsoft.com/office/drawing/2014/main" id="{0E57900D-B278-2992-C6D2-2D2DF07C4070}"/>
                  </a:ext>
                </a:extLst>
              </p:cNvPr>
              <p:cNvSpPr/>
              <p:nvPr/>
            </p:nvSpPr>
            <p:spPr>
              <a:xfrm flipV="1">
                <a:off x="8564283" y="3180169"/>
                <a:ext cx="571104" cy="1807395"/>
              </a:xfrm>
              <a:custGeom>
                <a:avLst/>
                <a:gdLst>
                  <a:gd name="connsiteX0" fmla="*/ 238655 w 571104"/>
                  <a:gd name="connsiteY0" fmla="*/ 1615309 h 1621888"/>
                  <a:gd name="connsiteX1" fmla="*/ 157546 w 571104"/>
                  <a:gd name="connsiteY1" fmla="*/ 1577674 h 1621888"/>
                  <a:gd name="connsiteX2" fmla="*/ 126486 w 571104"/>
                  <a:gd name="connsiteY2" fmla="*/ 1528063 h 1621888"/>
                  <a:gd name="connsiteX3" fmla="*/ 121456 w 571104"/>
                  <a:gd name="connsiteY3" fmla="*/ 1485723 h 1621888"/>
                  <a:gd name="connsiteX4" fmla="*/ 124851 w 571104"/>
                  <a:gd name="connsiteY4" fmla="*/ 1445735 h 1621888"/>
                  <a:gd name="connsiteX5" fmla="*/ 138558 w 571104"/>
                  <a:gd name="connsiteY5" fmla="*/ 1413445 h 1621888"/>
                  <a:gd name="connsiteX6" fmla="*/ 166349 w 571104"/>
                  <a:gd name="connsiteY6" fmla="*/ 1378162 h 1621888"/>
                  <a:gd name="connsiteX7" fmla="*/ 179930 w 571104"/>
                  <a:gd name="connsiteY7" fmla="*/ 1364476 h 1621888"/>
                  <a:gd name="connsiteX8" fmla="*/ 199295 w 571104"/>
                  <a:gd name="connsiteY8" fmla="*/ 1219707 h 1621888"/>
                  <a:gd name="connsiteX9" fmla="*/ 193133 w 571104"/>
                  <a:gd name="connsiteY9" fmla="*/ 1162826 h 1621888"/>
                  <a:gd name="connsiteX10" fmla="*/ 147486 w 571104"/>
                  <a:gd name="connsiteY10" fmla="*/ 1157052 h 1621888"/>
                  <a:gd name="connsiteX11" fmla="*/ 12431 w 571104"/>
                  <a:gd name="connsiteY11" fmla="*/ 1137379 h 1621888"/>
                  <a:gd name="connsiteX12" fmla="*/ 3880 w 571104"/>
                  <a:gd name="connsiteY12" fmla="*/ 1128398 h 1621888"/>
                  <a:gd name="connsiteX13" fmla="*/ -18 w 571104"/>
                  <a:gd name="connsiteY13" fmla="*/ 1121341 h 1621888"/>
                  <a:gd name="connsiteX14" fmla="*/ 1114 w 571104"/>
                  <a:gd name="connsiteY14" fmla="*/ 872219 h 1621888"/>
                  <a:gd name="connsiteX15" fmla="*/ -2282 w 571104"/>
                  <a:gd name="connsiteY15" fmla="*/ 106675 h 1621888"/>
                  <a:gd name="connsiteX16" fmla="*/ 3754 w 571104"/>
                  <a:gd name="connsiteY16" fmla="*/ 45090 h 1621888"/>
                  <a:gd name="connsiteX17" fmla="*/ 70779 w 571104"/>
                  <a:gd name="connsiteY17" fmla="*/ 16008 h 1621888"/>
                  <a:gd name="connsiteX18" fmla="*/ 352584 w 571104"/>
                  <a:gd name="connsiteY18" fmla="*/ -2596 h 1621888"/>
                  <a:gd name="connsiteX19" fmla="*/ 482609 w 571104"/>
                  <a:gd name="connsiteY19" fmla="*/ 14725 h 1621888"/>
                  <a:gd name="connsiteX20" fmla="*/ 541712 w 571104"/>
                  <a:gd name="connsiteY20" fmla="*/ 33115 h 1621888"/>
                  <a:gd name="connsiteX21" fmla="*/ 558688 w 571104"/>
                  <a:gd name="connsiteY21" fmla="*/ 60059 h 1621888"/>
                  <a:gd name="connsiteX22" fmla="*/ 564975 w 571104"/>
                  <a:gd name="connsiteY22" fmla="*/ 560014 h 1621888"/>
                  <a:gd name="connsiteX23" fmla="*/ 567993 w 571104"/>
                  <a:gd name="connsiteY23" fmla="*/ 981277 h 1621888"/>
                  <a:gd name="connsiteX24" fmla="*/ 567616 w 571104"/>
                  <a:gd name="connsiteY24" fmla="*/ 1115995 h 1621888"/>
                  <a:gd name="connsiteX25" fmla="*/ 533286 w 571104"/>
                  <a:gd name="connsiteY25" fmla="*/ 1135027 h 1621888"/>
                  <a:gd name="connsiteX26" fmla="*/ 409046 w 571104"/>
                  <a:gd name="connsiteY26" fmla="*/ 1151920 h 1621888"/>
                  <a:gd name="connsiteX27" fmla="*/ 385279 w 571104"/>
                  <a:gd name="connsiteY27" fmla="*/ 1153417 h 1621888"/>
                  <a:gd name="connsiteX28" fmla="*/ 382261 w 571104"/>
                  <a:gd name="connsiteY28" fmla="*/ 1169455 h 1621888"/>
                  <a:gd name="connsiteX29" fmla="*/ 378991 w 571104"/>
                  <a:gd name="connsiteY29" fmla="*/ 1307809 h 1621888"/>
                  <a:gd name="connsiteX30" fmla="*/ 408668 w 571104"/>
                  <a:gd name="connsiteY30" fmla="*/ 1378376 h 1621888"/>
                  <a:gd name="connsiteX31" fmla="*/ 430675 w 571104"/>
                  <a:gd name="connsiteY31" fmla="*/ 1405747 h 1621888"/>
                  <a:gd name="connsiteX32" fmla="*/ 448154 w 571104"/>
                  <a:gd name="connsiteY32" fmla="*/ 1476314 h 1621888"/>
                  <a:gd name="connsiteX33" fmla="*/ 434824 w 571104"/>
                  <a:gd name="connsiteY33" fmla="*/ 1551585 h 1621888"/>
                  <a:gd name="connsiteX34" fmla="*/ 371321 w 571104"/>
                  <a:gd name="connsiteY34" fmla="*/ 1600341 h 1621888"/>
                  <a:gd name="connsiteX35" fmla="*/ 238655 w 571104"/>
                  <a:gd name="connsiteY35" fmla="*/ 1615309 h 162188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</a:cxnLst>
                <a:rect l="l" t="t" r="r" b="b"/>
                <a:pathLst>
                  <a:path w="571104" h="1621888">
                    <a:moveTo>
                      <a:pt x="238655" y="1615309"/>
                    </a:moveTo>
                    <a:cubicBezTo>
                      <a:pt x="204577" y="1609322"/>
                      <a:pt x="179175" y="1597561"/>
                      <a:pt x="157546" y="1577674"/>
                    </a:cubicBezTo>
                    <a:cubicBezTo>
                      <a:pt x="141450" y="1563133"/>
                      <a:pt x="132774" y="1549233"/>
                      <a:pt x="126486" y="1528063"/>
                    </a:cubicBezTo>
                    <a:cubicBezTo>
                      <a:pt x="121456" y="1510956"/>
                      <a:pt x="121456" y="1510742"/>
                      <a:pt x="121456" y="1485723"/>
                    </a:cubicBezTo>
                    <a:cubicBezTo>
                      <a:pt x="121456" y="1463270"/>
                      <a:pt x="121708" y="1458993"/>
                      <a:pt x="124851" y="1445735"/>
                    </a:cubicBezTo>
                    <a:cubicBezTo>
                      <a:pt x="127744" y="1433118"/>
                      <a:pt x="130007" y="1427773"/>
                      <a:pt x="138558" y="1413445"/>
                    </a:cubicBezTo>
                    <a:cubicBezTo>
                      <a:pt x="151133" y="1392275"/>
                      <a:pt x="152265" y="1390778"/>
                      <a:pt x="166349" y="1378162"/>
                    </a:cubicBezTo>
                    <a:cubicBezTo>
                      <a:pt x="172636" y="1372388"/>
                      <a:pt x="178672" y="1366401"/>
                      <a:pt x="179930" y="1364476"/>
                    </a:cubicBezTo>
                    <a:cubicBezTo>
                      <a:pt x="193133" y="1344803"/>
                      <a:pt x="200804" y="1287066"/>
                      <a:pt x="199295" y="1219707"/>
                    </a:cubicBezTo>
                    <a:cubicBezTo>
                      <a:pt x="198541" y="1188487"/>
                      <a:pt x="196529" y="1170097"/>
                      <a:pt x="193133" y="1162826"/>
                    </a:cubicBezTo>
                    <a:cubicBezTo>
                      <a:pt x="191750" y="1159832"/>
                      <a:pt x="185211" y="1158977"/>
                      <a:pt x="147486" y="1157052"/>
                    </a:cubicBezTo>
                    <a:cubicBezTo>
                      <a:pt x="88384" y="1153845"/>
                      <a:pt x="29533" y="1145291"/>
                      <a:pt x="12431" y="1137379"/>
                    </a:cubicBezTo>
                    <a:cubicBezTo>
                      <a:pt x="9916" y="1136310"/>
                      <a:pt x="6018" y="1132247"/>
                      <a:pt x="3880" y="1128398"/>
                    </a:cubicBezTo>
                    <a:lnTo>
                      <a:pt x="-18" y="1121341"/>
                    </a:lnTo>
                    <a:lnTo>
                      <a:pt x="1114" y="872219"/>
                    </a:lnTo>
                    <a:cubicBezTo>
                      <a:pt x="2120" y="635285"/>
                      <a:pt x="359" y="236048"/>
                      <a:pt x="-2282" y="106675"/>
                    </a:cubicBezTo>
                    <a:cubicBezTo>
                      <a:pt x="-3162" y="63908"/>
                      <a:pt x="-2407" y="56423"/>
                      <a:pt x="3754" y="45090"/>
                    </a:cubicBezTo>
                    <a:cubicBezTo>
                      <a:pt x="12305" y="29693"/>
                      <a:pt x="24126" y="24561"/>
                      <a:pt x="70779" y="16008"/>
                    </a:cubicBezTo>
                    <a:cubicBezTo>
                      <a:pt x="154780" y="398"/>
                      <a:pt x="268583" y="-7087"/>
                      <a:pt x="352584" y="-2596"/>
                    </a:cubicBezTo>
                    <a:cubicBezTo>
                      <a:pt x="408920" y="398"/>
                      <a:pt x="432309" y="3605"/>
                      <a:pt x="482609" y="14725"/>
                    </a:cubicBezTo>
                    <a:cubicBezTo>
                      <a:pt x="524861" y="23920"/>
                      <a:pt x="527125" y="24775"/>
                      <a:pt x="541712" y="33115"/>
                    </a:cubicBezTo>
                    <a:cubicBezTo>
                      <a:pt x="553029" y="39744"/>
                      <a:pt x="557556" y="47014"/>
                      <a:pt x="558688" y="60059"/>
                    </a:cubicBezTo>
                    <a:cubicBezTo>
                      <a:pt x="560574" y="83795"/>
                      <a:pt x="563215" y="294426"/>
                      <a:pt x="564975" y="560014"/>
                    </a:cubicBezTo>
                    <a:cubicBezTo>
                      <a:pt x="565981" y="720607"/>
                      <a:pt x="567365" y="910068"/>
                      <a:pt x="567993" y="981277"/>
                    </a:cubicBezTo>
                    <a:cubicBezTo>
                      <a:pt x="568748" y="1076221"/>
                      <a:pt x="568748" y="1112146"/>
                      <a:pt x="567616" y="1115995"/>
                    </a:cubicBezTo>
                    <a:cubicBezTo>
                      <a:pt x="565856" y="1122624"/>
                      <a:pt x="554161" y="1129040"/>
                      <a:pt x="533286" y="1135027"/>
                    </a:cubicBezTo>
                    <a:cubicBezTo>
                      <a:pt x="516687" y="1139945"/>
                      <a:pt x="445765" y="1149568"/>
                      <a:pt x="409046" y="1151920"/>
                    </a:cubicBezTo>
                    <a:lnTo>
                      <a:pt x="385279" y="1153417"/>
                    </a:lnTo>
                    <a:lnTo>
                      <a:pt x="382261" y="1169455"/>
                    </a:lnTo>
                    <a:cubicBezTo>
                      <a:pt x="376854" y="1199179"/>
                      <a:pt x="375093" y="1270173"/>
                      <a:pt x="378991" y="1307809"/>
                    </a:cubicBezTo>
                    <a:cubicBezTo>
                      <a:pt x="383015" y="1348011"/>
                      <a:pt x="388297" y="1360413"/>
                      <a:pt x="408668" y="1378376"/>
                    </a:cubicBezTo>
                    <a:cubicBezTo>
                      <a:pt x="420237" y="1388640"/>
                      <a:pt x="423884" y="1393131"/>
                      <a:pt x="430675" y="1405747"/>
                    </a:cubicBezTo>
                    <a:cubicBezTo>
                      <a:pt x="442998" y="1428414"/>
                      <a:pt x="446519" y="1442955"/>
                      <a:pt x="448154" y="1476314"/>
                    </a:cubicBezTo>
                    <a:cubicBezTo>
                      <a:pt x="449537" y="1506251"/>
                      <a:pt x="444633" y="1533623"/>
                      <a:pt x="434824" y="1551585"/>
                    </a:cubicBezTo>
                    <a:cubicBezTo>
                      <a:pt x="426776" y="1566126"/>
                      <a:pt x="397980" y="1588152"/>
                      <a:pt x="371321" y="1600341"/>
                    </a:cubicBezTo>
                    <a:cubicBezTo>
                      <a:pt x="337997" y="1615523"/>
                      <a:pt x="277763" y="1622152"/>
                      <a:pt x="238655" y="1615309"/>
                    </a:cubicBezTo>
                    <a:close/>
                  </a:path>
                </a:pathLst>
              </a:custGeom>
              <a:grpFill/>
              <a:ln w="5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de-DE" sz="1800" b="0" i="0" u="none" strike="noStrike" kern="0" cap="none" spc="0" normalizeH="0" baseline="0" noProof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  <p:grpSp>
          <p:nvGrpSpPr>
            <p:cNvPr id="211" name="Gruppieren 210">
              <a:extLst>
                <a:ext uri="{FF2B5EF4-FFF2-40B4-BE49-F238E27FC236}">
                  <a16:creationId xmlns:a16="http://schemas.microsoft.com/office/drawing/2014/main" id="{1862B475-4017-5F7D-4F7F-6AC6228F2467}"/>
                </a:ext>
              </a:extLst>
            </p:cNvPr>
            <p:cNvGrpSpPr/>
            <p:nvPr/>
          </p:nvGrpSpPr>
          <p:grpSpPr>
            <a:xfrm>
              <a:off x="1608592" y="5036077"/>
              <a:ext cx="6514770" cy="99255"/>
              <a:chOff x="1463995" y="4518563"/>
              <a:chExt cx="7671392" cy="469002"/>
            </a:xfrm>
            <a:solidFill>
              <a:srgbClr val="BCCF00"/>
            </a:solidFill>
          </p:grpSpPr>
          <p:sp>
            <p:nvSpPr>
              <p:cNvPr id="225" name="Freihandform: Form 224">
                <a:extLst>
                  <a:ext uri="{FF2B5EF4-FFF2-40B4-BE49-F238E27FC236}">
                    <a16:creationId xmlns:a16="http://schemas.microsoft.com/office/drawing/2014/main" id="{2C917411-5263-89BB-68F3-702CE2CB9CD8}"/>
                  </a:ext>
                </a:extLst>
              </p:cNvPr>
              <p:cNvSpPr/>
              <p:nvPr/>
            </p:nvSpPr>
            <p:spPr>
              <a:xfrm flipV="1">
                <a:off x="1463995" y="4566694"/>
                <a:ext cx="571104" cy="420866"/>
              </a:xfrm>
              <a:custGeom>
                <a:avLst/>
                <a:gdLst>
                  <a:gd name="connsiteX0" fmla="*/ 238655 w 571104"/>
                  <a:gd name="connsiteY0" fmla="*/ 1615309 h 1621888"/>
                  <a:gd name="connsiteX1" fmla="*/ 157546 w 571104"/>
                  <a:gd name="connsiteY1" fmla="*/ 1577674 h 1621888"/>
                  <a:gd name="connsiteX2" fmla="*/ 126486 w 571104"/>
                  <a:gd name="connsiteY2" fmla="*/ 1528063 h 1621888"/>
                  <a:gd name="connsiteX3" fmla="*/ 121456 w 571104"/>
                  <a:gd name="connsiteY3" fmla="*/ 1485723 h 1621888"/>
                  <a:gd name="connsiteX4" fmla="*/ 124851 w 571104"/>
                  <a:gd name="connsiteY4" fmla="*/ 1445735 h 1621888"/>
                  <a:gd name="connsiteX5" fmla="*/ 138558 w 571104"/>
                  <a:gd name="connsiteY5" fmla="*/ 1413445 h 1621888"/>
                  <a:gd name="connsiteX6" fmla="*/ 166349 w 571104"/>
                  <a:gd name="connsiteY6" fmla="*/ 1378162 h 1621888"/>
                  <a:gd name="connsiteX7" fmla="*/ 179930 w 571104"/>
                  <a:gd name="connsiteY7" fmla="*/ 1364476 h 1621888"/>
                  <a:gd name="connsiteX8" fmla="*/ 199295 w 571104"/>
                  <a:gd name="connsiteY8" fmla="*/ 1219707 h 1621888"/>
                  <a:gd name="connsiteX9" fmla="*/ 193133 w 571104"/>
                  <a:gd name="connsiteY9" fmla="*/ 1162826 h 1621888"/>
                  <a:gd name="connsiteX10" fmla="*/ 147486 w 571104"/>
                  <a:gd name="connsiteY10" fmla="*/ 1157052 h 1621888"/>
                  <a:gd name="connsiteX11" fmla="*/ 12431 w 571104"/>
                  <a:gd name="connsiteY11" fmla="*/ 1137379 h 1621888"/>
                  <a:gd name="connsiteX12" fmla="*/ 3880 w 571104"/>
                  <a:gd name="connsiteY12" fmla="*/ 1128398 h 1621888"/>
                  <a:gd name="connsiteX13" fmla="*/ -18 w 571104"/>
                  <a:gd name="connsiteY13" fmla="*/ 1121341 h 1621888"/>
                  <a:gd name="connsiteX14" fmla="*/ 1114 w 571104"/>
                  <a:gd name="connsiteY14" fmla="*/ 872219 h 1621888"/>
                  <a:gd name="connsiteX15" fmla="*/ -2282 w 571104"/>
                  <a:gd name="connsiteY15" fmla="*/ 106675 h 1621888"/>
                  <a:gd name="connsiteX16" fmla="*/ 3754 w 571104"/>
                  <a:gd name="connsiteY16" fmla="*/ 45090 h 1621888"/>
                  <a:gd name="connsiteX17" fmla="*/ 70779 w 571104"/>
                  <a:gd name="connsiteY17" fmla="*/ 16008 h 1621888"/>
                  <a:gd name="connsiteX18" fmla="*/ 352584 w 571104"/>
                  <a:gd name="connsiteY18" fmla="*/ -2596 h 1621888"/>
                  <a:gd name="connsiteX19" fmla="*/ 482609 w 571104"/>
                  <a:gd name="connsiteY19" fmla="*/ 14725 h 1621888"/>
                  <a:gd name="connsiteX20" fmla="*/ 541712 w 571104"/>
                  <a:gd name="connsiteY20" fmla="*/ 33115 h 1621888"/>
                  <a:gd name="connsiteX21" fmla="*/ 558688 w 571104"/>
                  <a:gd name="connsiteY21" fmla="*/ 60059 h 1621888"/>
                  <a:gd name="connsiteX22" fmla="*/ 564975 w 571104"/>
                  <a:gd name="connsiteY22" fmla="*/ 560014 h 1621888"/>
                  <a:gd name="connsiteX23" fmla="*/ 567993 w 571104"/>
                  <a:gd name="connsiteY23" fmla="*/ 981277 h 1621888"/>
                  <a:gd name="connsiteX24" fmla="*/ 567616 w 571104"/>
                  <a:gd name="connsiteY24" fmla="*/ 1115995 h 1621888"/>
                  <a:gd name="connsiteX25" fmla="*/ 533286 w 571104"/>
                  <a:gd name="connsiteY25" fmla="*/ 1135027 h 1621888"/>
                  <a:gd name="connsiteX26" fmla="*/ 409046 w 571104"/>
                  <a:gd name="connsiteY26" fmla="*/ 1151920 h 1621888"/>
                  <a:gd name="connsiteX27" fmla="*/ 385279 w 571104"/>
                  <a:gd name="connsiteY27" fmla="*/ 1153417 h 1621888"/>
                  <a:gd name="connsiteX28" fmla="*/ 382261 w 571104"/>
                  <a:gd name="connsiteY28" fmla="*/ 1169455 h 1621888"/>
                  <a:gd name="connsiteX29" fmla="*/ 378991 w 571104"/>
                  <a:gd name="connsiteY29" fmla="*/ 1307809 h 1621888"/>
                  <a:gd name="connsiteX30" fmla="*/ 408668 w 571104"/>
                  <a:gd name="connsiteY30" fmla="*/ 1378376 h 1621888"/>
                  <a:gd name="connsiteX31" fmla="*/ 430675 w 571104"/>
                  <a:gd name="connsiteY31" fmla="*/ 1405747 h 1621888"/>
                  <a:gd name="connsiteX32" fmla="*/ 448154 w 571104"/>
                  <a:gd name="connsiteY32" fmla="*/ 1476314 h 1621888"/>
                  <a:gd name="connsiteX33" fmla="*/ 434824 w 571104"/>
                  <a:gd name="connsiteY33" fmla="*/ 1551585 h 1621888"/>
                  <a:gd name="connsiteX34" fmla="*/ 371321 w 571104"/>
                  <a:gd name="connsiteY34" fmla="*/ 1600341 h 1621888"/>
                  <a:gd name="connsiteX35" fmla="*/ 238655 w 571104"/>
                  <a:gd name="connsiteY35" fmla="*/ 1615309 h 162188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</a:cxnLst>
                <a:rect l="l" t="t" r="r" b="b"/>
                <a:pathLst>
                  <a:path w="571104" h="1621888">
                    <a:moveTo>
                      <a:pt x="238655" y="1615309"/>
                    </a:moveTo>
                    <a:cubicBezTo>
                      <a:pt x="204577" y="1609322"/>
                      <a:pt x="179175" y="1597561"/>
                      <a:pt x="157546" y="1577674"/>
                    </a:cubicBezTo>
                    <a:cubicBezTo>
                      <a:pt x="141450" y="1563133"/>
                      <a:pt x="132774" y="1549233"/>
                      <a:pt x="126486" y="1528063"/>
                    </a:cubicBezTo>
                    <a:cubicBezTo>
                      <a:pt x="121456" y="1510956"/>
                      <a:pt x="121456" y="1510742"/>
                      <a:pt x="121456" y="1485723"/>
                    </a:cubicBezTo>
                    <a:cubicBezTo>
                      <a:pt x="121456" y="1463270"/>
                      <a:pt x="121708" y="1458993"/>
                      <a:pt x="124851" y="1445735"/>
                    </a:cubicBezTo>
                    <a:cubicBezTo>
                      <a:pt x="127744" y="1433118"/>
                      <a:pt x="130007" y="1427773"/>
                      <a:pt x="138558" y="1413445"/>
                    </a:cubicBezTo>
                    <a:cubicBezTo>
                      <a:pt x="151133" y="1392275"/>
                      <a:pt x="152265" y="1390778"/>
                      <a:pt x="166349" y="1378162"/>
                    </a:cubicBezTo>
                    <a:cubicBezTo>
                      <a:pt x="172636" y="1372388"/>
                      <a:pt x="178672" y="1366401"/>
                      <a:pt x="179930" y="1364476"/>
                    </a:cubicBezTo>
                    <a:cubicBezTo>
                      <a:pt x="193133" y="1344803"/>
                      <a:pt x="200804" y="1287066"/>
                      <a:pt x="199295" y="1219707"/>
                    </a:cubicBezTo>
                    <a:cubicBezTo>
                      <a:pt x="198541" y="1188487"/>
                      <a:pt x="196529" y="1170097"/>
                      <a:pt x="193133" y="1162826"/>
                    </a:cubicBezTo>
                    <a:cubicBezTo>
                      <a:pt x="191750" y="1159832"/>
                      <a:pt x="185211" y="1158977"/>
                      <a:pt x="147486" y="1157052"/>
                    </a:cubicBezTo>
                    <a:cubicBezTo>
                      <a:pt x="88384" y="1153845"/>
                      <a:pt x="29533" y="1145291"/>
                      <a:pt x="12431" y="1137379"/>
                    </a:cubicBezTo>
                    <a:cubicBezTo>
                      <a:pt x="9916" y="1136310"/>
                      <a:pt x="6018" y="1132247"/>
                      <a:pt x="3880" y="1128398"/>
                    </a:cubicBezTo>
                    <a:lnTo>
                      <a:pt x="-18" y="1121341"/>
                    </a:lnTo>
                    <a:lnTo>
                      <a:pt x="1114" y="872219"/>
                    </a:lnTo>
                    <a:cubicBezTo>
                      <a:pt x="2120" y="635285"/>
                      <a:pt x="359" y="236048"/>
                      <a:pt x="-2282" y="106675"/>
                    </a:cubicBezTo>
                    <a:cubicBezTo>
                      <a:pt x="-3162" y="63908"/>
                      <a:pt x="-2407" y="56423"/>
                      <a:pt x="3754" y="45090"/>
                    </a:cubicBezTo>
                    <a:cubicBezTo>
                      <a:pt x="12305" y="29693"/>
                      <a:pt x="24126" y="24561"/>
                      <a:pt x="70779" y="16008"/>
                    </a:cubicBezTo>
                    <a:cubicBezTo>
                      <a:pt x="154780" y="398"/>
                      <a:pt x="268583" y="-7087"/>
                      <a:pt x="352584" y="-2596"/>
                    </a:cubicBezTo>
                    <a:cubicBezTo>
                      <a:pt x="408920" y="398"/>
                      <a:pt x="432309" y="3605"/>
                      <a:pt x="482609" y="14725"/>
                    </a:cubicBezTo>
                    <a:cubicBezTo>
                      <a:pt x="524861" y="23920"/>
                      <a:pt x="527125" y="24775"/>
                      <a:pt x="541712" y="33115"/>
                    </a:cubicBezTo>
                    <a:cubicBezTo>
                      <a:pt x="553029" y="39744"/>
                      <a:pt x="557556" y="47014"/>
                      <a:pt x="558688" y="60059"/>
                    </a:cubicBezTo>
                    <a:cubicBezTo>
                      <a:pt x="560574" y="83795"/>
                      <a:pt x="563215" y="294426"/>
                      <a:pt x="564975" y="560014"/>
                    </a:cubicBezTo>
                    <a:cubicBezTo>
                      <a:pt x="565981" y="720607"/>
                      <a:pt x="567365" y="910068"/>
                      <a:pt x="567993" y="981277"/>
                    </a:cubicBezTo>
                    <a:cubicBezTo>
                      <a:pt x="568748" y="1076221"/>
                      <a:pt x="568748" y="1112146"/>
                      <a:pt x="567616" y="1115995"/>
                    </a:cubicBezTo>
                    <a:cubicBezTo>
                      <a:pt x="565856" y="1122624"/>
                      <a:pt x="554161" y="1129040"/>
                      <a:pt x="533286" y="1135027"/>
                    </a:cubicBezTo>
                    <a:cubicBezTo>
                      <a:pt x="516687" y="1139945"/>
                      <a:pt x="445765" y="1149568"/>
                      <a:pt x="409046" y="1151920"/>
                    </a:cubicBezTo>
                    <a:lnTo>
                      <a:pt x="385279" y="1153417"/>
                    </a:lnTo>
                    <a:lnTo>
                      <a:pt x="382261" y="1169455"/>
                    </a:lnTo>
                    <a:cubicBezTo>
                      <a:pt x="376854" y="1199179"/>
                      <a:pt x="375093" y="1270173"/>
                      <a:pt x="378991" y="1307809"/>
                    </a:cubicBezTo>
                    <a:cubicBezTo>
                      <a:pt x="383015" y="1348011"/>
                      <a:pt x="388297" y="1360413"/>
                      <a:pt x="408668" y="1378376"/>
                    </a:cubicBezTo>
                    <a:cubicBezTo>
                      <a:pt x="420237" y="1388640"/>
                      <a:pt x="423884" y="1393131"/>
                      <a:pt x="430675" y="1405747"/>
                    </a:cubicBezTo>
                    <a:cubicBezTo>
                      <a:pt x="442998" y="1428414"/>
                      <a:pt x="446519" y="1442955"/>
                      <a:pt x="448154" y="1476314"/>
                    </a:cubicBezTo>
                    <a:cubicBezTo>
                      <a:pt x="449537" y="1506251"/>
                      <a:pt x="444633" y="1533623"/>
                      <a:pt x="434824" y="1551585"/>
                    </a:cubicBezTo>
                    <a:cubicBezTo>
                      <a:pt x="426776" y="1566126"/>
                      <a:pt x="397980" y="1588152"/>
                      <a:pt x="371321" y="1600341"/>
                    </a:cubicBezTo>
                    <a:cubicBezTo>
                      <a:pt x="337997" y="1615523"/>
                      <a:pt x="277763" y="1622152"/>
                      <a:pt x="238655" y="1615309"/>
                    </a:cubicBezTo>
                    <a:close/>
                  </a:path>
                </a:pathLst>
              </a:custGeom>
              <a:grpFill/>
              <a:ln w="5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de-DE" sz="1800" b="0" i="0" u="none" strike="noStrike" kern="0" cap="none" spc="0" normalizeH="0" baseline="0" noProof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26" name="Freihandform: Form 225">
                <a:extLst>
                  <a:ext uri="{FF2B5EF4-FFF2-40B4-BE49-F238E27FC236}">
                    <a16:creationId xmlns:a16="http://schemas.microsoft.com/office/drawing/2014/main" id="{5F6B398E-0163-2D89-2BD2-B062F4FE6767}"/>
                  </a:ext>
                </a:extLst>
              </p:cNvPr>
              <p:cNvSpPr/>
              <p:nvPr/>
            </p:nvSpPr>
            <p:spPr>
              <a:xfrm flipV="1">
                <a:off x="2109475" y="4600447"/>
                <a:ext cx="571104" cy="387113"/>
              </a:xfrm>
              <a:custGeom>
                <a:avLst/>
                <a:gdLst>
                  <a:gd name="connsiteX0" fmla="*/ 238655 w 571104"/>
                  <a:gd name="connsiteY0" fmla="*/ 1615309 h 1621888"/>
                  <a:gd name="connsiteX1" fmla="*/ 157546 w 571104"/>
                  <a:gd name="connsiteY1" fmla="*/ 1577674 h 1621888"/>
                  <a:gd name="connsiteX2" fmla="*/ 126486 w 571104"/>
                  <a:gd name="connsiteY2" fmla="*/ 1528063 h 1621888"/>
                  <a:gd name="connsiteX3" fmla="*/ 121456 w 571104"/>
                  <a:gd name="connsiteY3" fmla="*/ 1485723 h 1621888"/>
                  <a:gd name="connsiteX4" fmla="*/ 124851 w 571104"/>
                  <a:gd name="connsiteY4" fmla="*/ 1445735 h 1621888"/>
                  <a:gd name="connsiteX5" fmla="*/ 138558 w 571104"/>
                  <a:gd name="connsiteY5" fmla="*/ 1413445 h 1621888"/>
                  <a:gd name="connsiteX6" fmla="*/ 166349 w 571104"/>
                  <a:gd name="connsiteY6" fmla="*/ 1378162 h 1621888"/>
                  <a:gd name="connsiteX7" fmla="*/ 179930 w 571104"/>
                  <a:gd name="connsiteY7" fmla="*/ 1364476 h 1621888"/>
                  <a:gd name="connsiteX8" fmla="*/ 199295 w 571104"/>
                  <a:gd name="connsiteY8" fmla="*/ 1219707 h 1621888"/>
                  <a:gd name="connsiteX9" fmla="*/ 193133 w 571104"/>
                  <a:gd name="connsiteY9" fmla="*/ 1162826 h 1621888"/>
                  <a:gd name="connsiteX10" fmla="*/ 147486 w 571104"/>
                  <a:gd name="connsiteY10" fmla="*/ 1157052 h 1621888"/>
                  <a:gd name="connsiteX11" fmla="*/ 12431 w 571104"/>
                  <a:gd name="connsiteY11" fmla="*/ 1137379 h 1621888"/>
                  <a:gd name="connsiteX12" fmla="*/ 3880 w 571104"/>
                  <a:gd name="connsiteY12" fmla="*/ 1128398 h 1621888"/>
                  <a:gd name="connsiteX13" fmla="*/ -18 w 571104"/>
                  <a:gd name="connsiteY13" fmla="*/ 1121341 h 1621888"/>
                  <a:gd name="connsiteX14" fmla="*/ 1114 w 571104"/>
                  <a:gd name="connsiteY14" fmla="*/ 872219 h 1621888"/>
                  <a:gd name="connsiteX15" fmla="*/ -2282 w 571104"/>
                  <a:gd name="connsiteY15" fmla="*/ 106675 h 1621888"/>
                  <a:gd name="connsiteX16" fmla="*/ 3754 w 571104"/>
                  <a:gd name="connsiteY16" fmla="*/ 45090 h 1621888"/>
                  <a:gd name="connsiteX17" fmla="*/ 70779 w 571104"/>
                  <a:gd name="connsiteY17" fmla="*/ 16008 h 1621888"/>
                  <a:gd name="connsiteX18" fmla="*/ 352584 w 571104"/>
                  <a:gd name="connsiteY18" fmla="*/ -2596 h 1621888"/>
                  <a:gd name="connsiteX19" fmla="*/ 482609 w 571104"/>
                  <a:gd name="connsiteY19" fmla="*/ 14725 h 1621888"/>
                  <a:gd name="connsiteX20" fmla="*/ 541712 w 571104"/>
                  <a:gd name="connsiteY20" fmla="*/ 33115 h 1621888"/>
                  <a:gd name="connsiteX21" fmla="*/ 558688 w 571104"/>
                  <a:gd name="connsiteY21" fmla="*/ 60059 h 1621888"/>
                  <a:gd name="connsiteX22" fmla="*/ 564975 w 571104"/>
                  <a:gd name="connsiteY22" fmla="*/ 560014 h 1621888"/>
                  <a:gd name="connsiteX23" fmla="*/ 567993 w 571104"/>
                  <a:gd name="connsiteY23" fmla="*/ 981277 h 1621888"/>
                  <a:gd name="connsiteX24" fmla="*/ 567616 w 571104"/>
                  <a:gd name="connsiteY24" fmla="*/ 1115995 h 1621888"/>
                  <a:gd name="connsiteX25" fmla="*/ 533286 w 571104"/>
                  <a:gd name="connsiteY25" fmla="*/ 1135027 h 1621888"/>
                  <a:gd name="connsiteX26" fmla="*/ 409046 w 571104"/>
                  <a:gd name="connsiteY26" fmla="*/ 1151920 h 1621888"/>
                  <a:gd name="connsiteX27" fmla="*/ 385279 w 571104"/>
                  <a:gd name="connsiteY27" fmla="*/ 1153417 h 1621888"/>
                  <a:gd name="connsiteX28" fmla="*/ 382261 w 571104"/>
                  <a:gd name="connsiteY28" fmla="*/ 1169455 h 1621888"/>
                  <a:gd name="connsiteX29" fmla="*/ 378991 w 571104"/>
                  <a:gd name="connsiteY29" fmla="*/ 1307809 h 1621888"/>
                  <a:gd name="connsiteX30" fmla="*/ 408668 w 571104"/>
                  <a:gd name="connsiteY30" fmla="*/ 1378376 h 1621888"/>
                  <a:gd name="connsiteX31" fmla="*/ 430675 w 571104"/>
                  <a:gd name="connsiteY31" fmla="*/ 1405747 h 1621888"/>
                  <a:gd name="connsiteX32" fmla="*/ 448154 w 571104"/>
                  <a:gd name="connsiteY32" fmla="*/ 1476314 h 1621888"/>
                  <a:gd name="connsiteX33" fmla="*/ 434824 w 571104"/>
                  <a:gd name="connsiteY33" fmla="*/ 1551585 h 1621888"/>
                  <a:gd name="connsiteX34" fmla="*/ 371321 w 571104"/>
                  <a:gd name="connsiteY34" fmla="*/ 1600341 h 1621888"/>
                  <a:gd name="connsiteX35" fmla="*/ 238655 w 571104"/>
                  <a:gd name="connsiteY35" fmla="*/ 1615309 h 162188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</a:cxnLst>
                <a:rect l="l" t="t" r="r" b="b"/>
                <a:pathLst>
                  <a:path w="571104" h="1621888">
                    <a:moveTo>
                      <a:pt x="238655" y="1615309"/>
                    </a:moveTo>
                    <a:cubicBezTo>
                      <a:pt x="204577" y="1609322"/>
                      <a:pt x="179175" y="1597561"/>
                      <a:pt x="157546" y="1577674"/>
                    </a:cubicBezTo>
                    <a:cubicBezTo>
                      <a:pt x="141450" y="1563133"/>
                      <a:pt x="132774" y="1549233"/>
                      <a:pt x="126486" y="1528063"/>
                    </a:cubicBezTo>
                    <a:cubicBezTo>
                      <a:pt x="121456" y="1510956"/>
                      <a:pt x="121456" y="1510742"/>
                      <a:pt x="121456" y="1485723"/>
                    </a:cubicBezTo>
                    <a:cubicBezTo>
                      <a:pt x="121456" y="1463270"/>
                      <a:pt x="121708" y="1458993"/>
                      <a:pt x="124851" y="1445735"/>
                    </a:cubicBezTo>
                    <a:cubicBezTo>
                      <a:pt x="127744" y="1433118"/>
                      <a:pt x="130007" y="1427773"/>
                      <a:pt x="138558" y="1413445"/>
                    </a:cubicBezTo>
                    <a:cubicBezTo>
                      <a:pt x="151133" y="1392275"/>
                      <a:pt x="152265" y="1390778"/>
                      <a:pt x="166349" y="1378162"/>
                    </a:cubicBezTo>
                    <a:cubicBezTo>
                      <a:pt x="172636" y="1372388"/>
                      <a:pt x="178672" y="1366401"/>
                      <a:pt x="179930" y="1364476"/>
                    </a:cubicBezTo>
                    <a:cubicBezTo>
                      <a:pt x="193133" y="1344803"/>
                      <a:pt x="200804" y="1287066"/>
                      <a:pt x="199295" y="1219707"/>
                    </a:cubicBezTo>
                    <a:cubicBezTo>
                      <a:pt x="198541" y="1188487"/>
                      <a:pt x="196529" y="1170097"/>
                      <a:pt x="193133" y="1162826"/>
                    </a:cubicBezTo>
                    <a:cubicBezTo>
                      <a:pt x="191750" y="1159832"/>
                      <a:pt x="185211" y="1158977"/>
                      <a:pt x="147486" y="1157052"/>
                    </a:cubicBezTo>
                    <a:cubicBezTo>
                      <a:pt x="88384" y="1153845"/>
                      <a:pt x="29533" y="1145291"/>
                      <a:pt x="12431" y="1137379"/>
                    </a:cubicBezTo>
                    <a:cubicBezTo>
                      <a:pt x="9916" y="1136310"/>
                      <a:pt x="6018" y="1132247"/>
                      <a:pt x="3880" y="1128398"/>
                    </a:cubicBezTo>
                    <a:lnTo>
                      <a:pt x="-18" y="1121341"/>
                    </a:lnTo>
                    <a:lnTo>
                      <a:pt x="1114" y="872219"/>
                    </a:lnTo>
                    <a:cubicBezTo>
                      <a:pt x="2120" y="635285"/>
                      <a:pt x="359" y="236048"/>
                      <a:pt x="-2282" y="106675"/>
                    </a:cubicBezTo>
                    <a:cubicBezTo>
                      <a:pt x="-3162" y="63908"/>
                      <a:pt x="-2407" y="56423"/>
                      <a:pt x="3754" y="45090"/>
                    </a:cubicBezTo>
                    <a:cubicBezTo>
                      <a:pt x="12305" y="29693"/>
                      <a:pt x="24126" y="24561"/>
                      <a:pt x="70779" y="16008"/>
                    </a:cubicBezTo>
                    <a:cubicBezTo>
                      <a:pt x="154780" y="398"/>
                      <a:pt x="268583" y="-7087"/>
                      <a:pt x="352584" y="-2596"/>
                    </a:cubicBezTo>
                    <a:cubicBezTo>
                      <a:pt x="408920" y="398"/>
                      <a:pt x="432309" y="3605"/>
                      <a:pt x="482609" y="14725"/>
                    </a:cubicBezTo>
                    <a:cubicBezTo>
                      <a:pt x="524861" y="23920"/>
                      <a:pt x="527125" y="24775"/>
                      <a:pt x="541712" y="33115"/>
                    </a:cubicBezTo>
                    <a:cubicBezTo>
                      <a:pt x="553029" y="39744"/>
                      <a:pt x="557556" y="47014"/>
                      <a:pt x="558688" y="60059"/>
                    </a:cubicBezTo>
                    <a:cubicBezTo>
                      <a:pt x="560574" y="83795"/>
                      <a:pt x="563215" y="294426"/>
                      <a:pt x="564975" y="560014"/>
                    </a:cubicBezTo>
                    <a:cubicBezTo>
                      <a:pt x="565981" y="720607"/>
                      <a:pt x="567365" y="910068"/>
                      <a:pt x="567993" y="981277"/>
                    </a:cubicBezTo>
                    <a:cubicBezTo>
                      <a:pt x="568748" y="1076221"/>
                      <a:pt x="568748" y="1112146"/>
                      <a:pt x="567616" y="1115995"/>
                    </a:cubicBezTo>
                    <a:cubicBezTo>
                      <a:pt x="565856" y="1122624"/>
                      <a:pt x="554161" y="1129040"/>
                      <a:pt x="533286" y="1135027"/>
                    </a:cubicBezTo>
                    <a:cubicBezTo>
                      <a:pt x="516687" y="1139945"/>
                      <a:pt x="445765" y="1149568"/>
                      <a:pt x="409046" y="1151920"/>
                    </a:cubicBezTo>
                    <a:lnTo>
                      <a:pt x="385279" y="1153417"/>
                    </a:lnTo>
                    <a:lnTo>
                      <a:pt x="382261" y="1169455"/>
                    </a:lnTo>
                    <a:cubicBezTo>
                      <a:pt x="376854" y="1199179"/>
                      <a:pt x="375093" y="1270173"/>
                      <a:pt x="378991" y="1307809"/>
                    </a:cubicBezTo>
                    <a:cubicBezTo>
                      <a:pt x="383015" y="1348011"/>
                      <a:pt x="388297" y="1360413"/>
                      <a:pt x="408668" y="1378376"/>
                    </a:cubicBezTo>
                    <a:cubicBezTo>
                      <a:pt x="420237" y="1388640"/>
                      <a:pt x="423884" y="1393131"/>
                      <a:pt x="430675" y="1405747"/>
                    </a:cubicBezTo>
                    <a:cubicBezTo>
                      <a:pt x="442998" y="1428414"/>
                      <a:pt x="446519" y="1442955"/>
                      <a:pt x="448154" y="1476314"/>
                    </a:cubicBezTo>
                    <a:cubicBezTo>
                      <a:pt x="449537" y="1506251"/>
                      <a:pt x="444633" y="1533623"/>
                      <a:pt x="434824" y="1551585"/>
                    </a:cubicBezTo>
                    <a:cubicBezTo>
                      <a:pt x="426776" y="1566126"/>
                      <a:pt x="397980" y="1588152"/>
                      <a:pt x="371321" y="1600341"/>
                    </a:cubicBezTo>
                    <a:cubicBezTo>
                      <a:pt x="337997" y="1615523"/>
                      <a:pt x="277763" y="1622152"/>
                      <a:pt x="238655" y="1615309"/>
                    </a:cubicBezTo>
                    <a:close/>
                  </a:path>
                </a:pathLst>
              </a:custGeom>
              <a:grpFill/>
              <a:ln w="5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de-DE" sz="1800" b="0" i="0" u="none" strike="noStrike" kern="0" cap="none" spc="0" normalizeH="0" baseline="0" noProof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27" name="Freihandform: Form 226">
                <a:extLst>
                  <a:ext uri="{FF2B5EF4-FFF2-40B4-BE49-F238E27FC236}">
                    <a16:creationId xmlns:a16="http://schemas.microsoft.com/office/drawing/2014/main" id="{334FD973-E6A7-8CCA-161B-F5A934C54E56}"/>
                  </a:ext>
                </a:extLst>
              </p:cNvPr>
              <p:cNvSpPr/>
              <p:nvPr/>
            </p:nvSpPr>
            <p:spPr>
              <a:xfrm flipV="1">
                <a:off x="2754957" y="4600447"/>
                <a:ext cx="571104" cy="387113"/>
              </a:xfrm>
              <a:custGeom>
                <a:avLst/>
                <a:gdLst>
                  <a:gd name="connsiteX0" fmla="*/ 238655 w 571104"/>
                  <a:gd name="connsiteY0" fmla="*/ 1615309 h 1621888"/>
                  <a:gd name="connsiteX1" fmla="*/ 157546 w 571104"/>
                  <a:gd name="connsiteY1" fmla="*/ 1577674 h 1621888"/>
                  <a:gd name="connsiteX2" fmla="*/ 126486 w 571104"/>
                  <a:gd name="connsiteY2" fmla="*/ 1528063 h 1621888"/>
                  <a:gd name="connsiteX3" fmla="*/ 121456 w 571104"/>
                  <a:gd name="connsiteY3" fmla="*/ 1485723 h 1621888"/>
                  <a:gd name="connsiteX4" fmla="*/ 124851 w 571104"/>
                  <a:gd name="connsiteY4" fmla="*/ 1445735 h 1621888"/>
                  <a:gd name="connsiteX5" fmla="*/ 138558 w 571104"/>
                  <a:gd name="connsiteY5" fmla="*/ 1413445 h 1621888"/>
                  <a:gd name="connsiteX6" fmla="*/ 166349 w 571104"/>
                  <a:gd name="connsiteY6" fmla="*/ 1378162 h 1621888"/>
                  <a:gd name="connsiteX7" fmla="*/ 179930 w 571104"/>
                  <a:gd name="connsiteY7" fmla="*/ 1364476 h 1621888"/>
                  <a:gd name="connsiteX8" fmla="*/ 199295 w 571104"/>
                  <a:gd name="connsiteY8" fmla="*/ 1219707 h 1621888"/>
                  <a:gd name="connsiteX9" fmla="*/ 193133 w 571104"/>
                  <a:gd name="connsiteY9" fmla="*/ 1162826 h 1621888"/>
                  <a:gd name="connsiteX10" fmla="*/ 147486 w 571104"/>
                  <a:gd name="connsiteY10" fmla="*/ 1157052 h 1621888"/>
                  <a:gd name="connsiteX11" fmla="*/ 12431 w 571104"/>
                  <a:gd name="connsiteY11" fmla="*/ 1137379 h 1621888"/>
                  <a:gd name="connsiteX12" fmla="*/ 3880 w 571104"/>
                  <a:gd name="connsiteY12" fmla="*/ 1128398 h 1621888"/>
                  <a:gd name="connsiteX13" fmla="*/ -18 w 571104"/>
                  <a:gd name="connsiteY13" fmla="*/ 1121341 h 1621888"/>
                  <a:gd name="connsiteX14" fmla="*/ 1114 w 571104"/>
                  <a:gd name="connsiteY14" fmla="*/ 872219 h 1621888"/>
                  <a:gd name="connsiteX15" fmla="*/ -2282 w 571104"/>
                  <a:gd name="connsiteY15" fmla="*/ 106675 h 1621888"/>
                  <a:gd name="connsiteX16" fmla="*/ 3754 w 571104"/>
                  <a:gd name="connsiteY16" fmla="*/ 45090 h 1621888"/>
                  <a:gd name="connsiteX17" fmla="*/ 70779 w 571104"/>
                  <a:gd name="connsiteY17" fmla="*/ 16008 h 1621888"/>
                  <a:gd name="connsiteX18" fmla="*/ 352584 w 571104"/>
                  <a:gd name="connsiteY18" fmla="*/ -2596 h 1621888"/>
                  <a:gd name="connsiteX19" fmla="*/ 482609 w 571104"/>
                  <a:gd name="connsiteY19" fmla="*/ 14725 h 1621888"/>
                  <a:gd name="connsiteX20" fmla="*/ 541712 w 571104"/>
                  <a:gd name="connsiteY20" fmla="*/ 33115 h 1621888"/>
                  <a:gd name="connsiteX21" fmla="*/ 558688 w 571104"/>
                  <a:gd name="connsiteY21" fmla="*/ 60059 h 1621888"/>
                  <a:gd name="connsiteX22" fmla="*/ 564975 w 571104"/>
                  <a:gd name="connsiteY22" fmla="*/ 560014 h 1621888"/>
                  <a:gd name="connsiteX23" fmla="*/ 567993 w 571104"/>
                  <a:gd name="connsiteY23" fmla="*/ 981277 h 1621888"/>
                  <a:gd name="connsiteX24" fmla="*/ 567616 w 571104"/>
                  <a:gd name="connsiteY24" fmla="*/ 1115995 h 1621888"/>
                  <a:gd name="connsiteX25" fmla="*/ 533286 w 571104"/>
                  <a:gd name="connsiteY25" fmla="*/ 1135027 h 1621888"/>
                  <a:gd name="connsiteX26" fmla="*/ 409046 w 571104"/>
                  <a:gd name="connsiteY26" fmla="*/ 1151920 h 1621888"/>
                  <a:gd name="connsiteX27" fmla="*/ 385279 w 571104"/>
                  <a:gd name="connsiteY27" fmla="*/ 1153417 h 1621888"/>
                  <a:gd name="connsiteX28" fmla="*/ 382261 w 571104"/>
                  <a:gd name="connsiteY28" fmla="*/ 1169455 h 1621888"/>
                  <a:gd name="connsiteX29" fmla="*/ 378991 w 571104"/>
                  <a:gd name="connsiteY29" fmla="*/ 1307809 h 1621888"/>
                  <a:gd name="connsiteX30" fmla="*/ 408668 w 571104"/>
                  <a:gd name="connsiteY30" fmla="*/ 1378376 h 1621888"/>
                  <a:gd name="connsiteX31" fmla="*/ 430675 w 571104"/>
                  <a:gd name="connsiteY31" fmla="*/ 1405747 h 1621888"/>
                  <a:gd name="connsiteX32" fmla="*/ 448154 w 571104"/>
                  <a:gd name="connsiteY32" fmla="*/ 1476314 h 1621888"/>
                  <a:gd name="connsiteX33" fmla="*/ 434824 w 571104"/>
                  <a:gd name="connsiteY33" fmla="*/ 1551585 h 1621888"/>
                  <a:gd name="connsiteX34" fmla="*/ 371321 w 571104"/>
                  <a:gd name="connsiteY34" fmla="*/ 1600341 h 1621888"/>
                  <a:gd name="connsiteX35" fmla="*/ 238655 w 571104"/>
                  <a:gd name="connsiteY35" fmla="*/ 1615309 h 162188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</a:cxnLst>
                <a:rect l="l" t="t" r="r" b="b"/>
                <a:pathLst>
                  <a:path w="571104" h="1621888">
                    <a:moveTo>
                      <a:pt x="238655" y="1615309"/>
                    </a:moveTo>
                    <a:cubicBezTo>
                      <a:pt x="204577" y="1609322"/>
                      <a:pt x="179175" y="1597561"/>
                      <a:pt x="157546" y="1577674"/>
                    </a:cubicBezTo>
                    <a:cubicBezTo>
                      <a:pt x="141450" y="1563133"/>
                      <a:pt x="132774" y="1549233"/>
                      <a:pt x="126486" y="1528063"/>
                    </a:cubicBezTo>
                    <a:cubicBezTo>
                      <a:pt x="121456" y="1510956"/>
                      <a:pt x="121456" y="1510742"/>
                      <a:pt x="121456" y="1485723"/>
                    </a:cubicBezTo>
                    <a:cubicBezTo>
                      <a:pt x="121456" y="1463270"/>
                      <a:pt x="121708" y="1458993"/>
                      <a:pt x="124851" y="1445735"/>
                    </a:cubicBezTo>
                    <a:cubicBezTo>
                      <a:pt x="127744" y="1433118"/>
                      <a:pt x="130007" y="1427773"/>
                      <a:pt x="138558" y="1413445"/>
                    </a:cubicBezTo>
                    <a:cubicBezTo>
                      <a:pt x="151133" y="1392275"/>
                      <a:pt x="152265" y="1390778"/>
                      <a:pt x="166349" y="1378162"/>
                    </a:cubicBezTo>
                    <a:cubicBezTo>
                      <a:pt x="172636" y="1372388"/>
                      <a:pt x="178672" y="1366401"/>
                      <a:pt x="179930" y="1364476"/>
                    </a:cubicBezTo>
                    <a:cubicBezTo>
                      <a:pt x="193133" y="1344803"/>
                      <a:pt x="200804" y="1287066"/>
                      <a:pt x="199295" y="1219707"/>
                    </a:cubicBezTo>
                    <a:cubicBezTo>
                      <a:pt x="198541" y="1188487"/>
                      <a:pt x="196529" y="1170097"/>
                      <a:pt x="193133" y="1162826"/>
                    </a:cubicBezTo>
                    <a:cubicBezTo>
                      <a:pt x="191750" y="1159832"/>
                      <a:pt x="185211" y="1158977"/>
                      <a:pt x="147486" y="1157052"/>
                    </a:cubicBezTo>
                    <a:cubicBezTo>
                      <a:pt x="88384" y="1153845"/>
                      <a:pt x="29533" y="1145291"/>
                      <a:pt x="12431" y="1137379"/>
                    </a:cubicBezTo>
                    <a:cubicBezTo>
                      <a:pt x="9916" y="1136310"/>
                      <a:pt x="6018" y="1132247"/>
                      <a:pt x="3880" y="1128398"/>
                    </a:cubicBezTo>
                    <a:lnTo>
                      <a:pt x="-18" y="1121341"/>
                    </a:lnTo>
                    <a:lnTo>
                      <a:pt x="1114" y="872219"/>
                    </a:lnTo>
                    <a:cubicBezTo>
                      <a:pt x="2120" y="635285"/>
                      <a:pt x="359" y="236048"/>
                      <a:pt x="-2282" y="106675"/>
                    </a:cubicBezTo>
                    <a:cubicBezTo>
                      <a:pt x="-3162" y="63908"/>
                      <a:pt x="-2407" y="56423"/>
                      <a:pt x="3754" y="45090"/>
                    </a:cubicBezTo>
                    <a:cubicBezTo>
                      <a:pt x="12305" y="29693"/>
                      <a:pt x="24126" y="24561"/>
                      <a:pt x="70779" y="16008"/>
                    </a:cubicBezTo>
                    <a:cubicBezTo>
                      <a:pt x="154780" y="398"/>
                      <a:pt x="268583" y="-7087"/>
                      <a:pt x="352584" y="-2596"/>
                    </a:cubicBezTo>
                    <a:cubicBezTo>
                      <a:pt x="408920" y="398"/>
                      <a:pt x="432309" y="3605"/>
                      <a:pt x="482609" y="14725"/>
                    </a:cubicBezTo>
                    <a:cubicBezTo>
                      <a:pt x="524861" y="23920"/>
                      <a:pt x="527125" y="24775"/>
                      <a:pt x="541712" y="33115"/>
                    </a:cubicBezTo>
                    <a:cubicBezTo>
                      <a:pt x="553029" y="39744"/>
                      <a:pt x="557556" y="47014"/>
                      <a:pt x="558688" y="60059"/>
                    </a:cubicBezTo>
                    <a:cubicBezTo>
                      <a:pt x="560574" y="83795"/>
                      <a:pt x="563215" y="294426"/>
                      <a:pt x="564975" y="560014"/>
                    </a:cubicBezTo>
                    <a:cubicBezTo>
                      <a:pt x="565981" y="720607"/>
                      <a:pt x="567365" y="910068"/>
                      <a:pt x="567993" y="981277"/>
                    </a:cubicBezTo>
                    <a:cubicBezTo>
                      <a:pt x="568748" y="1076221"/>
                      <a:pt x="568748" y="1112146"/>
                      <a:pt x="567616" y="1115995"/>
                    </a:cubicBezTo>
                    <a:cubicBezTo>
                      <a:pt x="565856" y="1122624"/>
                      <a:pt x="554161" y="1129040"/>
                      <a:pt x="533286" y="1135027"/>
                    </a:cubicBezTo>
                    <a:cubicBezTo>
                      <a:pt x="516687" y="1139945"/>
                      <a:pt x="445765" y="1149568"/>
                      <a:pt x="409046" y="1151920"/>
                    </a:cubicBezTo>
                    <a:lnTo>
                      <a:pt x="385279" y="1153417"/>
                    </a:lnTo>
                    <a:lnTo>
                      <a:pt x="382261" y="1169455"/>
                    </a:lnTo>
                    <a:cubicBezTo>
                      <a:pt x="376854" y="1199179"/>
                      <a:pt x="375093" y="1270173"/>
                      <a:pt x="378991" y="1307809"/>
                    </a:cubicBezTo>
                    <a:cubicBezTo>
                      <a:pt x="383015" y="1348011"/>
                      <a:pt x="388297" y="1360413"/>
                      <a:pt x="408668" y="1378376"/>
                    </a:cubicBezTo>
                    <a:cubicBezTo>
                      <a:pt x="420237" y="1388640"/>
                      <a:pt x="423884" y="1393131"/>
                      <a:pt x="430675" y="1405747"/>
                    </a:cubicBezTo>
                    <a:cubicBezTo>
                      <a:pt x="442998" y="1428414"/>
                      <a:pt x="446519" y="1442955"/>
                      <a:pt x="448154" y="1476314"/>
                    </a:cubicBezTo>
                    <a:cubicBezTo>
                      <a:pt x="449537" y="1506251"/>
                      <a:pt x="444633" y="1533623"/>
                      <a:pt x="434824" y="1551585"/>
                    </a:cubicBezTo>
                    <a:cubicBezTo>
                      <a:pt x="426776" y="1566126"/>
                      <a:pt x="397980" y="1588152"/>
                      <a:pt x="371321" y="1600341"/>
                    </a:cubicBezTo>
                    <a:cubicBezTo>
                      <a:pt x="337997" y="1615523"/>
                      <a:pt x="277763" y="1622152"/>
                      <a:pt x="238655" y="1615309"/>
                    </a:cubicBezTo>
                    <a:close/>
                  </a:path>
                </a:pathLst>
              </a:custGeom>
              <a:grpFill/>
              <a:ln w="5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de-DE" sz="1800" b="0" i="0" u="none" strike="noStrike" kern="0" cap="none" spc="0" normalizeH="0" baseline="0" noProof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28" name="Freihandform: Form 227">
                <a:extLst>
                  <a:ext uri="{FF2B5EF4-FFF2-40B4-BE49-F238E27FC236}">
                    <a16:creationId xmlns:a16="http://schemas.microsoft.com/office/drawing/2014/main" id="{AAD749D1-4E0C-E075-E58D-AA1BBE4227E0}"/>
                  </a:ext>
                </a:extLst>
              </p:cNvPr>
              <p:cNvSpPr/>
              <p:nvPr/>
            </p:nvSpPr>
            <p:spPr>
              <a:xfrm flipV="1">
                <a:off x="3400438" y="4729162"/>
                <a:ext cx="571104" cy="258397"/>
              </a:xfrm>
              <a:custGeom>
                <a:avLst/>
                <a:gdLst>
                  <a:gd name="connsiteX0" fmla="*/ 238655 w 571104"/>
                  <a:gd name="connsiteY0" fmla="*/ 1615309 h 1621888"/>
                  <a:gd name="connsiteX1" fmla="*/ 157546 w 571104"/>
                  <a:gd name="connsiteY1" fmla="*/ 1577674 h 1621888"/>
                  <a:gd name="connsiteX2" fmla="*/ 126486 w 571104"/>
                  <a:gd name="connsiteY2" fmla="*/ 1528063 h 1621888"/>
                  <a:gd name="connsiteX3" fmla="*/ 121456 w 571104"/>
                  <a:gd name="connsiteY3" fmla="*/ 1485723 h 1621888"/>
                  <a:gd name="connsiteX4" fmla="*/ 124851 w 571104"/>
                  <a:gd name="connsiteY4" fmla="*/ 1445735 h 1621888"/>
                  <a:gd name="connsiteX5" fmla="*/ 138558 w 571104"/>
                  <a:gd name="connsiteY5" fmla="*/ 1413445 h 1621888"/>
                  <a:gd name="connsiteX6" fmla="*/ 166349 w 571104"/>
                  <a:gd name="connsiteY6" fmla="*/ 1378162 h 1621888"/>
                  <a:gd name="connsiteX7" fmla="*/ 179930 w 571104"/>
                  <a:gd name="connsiteY7" fmla="*/ 1364476 h 1621888"/>
                  <a:gd name="connsiteX8" fmla="*/ 199295 w 571104"/>
                  <a:gd name="connsiteY8" fmla="*/ 1219707 h 1621888"/>
                  <a:gd name="connsiteX9" fmla="*/ 193133 w 571104"/>
                  <a:gd name="connsiteY9" fmla="*/ 1162826 h 1621888"/>
                  <a:gd name="connsiteX10" fmla="*/ 147486 w 571104"/>
                  <a:gd name="connsiteY10" fmla="*/ 1157052 h 1621888"/>
                  <a:gd name="connsiteX11" fmla="*/ 12431 w 571104"/>
                  <a:gd name="connsiteY11" fmla="*/ 1137379 h 1621888"/>
                  <a:gd name="connsiteX12" fmla="*/ 3880 w 571104"/>
                  <a:gd name="connsiteY12" fmla="*/ 1128398 h 1621888"/>
                  <a:gd name="connsiteX13" fmla="*/ -18 w 571104"/>
                  <a:gd name="connsiteY13" fmla="*/ 1121341 h 1621888"/>
                  <a:gd name="connsiteX14" fmla="*/ 1114 w 571104"/>
                  <a:gd name="connsiteY14" fmla="*/ 872219 h 1621888"/>
                  <a:gd name="connsiteX15" fmla="*/ -2282 w 571104"/>
                  <a:gd name="connsiteY15" fmla="*/ 106675 h 1621888"/>
                  <a:gd name="connsiteX16" fmla="*/ 3754 w 571104"/>
                  <a:gd name="connsiteY16" fmla="*/ 45090 h 1621888"/>
                  <a:gd name="connsiteX17" fmla="*/ 70779 w 571104"/>
                  <a:gd name="connsiteY17" fmla="*/ 16008 h 1621888"/>
                  <a:gd name="connsiteX18" fmla="*/ 352584 w 571104"/>
                  <a:gd name="connsiteY18" fmla="*/ -2596 h 1621888"/>
                  <a:gd name="connsiteX19" fmla="*/ 482609 w 571104"/>
                  <a:gd name="connsiteY19" fmla="*/ 14725 h 1621888"/>
                  <a:gd name="connsiteX20" fmla="*/ 541712 w 571104"/>
                  <a:gd name="connsiteY20" fmla="*/ 33115 h 1621888"/>
                  <a:gd name="connsiteX21" fmla="*/ 558688 w 571104"/>
                  <a:gd name="connsiteY21" fmla="*/ 60059 h 1621888"/>
                  <a:gd name="connsiteX22" fmla="*/ 564975 w 571104"/>
                  <a:gd name="connsiteY22" fmla="*/ 560014 h 1621888"/>
                  <a:gd name="connsiteX23" fmla="*/ 567993 w 571104"/>
                  <a:gd name="connsiteY23" fmla="*/ 981277 h 1621888"/>
                  <a:gd name="connsiteX24" fmla="*/ 567616 w 571104"/>
                  <a:gd name="connsiteY24" fmla="*/ 1115995 h 1621888"/>
                  <a:gd name="connsiteX25" fmla="*/ 533286 w 571104"/>
                  <a:gd name="connsiteY25" fmla="*/ 1135027 h 1621888"/>
                  <a:gd name="connsiteX26" fmla="*/ 409046 w 571104"/>
                  <a:gd name="connsiteY26" fmla="*/ 1151920 h 1621888"/>
                  <a:gd name="connsiteX27" fmla="*/ 385279 w 571104"/>
                  <a:gd name="connsiteY27" fmla="*/ 1153417 h 1621888"/>
                  <a:gd name="connsiteX28" fmla="*/ 382261 w 571104"/>
                  <a:gd name="connsiteY28" fmla="*/ 1169455 h 1621888"/>
                  <a:gd name="connsiteX29" fmla="*/ 378991 w 571104"/>
                  <a:gd name="connsiteY29" fmla="*/ 1307809 h 1621888"/>
                  <a:gd name="connsiteX30" fmla="*/ 408668 w 571104"/>
                  <a:gd name="connsiteY30" fmla="*/ 1378376 h 1621888"/>
                  <a:gd name="connsiteX31" fmla="*/ 430675 w 571104"/>
                  <a:gd name="connsiteY31" fmla="*/ 1405747 h 1621888"/>
                  <a:gd name="connsiteX32" fmla="*/ 448154 w 571104"/>
                  <a:gd name="connsiteY32" fmla="*/ 1476314 h 1621888"/>
                  <a:gd name="connsiteX33" fmla="*/ 434824 w 571104"/>
                  <a:gd name="connsiteY33" fmla="*/ 1551585 h 1621888"/>
                  <a:gd name="connsiteX34" fmla="*/ 371321 w 571104"/>
                  <a:gd name="connsiteY34" fmla="*/ 1600341 h 1621888"/>
                  <a:gd name="connsiteX35" fmla="*/ 238655 w 571104"/>
                  <a:gd name="connsiteY35" fmla="*/ 1615309 h 162188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</a:cxnLst>
                <a:rect l="l" t="t" r="r" b="b"/>
                <a:pathLst>
                  <a:path w="571104" h="1621888">
                    <a:moveTo>
                      <a:pt x="238655" y="1615309"/>
                    </a:moveTo>
                    <a:cubicBezTo>
                      <a:pt x="204577" y="1609322"/>
                      <a:pt x="179175" y="1597561"/>
                      <a:pt x="157546" y="1577674"/>
                    </a:cubicBezTo>
                    <a:cubicBezTo>
                      <a:pt x="141450" y="1563133"/>
                      <a:pt x="132774" y="1549233"/>
                      <a:pt x="126486" y="1528063"/>
                    </a:cubicBezTo>
                    <a:cubicBezTo>
                      <a:pt x="121456" y="1510956"/>
                      <a:pt x="121456" y="1510742"/>
                      <a:pt x="121456" y="1485723"/>
                    </a:cubicBezTo>
                    <a:cubicBezTo>
                      <a:pt x="121456" y="1463270"/>
                      <a:pt x="121708" y="1458993"/>
                      <a:pt x="124851" y="1445735"/>
                    </a:cubicBezTo>
                    <a:cubicBezTo>
                      <a:pt x="127744" y="1433118"/>
                      <a:pt x="130007" y="1427773"/>
                      <a:pt x="138558" y="1413445"/>
                    </a:cubicBezTo>
                    <a:cubicBezTo>
                      <a:pt x="151133" y="1392275"/>
                      <a:pt x="152265" y="1390778"/>
                      <a:pt x="166349" y="1378162"/>
                    </a:cubicBezTo>
                    <a:cubicBezTo>
                      <a:pt x="172636" y="1372388"/>
                      <a:pt x="178672" y="1366401"/>
                      <a:pt x="179930" y="1364476"/>
                    </a:cubicBezTo>
                    <a:cubicBezTo>
                      <a:pt x="193133" y="1344803"/>
                      <a:pt x="200804" y="1287066"/>
                      <a:pt x="199295" y="1219707"/>
                    </a:cubicBezTo>
                    <a:cubicBezTo>
                      <a:pt x="198541" y="1188487"/>
                      <a:pt x="196529" y="1170097"/>
                      <a:pt x="193133" y="1162826"/>
                    </a:cubicBezTo>
                    <a:cubicBezTo>
                      <a:pt x="191750" y="1159832"/>
                      <a:pt x="185211" y="1158977"/>
                      <a:pt x="147486" y="1157052"/>
                    </a:cubicBezTo>
                    <a:cubicBezTo>
                      <a:pt x="88384" y="1153845"/>
                      <a:pt x="29533" y="1145291"/>
                      <a:pt x="12431" y="1137379"/>
                    </a:cubicBezTo>
                    <a:cubicBezTo>
                      <a:pt x="9916" y="1136310"/>
                      <a:pt x="6018" y="1132247"/>
                      <a:pt x="3880" y="1128398"/>
                    </a:cubicBezTo>
                    <a:lnTo>
                      <a:pt x="-18" y="1121341"/>
                    </a:lnTo>
                    <a:lnTo>
                      <a:pt x="1114" y="872219"/>
                    </a:lnTo>
                    <a:cubicBezTo>
                      <a:pt x="2120" y="635285"/>
                      <a:pt x="359" y="236048"/>
                      <a:pt x="-2282" y="106675"/>
                    </a:cubicBezTo>
                    <a:cubicBezTo>
                      <a:pt x="-3162" y="63908"/>
                      <a:pt x="-2407" y="56423"/>
                      <a:pt x="3754" y="45090"/>
                    </a:cubicBezTo>
                    <a:cubicBezTo>
                      <a:pt x="12305" y="29693"/>
                      <a:pt x="24126" y="24561"/>
                      <a:pt x="70779" y="16008"/>
                    </a:cubicBezTo>
                    <a:cubicBezTo>
                      <a:pt x="154780" y="398"/>
                      <a:pt x="268583" y="-7087"/>
                      <a:pt x="352584" y="-2596"/>
                    </a:cubicBezTo>
                    <a:cubicBezTo>
                      <a:pt x="408920" y="398"/>
                      <a:pt x="432309" y="3605"/>
                      <a:pt x="482609" y="14725"/>
                    </a:cubicBezTo>
                    <a:cubicBezTo>
                      <a:pt x="524861" y="23920"/>
                      <a:pt x="527125" y="24775"/>
                      <a:pt x="541712" y="33115"/>
                    </a:cubicBezTo>
                    <a:cubicBezTo>
                      <a:pt x="553029" y="39744"/>
                      <a:pt x="557556" y="47014"/>
                      <a:pt x="558688" y="60059"/>
                    </a:cubicBezTo>
                    <a:cubicBezTo>
                      <a:pt x="560574" y="83795"/>
                      <a:pt x="563215" y="294426"/>
                      <a:pt x="564975" y="560014"/>
                    </a:cubicBezTo>
                    <a:cubicBezTo>
                      <a:pt x="565981" y="720607"/>
                      <a:pt x="567365" y="910068"/>
                      <a:pt x="567993" y="981277"/>
                    </a:cubicBezTo>
                    <a:cubicBezTo>
                      <a:pt x="568748" y="1076221"/>
                      <a:pt x="568748" y="1112146"/>
                      <a:pt x="567616" y="1115995"/>
                    </a:cubicBezTo>
                    <a:cubicBezTo>
                      <a:pt x="565856" y="1122624"/>
                      <a:pt x="554161" y="1129040"/>
                      <a:pt x="533286" y="1135027"/>
                    </a:cubicBezTo>
                    <a:cubicBezTo>
                      <a:pt x="516687" y="1139945"/>
                      <a:pt x="445765" y="1149568"/>
                      <a:pt x="409046" y="1151920"/>
                    </a:cubicBezTo>
                    <a:lnTo>
                      <a:pt x="385279" y="1153417"/>
                    </a:lnTo>
                    <a:lnTo>
                      <a:pt x="382261" y="1169455"/>
                    </a:lnTo>
                    <a:cubicBezTo>
                      <a:pt x="376854" y="1199179"/>
                      <a:pt x="375093" y="1270173"/>
                      <a:pt x="378991" y="1307809"/>
                    </a:cubicBezTo>
                    <a:cubicBezTo>
                      <a:pt x="383015" y="1348011"/>
                      <a:pt x="388297" y="1360413"/>
                      <a:pt x="408668" y="1378376"/>
                    </a:cubicBezTo>
                    <a:cubicBezTo>
                      <a:pt x="420237" y="1388640"/>
                      <a:pt x="423884" y="1393131"/>
                      <a:pt x="430675" y="1405747"/>
                    </a:cubicBezTo>
                    <a:cubicBezTo>
                      <a:pt x="442998" y="1428414"/>
                      <a:pt x="446519" y="1442955"/>
                      <a:pt x="448154" y="1476314"/>
                    </a:cubicBezTo>
                    <a:cubicBezTo>
                      <a:pt x="449537" y="1506251"/>
                      <a:pt x="444633" y="1533623"/>
                      <a:pt x="434824" y="1551585"/>
                    </a:cubicBezTo>
                    <a:cubicBezTo>
                      <a:pt x="426776" y="1566126"/>
                      <a:pt x="397980" y="1588152"/>
                      <a:pt x="371321" y="1600341"/>
                    </a:cubicBezTo>
                    <a:cubicBezTo>
                      <a:pt x="337997" y="1615523"/>
                      <a:pt x="277763" y="1622152"/>
                      <a:pt x="238655" y="1615309"/>
                    </a:cubicBezTo>
                    <a:close/>
                  </a:path>
                </a:pathLst>
              </a:custGeom>
              <a:grpFill/>
              <a:ln w="5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de-DE" sz="1800" b="0" i="0" u="none" strike="noStrike" kern="0" cap="none" spc="0" normalizeH="0" baseline="0" noProof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29" name="Freihandform: Form 228">
                <a:extLst>
                  <a:ext uri="{FF2B5EF4-FFF2-40B4-BE49-F238E27FC236}">
                    <a16:creationId xmlns:a16="http://schemas.microsoft.com/office/drawing/2014/main" id="{4C21FBAA-6D22-9325-F44D-F3AAB781864D}"/>
                  </a:ext>
                </a:extLst>
              </p:cNvPr>
              <p:cNvSpPr/>
              <p:nvPr/>
            </p:nvSpPr>
            <p:spPr>
              <a:xfrm flipV="1">
                <a:off x="4045920" y="4729162"/>
                <a:ext cx="571104" cy="258397"/>
              </a:xfrm>
              <a:custGeom>
                <a:avLst/>
                <a:gdLst>
                  <a:gd name="connsiteX0" fmla="*/ 238655 w 571104"/>
                  <a:gd name="connsiteY0" fmla="*/ 1615309 h 1621888"/>
                  <a:gd name="connsiteX1" fmla="*/ 157546 w 571104"/>
                  <a:gd name="connsiteY1" fmla="*/ 1577674 h 1621888"/>
                  <a:gd name="connsiteX2" fmla="*/ 126486 w 571104"/>
                  <a:gd name="connsiteY2" fmla="*/ 1528063 h 1621888"/>
                  <a:gd name="connsiteX3" fmla="*/ 121456 w 571104"/>
                  <a:gd name="connsiteY3" fmla="*/ 1485723 h 1621888"/>
                  <a:gd name="connsiteX4" fmla="*/ 124851 w 571104"/>
                  <a:gd name="connsiteY4" fmla="*/ 1445735 h 1621888"/>
                  <a:gd name="connsiteX5" fmla="*/ 138558 w 571104"/>
                  <a:gd name="connsiteY5" fmla="*/ 1413445 h 1621888"/>
                  <a:gd name="connsiteX6" fmla="*/ 166349 w 571104"/>
                  <a:gd name="connsiteY6" fmla="*/ 1378162 h 1621888"/>
                  <a:gd name="connsiteX7" fmla="*/ 179930 w 571104"/>
                  <a:gd name="connsiteY7" fmla="*/ 1364476 h 1621888"/>
                  <a:gd name="connsiteX8" fmla="*/ 199295 w 571104"/>
                  <a:gd name="connsiteY8" fmla="*/ 1219707 h 1621888"/>
                  <a:gd name="connsiteX9" fmla="*/ 193133 w 571104"/>
                  <a:gd name="connsiteY9" fmla="*/ 1162826 h 1621888"/>
                  <a:gd name="connsiteX10" fmla="*/ 147486 w 571104"/>
                  <a:gd name="connsiteY10" fmla="*/ 1157052 h 1621888"/>
                  <a:gd name="connsiteX11" fmla="*/ 12431 w 571104"/>
                  <a:gd name="connsiteY11" fmla="*/ 1137379 h 1621888"/>
                  <a:gd name="connsiteX12" fmla="*/ 3880 w 571104"/>
                  <a:gd name="connsiteY12" fmla="*/ 1128398 h 1621888"/>
                  <a:gd name="connsiteX13" fmla="*/ -18 w 571104"/>
                  <a:gd name="connsiteY13" fmla="*/ 1121341 h 1621888"/>
                  <a:gd name="connsiteX14" fmla="*/ 1114 w 571104"/>
                  <a:gd name="connsiteY14" fmla="*/ 872219 h 1621888"/>
                  <a:gd name="connsiteX15" fmla="*/ -2282 w 571104"/>
                  <a:gd name="connsiteY15" fmla="*/ 106675 h 1621888"/>
                  <a:gd name="connsiteX16" fmla="*/ 3754 w 571104"/>
                  <a:gd name="connsiteY16" fmla="*/ 45090 h 1621888"/>
                  <a:gd name="connsiteX17" fmla="*/ 70779 w 571104"/>
                  <a:gd name="connsiteY17" fmla="*/ 16008 h 1621888"/>
                  <a:gd name="connsiteX18" fmla="*/ 352584 w 571104"/>
                  <a:gd name="connsiteY18" fmla="*/ -2596 h 1621888"/>
                  <a:gd name="connsiteX19" fmla="*/ 482609 w 571104"/>
                  <a:gd name="connsiteY19" fmla="*/ 14725 h 1621888"/>
                  <a:gd name="connsiteX20" fmla="*/ 541712 w 571104"/>
                  <a:gd name="connsiteY20" fmla="*/ 33115 h 1621888"/>
                  <a:gd name="connsiteX21" fmla="*/ 558688 w 571104"/>
                  <a:gd name="connsiteY21" fmla="*/ 60059 h 1621888"/>
                  <a:gd name="connsiteX22" fmla="*/ 564975 w 571104"/>
                  <a:gd name="connsiteY22" fmla="*/ 560014 h 1621888"/>
                  <a:gd name="connsiteX23" fmla="*/ 567993 w 571104"/>
                  <a:gd name="connsiteY23" fmla="*/ 981277 h 1621888"/>
                  <a:gd name="connsiteX24" fmla="*/ 567616 w 571104"/>
                  <a:gd name="connsiteY24" fmla="*/ 1115995 h 1621888"/>
                  <a:gd name="connsiteX25" fmla="*/ 533286 w 571104"/>
                  <a:gd name="connsiteY25" fmla="*/ 1135027 h 1621888"/>
                  <a:gd name="connsiteX26" fmla="*/ 409046 w 571104"/>
                  <a:gd name="connsiteY26" fmla="*/ 1151920 h 1621888"/>
                  <a:gd name="connsiteX27" fmla="*/ 385279 w 571104"/>
                  <a:gd name="connsiteY27" fmla="*/ 1153417 h 1621888"/>
                  <a:gd name="connsiteX28" fmla="*/ 382261 w 571104"/>
                  <a:gd name="connsiteY28" fmla="*/ 1169455 h 1621888"/>
                  <a:gd name="connsiteX29" fmla="*/ 378991 w 571104"/>
                  <a:gd name="connsiteY29" fmla="*/ 1307809 h 1621888"/>
                  <a:gd name="connsiteX30" fmla="*/ 408668 w 571104"/>
                  <a:gd name="connsiteY30" fmla="*/ 1378376 h 1621888"/>
                  <a:gd name="connsiteX31" fmla="*/ 430675 w 571104"/>
                  <a:gd name="connsiteY31" fmla="*/ 1405747 h 1621888"/>
                  <a:gd name="connsiteX32" fmla="*/ 448154 w 571104"/>
                  <a:gd name="connsiteY32" fmla="*/ 1476314 h 1621888"/>
                  <a:gd name="connsiteX33" fmla="*/ 434824 w 571104"/>
                  <a:gd name="connsiteY33" fmla="*/ 1551585 h 1621888"/>
                  <a:gd name="connsiteX34" fmla="*/ 371321 w 571104"/>
                  <a:gd name="connsiteY34" fmla="*/ 1600341 h 1621888"/>
                  <a:gd name="connsiteX35" fmla="*/ 238655 w 571104"/>
                  <a:gd name="connsiteY35" fmla="*/ 1615309 h 162188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</a:cxnLst>
                <a:rect l="l" t="t" r="r" b="b"/>
                <a:pathLst>
                  <a:path w="571104" h="1621888">
                    <a:moveTo>
                      <a:pt x="238655" y="1615309"/>
                    </a:moveTo>
                    <a:cubicBezTo>
                      <a:pt x="204577" y="1609322"/>
                      <a:pt x="179175" y="1597561"/>
                      <a:pt x="157546" y="1577674"/>
                    </a:cubicBezTo>
                    <a:cubicBezTo>
                      <a:pt x="141450" y="1563133"/>
                      <a:pt x="132774" y="1549233"/>
                      <a:pt x="126486" y="1528063"/>
                    </a:cubicBezTo>
                    <a:cubicBezTo>
                      <a:pt x="121456" y="1510956"/>
                      <a:pt x="121456" y="1510742"/>
                      <a:pt x="121456" y="1485723"/>
                    </a:cubicBezTo>
                    <a:cubicBezTo>
                      <a:pt x="121456" y="1463270"/>
                      <a:pt x="121708" y="1458993"/>
                      <a:pt x="124851" y="1445735"/>
                    </a:cubicBezTo>
                    <a:cubicBezTo>
                      <a:pt x="127744" y="1433118"/>
                      <a:pt x="130007" y="1427773"/>
                      <a:pt x="138558" y="1413445"/>
                    </a:cubicBezTo>
                    <a:cubicBezTo>
                      <a:pt x="151133" y="1392275"/>
                      <a:pt x="152265" y="1390778"/>
                      <a:pt x="166349" y="1378162"/>
                    </a:cubicBezTo>
                    <a:cubicBezTo>
                      <a:pt x="172636" y="1372388"/>
                      <a:pt x="178672" y="1366401"/>
                      <a:pt x="179930" y="1364476"/>
                    </a:cubicBezTo>
                    <a:cubicBezTo>
                      <a:pt x="193133" y="1344803"/>
                      <a:pt x="200804" y="1287066"/>
                      <a:pt x="199295" y="1219707"/>
                    </a:cubicBezTo>
                    <a:cubicBezTo>
                      <a:pt x="198541" y="1188487"/>
                      <a:pt x="196529" y="1170097"/>
                      <a:pt x="193133" y="1162826"/>
                    </a:cubicBezTo>
                    <a:cubicBezTo>
                      <a:pt x="191750" y="1159832"/>
                      <a:pt x="185211" y="1158977"/>
                      <a:pt x="147486" y="1157052"/>
                    </a:cubicBezTo>
                    <a:cubicBezTo>
                      <a:pt x="88384" y="1153845"/>
                      <a:pt x="29533" y="1145291"/>
                      <a:pt x="12431" y="1137379"/>
                    </a:cubicBezTo>
                    <a:cubicBezTo>
                      <a:pt x="9916" y="1136310"/>
                      <a:pt x="6018" y="1132247"/>
                      <a:pt x="3880" y="1128398"/>
                    </a:cubicBezTo>
                    <a:lnTo>
                      <a:pt x="-18" y="1121341"/>
                    </a:lnTo>
                    <a:lnTo>
                      <a:pt x="1114" y="872219"/>
                    </a:lnTo>
                    <a:cubicBezTo>
                      <a:pt x="2120" y="635285"/>
                      <a:pt x="359" y="236048"/>
                      <a:pt x="-2282" y="106675"/>
                    </a:cubicBezTo>
                    <a:cubicBezTo>
                      <a:pt x="-3162" y="63908"/>
                      <a:pt x="-2407" y="56423"/>
                      <a:pt x="3754" y="45090"/>
                    </a:cubicBezTo>
                    <a:cubicBezTo>
                      <a:pt x="12305" y="29693"/>
                      <a:pt x="24126" y="24561"/>
                      <a:pt x="70779" y="16008"/>
                    </a:cubicBezTo>
                    <a:cubicBezTo>
                      <a:pt x="154780" y="398"/>
                      <a:pt x="268583" y="-7087"/>
                      <a:pt x="352584" y="-2596"/>
                    </a:cubicBezTo>
                    <a:cubicBezTo>
                      <a:pt x="408920" y="398"/>
                      <a:pt x="432309" y="3605"/>
                      <a:pt x="482609" y="14725"/>
                    </a:cubicBezTo>
                    <a:cubicBezTo>
                      <a:pt x="524861" y="23920"/>
                      <a:pt x="527125" y="24775"/>
                      <a:pt x="541712" y="33115"/>
                    </a:cubicBezTo>
                    <a:cubicBezTo>
                      <a:pt x="553029" y="39744"/>
                      <a:pt x="557556" y="47014"/>
                      <a:pt x="558688" y="60059"/>
                    </a:cubicBezTo>
                    <a:cubicBezTo>
                      <a:pt x="560574" y="83795"/>
                      <a:pt x="563215" y="294426"/>
                      <a:pt x="564975" y="560014"/>
                    </a:cubicBezTo>
                    <a:cubicBezTo>
                      <a:pt x="565981" y="720607"/>
                      <a:pt x="567365" y="910068"/>
                      <a:pt x="567993" y="981277"/>
                    </a:cubicBezTo>
                    <a:cubicBezTo>
                      <a:pt x="568748" y="1076221"/>
                      <a:pt x="568748" y="1112146"/>
                      <a:pt x="567616" y="1115995"/>
                    </a:cubicBezTo>
                    <a:cubicBezTo>
                      <a:pt x="565856" y="1122624"/>
                      <a:pt x="554161" y="1129040"/>
                      <a:pt x="533286" y="1135027"/>
                    </a:cubicBezTo>
                    <a:cubicBezTo>
                      <a:pt x="516687" y="1139945"/>
                      <a:pt x="445765" y="1149568"/>
                      <a:pt x="409046" y="1151920"/>
                    </a:cubicBezTo>
                    <a:lnTo>
                      <a:pt x="385279" y="1153417"/>
                    </a:lnTo>
                    <a:lnTo>
                      <a:pt x="382261" y="1169455"/>
                    </a:lnTo>
                    <a:cubicBezTo>
                      <a:pt x="376854" y="1199179"/>
                      <a:pt x="375093" y="1270173"/>
                      <a:pt x="378991" y="1307809"/>
                    </a:cubicBezTo>
                    <a:cubicBezTo>
                      <a:pt x="383015" y="1348011"/>
                      <a:pt x="388297" y="1360413"/>
                      <a:pt x="408668" y="1378376"/>
                    </a:cubicBezTo>
                    <a:cubicBezTo>
                      <a:pt x="420237" y="1388640"/>
                      <a:pt x="423884" y="1393131"/>
                      <a:pt x="430675" y="1405747"/>
                    </a:cubicBezTo>
                    <a:cubicBezTo>
                      <a:pt x="442998" y="1428414"/>
                      <a:pt x="446519" y="1442955"/>
                      <a:pt x="448154" y="1476314"/>
                    </a:cubicBezTo>
                    <a:cubicBezTo>
                      <a:pt x="449537" y="1506251"/>
                      <a:pt x="444633" y="1533623"/>
                      <a:pt x="434824" y="1551585"/>
                    </a:cubicBezTo>
                    <a:cubicBezTo>
                      <a:pt x="426776" y="1566126"/>
                      <a:pt x="397980" y="1588152"/>
                      <a:pt x="371321" y="1600341"/>
                    </a:cubicBezTo>
                    <a:cubicBezTo>
                      <a:pt x="337997" y="1615523"/>
                      <a:pt x="277763" y="1622152"/>
                      <a:pt x="238655" y="1615309"/>
                    </a:cubicBezTo>
                    <a:close/>
                  </a:path>
                </a:pathLst>
              </a:custGeom>
              <a:grpFill/>
              <a:ln w="5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de-DE" sz="1800" b="0" i="0" u="none" strike="noStrike" kern="0" cap="none" spc="0" normalizeH="0" baseline="0" noProof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30" name="Freihandform: Form 229">
                <a:extLst>
                  <a:ext uri="{FF2B5EF4-FFF2-40B4-BE49-F238E27FC236}">
                    <a16:creationId xmlns:a16="http://schemas.microsoft.com/office/drawing/2014/main" id="{2158CF03-B094-5169-AA9C-162E078A5A5A}"/>
                  </a:ext>
                </a:extLst>
              </p:cNvPr>
              <p:cNvSpPr/>
              <p:nvPr/>
            </p:nvSpPr>
            <p:spPr>
              <a:xfrm flipV="1">
                <a:off x="4691400" y="4729162"/>
                <a:ext cx="571104" cy="258397"/>
              </a:xfrm>
              <a:custGeom>
                <a:avLst/>
                <a:gdLst>
                  <a:gd name="connsiteX0" fmla="*/ 238655 w 571104"/>
                  <a:gd name="connsiteY0" fmla="*/ 1615309 h 1621888"/>
                  <a:gd name="connsiteX1" fmla="*/ 157546 w 571104"/>
                  <a:gd name="connsiteY1" fmla="*/ 1577674 h 1621888"/>
                  <a:gd name="connsiteX2" fmla="*/ 126486 w 571104"/>
                  <a:gd name="connsiteY2" fmla="*/ 1528063 h 1621888"/>
                  <a:gd name="connsiteX3" fmla="*/ 121456 w 571104"/>
                  <a:gd name="connsiteY3" fmla="*/ 1485723 h 1621888"/>
                  <a:gd name="connsiteX4" fmla="*/ 124851 w 571104"/>
                  <a:gd name="connsiteY4" fmla="*/ 1445735 h 1621888"/>
                  <a:gd name="connsiteX5" fmla="*/ 138558 w 571104"/>
                  <a:gd name="connsiteY5" fmla="*/ 1413445 h 1621888"/>
                  <a:gd name="connsiteX6" fmla="*/ 166349 w 571104"/>
                  <a:gd name="connsiteY6" fmla="*/ 1378162 h 1621888"/>
                  <a:gd name="connsiteX7" fmla="*/ 179930 w 571104"/>
                  <a:gd name="connsiteY7" fmla="*/ 1364476 h 1621888"/>
                  <a:gd name="connsiteX8" fmla="*/ 199295 w 571104"/>
                  <a:gd name="connsiteY8" fmla="*/ 1219707 h 1621888"/>
                  <a:gd name="connsiteX9" fmla="*/ 193133 w 571104"/>
                  <a:gd name="connsiteY9" fmla="*/ 1162826 h 1621888"/>
                  <a:gd name="connsiteX10" fmla="*/ 147486 w 571104"/>
                  <a:gd name="connsiteY10" fmla="*/ 1157052 h 1621888"/>
                  <a:gd name="connsiteX11" fmla="*/ 12431 w 571104"/>
                  <a:gd name="connsiteY11" fmla="*/ 1137379 h 1621888"/>
                  <a:gd name="connsiteX12" fmla="*/ 3880 w 571104"/>
                  <a:gd name="connsiteY12" fmla="*/ 1128398 h 1621888"/>
                  <a:gd name="connsiteX13" fmla="*/ -18 w 571104"/>
                  <a:gd name="connsiteY13" fmla="*/ 1121341 h 1621888"/>
                  <a:gd name="connsiteX14" fmla="*/ 1114 w 571104"/>
                  <a:gd name="connsiteY14" fmla="*/ 872219 h 1621888"/>
                  <a:gd name="connsiteX15" fmla="*/ -2282 w 571104"/>
                  <a:gd name="connsiteY15" fmla="*/ 106675 h 1621888"/>
                  <a:gd name="connsiteX16" fmla="*/ 3754 w 571104"/>
                  <a:gd name="connsiteY16" fmla="*/ 45090 h 1621888"/>
                  <a:gd name="connsiteX17" fmla="*/ 70779 w 571104"/>
                  <a:gd name="connsiteY17" fmla="*/ 16008 h 1621888"/>
                  <a:gd name="connsiteX18" fmla="*/ 352584 w 571104"/>
                  <a:gd name="connsiteY18" fmla="*/ -2596 h 1621888"/>
                  <a:gd name="connsiteX19" fmla="*/ 482609 w 571104"/>
                  <a:gd name="connsiteY19" fmla="*/ 14725 h 1621888"/>
                  <a:gd name="connsiteX20" fmla="*/ 541712 w 571104"/>
                  <a:gd name="connsiteY20" fmla="*/ 33115 h 1621888"/>
                  <a:gd name="connsiteX21" fmla="*/ 558688 w 571104"/>
                  <a:gd name="connsiteY21" fmla="*/ 60059 h 1621888"/>
                  <a:gd name="connsiteX22" fmla="*/ 564975 w 571104"/>
                  <a:gd name="connsiteY22" fmla="*/ 560014 h 1621888"/>
                  <a:gd name="connsiteX23" fmla="*/ 567993 w 571104"/>
                  <a:gd name="connsiteY23" fmla="*/ 981277 h 1621888"/>
                  <a:gd name="connsiteX24" fmla="*/ 567616 w 571104"/>
                  <a:gd name="connsiteY24" fmla="*/ 1115995 h 1621888"/>
                  <a:gd name="connsiteX25" fmla="*/ 533286 w 571104"/>
                  <a:gd name="connsiteY25" fmla="*/ 1135027 h 1621888"/>
                  <a:gd name="connsiteX26" fmla="*/ 409046 w 571104"/>
                  <a:gd name="connsiteY26" fmla="*/ 1151920 h 1621888"/>
                  <a:gd name="connsiteX27" fmla="*/ 385279 w 571104"/>
                  <a:gd name="connsiteY27" fmla="*/ 1153417 h 1621888"/>
                  <a:gd name="connsiteX28" fmla="*/ 382261 w 571104"/>
                  <a:gd name="connsiteY28" fmla="*/ 1169455 h 1621888"/>
                  <a:gd name="connsiteX29" fmla="*/ 378991 w 571104"/>
                  <a:gd name="connsiteY29" fmla="*/ 1307809 h 1621888"/>
                  <a:gd name="connsiteX30" fmla="*/ 408668 w 571104"/>
                  <a:gd name="connsiteY30" fmla="*/ 1378376 h 1621888"/>
                  <a:gd name="connsiteX31" fmla="*/ 430675 w 571104"/>
                  <a:gd name="connsiteY31" fmla="*/ 1405747 h 1621888"/>
                  <a:gd name="connsiteX32" fmla="*/ 448154 w 571104"/>
                  <a:gd name="connsiteY32" fmla="*/ 1476314 h 1621888"/>
                  <a:gd name="connsiteX33" fmla="*/ 434824 w 571104"/>
                  <a:gd name="connsiteY33" fmla="*/ 1551585 h 1621888"/>
                  <a:gd name="connsiteX34" fmla="*/ 371321 w 571104"/>
                  <a:gd name="connsiteY34" fmla="*/ 1600341 h 1621888"/>
                  <a:gd name="connsiteX35" fmla="*/ 238655 w 571104"/>
                  <a:gd name="connsiteY35" fmla="*/ 1615309 h 162188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</a:cxnLst>
                <a:rect l="l" t="t" r="r" b="b"/>
                <a:pathLst>
                  <a:path w="571104" h="1621888">
                    <a:moveTo>
                      <a:pt x="238655" y="1615309"/>
                    </a:moveTo>
                    <a:cubicBezTo>
                      <a:pt x="204577" y="1609322"/>
                      <a:pt x="179175" y="1597561"/>
                      <a:pt x="157546" y="1577674"/>
                    </a:cubicBezTo>
                    <a:cubicBezTo>
                      <a:pt x="141450" y="1563133"/>
                      <a:pt x="132774" y="1549233"/>
                      <a:pt x="126486" y="1528063"/>
                    </a:cubicBezTo>
                    <a:cubicBezTo>
                      <a:pt x="121456" y="1510956"/>
                      <a:pt x="121456" y="1510742"/>
                      <a:pt x="121456" y="1485723"/>
                    </a:cubicBezTo>
                    <a:cubicBezTo>
                      <a:pt x="121456" y="1463270"/>
                      <a:pt x="121708" y="1458993"/>
                      <a:pt x="124851" y="1445735"/>
                    </a:cubicBezTo>
                    <a:cubicBezTo>
                      <a:pt x="127744" y="1433118"/>
                      <a:pt x="130007" y="1427773"/>
                      <a:pt x="138558" y="1413445"/>
                    </a:cubicBezTo>
                    <a:cubicBezTo>
                      <a:pt x="151133" y="1392275"/>
                      <a:pt x="152265" y="1390778"/>
                      <a:pt x="166349" y="1378162"/>
                    </a:cubicBezTo>
                    <a:cubicBezTo>
                      <a:pt x="172636" y="1372388"/>
                      <a:pt x="178672" y="1366401"/>
                      <a:pt x="179930" y="1364476"/>
                    </a:cubicBezTo>
                    <a:cubicBezTo>
                      <a:pt x="193133" y="1344803"/>
                      <a:pt x="200804" y="1287066"/>
                      <a:pt x="199295" y="1219707"/>
                    </a:cubicBezTo>
                    <a:cubicBezTo>
                      <a:pt x="198541" y="1188487"/>
                      <a:pt x="196529" y="1170097"/>
                      <a:pt x="193133" y="1162826"/>
                    </a:cubicBezTo>
                    <a:cubicBezTo>
                      <a:pt x="191750" y="1159832"/>
                      <a:pt x="185211" y="1158977"/>
                      <a:pt x="147486" y="1157052"/>
                    </a:cubicBezTo>
                    <a:cubicBezTo>
                      <a:pt x="88384" y="1153845"/>
                      <a:pt x="29533" y="1145291"/>
                      <a:pt x="12431" y="1137379"/>
                    </a:cubicBezTo>
                    <a:cubicBezTo>
                      <a:pt x="9916" y="1136310"/>
                      <a:pt x="6018" y="1132247"/>
                      <a:pt x="3880" y="1128398"/>
                    </a:cubicBezTo>
                    <a:lnTo>
                      <a:pt x="-18" y="1121341"/>
                    </a:lnTo>
                    <a:lnTo>
                      <a:pt x="1114" y="872219"/>
                    </a:lnTo>
                    <a:cubicBezTo>
                      <a:pt x="2120" y="635285"/>
                      <a:pt x="359" y="236048"/>
                      <a:pt x="-2282" y="106675"/>
                    </a:cubicBezTo>
                    <a:cubicBezTo>
                      <a:pt x="-3162" y="63908"/>
                      <a:pt x="-2407" y="56423"/>
                      <a:pt x="3754" y="45090"/>
                    </a:cubicBezTo>
                    <a:cubicBezTo>
                      <a:pt x="12305" y="29693"/>
                      <a:pt x="24126" y="24561"/>
                      <a:pt x="70779" y="16008"/>
                    </a:cubicBezTo>
                    <a:cubicBezTo>
                      <a:pt x="154780" y="398"/>
                      <a:pt x="268583" y="-7087"/>
                      <a:pt x="352584" y="-2596"/>
                    </a:cubicBezTo>
                    <a:cubicBezTo>
                      <a:pt x="408920" y="398"/>
                      <a:pt x="432309" y="3605"/>
                      <a:pt x="482609" y="14725"/>
                    </a:cubicBezTo>
                    <a:cubicBezTo>
                      <a:pt x="524861" y="23920"/>
                      <a:pt x="527125" y="24775"/>
                      <a:pt x="541712" y="33115"/>
                    </a:cubicBezTo>
                    <a:cubicBezTo>
                      <a:pt x="553029" y="39744"/>
                      <a:pt x="557556" y="47014"/>
                      <a:pt x="558688" y="60059"/>
                    </a:cubicBezTo>
                    <a:cubicBezTo>
                      <a:pt x="560574" y="83795"/>
                      <a:pt x="563215" y="294426"/>
                      <a:pt x="564975" y="560014"/>
                    </a:cubicBezTo>
                    <a:cubicBezTo>
                      <a:pt x="565981" y="720607"/>
                      <a:pt x="567365" y="910068"/>
                      <a:pt x="567993" y="981277"/>
                    </a:cubicBezTo>
                    <a:cubicBezTo>
                      <a:pt x="568748" y="1076221"/>
                      <a:pt x="568748" y="1112146"/>
                      <a:pt x="567616" y="1115995"/>
                    </a:cubicBezTo>
                    <a:cubicBezTo>
                      <a:pt x="565856" y="1122624"/>
                      <a:pt x="554161" y="1129040"/>
                      <a:pt x="533286" y="1135027"/>
                    </a:cubicBezTo>
                    <a:cubicBezTo>
                      <a:pt x="516687" y="1139945"/>
                      <a:pt x="445765" y="1149568"/>
                      <a:pt x="409046" y="1151920"/>
                    </a:cubicBezTo>
                    <a:lnTo>
                      <a:pt x="385279" y="1153417"/>
                    </a:lnTo>
                    <a:lnTo>
                      <a:pt x="382261" y="1169455"/>
                    </a:lnTo>
                    <a:cubicBezTo>
                      <a:pt x="376854" y="1199179"/>
                      <a:pt x="375093" y="1270173"/>
                      <a:pt x="378991" y="1307809"/>
                    </a:cubicBezTo>
                    <a:cubicBezTo>
                      <a:pt x="383015" y="1348011"/>
                      <a:pt x="388297" y="1360413"/>
                      <a:pt x="408668" y="1378376"/>
                    </a:cubicBezTo>
                    <a:cubicBezTo>
                      <a:pt x="420237" y="1388640"/>
                      <a:pt x="423884" y="1393131"/>
                      <a:pt x="430675" y="1405747"/>
                    </a:cubicBezTo>
                    <a:cubicBezTo>
                      <a:pt x="442998" y="1428414"/>
                      <a:pt x="446519" y="1442955"/>
                      <a:pt x="448154" y="1476314"/>
                    </a:cubicBezTo>
                    <a:cubicBezTo>
                      <a:pt x="449537" y="1506251"/>
                      <a:pt x="444633" y="1533623"/>
                      <a:pt x="434824" y="1551585"/>
                    </a:cubicBezTo>
                    <a:cubicBezTo>
                      <a:pt x="426776" y="1566126"/>
                      <a:pt x="397980" y="1588152"/>
                      <a:pt x="371321" y="1600341"/>
                    </a:cubicBezTo>
                    <a:cubicBezTo>
                      <a:pt x="337997" y="1615523"/>
                      <a:pt x="277763" y="1622152"/>
                      <a:pt x="238655" y="1615309"/>
                    </a:cubicBezTo>
                    <a:close/>
                  </a:path>
                </a:pathLst>
              </a:custGeom>
              <a:grpFill/>
              <a:ln w="5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de-DE" sz="1800" b="0" i="0" u="none" strike="noStrike" kern="0" cap="none" spc="0" normalizeH="0" baseline="0" noProof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31" name="Freihandform: Form 230">
                <a:extLst>
                  <a:ext uri="{FF2B5EF4-FFF2-40B4-BE49-F238E27FC236}">
                    <a16:creationId xmlns:a16="http://schemas.microsoft.com/office/drawing/2014/main" id="{C4433BFB-B4AC-80E7-71E0-79022E77D899}"/>
                  </a:ext>
                </a:extLst>
              </p:cNvPr>
              <p:cNvSpPr/>
              <p:nvPr/>
            </p:nvSpPr>
            <p:spPr>
              <a:xfrm flipV="1">
                <a:off x="5336881" y="4729162"/>
                <a:ext cx="571104" cy="258397"/>
              </a:xfrm>
              <a:custGeom>
                <a:avLst/>
                <a:gdLst>
                  <a:gd name="connsiteX0" fmla="*/ 238655 w 571104"/>
                  <a:gd name="connsiteY0" fmla="*/ 1615309 h 1621888"/>
                  <a:gd name="connsiteX1" fmla="*/ 157546 w 571104"/>
                  <a:gd name="connsiteY1" fmla="*/ 1577674 h 1621888"/>
                  <a:gd name="connsiteX2" fmla="*/ 126486 w 571104"/>
                  <a:gd name="connsiteY2" fmla="*/ 1528063 h 1621888"/>
                  <a:gd name="connsiteX3" fmla="*/ 121456 w 571104"/>
                  <a:gd name="connsiteY3" fmla="*/ 1485723 h 1621888"/>
                  <a:gd name="connsiteX4" fmla="*/ 124851 w 571104"/>
                  <a:gd name="connsiteY4" fmla="*/ 1445735 h 1621888"/>
                  <a:gd name="connsiteX5" fmla="*/ 138558 w 571104"/>
                  <a:gd name="connsiteY5" fmla="*/ 1413445 h 1621888"/>
                  <a:gd name="connsiteX6" fmla="*/ 166349 w 571104"/>
                  <a:gd name="connsiteY6" fmla="*/ 1378162 h 1621888"/>
                  <a:gd name="connsiteX7" fmla="*/ 179930 w 571104"/>
                  <a:gd name="connsiteY7" fmla="*/ 1364476 h 1621888"/>
                  <a:gd name="connsiteX8" fmla="*/ 199295 w 571104"/>
                  <a:gd name="connsiteY8" fmla="*/ 1219707 h 1621888"/>
                  <a:gd name="connsiteX9" fmla="*/ 193133 w 571104"/>
                  <a:gd name="connsiteY9" fmla="*/ 1162826 h 1621888"/>
                  <a:gd name="connsiteX10" fmla="*/ 147486 w 571104"/>
                  <a:gd name="connsiteY10" fmla="*/ 1157052 h 1621888"/>
                  <a:gd name="connsiteX11" fmla="*/ 12431 w 571104"/>
                  <a:gd name="connsiteY11" fmla="*/ 1137379 h 1621888"/>
                  <a:gd name="connsiteX12" fmla="*/ 3880 w 571104"/>
                  <a:gd name="connsiteY12" fmla="*/ 1128398 h 1621888"/>
                  <a:gd name="connsiteX13" fmla="*/ -18 w 571104"/>
                  <a:gd name="connsiteY13" fmla="*/ 1121341 h 1621888"/>
                  <a:gd name="connsiteX14" fmla="*/ 1114 w 571104"/>
                  <a:gd name="connsiteY14" fmla="*/ 872219 h 1621888"/>
                  <a:gd name="connsiteX15" fmla="*/ -2282 w 571104"/>
                  <a:gd name="connsiteY15" fmla="*/ 106675 h 1621888"/>
                  <a:gd name="connsiteX16" fmla="*/ 3754 w 571104"/>
                  <a:gd name="connsiteY16" fmla="*/ 45090 h 1621888"/>
                  <a:gd name="connsiteX17" fmla="*/ 70779 w 571104"/>
                  <a:gd name="connsiteY17" fmla="*/ 16008 h 1621888"/>
                  <a:gd name="connsiteX18" fmla="*/ 352584 w 571104"/>
                  <a:gd name="connsiteY18" fmla="*/ -2596 h 1621888"/>
                  <a:gd name="connsiteX19" fmla="*/ 482609 w 571104"/>
                  <a:gd name="connsiteY19" fmla="*/ 14725 h 1621888"/>
                  <a:gd name="connsiteX20" fmla="*/ 541712 w 571104"/>
                  <a:gd name="connsiteY20" fmla="*/ 33115 h 1621888"/>
                  <a:gd name="connsiteX21" fmla="*/ 558688 w 571104"/>
                  <a:gd name="connsiteY21" fmla="*/ 60059 h 1621888"/>
                  <a:gd name="connsiteX22" fmla="*/ 564975 w 571104"/>
                  <a:gd name="connsiteY22" fmla="*/ 560014 h 1621888"/>
                  <a:gd name="connsiteX23" fmla="*/ 567993 w 571104"/>
                  <a:gd name="connsiteY23" fmla="*/ 981277 h 1621888"/>
                  <a:gd name="connsiteX24" fmla="*/ 567616 w 571104"/>
                  <a:gd name="connsiteY24" fmla="*/ 1115995 h 1621888"/>
                  <a:gd name="connsiteX25" fmla="*/ 533286 w 571104"/>
                  <a:gd name="connsiteY25" fmla="*/ 1135027 h 1621888"/>
                  <a:gd name="connsiteX26" fmla="*/ 409046 w 571104"/>
                  <a:gd name="connsiteY26" fmla="*/ 1151920 h 1621888"/>
                  <a:gd name="connsiteX27" fmla="*/ 385279 w 571104"/>
                  <a:gd name="connsiteY27" fmla="*/ 1153417 h 1621888"/>
                  <a:gd name="connsiteX28" fmla="*/ 382261 w 571104"/>
                  <a:gd name="connsiteY28" fmla="*/ 1169455 h 1621888"/>
                  <a:gd name="connsiteX29" fmla="*/ 378991 w 571104"/>
                  <a:gd name="connsiteY29" fmla="*/ 1307809 h 1621888"/>
                  <a:gd name="connsiteX30" fmla="*/ 408668 w 571104"/>
                  <a:gd name="connsiteY30" fmla="*/ 1378376 h 1621888"/>
                  <a:gd name="connsiteX31" fmla="*/ 430675 w 571104"/>
                  <a:gd name="connsiteY31" fmla="*/ 1405747 h 1621888"/>
                  <a:gd name="connsiteX32" fmla="*/ 448154 w 571104"/>
                  <a:gd name="connsiteY32" fmla="*/ 1476314 h 1621888"/>
                  <a:gd name="connsiteX33" fmla="*/ 434824 w 571104"/>
                  <a:gd name="connsiteY33" fmla="*/ 1551585 h 1621888"/>
                  <a:gd name="connsiteX34" fmla="*/ 371321 w 571104"/>
                  <a:gd name="connsiteY34" fmla="*/ 1600341 h 1621888"/>
                  <a:gd name="connsiteX35" fmla="*/ 238655 w 571104"/>
                  <a:gd name="connsiteY35" fmla="*/ 1615309 h 162188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</a:cxnLst>
                <a:rect l="l" t="t" r="r" b="b"/>
                <a:pathLst>
                  <a:path w="571104" h="1621888">
                    <a:moveTo>
                      <a:pt x="238655" y="1615309"/>
                    </a:moveTo>
                    <a:cubicBezTo>
                      <a:pt x="204577" y="1609322"/>
                      <a:pt x="179175" y="1597561"/>
                      <a:pt x="157546" y="1577674"/>
                    </a:cubicBezTo>
                    <a:cubicBezTo>
                      <a:pt x="141450" y="1563133"/>
                      <a:pt x="132774" y="1549233"/>
                      <a:pt x="126486" y="1528063"/>
                    </a:cubicBezTo>
                    <a:cubicBezTo>
                      <a:pt x="121456" y="1510956"/>
                      <a:pt x="121456" y="1510742"/>
                      <a:pt x="121456" y="1485723"/>
                    </a:cubicBezTo>
                    <a:cubicBezTo>
                      <a:pt x="121456" y="1463270"/>
                      <a:pt x="121708" y="1458993"/>
                      <a:pt x="124851" y="1445735"/>
                    </a:cubicBezTo>
                    <a:cubicBezTo>
                      <a:pt x="127744" y="1433118"/>
                      <a:pt x="130007" y="1427773"/>
                      <a:pt x="138558" y="1413445"/>
                    </a:cubicBezTo>
                    <a:cubicBezTo>
                      <a:pt x="151133" y="1392275"/>
                      <a:pt x="152265" y="1390778"/>
                      <a:pt x="166349" y="1378162"/>
                    </a:cubicBezTo>
                    <a:cubicBezTo>
                      <a:pt x="172636" y="1372388"/>
                      <a:pt x="178672" y="1366401"/>
                      <a:pt x="179930" y="1364476"/>
                    </a:cubicBezTo>
                    <a:cubicBezTo>
                      <a:pt x="193133" y="1344803"/>
                      <a:pt x="200804" y="1287066"/>
                      <a:pt x="199295" y="1219707"/>
                    </a:cubicBezTo>
                    <a:cubicBezTo>
                      <a:pt x="198541" y="1188487"/>
                      <a:pt x="196529" y="1170097"/>
                      <a:pt x="193133" y="1162826"/>
                    </a:cubicBezTo>
                    <a:cubicBezTo>
                      <a:pt x="191750" y="1159832"/>
                      <a:pt x="185211" y="1158977"/>
                      <a:pt x="147486" y="1157052"/>
                    </a:cubicBezTo>
                    <a:cubicBezTo>
                      <a:pt x="88384" y="1153845"/>
                      <a:pt x="29533" y="1145291"/>
                      <a:pt x="12431" y="1137379"/>
                    </a:cubicBezTo>
                    <a:cubicBezTo>
                      <a:pt x="9916" y="1136310"/>
                      <a:pt x="6018" y="1132247"/>
                      <a:pt x="3880" y="1128398"/>
                    </a:cubicBezTo>
                    <a:lnTo>
                      <a:pt x="-18" y="1121341"/>
                    </a:lnTo>
                    <a:lnTo>
                      <a:pt x="1114" y="872219"/>
                    </a:lnTo>
                    <a:cubicBezTo>
                      <a:pt x="2120" y="635285"/>
                      <a:pt x="359" y="236048"/>
                      <a:pt x="-2282" y="106675"/>
                    </a:cubicBezTo>
                    <a:cubicBezTo>
                      <a:pt x="-3162" y="63908"/>
                      <a:pt x="-2407" y="56423"/>
                      <a:pt x="3754" y="45090"/>
                    </a:cubicBezTo>
                    <a:cubicBezTo>
                      <a:pt x="12305" y="29693"/>
                      <a:pt x="24126" y="24561"/>
                      <a:pt x="70779" y="16008"/>
                    </a:cubicBezTo>
                    <a:cubicBezTo>
                      <a:pt x="154780" y="398"/>
                      <a:pt x="268583" y="-7087"/>
                      <a:pt x="352584" y="-2596"/>
                    </a:cubicBezTo>
                    <a:cubicBezTo>
                      <a:pt x="408920" y="398"/>
                      <a:pt x="432309" y="3605"/>
                      <a:pt x="482609" y="14725"/>
                    </a:cubicBezTo>
                    <a:cubicBezTo>
                      <a:pt x="524861" y="23920"/>
                      <a:pt x="527125" y="24775"/>
                      <a:pt x="541712" y="33115"/>
                    </a:cubicBezTo>
                    <a:cubicBezTo>
                      <a:pt x="553029" y="39744"/>
                      <a:pt x="557556" y="47014"/>
                      <a:pt x="558688" y="60059"/>
                    </a:cubicBezTo>
                    <a:cubicBezTo>
                      <a:pt x="560574" y="83795"/>
                      <a:pt x="563215" y="294426"/>
                      <a:pt x="564975" y="560014"/>
                    </a:cubicBezTo>
                    <a:cubicBezTo>
                      <a:pt x="565981" y="720607"/>
                      <a:pt x="567365" y="910068"/>
                      <a:pt x="567993" y="981277"/>
                    </a:cubicBezTo>
                    <a:cubicBezTo>
                      <a:pt x="568748" y="1076221"/>
                      <a:pt x="568748" y="1112146"/>
                      <a:pt x="567616" y="1115995"/>
                    </a:cubicBezTo>
                    <a:cubicBezTo>
                      <a:pt x="565856" y="1122624"/>
                      <a:pt x="554161" y="1129040"/>
                      <a:pt x="533286" y="1135027"/>
                    </a:cubicBezTo>
                    <a:cubicBezTo>
                      <a:pt x="516687" y="1139945"/>
                      <a:pt x="445765" y="1149568"/>
                      <a:pt x="409046" y="1151920"/>
                    </a:cubicBezTo>
                    <a:lnTo>
                      <a:pt x="385279" y="1153417"/>
                    </a:lnTo>
                    <a:lnTo>
                      <a:pt x="382261" y="1169455"/>
                    </a:lnTo>
                    <a:cubicBezTo>
                      <a:pt x="376854" y="1199179"/>
                      <a:pt x="375093" y="1270173"/>
                      <a:pt x="378991" y="1307809"/>
                    </a:cubicBezTo>
                    <a:cubicBezTo>
                      <a:pt x="383015" y="1348011"/>
                      <a:pt x="388297" y="1360413"/>
                      <a:pt x="408668" y="1378376"/>
                    </a:cubicBezTo>
                    <a:cubicBezTo>
                      <a:pt x="420237" y="1388640"/>
                      <a:pt x="423884" y="1393131"/>
                      <a:pt x="430675" y="1405747"/>
                    </a:cubicBezTo>
                    <a:cubicBezTo>
                      <a:pt x="442998" y="1428414"/>
                      <a:pt x="446519" y="1442955"/>
                      <a:pt x="448154" y="1476314"/>
                    </a:cubicBezTo>
                    <a:cubicBezTo>
                      <a:pt x="449537" y="1506251"/>
                      <a:pt x="444633" y="1533623"/>
                      <a:pt x="434824" y="1551585"/>
                    </a:cubicBezTo>
                    <a:cubicBezTo>
                      <a:pt x="426776" y="1566126"/>
                      <a:pt x="397980" y="1588152"/>
                      <a:pt x="371321" y="1600341"/>
                    </a:cubicBezTo>
                    <a:cubicBezTo>
                      <a:pt x="337997" y="1615523"/>
                      <a:pt x="277763" y="1622152"/>
                      <a:pt x="238655" y="1615309"/>
                    </a:cubicBezTo>
                    <a:close/>
                  </a:path>
                </a:pathLst>
              </a:custGeom>
              <a:grpFill/>
              <a:ln w="5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de-DE" sz="1800" b="0" i="0" u="none" strike="noStrike" kern="0" cap="none" spc="0" normalizeH="0" baseline="0" noProof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32" name="Freihandform: Form 231">
                <a:extLst>
                  <a:ext uri="{FF2B5EF4-FFF2-40B4-BE49-F238E27FC236}">
                    <a16:creationId xmlns:a16="http://schemas.microsoft.com/office/drawing/2014/main" id="{E90B0353-018E-291B-A8B8-ED6D8A0FD961}"/>
                  </a:ext>
                </a:extLst>
              </p:cNvPr>
              <p:cNvSpPr/>
              <p:nvPr/>
            </p:nvSpPr>
            <p:spPr>
              <a:xfrm flipV="1">
                <a:off x="5982362" y="4729156"/>
                <a:ext cx="571104" cy="258397"/>
              </a:xfrm>
              <a:custGeom>
                <a:avLst/>
                <a:gdLst>
                  <a:gd name="connsiteX0" fmla="*/ 238655 w 571104"/>
                  <a:gd name="connsiteY0" fmla="*/ 1615309 h 1621888"/>
                  <a:gd name="connsiteX1" fmla="*/ 157546 w 571104"/>
                  <a:gd name="connsiteY1" fmla="*/ 1577674 h 1621888"/>
                  <a:gd name="connsiteX2" fmla="*/ 126486 w 571104"/>
                  <a:gd name="connsiteY2" fmla="*/ 1528063 h 1621888"/>
                  <a:gd name="connsiteX3" fmla="*/ 121456 w 571104"/>
                  <a:gd name="connsiteY3" fmla="*/ 1485723 h 1621888"/>
                  <a:gd name="connsiteX4" fmla="*/ 124851 w 571104"/>
                  <a:gd name="connsiteY4" fmla="*/ 1445735 h 1621888"/>
                  <a:gd name="connsiteX5" fmla="*/ 138558 w 571104"/>
                  <a:gd name="connsiteY5" fmla="*/ 1413445 h 1621888"/>
                  <a:gd name="connsiteX6" fmla="*/ 166349 w 571104"/>
                  <a:gd name="connsiteY6" fmla="*/ 1378162 h 1621888"/>
                  <a:gd name="connsiteX7" fmla="*/ 179930 w 571104"/>
                  <a:gd name="connsiteY7" fmla="*/ 1364476 h 1621888"/>
                  <a:gd name="connsiteX8" fmla="*/ 199295 w 571104"/>
                  <a:gd name="connsiteY8" fmla="*/ 1219707 h 1621888"/>
                  <a:gd name="connsiteX9" fmla="*/ 193133 w 571104"/>
                  <a:gd name="connsiteY9" fmla="*/ 1162826 h 1621888"/>
                  <a:gd name="connsiteX10" fmla="*/ 147486 w 571104"/>
                  <a:gd name="connsiteY10" fmla="*/ 1157052 h 1621888"/>
                  <a:gd name="connsiteX11" fmla="*/ 12431 w 571104"/>
                  <a:gd name="connsiteY11" fmla="*/ 1137379 h 1621888"/>
                  <a:gd name="connsiteX12" fmla="*/ 3880 w 571104"/>
                  <a:gd name="connsiteY12" fmla="*/ 1128398 h 1621888"/>
                  <a:gd name="connsiteX13" fmla="*/ -18 w 571104"/>
                  <a:gd name="connsiteY13" fmla="*/ 1121341 h 1621888"/>
                  <a:gd name="connsiteX14" fmla="*/ 1114 w 571104"/>
                  <a:gd name="connsiteY14" fmla="*/ 872219 h 1621888"/>
                  <a:gd name="connsiteX15" fmla="*/ -2282 w 571104"/>
                  <a:gd name="connsiteY15" fmla="*/ 106675 h 1621888"/>
                  <a:gd name="connsiteX16" fmla="*/ 3754 w 571104"/>
                  <a:gd name="connsiteY16" fmla="*/ 45090 h 1621888"/>
                  <a:gd name="connsiteX17" fmla="*/ 70779 w 571104"/>
                  <a:gd name="connsiteY17" fmla="*/ 16008 h 1621888"/>
                  <a:gd name="connsiteX18" fmla="*/ 352584 w 571104"/>
                  <a:gd name="connsiteY18" fmla="*/ -2596 h 1621888"/>
                  <a:gd name="connsiteX19" fmla="*/ 482609 w 571104"/>
                  <a:gd name="connsiteY19" fmla="*/ 14725 h 1621888"/>
                  <a:gd name="connsiteX20" fmla="*/ 541712 w 571104"/>
                  <a:gd name="connsiteY20" fmla="*/ 33115 h 1621888"/>
                  <a:gd name="connsiteX21" fmla="*/ 558688 w 571104"/>
                  <a:gd name="connsiteY21" fmla="*/ 60059 h 1621888"/>
                  <a:gd name="connsiteX22" fmla="*/ 564975 w 571104"/>
                  <a:gd name="connsiteY22" fmla="*/ 560014 h 1621888"/>
                  <a:gd name="connsiteX23" fmla="*/ 567993 w 571104"/>
                  <a:gd name="connsiteY23" fmla="*/ 981277 h 1621888"/>
                  <a:gd name="connsiteX24" fmla="*/ 567616 w 571104"/>
                  <a:gd name="connsiteY24" fmla="*/ 1115995 h 1621888"/>
                  <a:gd name="connsiteX25" fmla="*/ 533286 w 571104"/>
                  <a:gd name="connsiteY25" fmla="*/ 1135027 h 1621888"/>
                  <a:gd name="connsiteX26" fmla="*/ 409046 w 571104"/>
                  <a:gd name="connsiteY26" fmla="*/ 1151920 h 1621888"/>
                  <a:gd name="connsiteX27" fmla="*/ 385279 w 571104"/>
                  <a:gd name="connsiteY27" fmla="*/ 1153417 h 1621888"/>
                  <a:gd name="connsiteX28" fmla="*/ 382261 w 571104"/>
                  <a:gd name="connsiteY28" fmla="*/ 1169455 h 1621888"/>
                  <a:gd name="connsiteX29" fmla="*/ 378991 w 571104"/>
                  <a:gd name="connsiteY29" fmla="*/ 1307809 h 1621888"/>
                  <a:gd name="connsiteX30" fmla="*/ 408668 w 571104"/>
                  <a:gd name="connsiteY30" fmla="*/ 1378376 h 1621888"/>
                  <a:gd name="connsiteX31" fmla="*/ 430675 w 571104"/>
                  <a:gd name="connsiteY31" fmla="*/ 1405747 h 1621888"/>
                  <a:gd name="connsiteX32" fmla="*/ 448154 w 571104"/>
                  <a:gd name="connsiteY32" fmla="*/ 1476314 h 1621888"/>
                  <a:gd name="connsiteX33" fmla="*/ 434824 w 571104"/>
                  <a:gd name="connsiteY33" fmla="*/ 1551585 h 1621888"/>
                  <a:gd name="connsiteX34" fmla="*/ 371321 w 571104"/>
                  <a:gd name="connsiteY34" fmla="*/ 1600341 h 1621888"/>
                  <a:gd name="connsiteX35" fmla="*/ 238655 w 571104"/>
                  <a:gd name="connsiteY35" fmla="*/ 1615309 h 162188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</a:cxnLst>
                <a:rect l="l" t="t" r="r" b="b"/>
                <a:pathLst>
                  <a:path w="571104" h="1621888">
                    <a:moveTo>
                      <a:pt x="238655" y="1615309"/>
                    </a:moveTo>
                    <a:cubicBezTo>
                      <a:pt x="204577" y="1609322"/>
                      <a:pt x="179175" y="1597561"/>
                      <a:pt x="157546" y="1577674"/>
                    </a:cubicBezTo>
                    <a:cubicBezTo>
                      <a:pt x="141450" y="1563133"/>
                      <a:pt x="132774" y="1549233"/>
                      <a:pt x="126486" y="1528063"/>
                    </a:cubicBezTo>
                    <a:cubicBezTo>
                      <a:pt x="121456" y="1510956"/>
                      <a:pt x="121456" y="1510742"/>
                      <a:pt x="121456" y="1485723"/>
                    </a:cubicBezTo>
                    <a:cubicBezTo>
                      <a:pt x="121456" y="1463270"/>
                      <a:pt x="121708" y="1458993"/>
                      <a:pt x="124851" y="1445735"/>
                    </a:cubicBezTo>
                    <a:cubicBezTo>
                      <a:pt x="127744" y="1433118"/>
                      <a:pt x="130007" y="1427773"/>
                      <a:pt x="138558" y="1413445"/>
                    </a:cubicBezTo>
                    <a:cubicBezTo>
                      <a:pt x="151133" y="1392275"/>
                      <a:pt x="152265" y="1390778"/>
                      <a:pt x="166349" y="1378162"/>
                    </a:cubicBezTo>
                    <a:cubicBezTo>
                      <a:pt x="172636" y="1372388"/>
                      <a:pt x="178672" y="1366401"/>
                      <a:pt x="179930" y="1364476"/>
                    </a:cubicBezTo>
                    <a:cubicBezTo>
                      <a:pt x="193133" y="1344803"/>
                      <a:pt x="200804" y="1287066"/>
                      <a:pt x="199295" y="1219707"/>
                    </a:cubicBezTo>
                    <a:cubicBezTo>
                      <a:pt x="198541" y="1188487"/>
                      <a:pt x="196529" y="1170097"/>
                      <a:pt x="193133" y="1162826"/>
                    </a:cubicBezTo>
                    <a:cubicBezTo>
                      <a:pt x="191750" y="1159832"/>
                      <a:pt x="185211" y="1158977"/>
                      <a:pt x="147486" y="1157052"/>
                    </a:cubicBezTo>
                    <a:cubicBezTo>
                      <a:pt x="88384" y="1153845"/>
                      <a:pt x="29533" y="1145291"/>
                      <a:pt x="12431" y="1137379"/>
                    </a:cubicBezTo>
                    <a:cubicBezTo>
                      <a:pt x="9916" y="1136310"/>
                      <a:pt x="6018" y="1132247"/>
                      <a:pt x="3880" y="1128398"/>
                    </a:cubicBezTo>
                    <a:lnTo>
                      <a:pt x="-18" y="1121341"/>
                    </a:lnTo>
                    <a:lnTo>
                      <a:pt x="1114" y="872219"/>
                    </a:lnTo>
                    <a:cubicBezTo>
                      <a:pt x="2120" y="635285"/>
                      <a:pt x="359" y="236048"/>
                      <a:pt x="-2282" y="106675"/>
                    </a:cubicBezTo>
                    <a:cubicBezTo>
                      <a:pt x="-3162" y="63908"/>
                      <a:pt x="-2407" y="56423"/>
                      <a:pt x="3754" y="45090"/>
                    </a:cubicBezTo>
                    <a:cubicBezTo>
                      <a:pt x="12305" y="29693"/>
                      <a:pt x="24126" y="24561"/>
                      <a:pt x="70779" y="16008"/>
                    </a:cubicBezTo>
                    <a:cubicBezTo>
                      <a:pt x="154780" y="398"/>
                      <a:pt x="268583" y="-7087"/>
                      <a:pt x="352584" y="-2596"/>
                    </a:cubicBezTo>
                    <a:cubicBezTo>
                      <a:pt x="408920" y="398"/>
                      <a:pt x="432309" y="3605"/>
                      <a:pt x="482609" y="14725"/>
                    </a:cubicBezTo>
                    <a:cubicBezTo>
                      <a:pt x="524861" y="23920"/>
                      <a:pt x="527125" y="24775"/>
                      <a:pt x="541712" y="33115"/>
                    </a:cubicBezTo>
                    <a:cubicBezTo>
                      <a:pt x="553029" y="39744"/>
                      <a:pt x="557556" y="47014"/>
                      <a:pt x="558688" y="60059"/>
                    </a:cubicBezTo>
                    <a:cubicBezTo>
                      <a:pt x="560574" y="83795"/>
                      <a:pt x="563215" y="294426"/>
                      <a:pt x="564975" y="560014"/>
                    </a:cubicBezTo>
                    <a:cubicBezTo>
                      <a:pt x="565981" y="720607"/>
                      <a:pt x="567365" y="910068"/>
                      <a:pt x="567993" y="981277"/>
                    </a:cubicBezTo>
                    <a:cubicBezTo>
                      <a:pt x="568748" y="1076221"/>
                      <a:pt x="568748" y="1112146"/>
                      <a:pt x="567616" y="1115995"/>
                    </a:cubicBezTo>
                    <a:cubicBezTo>
                      <a:pt x="565856" y="1122624"/>
                      <a:pt x="554161" y="1129040"/>
                      <a:pt x="533286" y="1135027"/>
                    </a:cubicBezTo>
                    <a:cubicBezTo>
                      <a:pt x="516687" y="1139945"/>
                      <a:pt x="445765" y="1149568"/>
                      <a:pt x="409046" y="1151920"/>
                    </a:cubicBezTo>
                    <a:lnTo>
                      <a:pt x="385279" y="1153417"/>
                    </a:lnTo>
                    <a:lnTo>
                      <a:pt x="382261" y="1169455"/>
                    </a:lnTo>
                    <a:cubicBezTo>
                      <a:pt x="376854" y="1199179"/>
                      <a:pt x="375093" y="1270173"/>
                      <a:pt x="378991" y="1307809"/>
                    </a:cubicBezTo>
                    <a:cubicBezTo>
                      <a:pt x="383015" y="1348011"/>
                      <a:pt x="388297" y="1360413"/>
                      <a:pt x="408668" y="1378376"/>
                    </a:cubicBezTo>
                    <a:cubicBezTo>
                      <a:pt x="420237" y="1388640"/>
                      <a:pt x="423884" y="1393131"/>
                      <a:pt x="430675" y="1405747"/>
                    </a:cubicBezTo>
                    <a:cubicBezTo>
                      <a:pt x="442998" y="1428414"/>
                      <a:pt x="446519" y="1442955"/>
                      <a:pt x="448154" y="1476314"/>
                    </a:cubicBezTo>
                    <a:cubicBezTo>
                      <a:pt x="449537" y="1506251"/>
                      <a:pt x="444633" y="1533623"/>
                      <a:pt x="434824" y="1551585"/>
                    </a:cubicBezTo>
                    <a:cubicBezTo>
                      <a:pt x="426776" y="1566126"/>
                      <a:pt x="397980" y="1588152"/>
                      <a:pt x="371321" y="1600341"/>
                    </a:cubicBezTo>
                    <a:cubicBezTo>
                      <a:pt x="337997" y="1615523"/>
                      <a:pt x="277763" y="1622152"/>
                      <a:pt x="238655" y="1615309"/>
                    </a:cubicBezTo>
                    <a:close/>
                  </a:path>
                </a:pathLst>
              </a:custGeom>
              <a:grpFill/>
              <a:ln w="5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de-DE" sz="1800" b="0" i="0" u="none" strike="noStrike" kern="0" cap="none" spc="0" normalizeH="0" baseline="0" noProof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33" name="Freihandform: Form 232">
                <a:extLst>
                  <a:ext uri="{FF2B5EF4-FFF2-40B4-BE49-F238E27FC236}">
                    <a16:creationId xmlns:a16="http://schemas.microsoft.com/office/drawing/2014/main" id="{8FD68FAB-5D42-6D5E-CFBD-7397719F4C39}"/>
                  </a:ext>
                </a:extLst>
              </p:cNvPr>
              <p:cNvSpPr/>
              <p:nvPr/>
            </p:nvSpPr>
            <p:spPr>
              <a:xfrm flipV="1">
                <a:off x="6627843" y="4673943"/>
                <a:ext cx="571104" cy="313616"/>
              </a:xfrm>
              <a:custGeom>
                <a:avLst/>
                <a:gdLst>
                  <a:gd name="connsiteX0" fmla="*/ 238655 w 571104"/>
                  <a:gd name="connsiteY0" fmla="*/ 1615309 h 1621888"/>
                  <a:gd name="connsiteX1" fmla="*/ 157546 w 571104"/>
                  <a:gd name="connsiteY1" fmla="*/ 1577674 h 1621888"/>
                  <a:gd name="connsiteX2" fmla="*/ 126486 w 571104"/>
                  <a:gd name="connsiteY2" fmla="*/ 1528063 h 1621888"/>
                  <a:gd name="connsiteX3" fmla="*/ 121456 w 571104"/>
                  <a:gd name="connsiteY3" fmla="*/ 1485723 h 1621888"/>
                  <a:gd name="connsiteX4" fmla="*/ 124851 w 571104"/>
                  <a:gd name="connsiteY4" fmla="*/ 1445735 h 1621888"/>
                  <a:gd name="connsiteX5" fmla="*/ 138558 w 571104"/>
                  <a:gd name="connsiteY5" fmla="*/ 1413445 h 1621888"/>
                  <a:gd name="connsiteX6" fmla="*/ 166349 w 571104"/>
                  <a:gd name="connsiteY6" fmla="*/ 1378162 h 1621888"/>
                  <a:gd name="connsiteX7" fmla="*/ 179930 w 571104"/>
                  <a:gd name="connsiteY7" fmla="*/ 1364476 h 1621888"/>
                  <a:gd name="connsiteX8" fmla="*/ 199295 w 571104"/>
                  <a:gd name="connsiteY8" fmla="*/ 1219707 h 1621888"/>
                  <a:gd name="connsiteX9" fmla="*/ 193133 w 571104"/>
                  <a:gd name="connsiteY9" fmla="*/ 1162826 h 1621888"/>
                  <a:gd name="connsiteX10" fmla="*/ 147486 w 571104"/>
                  <a:gd name="connsiteY10" fmla="*/ 1157052 h 1621888"/>
                  <a:gd name="connsiteX11" fmla="*/ 12431 w 571104"/>
                  <a:gd name="connsiteY11" fmla="*/ 1137379 h 1621888"/>
                  <a:gd name="connsiteX12" fmla="*/ 3880 w 571104"/>
                  <a:gd name="connsiteY12" fmla="*/ 1128398 h 1621888"/>
                  <a:gd name="connsiteX13" fmla="*/ -18 w 571104"/>
                  <a:gd name="connsiteY13" fmla="*/ 1121341 h 1621888"/>
                  <a:gd name="connsiteX14" fmla="*/ 1114 w 571104"/>
                  <a:gd name="connsiteY14" fmla="*/ 872219 h 1621888"/>
                  <a:gd name="connsiteX15" fmla="*/ -2282 w 571104"/>
                  <a:gd name="connsiteY15" fmla="*/ 106675 h 1621888"/>
                  <a:gd name="connsiteX16" fmla="*/ 3754 w 571104"/>
                  <a:gd name="connsiteY16" fmla="*/ 45090 h 1621888"/>
                  <a:gd name="connsiteX17" fmla="*/ 70779 w 571104"/>
                  <a:gd name="connsiteY17" fmla="*/ 16008 h 1621888"/>
                  <a:gd name="connsiteX18" fmla="*/ 352584 w 571104"/>
                  <a:gd name="connsiteY18" fmla="*/ -2596 h 1621888"/>
                  <a:gd name="connsiteX19" fmla="*/ 482609 w 571104"/>
                  <a:gd name="connsiteY19" fmla="*/ 14725 h 1621888"/>
                  <a:gd name="connsiteX20" fmla="*/ 541712 w 571104"/>
                  <a:gd name="connsiteY20" fmla="*/ 33115 h 1621888"/>
                  <a:gd name="connsiteX21" fmla="*/ 558688 w 571104"/>
                  <a:gd name="connsiteY21" fmla="*/ 60059 h 1621888"/>
                  <a:gd name="connsiteX22" fmla="*/ 564975 w 571104"/>
                  <a:gd name="connsiteY22" fmla="*/ 560014 h 1621888"/>
                  <a:gd name="connsiteX23" fmla="*/ 567993 w 571104"/>
                  <a:gd name="connsiteY23" fmla="*/ 981277 h 1621888"/>
                  <a:gd name="connsiteX24" fmla="*/ 567616 w 571104"/>
                  <a:gd name="connsiteY24" fmla="*/ 1115995 h 1621888"/>
                  <a:gd name="connsiteX25" fmla="*/ 533286 w 571104"/>
                  <a:gd name="connsiteY25" fmla="*/ 1135027 h 1621888"/>
                  <a:gd name="connsiteX26" fmla="*/ 409046 w 571104"/>
                  <a:gd name="connsiteY26" fmla="*/ 1151920 h 1621888"/>
                  <a:gd name="connsiteX27" fmla="*/ 385279 w 571104"/>
                  <a:gd name="connsiteY27" fmla="*/ 1153417 h 1621888"/>
                  <a:gd name="connsiteX28" fmla="*/ 382261 w 571104"/>
                  <a:gd name="connsiteY28" fmla="*/ 1169455 h 1621888"/>
                  <a:gd name="connsiteX29" fmla="*/ 378991 w 571104"/>
                  <a:gd name="connsiteY29" fmla="*/ 1307809 h 1621888"/>
                  <a:gd name="connsiteX30" fmla="*/ 408668 w 571104"/>
                  <a:gd name="connsiteY30" fmla="*/ 1378376 h 1621888"/>
                  <a:gd name="connsiteX31" fmla="*/ 430675 w 571104"/>
                  <a:gd name="connsiteY31" fmla="*/ 1405747 h 1621888"/>
                  <a:gd name="connsiteX32" fmla="*/ 448154 w 571104"/>
                  <a:gd name="connsiteY32" fmla="*/ 1476314 h 1621888"/>
                  <a:gd name="connsiteX33" fmla="*/ 434824 w 571104"/>
                  <a:gd name="connsiteY33" fmla="*/ 1551585 h 1621888"/>
                  <a:gd name="connsiteX34" fmla="*/ 371321 w 571104"/>
                  <a:gd name="connsiteY34" fmla="*/ 1600341 h 1621888"/>
                  <a:gd name="connsiteX35" fmla="*/ 238655 w 571104"/>
                  <a:gd name="connsiteY35" fmla="*/ 1615309 h 162188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</a:cxnLst>
                <a:rect l="l" t="t" r="r" b="b"/>
                <a:pathLst>
                  <a:path w="571104" h="1621888">
                    <a:moveTo>
                      <a:pt x="238655" y="1615309"/>
                    </a:moveTo>
                    <a:cubicBezTo>
                      <a:pt x="204577" y="1609322"/>
                      <a:pt x="179175" y="1597561"/>
                      <a:pt x="157546" y="1577674"/>
                    </a:cubicBezTo>
                    <a:cubicBezTo>
                      <a:pt x="141450" y="1563133"/>
                      <a:pt x="132774" y="1549233"/>
                      <a:pt x="126486" y="1528063"/>
                    </a:cubicBezTo>
                    <a:cubicBezTo>
                      <a:pt x="121456" y="1510956"/>
                      <a:pt x="121456" y="1510742"/>
                      <a:pt x="121456" y="1485723"/>
                    </a:cubicBezTo>
                    <a:cubicBezTo>
                      <a:pt x="121456" y="1463270"/>
                      <a:pt x="121708" y="1458993"/>
                      <a:pt x="124851" y="1445735"/>
                    </a:cubicBezTo>
                    <a:cubicBezTo>
                      <a:pt x="127744" y="1433118"/>
                      <a:pt x="130007" y="1427773"/>
                      <a:pt x="138558" y="1413445"/>
                    </a:cubicBezTo>
                    <a:cubicBezTo>
                      <a:pt x="151133" y="1392275"/>
                      <a:pt x="152265" y="1390778"/>
                      <a:pt x="166349" y="1378162"/>
                    </a:cubicBezTo>
                    <a:cubicBezTo>
                      <a:pt x="172636" y="1372388"/>
                      <a:pt x="178672" y="1366401"/>
                      <a:pt x="179930" y="1364476"/>
                    </a:cubicBezTo>
                    <a:cubicBezTo>
                      <a:pt x="193133" y="1344803"/>
                      <a:pt x="200804" y="1287066"/>
                      <a:pt x="199295" y="1219707"/>
                    </a:cubicBezTo>
                    <a:cubicBezTo>
                      <a:pt x="198541" y="1188487"/>
                      <a:pt x="196529" y="1170097"/>
                      <a:pt x="193133" y="1162826"/>
                    </a:cubicBezTo>
                    <a:cubicBezTo>
                      <a:pt x="191750" y="1159832"/>
                      <a:pt x="185211" y="1158977"/>
                      <a:pt x="147486" y="1157052"/>
                    </a:cubicBezTo>
                    <a:cubicBezTo>
                      <a:pt x="88384" y="1153845"/>
                      <a:pt x="29533" y="1145291"/>
                      <a:pt x="12431" y="1137379"/>
                    </a:cubicBezTo>
                    <a:cubicBezTo>
                      <a:pt x="9916" y="1136310"/>
                      <a:pt x="6018" y="1132247"/>
                      <a:pt x="3880" y="1128398"/>
                    </a:cubicBezTo>
                    <a:lnTo>
                      <a:pt x="-18" y="1121341"/>
                    </a:lnTo>
                    <a:lnTo>
                      <a:pt x="1114" y="872219"/>
                    </a:lnTo>
                    <a:cubicBezTo>
                      <a:pt x="2120" y="635285"/>
                      <a:pt x="359" y="236048"/>
                      <a:pt x="-2282" y="106675"/>
                    </a:cubicBezTo>
                    <a:cubicBezTo>
                      <a:pt x="-3162" y="63908"/>
                      <a:pt x="-2407" y="56423"/>
                      <a:pt x="3754" y="45090"/>
                    </a:cubicBezTo>
                    <a:cubicBezTo>
                      <a:pt x="12305" y="29693"/>
                      <a:pt x="24126" y="24561"/>
                      <a:pt x="70779" y="16008"/>
                    </a:cubicBezTo>
                    <a:cubicBezTo>
                      <a:pt x="154780" y="398"/>
                      <a:pt x="268583" y="-7087"/>
                      <a:pt x="352584" y="-2596"/>
                    </a:cubicBezTo>
                    <a:cubicBezTo>
                      <a:pt x="408920" y="398"/>
                      <a:pt x="432309" y="3605"/>
                      <a:pt x="482609" y="14725"/>
                    </a:cubicBezTo>
                    <a:cubicBezTo>
                      <a:pt x="524861" y="23920"/>
                      <a:pt x="527125" y="24775"/>
                      <a:pt x="541712" y="33115"/>
                    </a:cubicBezTo>
                    <a:cubicBezTo>
                      <a:pt x="553029" y="39744"/>
                      <a:pt x="557556" y="47014"/>
                      <a:pt x="558688" y="60059"/>
                    </a:cubicBezTo>
                    <a:cubicBezTo>
                      <a:pt x="560574" y="83795"/>
                      <a:pt x="563215" y="294426"/>
                      <a:pt x="564975" y="560014"/>
                    </a:cubicBezTo>
                    <a:cubicBezTo>
                      <a:pt x="565981" y="720607"/>
                      <a:pt x="567365" y="910068"/>
                      <a:pt x="567993" y="981277"/>
                    </a:cubicBezTo>
                    <a:cubicBezTo>
                      <a:pt x="568748" y="1076221"/>
                      <a:pt x="568748" y="1112146"/>
                      <a:pt x="567616" y="1115995"/>
                    </a:cubicBezTo>
                    <a:cubicBezTo>
                      <a:pt x="565856" y="1122624"/>
                      <a:pt x="554161" y="1129040"/>
                      <a:pt x="533286" y="1135027"/>
                    </a:cubicBezTo>
                    <a:cubicBezTo>
                      <a:pt x="516687" y="1139945"/>
                      <a:pt x="445765" y="1149568"/>
                      <a:pt x="409046" y="1151920"/>
                    </a:cubicBezTo>
                    <a:lnTo>
                      <a:pt x="385279" y="1153417"/>
                    </a:lnTo>
                    <a:lnTo>
                      <a:pt x="382261" y="1169455"/>
                    </a:lnTo>
                    <a:cubicBezTo>
                      <a:pt x="376854" y="1199179"/>
                      <a:pt x="375093" y="1270173"/>
                      <a:pt x="378991" y="1307809"/>
                    </a:cubicBezTo>
                    <a:cubicBezTo>
                      <a:pt x="383015" y="1348011"/>
                      <a:pt x="388297" y="1360413"/>
                      <a:pt x="408668" y="1378376"/>
                    </a:cubicBezTo>
                    <a:cubicBezTo>
                      <a:pt x="420237" y="1388640"/>
                      <a:pt x="423884" y="1393131"/>
                      <a:pt x="430675" y="1405747"/>
                    </a:cubicBezTo>
                    <a:cubicBezTo>
                      <a:pt x="442998" y="1428414"/>
                      <a:pt x="446519" y="1442955"/>
                      <a:pt x="448154" y="1476314"/>
                    </a:cubicBezTo>
                    <a:cubicBezTo>
                      <a:pt x="449537" y="1506251"/>
                      <a:pt x="444633" y="1533623"/>
                      <a:pt x="434824" y="1551585"/>
                    </a:cubicBezTo>
                    <a:cubicBezTo>
                      <a:pt x="426776" y="1566126"/>
                      <a:pt x="397980" y="1588152"/>
                      <a:pt x="371321" y="1600341"/>
                    </a:cubicBezTo>
                    <a:cubicBezTo>
                      <a:pt x="337997" y="1615523"/>
                      <a:pt x="277763" y="1622152"/>
                      <a:pt x="238655" y="1615309"/>
                    </a:cubicBezTo>
                    <a:close/>
                  </a:path>
                </a:pathLst>
              </a:custGeom>
              <a:grpFill/>
              <a:ln w="5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de-DE" sz="1800" b="0" i="0" u="none" strike="noStrike" kern="0" cap="none" spc="0" normalizeH="0" baseline="0" noProof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34" name="Freihandform: Form 233">
                <a:extLst>
                  <a:ext uri="{FF2B5EF4-FFF2-40B4-BE49-F238E27FC236}">
                    <a16:creationId xmlns:a16="http://schemas.microsoft.com/office/drawing/2014/main" id="{E68FC7BD-52D0-81B8-91A2-E95FB7A38D65}"/>
                  </a:ext>
                </a:extLst>
              </p:cNvPr>
              <p:cNvSpPr/>
              <p:nvPr/>
            </p:nvSpPr>
            <p:spPr>
              <a:xfrm flipV="1">
                <a:off x="7273323" y="4566694"/>
                <a:ext cx="571104" cy="420866"/>
              </a:xfrm>
              <a:custGeom>
                <a:avLst/>
                <a:gdLst>
                  <a:gd name="connsiteX0" fmla="*/ 238655 w 571104"/>
                  <a:gd name="connsiteY0" fmla="*/ 1615309 h 1621888"/>
                  <a:gd name="connsiteX1" fmla="*/ 157546 w 571104"/>
                  <a:gd name="connsiteY1" fmla="*/ 1577674 h 1621888"/>
                  <a:gd name="connsiteX2" fmla="*/ 126486 w 571104"/>
                  <a:gd name="connsiteY2" fmla="*/ 1528063 h 1621888"/>
                  <a:gd name="connsiteX3" fmla="*/ 121456 w 571104"/>
                  <a:gd name="connsiteY3" fmla="*/ 1485723 h 1621888"/>
                  <a:gd name="connsiteX4" fmla="*/ 124851 w 571104"/>
                  <a:gd name="connsiteY4" fmla="*/ 1445735 h 1621888"/>
                  <a:gd name="connsiteX5" fmla="*/ 138558 w 571104"/>
                  <a:gd name="connsiteY5" fmla="*/ 1413445 h 1621888"/>
                  <a:gd name="connsiteX6" fmla="*/ 166349 w 571104"/>
                  <a:gd name="connsiteY6" fmla="*/ 1378162 h 1621888"/>
                  <a:gd name="connsiteX7" fmla="*/ 179930 w 571104"/>
                  <a:gd name="connsiteY7" fmla="*/ 1364476 h 1621888"/>
                  <a:gd name="connsiteX8" fmla="*/ 199295 w 571104"/>
                  <a:gd name="connsiteY8" fmla="*/ 1219707 h 1621888"/>
                  <a:gd name="connsiteX9" fmla="*/ 193133 w 571104"/>
                  <a:gd name="connsiteY9" fmla="*/ 1162826 h 1621888"/>
                  <a:gd name="connsiteX10" fmla="*/ 147486 w 571104"/>
                  <a:gd name="connsiteY10" fmla="*/ 1157052 h 1621888"/>
                  <a:gd name="connsiteX11" fmla="*/ 12431 w 571104"/>
                  <a:gd name="connsiteY11" fmla="*/ 1137379 h 1621888"/>
                  <a:gd name="connsiteX12" fmla="*/ 3880 w 571104"/>
                  <a:gd name="connsiteY12" fmla="*/ 1128398 h 1621888"/>
                  <a:gd name="connsiteX13" fmla="*/ -18 w 571104"/>
                  <a:gd name="connsiteY13" fmla="*/ 1121341 h 1621888"/>
                  <a:gd name="connsiteX14" fmla="*/ 1114 w 571104"/>
                  <a:gd name="connsiteY14" fmla="*/ 872219 h 1621888"/>
                  <a:gd name="connsiteX15" fmla="*/ -2282 w 571104"/>
                  <a:gd name="connsiteY15" fmla="*/ 106675 h 1621888"/>
                  <a:gd name="connsiteX16" fmla="*/ 3754 w 571104"/>
                  <a:gd name="connsiteY16" fmla="*/ 45090 h 1621888"/>
                  <a:gd name="connsiteX17" fmla="*/ 70779 w 571104"/>
                  <a:gd name="connsiteY17" fmla="*/ 16008 h 1621888"/>
                  <a:gd name="connsiteX18" fmla="*/ 352584 w 571104"/>
                  <a:gd name="connsiteY18" fmla="*/ -2596 h 1621888"/>
                  <a:gd name="connsiteX19" fmla="*/ 482609 w 571104"/>
                  <a:gd name="connsiteY19" fmla="*/ 14725 h 1621888"/>
                  <a:gd name="connsiteX20" fmla="*/ 541712 w 571104"/>
                  <a:gd name="connsiteY20" fmla="*/ 33115 h 1621888"/>
                  <a:gd name="connsiteX21" fmla="*/ 558688 w 571104"/>
                  <a:gd name="connsiteY21" fmla="*/ 60059 h 1621888"/>
                  <a:gd name="connsiteX22" fmla="*/ 564975 w 571104"/>
                  <a:gd name="connsiteY22" fmla="*/ 560014 h 1621888"/>
                  <a:gd name="connsiteX23" fmla="*/ 567993 w 571104"/>
                  <a:gd name="connsiteY23" fmla="*/ 981277 h 1621888"/>
                  <a:gd name="connsiteX24" fmla="*/ 567616 w 571104"/>
                  <a:gd name="connsiteY24" fmla="*/ 1115995 h 1621888"/>
                  <a:gd name="connsiteX25" fmla="*/ 533286 w 571104"/>
                  <a:gd name="connsiteY25" fmla="*/ 1135027 h 1621888"/>
                  <a:gd name="connsiteX26" fmla="*/ 409046 w 571104"/>
                  <a:gd name="connsiteY26" fmla="*/ 1151920 h 1621888"/>
                  <a:gd name="connsiteX27" fmla="*/ 385279 w 571104"/>
                  <a:gd name="connsiteY27" fmla="*/ 1153417 h 1621888"/>
                  <a:gd name="connsiteX28" fmla="*/ 382261 w 571104"/>
                  <a:gd name="connsiteY28" fmla="*/ 1169455 h 1621888"/>
                  <a:gd name="connsiteX29" fmla="*/ 378991 w 571104"/>
                  <a:gd name="connsiteY29" fmla="*/ 1307809 h 1621888"/>
                  <a:gd name="connsiteX30" fmla="*/ 408668 w 571104"/>
                  <a:gd name="connsiteY30" fmla="*/ 1378376 h 1621888"/>
                  <a:gd name="connsiteX31" fmla="*/ 430675 w 571104"/>
                  <a:gd name="connsiteY31" fmla="*/ 1405747 h 1621888"/>
                  <a:gd name="connsiteX32" fmla="*/ 448154 w 571104"/>
                  <a:gd name="connsiteY32" fmla="*/ 1476314 h 1621888"/>
                  <a:gd name="connsiteX33" fmla="*/ 434824 w 571104"/>
                  <a:gd name="connsiteY33" fmla="*/ 1551585 h 1621888"/>
                  <a:gd name="connsiteX34" fmla="*/ 371321 w 571104"/>
                  <a:gd name="connsiteY34" fmla="*/ 1600341 h 1621888"/>
                  <a:gd name="connsiteX35" fmla="*/ 238655 w 571104"/>
                  <a:gd name="connsiteY35" fmla="*/ 1615309 h 162188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</a:cxnLst>
                <a:rect l="l" t="t" r="r" b="b"/>
                <a:pathLst>
                  <a:path w="571104" h="1621888">
                    <a:moveTo>
                      <a:pt x="238655" y="1615309"/>
                    </a:moveTo>
                    <a:cubicBezTo>
                      <a:pt x="204577" y="1609322"/>
                      <a:pt x="179175" y="1597561"/>
                      <a:pt x="157546" y="1577674"/>
                    </a:cubicBezTo>
                    <a:cubicBezTo>
                      <a:pt x="141450" y="1563133"/>
                      <a:pt x="132774" y="1549233"/>
                      <a:pt x="126486" y="1528063"/>
                    </a:cubicBezTo>
                    <a:cubicBezTo>
                      <a:pt x="121456" y="1510956"/>
                      <a:pt x="121456" y="1510742"/>
                      <a:pt x="121456" y="1485723"/>
                    </a:cubicBezTo>
                    <a:cubicBezTo>
                      <a:pt x="121456" y="1463270"/>
                      <a:pt x="121708" y="1458993"/>
                      <a:pt x="124851" y="1445735"/>
                    </a:cubicBezTo>
                    <a:cubicBezTo>
                      <a:pt x="127744" y="1433118"/>
                      <a:pt x="130007" y="1427773"/>
                      <a:pt x="138558" y="1413445"/>
                    </a:cubicBezTo>
                    <a:cubicBezTo>
                      <a:pt x="151133" y="1392275"/>
                      <a:pt x="152265" y="1390778"/>
                      <a:pt x="166349" y="1378162"/>
                    </a:cubicBezTo>
                    <a:cubicBezTo>
                      <a:pt x="172636" y="1372388"/>
                      <a:pt x="178672" y="1366401"/>
                      <a:pt x="179930" y="1364476"/>
                    </a:cubicBezTo>
                    <a:cubicBezTo>
                      <a:pt x="193133" y="1344803"/>
                      <a:pt x="200804" y="1287066"/>
                      <a:pt x="199295" y="1219707"/>
                    </a:cubicBezTo>
                    <a:cubicBezTo>
                      <a:pt x="198541" y="1188487"/>
                      <a:pt x="196529" y="1170097"/>
                      <a:pt x="193133" y="1162826"/>
                    </a:cubicBezTo>
                    <a:cubicBezTo>
                      <a:pt x="191750" y="1159832"/>
                      <a:pt x="185211" y="1158977"/>
                      <a:pt x="147486" y="1157052"/>
                    </a:cubicBezTo>
                    <a:cubicBezTo>
                      <a:pt x="88384" y="1153845"/>
                      <a:pt x="29533" y="1145291"/>
                      <a:pt x="12431" y="1137379"/>
                    </a:cubicBezTo>
                    <a:cubicBezTo>
                      <a:pt x="9916" y="1136310"/>
                      <a:pt x="6018" y="1132247"/>
                      <a:pt x="3880" y="1128398"/>
                    </a:cubicBezTo>
                    <a:lnTo>
                      <a:pt x="-18" y="1121341"/>
                    </a:lnTo>
                    <a:lnTo>
                      <a:pt x="1114" y="872219"/>
                    </a:lnTo>
                    <a:cubicBezTo>
                      <a:pt x="2120" y="635285"/>
                      <a:pt x="359" y="236048"/>
                      <a:pt x="-2282" y="106675"/>
                    </a:cubicBezTo>
                    <a:cubicBezTo>
                      <a:pt x="-3162" y="63908"/>
                      <a:pt x="-2407" y="56423"/>
                      <a:pt x="3754" y="45090"/>
                    </a:cubicBezTo>
                    <a:cubicBezTo>
                      <a:pt x="12305" y="29693"/>
                      <a:pt x="24126" y="24561"/>
                      <a:pt x="70779" y="16008"/>
                    </a:cubicBezTo>
                    <a:cubicBezTo>
                      <a:pt x="154780" y="398"/>
                      <a:pt x="268583" y="-7087"/>
                      <a:pt x="352584" y="-2596"/>
                    </a:cubicBezTo>
                    <a:cubicBezTo>
                      <a:pt x="408920" y="398"/>
                      <a:pt x="432309" y="3605"/>
                      <a:pt x="482609" y="14725"/>
                    </a:cubicBezTo>
                    <a:cubicBezTo>
                      <a:pt x="524861" y="23920"/>
                      <a:pt x="527125" y="24775"/>
                      <a:pt x="541712" y="33115"/>
                    </a:cubicBezTo>
                    <a:cubicBezTo>
                      <a:pt x="553029" y="39744"/>
                      <a:pt x="557556" y="47014"/>
                      <a:pt x="558688" y="60059"/>
                    </a:cubicBezTo>
                    <a:cubicBezTo>
                      <a:pt x="560574" y="83795"/>
                      <a:pt x="563215" y="294426"/>
                      <a:pt x="564975" y="560014"/>
                    </a:cubicBezTo>
                    <a:cubicBezTo>
                      <a:pt x="565981" y="720607"/>
                      <a:pt x="567365" y="910068"/>
                      <a:pt x="567993" y="981277"/>
                    </a:cubicBezTo>
                    <a:cubicBezTo>
                      <a:pt x="568748" y="1076221"/>
                      <a:pt x="568748" y="1112146"/>
                      <a:pt x="567616" y="1115995"/>
                    </a:cubicBezTo>
                    <a:cubicBezTo>
                      <a:pt x="565856" y="1122624"/>
                      <a:pt x="554161" y="1129040"/>
                      <a:pt x="533286" y="1135027"/>
                    </a:cubicBezTo>
                    <a:cubicBezTo>
                      <a:pt x="516687" y="1139945"/>
                      <a:pt x="445765" y="1149568"/>
                      <a:pt x="409046" y="1151920"/>
                    </a:cubicBezTo>
                    <a:lnTo>
                      <a:pt x="385279" y="1153417"/>
                    </a:lnTo>
                    <a:lnTo>
                      <a:pt x="382261" y="1169455"/>
                    </a:lnTo>
                    <a:cubicBezTo>
                      <a:pt x="376854" y="1199179"/>
                      <a:pt x="375093" y="1270173"/>
                      <a:pt x="378991" y="1307809"/>
                    </a:cubicBezTo>
                    <a:cubicBezTo>
                      <a:pt x="383015" y="1348011"/>
                      <a:pt x="388297" y="1360413"/>
                      <a:pt x="408668" y="1378376"/>
                    </a:cubicBezTo>
                    <a:cubicBezTo>
                      <a:pt x="420237" y="1388640"/>
                      <a:pt x="423884" y="1393131"/>
                      <a:pt x="430675" y="1405747"/>
                    </a:cubicBezTo>
                    <a:cubicBezTo>
                      <a:pt x="442998" y="1428414"/>
                      <a:pt x="446519" y="1442955"/>
                      <a:pt x="448154" y="1476314"/>
                    </a:cubicBezTo>
                    <a:cubicBezTo>
                      <a:pt x="449537" y="1506251"/>
                      <a:pt x="444633" y="1533623"/>
                      <a:pt x="434824" y="1551585"/>
                    </a:cubicBezTo>
                    <a:cubicBezTo>
                      <a:pt x="426776" y="1566126"/>
                      <a:pt x="397980" y="1588152"/>
                      <a:pt x="371321" y="1600341"/>
                    </a:cubicBezTo>
                    <a:cubicBezTo>
                      <a:pt x="337997" y="1615523"/>
                      <a:pt x="277763" y="1622152"/>
                      <a:pt x="238655" y="1615309"/>
                    </a:cubicBezTo>
                    <a:close/>
                  </a:path>
                </a:pathLst>
              </a:custGeom>
              <a:grpFill/>
              <a:ln w="5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de-DE" sz="1800" b="0" i="0" u="none" strike="noStrike" kern="0" cap="none" spc="0" normalizeH="0" baseline="0" noProof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35" name="Freihandform: Form 234">
                <a:extLst>
                  <a:ext uri="{FF2B5EF4-FFF2-40B4-BE49-F238E27FC236}">
                    <a16:creationId xmlns:a16="http://schemas.microsoft.com/office/drawing/2014/main" id="{6FAC047E-0E97-2569-AAC8-9E1798ECFC72}"/>
                  </a:ext>
                </a:extLst>
              </p:cNvPr>
              <p:cNvSpPr/>
              <p:nvPr/>
            </p:nvSpPr>
            <p:spPr>
              <a:xfrm flipV="1">
                <a:off x="7918805" y="4570899"/>
                <a:ext cx="571104" cy="416666"/>
              </a:xfrm>
              <a:custGeom>
                <a:avLst/>
                <a:gdLst>
                  <a:gd name="connsiteX0" fmla="*/ 238655 w 571104"/>
                  <a:gd name="connsiteY0" fmla="*/ 1615309 h 1621888"/>
                  <a:gd name="connsiteX1" fmla="*/ 157546 w 571104"/>
                  <a:gd name="connsiteY1" fmla="*/ 1577674 h 1621888"/>
                  <a:gd name="connsiteX2" fmla="*/ 126486 w 571104"/>
                  <a:gd name="connsiteY2" fmla="*/ 1528063 h 1621888"/>
                  <a:gd name="connsiteX3" fmla="*/ 121456 w 571104"/>
                  <a:gd name="connsiteY3" fmla="*/ 1485723 h 1621888"/>
                  <a:gd name="connsiteX4" fmla="*/ 124851 w 571104"/>
                  <a:gd name="connsiteY4" fmla="*/ 1445735 h 1621888"/>
                  <a:gd name="connsiteX5" fmla="*/ 138558 w 571104"/>
                  <a:gd name="connsiteY5" fmla="*/ 1413445 h 1621888"/>
                  <a:gd name="connsiteX6" fmla="*/ 166349 w 571104"/>
                  <a:gd name="connsiteY6" fmla="*/ 1378162 h 1621888"/>
                  <a:gd name="connsiteX7" fmla="*/ 179930 w 571104"/>
                  <a:gd name="connsiteY7" fmla="*/ 1364476 h 1621888"/>
                  <a:gd name="connsiteX8" fmla="*/ 199295 w 571104"/>
                  <a:gd name="connsiteY8" fmla="*/ 1219707 h 1621888"/>
                  <a:gd name="connsiteX9" fmla="*/ 193133 w 571104"/>
                  <a:gd name="connsiteY9" fmla="*/ 1162826 h 1621888"/>
                  <a:gd name="connsiteX10" fmla="*/ 147486 w 571104"/>
                  <a:gd name="connsiteY10" fmla="*/ 1157052 h 1621888"/>
                  <a:gd name="connsiteX11" fmla="*/ 12431 w 571104"/>
                  <a:gd name="connsiteY11" fmla="*/ 1137379 h 1621888"/>
                  <a:gd name="connsiteX12" fmla="*/ 3880 w 571104"/>
                  <a:gd name="connsiteY12" fmla="*/ 1128398 h 1621888"/>
                  <a:gd name="connsiteX13" fmla="*/ -18 w 571104"/>
                  <a:gd name="connsiteY13" fmla="*/ 1121341 h 1621888"/>
                  <a:gd name="connsiteX14" fmla="*/ 1114 w 571104"/>
                  <a:gd name="connsiteY14" fmla="*/ 872219 h 1621888"/>
                  <a:gd name="connsiteX15" fmla="*/ -2282 w 571104"/>
                  <a:gd name="connsiteY15" fmla="*/ 106675 h 1621888"/>
                  <a:gd name="connsiteX16" fmla="*/ 3754 w 571104"/>
                  <a:gd name="connsiteY16" fmla="*/ 45090 h 1621888"/>
                  <a:gd name="connsiteX17" fmla="*/ 70779 w 571104"/>
                  <a:gd name="connsiteY17" fmla="*/ 16008 h 1621888"/>
                  <a:gd name="connsiteX18" fmla="*/ 352584 w 571104"/>
                  <a:gd name="connsiteY18" fmla="*/ -2596 h 1621888"/>
                  <a:gd name="connsiteX19" fmla="*/ 482609 w 571104"/>
                  <a:gd name="connsiteY19" fmla="*/ 14725 h 1621888"/>
                  <a:gd name="connsiteX20" fmla="*/ 541712 w 571104"/>
                  <a:gd name="connsiteY20" fmla="*/ 33115 h 1621888"/>
                  <a:gd name="connsiteX21" fmla="*/ 558688 w 571104"/>
                  <a:gd name="connsiteY21" fmla="*/ 60059 h 1621888"/>
                  <a:gd name="connsiteX22" fmla="*/ 564975 w 571104"/>
                  <a:gd name="connsiteY22" fmla="*/ 560014 h 1621888"/>
                  <a:gd name="connsiteX23" fmla="*/ 567993 w 571104"/>
                  <a:gd name="connsiteY23" fmla="*/ 981277 h 1621888"/>
                  <a:gd name="connsiteX24" fmla="*/ 567616 w 571104"/>
                  <a:gd name="connsiteY24" fmla="*/ 1115995 h 1621888"/>
                  <a:gd name="connsiteX25" fmla="*/ 533286 w 571104"/>
                  <a:gd name="connsiteY25" fmla="*/ 1135027 h 1621888"/>
                  <a:gd name="connsiteX26" fmla="*/ 409046 w 571104"/>
                  <a:gd name="connsiteY26" fmla="*/ 1151920 h 1621888"/>
                  <a:gd name="connsiteX27" fmla="*/ 385279 w 571104"/>
                  <a:gd name="connsiteY27" fmla="*/ 1153417 h 1621888"/>
                  <a:gd name="connsiteX28" fmla="*/ 382261 w 571104"/>
                  <a:gd name="connsiteY28" fmla="*/ 1169455 h 1621888"/>
                  <a:gd name="connsiteX29" fmla="*/ 378991 w 571104"/>
                  <a:gd name="connsiteY29" fmla="*/ 1307809 h 1621888"/>
                  <a:gd name="connsiteX30" fmla="*/ 408668 w 571104"/>
                  <a:gd name="connsiteY30" fmla="*/ 1378376 h 1621888"/>
                  <a:gd name="connsiteX31" fmla="*/ 430675 w 571104"/>
                  <a:gd name="connsiteY31" fmla="*/ 1405747 h 1621888"/>
                  <a:gd name="connsiteX32" fmla="*/ 448154 w 571104"/>
                  <a:gd name="connsiteY32" fmla="*/ 1476314 h 1621888"/>
                  <a:gd name="connsiteX33" fmla="*/ 434824 w 571104"/>
                  <a:gd name="connsiteY33" fmla="*/ 1551585 h 1621888"/>
                  <a:gd name="connsiteX34" fmla="*/ 371321 w 571104"/>
                  <a:gd name="connsiteY34" fmla="*/ 1600341 h 1621888"/>
                  <a:gd name="connsiteX35" fmla="*/ 238655 w 571104"/>
                  <a:gd name="connsiteY35" fmla="*/ 1615309 h 162188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</a:cxnLst>
                <a:rect l="l" t="t" r="r" b="b"/>
                <a:pathLst>
                  <a:path w="571104" h="1621888">
                    <a:moveTo>
                      <a:pt x="238655" y="1615309"/>
                    </a:moveTo>
                    <a:cubicBezTo>
                      <a:pt x="204577" y="1609322"/>
                      <a:pt x="179175" y="1597561"/>
                      <a:pt x="157546" y="1577674"/>
                    </a:cubicBezTo>
                    <a:cubicBezTo>
                      <a:pt x="141450" y="1563133"/>
                      <a:pt x="132774" y="1549233"/>
                      <a:pt x="126486" y="1528063"/>
                    </a:cubicBezTo>
                    <a:cubicBezTo>
                      <a:pt x="121456" y="1510956"/>
                      <a:pt x="121456" y="1510742"/>
                      <a:pt x="121456" y="1485723"/>
                    </a:cubicBezTo>
                    <a:cubicBezTo>
                      <a:pt x="121456" y="1463270"/>
                      <a:pt x="121708" y="1458993"/>
                      <a:pt x="124851" y="1445735"/>
                    </a:cubicBezTo>
                    <a:cubicBezTo>
                      <a:pt x="127744" y="1433118"/>
                      <a:pt x="130007" y="1427773"/>
                      <a:pt x="138558" y="1413445"/>
                    </a:cubicBezTo>
                    <a:cubicBezTo>
                      <a:pt x="151133" y="1392275"/>
                      <a:pt x="152265" y="1390778"/>
                      <a:pt x="166349" y="1378162"/>
                    </a:cubicBezTo>
                    <a:cubicBezTo>
                      <a:pt x="172636" y="1372388"/>
                      <a:pt x="178672" y="1366401"/>
                      <a:pt x="179930" y="1364476"/>
                    </a:cubicBezTo>
                    <a:cubicBezTo>
                      <a:pt x="193133" y="1344803"/>
                      <a:pt x="200804" y="1287066"/>
                      <a:pt x="199295" y="1219707"/>
                    </a:cubicBezTo>
                    <a:cubicBezTo>
                      <a:pt x="198541" y="1188487"/>
                      <a:pt x="196529" y="1170097"/>
                      <a:pt x="193133" y="1162826"/>
                    </a:cubicBezTo>
                    <a:cubicBezTo>
                      <a:pt x="191750" y="1159832"/>
                      <a:pt x="185211" y="1158977"/>
                      <a:pt x="147486" y="1157052"/>
                    </a:cubicBezTo>
                    <a:cubicBezTo>
                      <a:pt x="88384" y="1153845"/>
                      <a:pt x="29533" y="1145291"/>
                      <a:pt x="12431" y="1137379"/>
                    </a:cubicBezTo>
                    <a:cubicBezTo>
                      <a:pt x="9916" y="1136310"/>
                      <a:pt x="6018" y="1132247"/>
                      <a:pt x="3880" y="1128398"/>
                    </a:cubicBezTo>
                    <a:lnTo>
                      <a:pt x="-18" y="1121341"/>
                    </a:lnTo>
                    <a:lnTo>
                      <a:pt x="1114" y="872219"/>
                    </a:lnTo>
                    <a:cubicBezTo>
                      <a:pt x="2120" y="635285"/>
                      <a:pt x="359" y="236048"/>
                      <a:pt x="-2282" y="106675"/>
                    </a:cubicBezTo>
                    <a:cubicBezTo>
                      <a:pt x="-3162" y="63908"/>
                      <a:pt x="-2407" y="56423"/>
                      <a:pt x="3754" y="45090"/>
                    </a:cubicBezTo>
                    <a:cubicBezTo>
                      <a:pt x="12305" y="29693"/>
                      <a:pt x="24126" y="24561"/>
                      <a:pt x="70779" y="16008"/>
                    </a:cubicBezTo>
                    <a:cubicBezTo>
                      <a:pt x="154780" y="398"/>
                      <a:pt x="268583" y="-7087"/>
                      <a:pt x="352584" y="-2596"/>
                    </a:cubicBezTo>
                    <a:cubicBezTo>
                      <a:pt x="408920" y="398"/>
                      <a:pt x="432309" y="3605"/>
                      <a:pt x="482609" y="14725"/>
                    </a:cubicBezTo>
                    <a:cubicBezTo>
                      <a:pt x="524861" y="23920"/>
                      <a:pt x="527125" y="24775"/>
                      <a:pt x="541712" y="33115"/>
                    </a:cubicBezTo>
                    <a:cubicBezTo>
                      <a:pt x="553029" y="39744"/>
                      <a:pt x="557556" y="47014"/>
                      <a:pt x="558688" y="60059"/>
                    </a:cubicBezTo>
                    <a:cubicBezTo>
                      <a:pt x="560574" y="83795"/>
                      <a:pt x="563215" y="294426"/>
                      <a:pt x="564975" y="560014"/>
                    </a:cubicBezTo>
                    <a:cubicBezTo>
                      <a:pt x="565981" y="720607"/>
                      <a:pt x="567365" y="910068"/>
                      <a:pt x="567993" y="981277"/>
                    </a:cubicBezTo>
                    <a:cubicBezTo>
                      <a:pt x="568748" y="1076221"/>
                      <a:pt x="568748" y="1112146"/>
                      <a:pt x="567616" y="1115995"/>
                    </a:cubicBezTo>
                    <a:cubicBezTo>
                      <a:pt x="565856" y="1122624"/>
                      <a:pt x="554161" y="1129040"/>
                      <a:pt x="533286" y="1135027"/>
                    </a:cubicBezTo>
                    <a:cubicBezTo>
                      <a:pt x="516687" y="1139945"/>
                      <a:pt x="445765" y="1149568"/>
                      <a:pt x="409046" y="1151920"/>
                    </a:cubicBezTo>
                    <a:lnTo>
                      <a:pt x="385279" y="1153417"/>
                    </a:lnTo>
                    <a:lnTo>
                      <a:pt x="382261" y="1169455"/>
                    </a:lnTo>
                    <a:cubicBezTo>
                      <a:pt x="376854" y="1199179"/>
                      <a:pt x="375093" y="1270173"/>
                      <a:pt x="378991" y="1307809"/>
                    </a:cubicBezTo>
                    <a:cubicBezTo>
                      <a:pt x="383015" y="1348011"/>
                      <a:pt x="388297" y="1360413"/>
                      <a:pt x="408668" y="1378376"/>
                    </a:cubicBezTo>
                    <a:cubicBezTo>
                      <a:pt x="420237" y="1388640"/>
                      <a:pt x="423884" y="1393131"/>
                      <a:pt x="430675" y="1405747"/>
                    </a:cubicBezTo>
                    <a:cubicBezTo>
                      <a:pt x="442998" y="1428414"/>
                      <a:pt x="446519" y="1442955"/>
                      <a:pt x="448154" y="1476314"/>
                    </a:cubicBezTo>
                    <a:cubicBezTo>
                      <a:pt x="449537" y="1506251"/>
                      <a:pt x="444633" y="1533623"/>
                      <a:pt x="434824" y="1551585"/>
                    </a:cubicBezTo>
                    <a:cubicBezTo>
                      <a:pt x="426776" y="1566126"/>
                      <a:pt x="397980" y="1588152"/>
                      <a:pt x="371321" y="1600341"/>
                    </a:cubicBezTo>
                    <a:cubicBezTo>
                      <a:pt x="337997" y="1615523"/>
                      <a:pt x="277763" y="1622152"/>
                      <a:pt x="238655" y="1615309"/>
                    </a:cubicBezTo>
                    <a:close/>
                  </a:path>
                </a:pathLst>
              </a:custGeom>
              <a:grpFill/>
              <a:ln w="5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de-DE" sz="1800" b="0" i="0" u="none" strike="noStrike" kern="0" cap="none" spc="0" normalizeH="0" baseline="0" noProof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36" name="Freihandform: Form 235">
                <a:extLst>
                  <a:ext uri="{FF2B5EF4-FFF2-40B4-BE49-F238E27FC236}">
                    <a16:creationId xmlns:a16="http://schemas.microsoft.com/office/drawing/2014/main" id="{0F859BCC-002E-C8E9-F0F3-7D2D0063D856}"/>
                  </a:ext>
                </a:extLst>
              </p:cNvPr>
              <p:cNvSpPr/>
              <p:nvPr/>
            </p:nvSpPr>
            <p:spPr>
              <a:xfrm flipV="1">
                <a:off x="8564283" y="4518563"/>
                <a:ext cx="571104" cy="469002"/>
              </a:xfrm>
              <a:custGeom>
                <a:avLst/>
                <a:gdLst>
                  <a:gd name="connsiteX0" fmla="*/ 238655 w 571104"/>
                  <a:gd name="connsiteY0" fmla="*/ 1615309 h 1621888"/>
                  <a:gd name="connsiteX1" fmla="*/ 157546 w 571104"/>
                  <a:gd name="connsiteY1" fmla="*/ 1577674 h 1621888"/>
                  <a:gd name="connsiteX2" fmla="*/ 126486 w 571104"/>
                  <a:gd name="connsiteY2" fmla="*/ 1528063 h 1621888"/>
                  <a:gd name="connsiteX3" fmla="*/ 121456 w 571104"/>
                  <a:gd name="connsiteY3" fmla="*/ 1485723 h 1621888"/>
                  <a:gd name="connsiteX4" fmla="*/ 124851 w 571104"/>
                  <a:gd name="connsiteY4" fmla="*/ 1445735 h 1621888"/>
                  <a:gd name="connsiteX5" fmla="*/ 138558 w 571104"/>
                  <a:gd name="connsiteY5" fmla="*/ 1413445 h 1621888"/>
                  <a:gd name="connsiteX6" fmla="*/ 166349 w 571104"/>
                  <a:gd name="connsiteY6" fmla="*/ 1378162 h 1621888"/>
                  <a:gd name="connsiteX7" fmla="*/ 179930 w 571104"/>
                  <a:gd name="connsiteY7" fmla="*/ 1364476 h 1621888"/>
                  <a:gd name="connsiteX8" fmla="*/ 199295 w 571104"/>
                  <a:gd name="connsiteY8" fmla="*/ 1219707 h 1621888"/>
                  <a:gd name="connsiteX9" fmla="*/ 193133 w 571104"/>
                  <a:gd name="connsiteY9" fmla="*/ 1162826 h 1621888"/>
                  <a:gd name="connsiteX10" fmla="*/ 147486 w 571104"/>
                  <a:gd name="connsiteY10" fmla="*/ 1157052 h 1621888"/>
                  <a:gd name="connsiteX11" fmla="*/ 12431 w 571104"/>
                  <a:gd name="connsiteY11" fmla="*/ 1137379 h 1621888"/>
                  <a:gd name="connsiteX12" fmla="*/ 3880 w 571104"/>
                  <a:gd name="connsiteY12" fmla="*/ 1128398 h 1621888"/>
                  <a:gd name="connsiteX13" fmla="*/ -18 w 571104"/>
                  <a:gd name="connsiteY13" fmla="*/ 1121341 h 1621888"/>
                  <a:gd name="connsiteX14" fmla="*/ 1114 w 571104"/>
                  <a:gd name="connsiteY14" fmla="*/ 872219 h 1621888"/>
                  <a:gd name="connsiteX15" fmla="*/ -2282 w 571104"/>
                  <a:gd name="connsiteY15" fmla="*/ 106675 h 1621888"/>
                  <a:gd name="connsiteX16" fmla="*/ 3754 w 571104"/>
                  <a:gd name="connsiteY16" fmla="*/ 45090 h 1621888"/>
                  <a:gd name="connsiteX17" fmla="*/ 70779 w 571104"/>
                  <a:gd name="connsiteY17" fmla="*/ 16008 h 1621888"/>
                  <a:gd name="connsiteX18" fmla="*/ 352584 w 571104"/>
                  <a:gd name="connsiteY18" fmla="*/ -2596 h 1621888"/>
                  <a:gd name="connsiteX19" fmla="*/ 482609 w 571104"/>
                  <a:gd name="connsiteY19" fmla="*/ 14725 h 1621888"/>
                  <a:gd name="connsiteX20" fmla="*/ 541712 w 571104"/>
                  <a:gd name="connsiteY20" fmla="*/ 33115 h 1621888"/>
                  <a:gd name="connsiteX21" fmla="*/ 558688 w 571104"/>
                  <a:gd name="connsiteY21" fmla="*/ 60059 h 1621888"/>
                  <a:gd name="connsiteX22" fmla="*/ 564975 w 571104"/>
                  <a:gd name="connsiteY22" fmla="*/ 560014 h 1621888"/>
                  <a:gd name="connsiteX23" fmla="*/ 567993 w 571104"/>
                  <a:gd name="connsiteY23" fmla="*/ 981277 h 1621888"/>
                  <a:gd name="connsiteX24" fmla="*/ 567616 w 571104"/>
                  <a:gd name="connsiteY24" fmla="*/ 1115995 h 1621888"/>
                  <a:gd name="connsiteX25" fmla="*/ 533286 w 571104"/>
                  <a:gd name="connsiteY25" fmla="*/ 1135027 h 1621888"/>
                  <a:gd name="connsiteX26" fmla="*/ 409046 w 571104"/>
                  <a:gd name="connsiteY26" fmla="*/ 1151920 h 1621888"/>
                  <a:gd name="connsiteX27" fmla="*/ 385279 w 571104"/>
                  <a:gd name="connsiteY27" fmla="*/ 1153417 h 1621888"/>
                  <a:gd name="connsiteX28" fmla="*/ 382261 w 571104"/>
                  <a:gd name="connsiteY28" fmla="*/ 1169455 h 1621888"/>
                  <a:gd name="connsiteX29" fmla="*/ 378991 w 571104"/>
                  <a:gd name="connsiteY29" fmla="*/ 1307809 h 1621888"/>
                  <a:gd name="connsiteX30" fmla="*/ 408668 w 571104"/>
                  <a:gd name="connsiteY30" fmla="*/ 1378376 h 1621888"/>
                  <a:gd name="connsiteX31" fmla="*/ 430675 w 571104"/>
                  <a:gd name="connsiteY31" fmla="*/ 1405747 h 1621888"/>
                  <a:gd name="connsiteX32" fmla="*/ 448154 w 571104"/>
                  <a:gd name="connsiteY32" fmla="*/ 1476314 h 1621888"/>
                  <a:gd name="connsiteX33" fmla="*/ 434824 w 571104"/>
                  <a:gd name="connsiteY33" fmla="*/ 1551585 h 1621888"/>
                  <a:gd name="connsiteX34" fmla="*/ 371321 w 571104"/>
                  <a:gd name="connsiteY34" fmla="*/ 1600341 h 1621888"/>
                  <a:gd name="connsiteX35" fmla="*/ 238655 w 571104"/>
                  <a:gd name="connsiteY35" fmla="*/ 1615309 h 162188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</a:cxnLst>
                <a:rect l="l" t="t" r="r" b="b"/>
                <a:pathLst>
                  <a:path w="571104" h="1621888">
                    <a:moveTo>
                      <a:pt x="238655" y="1615309"/>
                    </a:moveTo>
                    <a:cubicBezTo>
                      <a:pt x="204577" y="1609322"/>
                      <a:pt x="179175" y="1597561"/>
                      <a:pt x="157546" y="1577674"/>
                    </a:cubicBezTo>
                    <a:cubicBezTo>
                      <a:pt x="141450" y="1563133"/>
                      <a:pt x="132774" y="1549233"/>
                      <a:pt x="126486" y="1528063"/>
                    </a:cubicBezTo>
                    <a:cubicBezTo>
                      <a:pt x="121456" y="1510956"/>
                      <a:pt x="121456" y="1510742"/>
                      <a:pt x="121456" y="1485723"/>
                    </a:cubicBezTo>
                    <a:cubicBezTo>
                      <a:pt x="121456" y="1463270"/>
                      <a:pt x="121708" y="1458993"/>
                      <a:pt x="124851" y="1445735"/>
                    </a:cubicBezTo>
                    <a:cubicBezTo>
                      <a:pt x="127744" y="1433118"/>
                      <a:pt x="130007" y="1427773"/>
                      <a:pt x="138558" y="1413445"/>
                    </a:cubicBezTo>
                    <a:cubicBezTo>
                      <a:pt x="151133" y="1392275"/>
                      <a:pt x="152265" y="1390778"/>
                      <a:pt x="166349" y="1378162"/>
                    </a:cubicBezTo>
                    <a:cubicBezTo>
                      <a:pt x="172636" y="1372388"/>
                      <a:pt x="178672" y="1366401"/>
                      <a:pt x="179930" y="1364476"/>
                    </a:cubicBezTo>
                    <a:cubicBezTo>
                      <a:pt x="193133" y="1344803"/>
                      <a:pt x="200804" y="1287066"/>
                      <a:pt x="199295" y="1219707"/>
                    </a:cubicBezTo>
                    <a:cubicBezTo>
                      <a:pt x="198541" y="1188487"/>
                      <a:pt x="196529" y="1170097"/>
                      <a:pt x="193133" y="1162826"/>
                    </a:cubicBezTo>
                    <a:cubicBezTo>
                      <a:pt x="191750" y="1159832"/>
                      <a:pt x="185211" y="1158977"/>
                      <a:pt x="147486" y="1157052"/>
                    </a:cubicBezTo>
                    <a:cubicBezTo>
                      <a:pt x="88384" y="1153845"/>
                      <a:pt x="29533" y="1145291"/>
                      <a:pt x="12431" y="1137379"/>
                    </a:cubicBezTo>
                    <a:cubicBezTo>
                      <a:pt x="9916" y="1136310"/>
                      <a:pt x="6018" y="1132247"/>
                      <a:pt x="3880" y="1128398"/>
                    </a:cubicBezTo>
                    <a:lnTo>
                      <a:pt x="-18" y="1121341"/>
                    </a:lnTo>
                    <a:lnTo>
                      <a:pt x="1114" y="872219"/>
                    </a:lnTo>
                    <a:cubicBezTo>
                      <a:pt x="2120" y="635285"/>
                      <a:pt x="359" y="236048"/>
                      <a:pt x="-2282" y="106675"/>
                    </a:cubicBezTo>
                    <a:cubicBezTo>
                      <a:pt x="-3162" y="63908"/>
                      <a:pt x="-2407" y="56423"/>
                      <a:pt x="3754" y="45090"/>
                    </a:cubicBezTo>
                    <a:cubicBezTo>
                      <a:pt x="12305" y="29693"/>
                      <a:pt x="24126" y="24561"/>
                      <a:pt x="70779" y="16008"/>
                    </a:cubicBezTo>
                    <a:cubicBezTo>
                      <a:pt x="154780" y="398"/>
                      <a:pt x="268583" y="-7087"/>
                      <a:pt x="352584" y="-2596"/>
                    </a:cubicBezTo>
                    <a:cubicBezTo>
                      <a:pt x="408920" y="398"/>
                      <a:pt x="432309" y="3605"/>
                      <a:pt x="482609" y="14725"/>
                    </a:cubicBezTo>
                    <a:cubicBezTo>
                      <a:pt x="524861" y="23920"/>
                      <a:pt x="527125" y="24775"/>
                      <a:pt x="541712" y="33115"/>
                    </a:cubicBezTo>
                    <a:cubicBezTo>
                      <a:pt x="553029" y="39744"/>
                      <a:pt x="557556" y="47014"/>
                      <a:pt x="558688" y="60059"/>
                    </a:cubicBezTo>
                    <a:cubicBezTo>
                      <a:pt x="560574" y="83795"/>
                      <a:pt x="563215" y="294426"/>
                      <a:pt x="564975" y="560014"/>
                    </a:cubicBezTo>
                    <a:cubicBezTo>
                      <a:pt x="565981" y="720607"/>
                      <a:pt x="567365" y="910068"/>
                      <a:pt x="567993" y="981277"/>
                    </a:cubicBezTo>
                    <a:cubicBezTo>
                      <a:pt x="568748" y="1076221"/>
                      <a:pt x="568748" y="1112146"/>
                      <a:pt x="567616" y="1115995"/>
                    </a:cubicBezTo>
                    <a:cubicBezTo>
                      <a:pt x="565856" y="1122624"/>
                      <a:pt x="554161" y="1129040"/>
                      <a:pt x="533286" y="1135027"/>
                    </a:cubicBezTo>
                    <a:cubicBezTo>
                      <a:pt x="516687" y="1139945"/>
                      <a:pt x="445765" y="1149568"/>
                      <a:pt x="409046" y="1151920"/>
                    </a:cubicBezTo>
                    <a:lnTo>
                      <a:pt x="385279" y="1153417"/>
                    </a:lnTo>
                    <a:lnTo>
                      <a:pt x="382261" y="1169455"/>
                    </a:lnTo>
                    <a:cubicBezTo>
                      <a:pt x="376854" y="1199179"/>
                      <a:pt x="375093" y="1270173"/>
                      <a:pt x="378991" y="1307809"/>
                    </a:cubicBezTo>
                    <a:cubicBezTo>
                      <a:pt x="383015" y="1348011"/>
                      <a:pt x="388297" y="1360413"/>
                      <a:pt x="408668" y="1378376"/>
                    </a:cubicBezTo>
                    <a:cubicBezTo>
                      <a:pt x="420237" y="1388640"/>
                      <a:pt x="423884" y="1393131"/>
                      <a:pt x="430675" y="1405747"/>
                    </a:cubicBezTo>
                    <a:cubicBezTo>
                      <a:pt x="442998" y="1428414"/>
                      <a:pt x="446519" y="1442955"/>
                      <a:pt x="448154" y="1476314"/>
                    </a:cubicBezTo>
                    <a:cubicBezTo>
                      <a:pt x="449537" y="1506251"/>
                      <a:pt x="444633" y="1533623"/>
                      <a:pt x="434824" y="1551585"/>
                    </a:cubicBezTo>
                    <a:cubicBezTo>
                      <a:pt x="426776" y="1566126"/>
                      <a:pt x="397980" y="1588152"/>
                      <a:pt x="371321" y="1600341"/>
                    </a:cubicBezTo>
                    <a:cubicBezTo>
                      <a:pt x="337997" y="1615523"/>
                      <a:pt x="277763" y="1622152"/>
                      <a:pt x="238655" y="1615309"/>
                    </a:cubicBezTo>
                    <a:close/>
                  </a:path>
                </a:pathLst>
              </a:custGeom>
              <a:grpFill/>
              <a:ln w="5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de-DE" sz="1800" b="0" i="0" u="none" strike="noStrike" kern="0" cap="none" spc="0" normalizeH="0" baseline="0" noProof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  <p:grpSp>
          <p:nvGrpSpPr>
            <p:cNvPr id="212" name="Gruppieren 211">
              <a:extLst>
                <a:ext uri="{FF2B5EF4-FFF2-40B4-BE49-F238E27FC236}">
                  <a16:creationId xmlns:a16="http://schemas.microsoft.com/office/drawing/2014/main" id="{65DE5A79-DD81-3498-B93C-4DC269058ACA}"/>
                </a:ext>
              </a:extLst>
            </p:cNvPr>
            <p:cNvGrpSpPr/>
            <p:nvPr/>
          </p:nvGrpSpPr>
          <p:grpSpPr>
            <a:xfrm>
              <a:off x="1595420" y="5709463"/>
              <a:ext cx="6575267" cy="203657"/>
              <a:chOff x="1649367" y="5209065"/>
              <a:chExt cx="6036653" cy="425214"/>
            </a:xfrm>
            <a:solidFill>
              <a:srgbClr val="F59C00">
                <a:lumMod val="60000"/>
                <a:lumOff val="40000"/>
              </a:srgbClr>
            </a:solidFill>
          </p:grpSpPr>
          <p:pic>
            <p:nvPicPr>
              <p:cNvPr id="213" name="Grafik 212">
                <a:extLst>
                  <a:ext uri="{FF2B5EF4-FFF2-40B4-BE49-F238E27FC236}">
                    <a16:creationId xmlns:a16="http://schemas.microsoft.com/office/drawing/2014/main" id="{48C8956D-16CF-3613-C185-00634136929C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cstate="print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22"/>
                  </a:ext>
                  <a:ext uri="{837473B0-CC2E-450A-ABE3-18F120FF3D39}">
                    <a1611:picAttrSrcUrl xmlns:a1611="http://schemas.microsoft.com/office/drawing/2016/11/main" r:id="rId21"/>
                  </a:ext>
                </a:extLst>
              </a:blip>
              <a:srcRect r="56419"/>
              <a:stretch/>
            </p:blipFill>
            <p:spPr>
              <a:xfrm>
                <a:off x="1649367" y="5209065"/>
                <a:ext cx="572023" cy="425214"/>
              </a:xfrm>
              <a:prstGeom prst="rect">
                <a:avLst/>
              </a:prstGeom>
            </p:spPr>
          </p:pic>
          <p:pic>
            <p:nvPicPr>
              <p:cNvPr id="214" name="Grafik 213">
                <a:extLst>
                  <a:ext uri="{FF2B5EF4-FFF2-40B4-BE49-F238E27FC236}">
                    <a16:creationId xmlns:a16="http://schemas.microsoft.com/office/drawing/2014/main" id="{3DCCB97E-2737-8798-F3A6-50E93EA5517B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cstate="print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22"/>
                  </a:ext>
                  <a:ext uri="{837473B0-CC2E-450A-ABE3-18F120FF3D39}">
                    <a1611:picAttrSrcUrl xmlns:a1611="http://schemas.microsoft.com/office/drawing/2016/11/main" r:id="rId21"/>
                  </a:ext>
                </a:extLst>
              </a:blip>
              <a:srcRect r="56419"/>
              <a:stretch/>
            </p:blipFill>
            <p:spPr>
              <a:xfrm>
                <a:off x="2642936" y="5209065"/>
                <a:ext cx="572023" cy="425213"/>
              </a:xfrm>
              <a:prstGeom prst="rect">
                <a:avLst/>
              </a:prstGeom>
            </p:spPr>
          </p:pic>
          <p:pic>
            <p:nvPicPr>
              <p:cNvPr id="215" name="Grafik 214">
                <a:extLst>
                  <a:ext uri="{FF2B5EF4-FFF2-40B4-BE49-F238E27FC236}">
                    <a16:creationId xmlns:a16="http://schemas.microsoft.com/office/drawing/2014/main" id="{7A759FA5-DF39-C102-81D7-F1F4EE1A032C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cstate="print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22"/>
                  </a:ext>
                  <a:ext uri="{837473B0-CC2E-450A-ABE3-18F120FF3D39}">
                    <a1611:picAttrSrcUrl xmlns:a1611="http://schemas.microsoft.com/office/drawing/2016/11/main" r:id="rId21"/>
                  </a:ext>
                </a:extLst>
              </a:blip>
              <a:srcRect r="56419"/>
              <a:stretch/>
            </p:blipFill>
            <p:spPr>
              <a:xfrm>
                <a:off x="3636505" y="5209067"/>
                <a:ext cx="572023" cy="425212"/>
              </a:xfrm>
              <a:prstGeom prst="rect">
                <a:avLst/>
              </a:prstGeom>
            </p:spPr>
          </p:pic>
          <p:pic>
            <p:nvPicPr>
              <p:cNvPr id="216" name="Grafik 215">
                <a:extLst>
                  <a:ext uri="{FF2B5EF4-FFF2-40B4-BE49-F238E27FC236}">
                    <a16:creationId xmlns:a16="http://schemas.microsoft.com/office/drawing/2014/main" id="{76B662DE-670D-6501-6E65-2900A768C9E4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cstate="print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22"/>
                  </a:ext>
                  <a:ext uri="{837473B0-CC2E-450A-ABE3-18F120FF3D39}">
                    <a1611:picAttrSrcUrl xmlns:a1611="http://schemas.microsoft.com/office/drawing/2016/11/main" r:id="rId21"/>
                  </a:ext>
                </a:extLst>
              </a:blip>
              <a:srcRect r="56419"/>
              <a:stretch/>
            </p:blipFill>
            <p:spPr>
              <a:xfrm>
                <a:off x="4630075" y="5209067"/>
                <a:ext cx="572023" cy="425210"/>
              </a:xfrm>
              <a:prstGeom prst="rect">
                <a:avLst/>
              </a:prstGeom>
            </p:spPr>
          </p:pic>
          <p:pic>
            <p:nvPicPr>
              <p:cNvPr id="217" name="Grafik 216">
                <a:extLst>
                  <a:ext uri="{FF2B5EF4-FFF2-40B4-BE49-F238E27FC236}">
                    <a16:creationId xmlns:a16="http://schemas.microsoft.com/office/drawing/2014/main" id="{1D4F93EA-D89A-3A0B-BF33-27C9069CA79D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cstate="print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22"/>
                  </a:ext>
                  <a:ext uri="{837473B0-CC2E-450A-ABE3-18F120FF3D39}">
                    <a1611:picAttrSrcUrl xmlns:a1611="http://schemas.microsoft.com/office/drawing/2016/11/main" r:id="rId21"/>
                  </a:ext>
                </a:extLst>
              </a:blip>
              <a:srcRect r="56419"/>
              <a:stretch/>
            </p:blipFill>
            <p:spPr>
              <a:xfrm>
                <a:off x="5623644" y="5209070"/>
                <a:ext cx="572023" cy="425208"/>
              </a:xfrm>
              <a:prstGeom prst="rect">
                <a:avLst/>
              </a:prstGeom>
            </p:spPr>
          </p:pic>
          <p:pic>
            <p:nvPicPr>
              <p:cNvPr id="218" name="Grafik 217">
                <a:extLst>
                  <a:ext uri="{FF2B5EF4-FFF2-40B4-BE49-F238E27FC236}">
                    <a16:creationId xmlns:a16="http://schemas.microsoft.com/office/drawing/2014/main" id="{8CD6562F-BDD2-858A-F894-4399491FD612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cstate="print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22"/>
                  </a:ext>
                  <a:ext uri="{837473B0-CC2E-450A-ABE3-18F120FF3D39}">
                    <a1611:picAttrSrcUrl xmlns:a1611="http://schemas.microsoft.com/office/drawing/2016/11/main" r:id="rId21"/>
                  </a:ext>
                </a:extLst>
              </a:blip>
              <a:srcRect r="56419"/>
              <a:stretch/>
            </p:blipFill>
            <p:spPr>
              <a:xfrm>
                <a:off x="6617213" y="5209070"/>
                <a:ext cx="572023" cy="425208"/>
              </a:xfrm>
              <a:prstGeom prst="rect">
                <a:avLst/>
              </a:prstGeom>
            </p:spPr>
          </p:pic>
          <p:pic>
            <p:nvPicPr>
              <p:cNvPr id="219" name="Grafik 218">
                <a:extLst>
                  <a:ext uri="{FF2B5EF4-FFF2-40B4-BE49-F238E27FC236}">
                    <a16:creationId xmlns:a16="http://schemas.microsoft.com/office/drawing/2014/main" id="{288501F8-DDC9-386A-5E7C-3E7C5E9DC95C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cstate="print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22"/>
                  </a:ext>
                  <a:ext uri="{837473B0-CC2E-450A-ABE3-18F120FF3D39}">
                    <a1611:picAttrSrcUrl xmlns:a1611="http://schemas.microsoft.com/office/drawing/2016/11/main" r:id="rId21"/>
                  </a:ext>
                </a:extLst>
              </a:blip>
              <a:srcRect r="56419"/>
              <a:stretch/>
            </p:blipFill>
            <p:spPr>
              <a:xfrm>
                <a:off x="2146152" y="5209065"/>
                <a:ext cx="572023" cy="425214"/>
              </a:xfrm>
              <a:prstGeom prst="rect">
                <a:avLst/>
              </a:prstGeom>
            </p:spPr>
          </p:pic>
          <p:pic>
            <p:nvPicPr>
              <p:cNvPr id="220" name="Grafik 219">
                <a:extLst>
                  <a:ext uri="{FF2B5EF4-FFF2-40B4-BE49-F238E27FC236}">
                    <a16:creationId xmlns:a16="http://schemas.microsoft.com/office/drawing/2014/main" id="{E69CF3C1-E24A-5FE5-8E22-34883B7F424A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cstate="print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22"/>
                  </a:ext>
                  <a:ext uri="{837473B0-CC2E-450A-ABE3-18F120FF3D39}">
                    <a1611:picAttrSrcUrl xmlns:a1611="http://schemas.microsoft.com/office/drawing/2016/11/main" r:id="rId21"/>
                  </a:ext>
                </a:extLst>
              </a:blip>
              <a:srcRect r="56419"/>
              <a:stretch/>
            </p:blipFill>
            <p:spPr>
              <a:xfrm>
                <a:off x="3139721" y="5209067"/>
                <a:ext cx="572023" cy="425212"/>
              </a:xfrm>
              <a:prstGeom prst="rect">
                <a:avLst/>
              </a:prstGeom>
            </p:spPr>
          </p:pic>
          <p:pic>
            <p:nvPicPr>
              <p:cNvPr id="221" name="Grafik 220">
                <a:extLst>
                  <a:ext uri="{FF2B5EF4-FFF2-40B4-BE49-F238E27FC236}">
                    <a16:creationId xmlns:a16="http://schemas.microsoft.com/office/drawing/2014/main" id="{9DED77A0-E19A-5D6D-E19D-4652EBD622FC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cstate="print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22"/>
                  </a:ext>
                  <a:ext uri="{837473B0-CC2E-450A-ABE3-18F120FF3D39}">
                    <a1611:picAttrSrcUrl xmlns:a1611="http://schemas.microsoft.com/office/drawing/2016/11/main" r:id="rId21"/>
                  </a:ext>
                </a:extLst>
              </a:blip>
              <a:srcRect r="56419"/>
              <a:stretch/>
            </p:blipFill>
            <p:spPr>
              <a:xfrm>
                <a:off x="4133290" y="5209067"/>
                <a:ext cx="572023" cy="425210"/>
              </a:xfrm>
              <a:prstGeom prst="rect">
                <a:avLst/>
              </a:prstGeom>
            </p:spPr>
          </p:pic>
          <p:pic>
            <p:nvPicPr>
              <p:cNvPr id="222" name="Grafik 221">
                <a:extLst>
                  <a:ext uri="{FF2B5EF4-FFF2-40B4-BE49-F238E27FC236}">
                    <a16:creationId xmlns:a16="http://schemas.microsoft.com/office/drawing/2014/main" id="{FB251156-4D17-D8D9-FD95-6EEFC1D7184D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cstate="print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22"/>
                  </a:ext>
                  <a:ext uri="{837473B0-CC2E-450A-ABE3-18F120FF3D39}">
                    <a1611:picAttrSrcUrl xmlns:a1611="http://schemas.microsoft.com/office/drawing/2016/11/main" r:id="rId21"/>
                  </a:ext>
                </a:extLst>
              </a:blip>
              <a:srcRect r="56419"/>
              <a:stretch/>
            </p:blipFill>
            <p:spPr>
              <a:xfrm>
                <a:off x="5126859" y="5209069"/>
                <a:ext cx="572023" cy="425209"/>
              </a:xfrm>
              <a:prstGeom prst="rect">
                <a:avLst/>
              </a:prstGeom>
            </p:spPr>
          </p:pic>
          <p:pic>
            <p:nvPicPr>
              <p:cNvPr id="223" name="Grafik 222">
                <a:extLst>
                  <a:ext uri="{FF2B5EF4-FFF2-40B4-BE49-F238E27FC236}">
                    <a16:creationId xmlns:a16="http://schemas.microsoft.com/office/drawing/2014/main" id="{06914E1C-D3F6-004A-ABDE-25F0B80E3A95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cstate="print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22"/>
                  </a:ext>
                  <a:ext uri="{837473B0-CC2E-450A-ABE3-18F120FF3D39}">
                    <a1611:picAttrSrcUrl xmlns:a1611="http://schemas.microsoft.com/office/drawing/2016/11/main" r:id="rId21"/>
                  </a:ext>
                </a:extLst>
              </a:blip>
              <a:srcRect r="56419"/>
              <a:stretch/>
            </p:blipFill>
            <p:spPr>
              <a:xfrm>
                <a:off x="6120428" y="5209070"/>
                <a:ext cx="572023" cy="425208"/>
              </a:xfrm>
              <a:prstGeom prst="rect">
                <a:avLst/>
              </a:prstGeom>
            </p:spPr>
          </p:pic>
          <p:pic>
            <p:nvPicPr>
              <p:cNvPr id="224" name="Grafik 223">
                <a:extLst>
                  <a:ext uri="{FF2B5EF4-FFF2-40B4-BE49-F238E27FC236}">
                    <a16:creationId xmlns:a16="http://schemas.microsoft.com/office/drawing/2014/main" id="{728D13F7-3DE9-B38D-D719-48258DB51C35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cstate="print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22"/>
                  </a:ext>
                  <a:ext uri="{837473B0-CC2E-450A-ABE3-18F120FF3D39}">
                    <a1611:picAttrSrcUrl xmlns:a1611="http://schemas.microsoft.com/office/drawing/2016/11/main" r:id="rId21"/>
                  </a:ext>
                </a:extLst>
              </a:blip>
              <a:srcRect r="56419"/>
              <a:stretch/>
            </p:blipFill>
            <p:spPr>
              <a:xfrm>
                <a:off x="7113997" y="5209070"/>
                <a:ext cx="572023" cy="425208"/>
              </a:xfrm>
              <a:prstGeom prst="rect">
                <a:avLst/>
              </a:prstGeom>
            </p:spPr>
          </p:pic>
        </p:grpSp>
      </p:grpSp>
      <p:sp>
        <p:nvSpPr>
          <p:cNvPr id="273" name="Textfeld 272">
            <a:extLst>
              <a:ext uri="{FF2B5EF4-FFF2-40B4-BE49-F238E27FC236}">
                <a16:creationId xmlns:a16="http://schemas.microsoft.com/office/drawing/2014/main" id="{19EE2921-D9FA-1C2E-DEA1-8D10ED93925E}"/>
              </a:ext>
            </a:extLst>
          </p:cNvPr>
          <p:cNvSpPr txBox="1"/>
          <p:nvPr/>
        </p:nvSpPr>
        <p:spPr>
          <a:xfrm>
            <a:off x="4257612" y="4316028"/>
            <a:ext cx="2636301" cy="16004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1400" b="0" i="0" u="none" strike="noStrike" kern="1200" cap="none" spc="0" normalizeH="0" baseline="0" noProof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Netzstrom</a:t>
            </a:r>
          </a:p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1400" b="0" i="0" u="none" strike="noStrike" kern="1200" cap="none" spc="0" normalizeH="0" baseline="0" noProof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Netzsubstitution</a:t>
            </a:r>
          </a:p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br>
              <a:rPr kumimoji="0" lang="de-DE" sz="1400" b="0" i="0" u="none" strike="noStrike" kern="1200" cap="none" spc="0" normalizeH="0" baseline="0" noProof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</a:br>
            <a:r>
              <a:rPr kumimoji="0" lang="de-DE" sz="1400" b="0" i="0" u="none" strike="noStrike" kern="1200" cap="none" spc="0" normalizeH="0" baseline="0" noProof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Flexible Netznutzung (niedrigere Faktoren)</a:t>
            </a:r>
          </a:p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1400" b="0" i="0" u="none" strike="noStrike" kern="1200" cap="none" spc="0" normalizeH="0" baseline="0" noProof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Fernwärme (Jährlich)</a:t>
            </a:r>
          </a:p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1400" b="0" i="0" u="none" strike="noStrike" kern="1200" cap="none" spc="0" normalizeH="0" baseline="0" noProof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Abwärme (Jährlich)</a:t>
            </a:r>
          </a:p>
        </p:txBody>
      </p:sp>
    </p:spTree>
    <p:extLst>
      <p:ext uri="{BB962C8B-B14F-4D97-AF65-F5344CB8AC3E}">
        <p14:creationId xmlns:p14="http://schemas.microsoft.com/office/powerpoint/2010/main" val="315741099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5FEEA1F-ADEC-5E97-AFA3-27C4EDDD02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0002" y="1406526"/>
            <a:ext cx="10638033" cy="829455"/>
          </a:xfrm>
        </p:spPr>
        <p:txBody>
          <a:bodyPr/>
          <a:lstStyle/>
          <a:p>
            <a:r>
              <a:rPr lang="de-DE" dirty="0"/>
              <a:t>Treibhausgas-Bilanz</a:t>
            </a:r>
          </a:p>
        </p:txBody>
      </p:sp>
      <p:sp>
        <p:nvSpPr>
          <p:cNvPr id="8" name="Textplatzhalter 7">
            <a:extLst>
              <a:ext uri="{FF2B5EF4-FFF2-40B4-BE49-F238E27FC236}">
                <a16:creationId xmlns:a16="http://schemas.microsoft.com/office/drawing/2014/main" id="{9354885B-2B02-E61A-1135-A49F502DB18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719670" y="2164801"/>
            <a:ext cx="6096000" cy="3977767"/>
          </a:xfrm>
        </p:spPr>
        <p:txBody>
          <a:bodyPr/>
          <a:lstStyle/>
          <a:p>
            <a:pPr>
              <a:spcAft>
                <a:spcPts val="0"/>
              </a:spcAft>
            </a:pPr>
            <a:r>
              <a:rPr lang="de-DE" dirty="0"/>
              <a:t>Ziel: </a:t>
            </a:r>
            <a:r>
              <a:rPr lang="de-DE" spc="-1" dirty="0">
                <a:solidFill>
                  <a:srgbClr val="26434F"/>
                </a:solidFill>
                <a:ea typeface="Arial"/>
              </a:rPr>
              <a:t>Vereinbarkeit mit den Klimazielen 2040/2050 durch vollständige Bilanzierung aller klimawirksamen Emissionen eines Quartiers </a:t>
            </a:r>
            <a:r>
              <a:rPr lang="de-DE" spc="-1" dirty="0" err="1">
                <a:solidFill>
                  <a:srgbClr val="26434F"/>
                </a:solidFill>
                <a:ea typeface="Arial"/>
              </a:rPr>
              <a:t>ü.d</a:t>
            </a:r>
            <a:r>
              <a:rPr lang="de-DE" spc="-1" dirty="0">
                <a:solidFill>
                  <a:srgbClr val="26434F"/>
                </a:solidFill>
                <a:ea typeface="Arial"/>
              </a:rPr>
              <a:t>. Lebenszyklus</a:t>
            </a:r>
          </a:p>
          <a:p>
            <a:pPr>
              <a:spcBef>
                <a:spcPts val="1200"/>
              </a:spcBef>
              <a:spcAft>
                <a:spcPts val="0"/>
              </a:spcAft>
            </a:pPr>
            <a:r>
              <a:rPr lang="de-DE" spc="-1" dirty="0">
                <a:solidFill>
                  <a:srgbClr val="26434F"/>
                </a:solidFill>
              </a:rPr>
              <a:t>Inkludiert: Errichtung, Betrieb und Instandsetzung bis 2050</a:t>
            </a:r>
          </a:p>
          <a:p>
            <a:pPr>
              <a:spcBef>
                <a:spcPts val="1200"/>
              </a:spcBef>
              <a:spcAft>
                <a:spcPts val="0"/>
              </a:spcAft>
            </a:pPr>
            <a:r>
              <a:rPr lang="de-DE" spc="-1" dirty="0">
                <a:solidFill>
                  <a:srgbClr val="26434F"/>
                </a:solidFill>
              </a:rPr>
              <a:t>Nicht inkludiert: Graue Energie von Erneuerbare Erzeugungsanlagen</a:t>
            </a:r>
          </a:p>
          <a:p>
            <a:pPr>
              <a:spcBef>
                <a:spcPts val="1200"/>
              </a:spcBef>
              <a:spcAft>
                <a:spcPts val="0"/>
              </a:spcAft>
            </a:pPr>
            <a:r>
              <a:rPr lang="de-DE" spc="-1" dirty="0">
                <a:solidFill>
                  <a:srgbClr val="26434F"/>
                </a:solidFill>
              </a:rPr>
              <a:t>Budget (2025-2075): </a:t>
            </a:r>
            <a:r>
              <a:rPr lang="de-DE" b="1" spc="-1" dirty="0">
                <a:solidFill>
                  <a:schemeClr val="accent5"/>
                </a:solidFill>
                <a:ea typeface="Arial"/>
              </a:rPr>
              <a:t>320 </a:t>
            </a:r>
            <a:r>
              <a:rPr lang="de-DE" b="1" spc="-1" dirty="0" err="1">
                <a:solidFill>
                  <a:schemeClr val="accent5"/>
                </a:solidFill>
                <a:ea typeface="Arial"/>
              </a:rPr>
              <a:t>kg</a:t>
            </a:r>
            <a:r>
              <a:rPr lang="de-DE" b="1" spc="-1" baseline="-25000" dirty="0" err="1">
                <a:solidFill>
                  <a:schemeClr val="accent5"/>
                </a:solidFill>
                <a:ea typeface="Arial"/>
              </a:rPr>
              <a:t>CO₂eq</a:t>
            </a:r>
            <a:r>
              <a:rPr lang="de-DE" b="1" spc="-1" dirty="0">
                <a:solidFill>
                  <a:schemeClr val="accent5"/>
                </a:solidFill>
                <a:ea typeface="Arial"/>
              </a:rPr>
              <a:t>/m²</a:t>
            </a:r>
            <a:r>
              <a:rPr lang="de-DE" b="1" spc="-1" baseline="-25000" dirty="0">
                <a:solidFill>
                  <a:schemeClr val="accent5"/>
                </a:solidFill>
                <a:ea typeface="Arial"/>
              </a:rPr>
              <a:t>BGF </a:t>
            </a:r>
            <a:endParaRPr lang="de-DE" dirty="0">
              <a:solidFill>
                <a:schemeClr val="accent5"/>
              </a:solidFill>
            </a:endParaRPr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0ACAA404-CDDD-1C6D-646F-18990F04FC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272004" y="6387003"/>
            <a:ext cx="1086029" cy="266700"/>
          </a:xfr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206269C-C24E-4E80-9A4B-E7E19BB59A67}" type="slidenum">
              <a:rPr kumimoji="0" lang="de-AT" sz="1867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25</a:t>
            </a:fld>
            <a:endParaRPr kumimoji="0" lang="de-AT" sz="1867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aphicFrame>
        <p:nvGraphicFramePr>
          <p:cNvPr id="5" name="Diagramm 4">
            <a:extLst>
              <a:ext uri="{FF2B5EF4-FFF2-40B4-BE49-F238E27FC236}">
                <a16:creationId xmlns:a16="http://schemas.microsoft.com/office/drawing/2014/main" id="{DD2B5FB0-C149-BEC8-58F7-024B833B6422}"/>
              </a:ext>
            </a:extLst>
          </p:cNvPr>
          <p:cNvGraphicFramePr/>
          <p:nvPr/>
        </p:nvGraphicFramePr>
        <p:xfrm>
          <a:off x="6638925" y="1747955"/>
          <a:ext cx="5553075" cy="370351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7" name="Textfeld 6">
            <a:extLst>
              <a:ext uri="{FF2B5EF4-FFF2-40B4-BE49-F238E27FC236}">
                <a16:creationId xmlns:a16="http://schemas.microsoft.com/office/drawing/2014/main" id="{2C85536E-A452-81D2-536D-28B3558FB5EA}"/>
              </a:ext>
            </a:extLst>
          </p:cNvPr>
          <p:cNvSpPr txBox="1"/>
          <p:nvPr/>
        </p:nvSpPr>
        <p:spPr>
          <a:xfrm>
            <a:off x="7095067" y="5407023"/>
            <a:ext cx="4919133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Schneider, Simon, Thomas </a:t>
            </a:r>
            <a:r>
              <a:rPr kumimoji="0" lang="de-DE" sz="10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Zelger</a:t>
            </a:r>
            <a:r>
              <a:rPr kumimoji="0" lang="de-DE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Raphael Drexel, Manfred Schindler, Paul Krainer, und José Baptista. „Declaration-Ready Climate-Neutral PEDs: Budget-</a:t>
            </a:r>
            <a:r>
              <a:rPr kumimoji="0" lang="de-DE" sz="10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Based</a:t>
            </a:r>
            <a:r>
              <a:rPr kumimoji="0" lang="de-DE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kumimoji="0" lang="de-DE" sz="10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Hourly</a:t>
            </a:r>
            <a:r>
              <a:rPr kumimoji="0" lang="de-DE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LCA </a:t>
            </a:r>
            <a:r>
              <a:rPr kumimoji="0" lang="de-DE" sz="10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Including</a:t>
            </a:r>
            <a:r>
              <a:rPr kumimoji="0" lang="de-DE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Mobility and </a:t>
            </a:r>
            <a:r>
              <a:rPr kumimoji="0" lang="de-DE" sz="10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Flexibility</a:t>
            </a:r>
            <a:r>
              <a:rPr kumimoji="0" lang="de-DE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“. </a:t>
            </a:r>
            <a:r>
              <a:rPr kumimoji="0" lang="de-DE" sz="10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Designs</a:t>
            </a:r>
            <a:r>
              <a:rPr kumimoji="0" lang="de-DE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9, Nr. 6 (2025): 123. </a:t>
            </a:r>
            <a:r>
              <a:rPr kumimoji="0" lang="de-DE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hlinkClick r:id="rId3"/>
              </a:rPr>
              <a:t>https://doi.org/10.3390/designs9060123</a:t>
            </a:r>
            <a:r>
              <a:rPr kumimoji="0" lang="de-DE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</a:p>
        </p:txBody>
      </p:sp>
      <p:sp>
        <p:nvSpPr>
          <p:cNvPr id="9" name="Textfeld 8">
            <a:extLst>
              <a:ext uri="{FF2B5EF4-FFF2-40B4-BE49-F238E27FC236}">
                <a16:creationId xmlns:a16="http://schemas.microsoft.com/office/drawing/2014/main" id="{E1E23287-3E55-9CFF-913F-22B1A8586C50}"/>
              </a:ext>
            </a:extLst>
          </p:cNvPr>
          <p:cNvSpPr txBox="1"/>
          <p:nvPr/>
        </p:nvSpPr>
        <p:spPr>
          <a:xfrm>
            <a:off x="7095067" y="1373537"/>
            <a:ext cx="6096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2400" b="0" i="0" u="none" strike="noStrike" kern="1200" cap="none" spc="0" normalizeH="0" baseline="0" noProof="0" dirty="0">
                <a:ln>
                  <a:noFill/>
                </a:ln>
                <a:solidFill>
                  <a:srgbClr val="003D84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THG-Absenkpfade bis 2050</a:t>
            </a:r>
          </a:p>
        </p:txBody>
      </p:sp>
    </p:spTree>
    <p:extLst>
      <p:ext uri="{BB962C8B-B14F-4D97-AF65-F5344CB8AC3E}">
        <p14:creationId xmlns:p14="http://schemas.microsoft.com/office/powerpoint/2010/main" val="218277461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el 3">
            <a:extLst>
              <a:ext uri="{FF2B5EF4-FFF2-40B4-BE49-F238E27FC236}">
                <a16:creationId xmlns:a16="http://schemas.microsoft.com/office/drawing/2014/main" id="{3A8FBDD1-1ED7-07A0-5AEC-AD1E146A68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THG-Bilanzierung </a:t>
            </a:r>
            <a:br>
              <a:rPr lang="de-DE" dirty="0"/>
            </a:br>
            <a:r>
              <a:rPr lang="de-DE" dirty="0"/>
              <a:t>im Detail</a:t>
            </a:r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8BE932B0-84D0-634E-1D4C-4A1EA38451A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719669" y="2462107"/>
            <a:ext cx="2919853" cy="3680461"/>
          </a:xfrm>
        </p:spPr>
        <p:txBody>
          <a:bodyPr/>
          <a:lstStyle/>
          <a:p>
            <a:r>
              <a:rPr lang="de-DE" dirty="0"/>
              <a:t>Systemische THG-Absenkpfade bis 2050</a:t>
            </a:r>
          </a:p>
          <a:p>
            <a:r>
              <a:rPr lang="de-DE" dirty="0"/>
              <a:t>Ab 2050 </a:t>
            </a:r>
            <a:r>
              <a:rPr lang="de-DE" dirty="0" err="1"/>
              <a:t>Dekarbonisierte</a:t>
            </a:r>
            <a:r>
              <a:rPr lang="de-DE" dirty="0"/>
              <a:t> Systeme</a:t>
            </a:r>
          </a:p>
          <a:p>
            <a:r>
              <a:rPr lang="de-DE" dirty="0"/>
              <a:t>LZ-Bilanz bis 2050</a:t>
            </a:r>
          </a:p>
        </p:txBody>
      </p:sp>
      <p:grpSp>
        <p:nvGrpSpPr>
          <p:cNvPr id="89" name="Gruppieren 88">
            <a:extLst>
              <a:ext uri="{FF2B5EF4-FFF2-40B4-BE49-F238E27FC236}">
                <a16:creationId xmlns:a16="http://schemas.microsoft.com/office/drawing/2014/main" id="{5F2B728C-F2AC-5AA2-4F0A-ADA91A2956EE}"/>
              </a:ext>
            </a:extLst>
          </p:cNvPr>
          <p:cNvGrpSpPr/>
          <p:nvPr/>
        </p:nvGrpSpPr>
        <p:grpSpPr>
          <a:xfrm>
            <a:off x="3009814" y="1476374"/>
            <a:ext cx="10320644" cy="5663306"/>
            <a:chOff x="875495" y="307683"/>
            <a:chExt cx="12629812" cy="6930429"/>
          </a:xfrm>
        </p:grpSpPr>
        <p:grpSp>
          <p:nvGrpSpPr>
            <p:cNvPr id="90" name="Gruppieren 89">
              <a:extLst>
                <a:ext uri="{FF2B5EF4-FFF2-40B4-BE49-F238E27FC236}">
                  <a16:creationId xmlns:a16="http://schemas.microsoft.com/office/drawing/2014/main" id="{55340B45-115E-9191-5582-4E40ED89740E}"/>
                </a:ext>
              </a:extLst>
            </p:cNvPr>
            <p:cNvGrpSpPr/>
            <p:nvPr/>
          </p:nvGrpSpPr>
          <p:grpSpPr>
            <a:xfrm>
              <a:off x="5416676" y="1816343"/>
              <a:ext cx="4314538" cy="1824002"/>
              <a:chOff x="4191000" y="1657083"/>
              <a:chExt cx="5930899" cy="1824002"/>
            </a:xfrm>
          </p:grpSpPr>
          <p:sp>
            <p:nvSpPr>
              <p:cNvPr id="126" name="Freihandform: Form 125">
                <a:extLst>
                  <a:ext uri="{FF2B5EF4-FFF2-40B4-BE49-F238E27FC236}">
                    <a16:creationId xmlns:a16="http://schemas.microsoft.com/office/drawing/2014/main" id="{C412D6A6-6335-BE9E-3766-31C6FC8B4321}"/>
                  </a:ext>
                </a:extLst>
              </p:cNvPr>
              <p:cNvSpPr/>
              <p:nvPr/>
            </p:nvSpPr>
            <p:spPr>
              <a:xfrm>
                <a:off x="4254498" y="2661816"/>
                <a:ext cx="5867401" cy="120481"/>
              </a:xfrm>
              <a:custGeom>
                <a:avLst/>
                <a:gdLst>
                  <a:gd name="connsiteX0" fmla="*/ 25400 w 5867400"/>
                  <a:gd name="connsiteY0" fmla="*/ 469900 h 609600"/>
                  <a:gd name="connsiteX1" fmla="*/ 25400 w 5867400"/>
                  <a:gd name="connsiteY1" fmla="*/ 0 h 609600"/>
                  <a:gd name="connsiteX2" fmla="*/ 1981200 w 5867400"/>
                  <a:gd name="connsiteY2" fmla="*/ 215900 h 609600"/>
                  <a:gd name="connsiteX3" fmla="*/ 4114800 w 5867400"/>
                  <a:gd name="connsiteY3" fmla="*/ 469900 h 609600"/>
                  <a:gd name="connsiteX4" fmla="*/ 5867400 w 5867400"/>
                  <a:gd name="connsiteY4" fmla="*/ 508000 h 609600"/>
                  <a:gd name="connsiteX5" fmla="*/ 5867400 w 5867400"/>
                  <a:gd name="connsiteY5" fmla="*/ 609600 h 609600"/>
                  <a:gd name="connsiteX6" fmla="*/ 0 w 5867400"/>
                  <a:gd name="connsiteY6" fmla="*/ 609600 h 609600"/>
                  <a:gd name="connsiteX7" fmla="*/ 25400 w 5867400"/>
                  <a:gd name="connsiteY7" fmla="*/ 469900 h 6096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5867400" h="609600">
                    <a:moveTo>
                      <a:pt x="25400" y="469900"/>
                    </a:moveTo>
                    <a:lnTo>
                      <a:pt x="25400" y="0"/>
                    </a:lnTo>
                    <a:lnTo>
                      <a:pt x="1981200" y="215900"/>
                    </a:lnTo>
                    <a:lnTo>
                      <a:pt x="4114800" y="469900"/>
                    </a:lnTo>
                    <a:lnTo>
                      <a:pt x="5867400" y="508000"/>
                    </a:lnTo>
                    <a:lnTo>
                      <a:pt x="5867400" y="609600"/>
                    </a:lnTo>
                    <a:lnTo>
                      <a:pt x="0" y="609600"/>
                    </a:lnTo>
                    <a:lnTo>
                      <a:pt x="25400" y="469900"/>
                    </a:lnTo>
                    <a:close/>
                  </a:path>
                </a:pathLst>
              </a:custGeom>
              <a:solidFill>
                <a:srgbClr val="CA0237"/>
              </a:solidFill>
              <a:ln w="12700" cap="flat" cmpd="sng" algn="ctr">
                <a:solidFill>
                  <a:srgbClr val="CA0237">
                    <a:shade val="15000"/>
                  </a:srgbClr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de-DE" sz="1400" b="0" i="0" u="none" strike="noStrike" kern="0" cap="none" spc="0" normalizeH="0" baseline="0" noProof="1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ptos" panose="020B0004020202020204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127" name="Freihandform: Form 126">
                <a:extLst>
                  <a:ext uri="{FF2B5EF4-FFF2-40B4-BE49-F238E27FC236}">
                    <a16:creationId xmlns:a16="http://schemas.microsoft.com/office/drawing/2014/main" id="{64F3004F-6C7B-9B4C-5016-7F0EEE30F2B0}"/>
                  </a:ext>
                </a:extLst>
              </p:cNvPr>
              <p:cNvSpPr/>
              <p:nvPr/>
            </p:nvSpPr>
            <p:spPr>
              <a:xfrm>
                <a:off x="4191000" y="2887385"/>
                <a:ext cx="5880100" cy="111100"/>
              </a:xfrm>
              <a:custGeom>
                <a:avLst/>
                <a:gdLst>
                  <a:gd name="connsiteX0" fmla="*/ 88900 w 5880100"/>
                  <a:gd name="connsiteY0" fmla="*/ 342900 h 381000"/>
                  <a:gd name="connsiteX1" fmla="*/ 88900 w 5880100"/>
                  <a:gd name="connsiteY1" fmla="*/ 342900 h 381000"/>
                  <a:gd name="connsiteX2" fmla="*/ 88900 w 5880100"/>
                  <a:gd name="connsiteY2" fmla="*/ 114300 h 381000"/>
                  <a:gd name="connsiteX3" fmla="*/ 88900 w 5880100"/>
                  <a:gd name="connsiteY3" fmla="*/ 0 h 381000"/>
                  <a:gd name="connsiteX4" fmla="*/ 5880100 w 5880100"/>
                  <a:gd name="connsiteY4" fmla="*/ 0 h 381000"/>
                  <a:gd name="connsiteX5" fmla="*/ 5880100 w 5880100"/>
                  <a:gd name="connsiteY5" fmla="*/ 381000 h 381000"/>
                  <a:gd name="connsiteX6" fmla="*/ 0 w 5880100"/>
                  <a:gd name="connsiteY6" fmla="*/ 381000 h 381000"/>
                  <a:gd name="connsiteX7" fmla="*/ 88900 w 5880100"/>
                  <a:gd name="connsiteY7" fmla="*/ 342900 h 3810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5880100" h="381000">
                    <a:moveTo>
                      <a:pt x="88900" y="342900"/>
                    </a:moveTo>
                    <a:lnTo>
                      <a:pt x="88900" y="342900"/>
                    </a:lnTo>
                    <a:lnTo>
                      <a:pt x="88900" y="114300"/>
                    </a:lnTo>
                    <a:lnTo>
                      <a:pt x="88900" y="0"/>
                    </a:lnTo>
                    <a:lnTo>
                      <a:pt x="5880100" y="0"/>
                    </a:lnTo>
                    <a:lnTo>
                      <a:pt x="5880100" y="381000"/>
                    </a:lnTo>
                    <a:lnTo>
                      <a:pt x="0" y="381000"/>
                    </a:lnTo>
                    <a:lnTo>
                      <a:pt x="88900" y="342900"/>
                    </a:lnTo>
                    <a:close/>
                  </a:path>
                </a:pathLst>
              </a:custGeom>
              <a:solidFill>
                <a:srgbClr val="3BACBE"/>
              </a:solidFill>
              <a:ln w="12700" cap="flat" cmpd="sng" algn="ctr">
                <a:solidFill>
                  <a:srgbClr val="3BACBE">
                    <a:shade val="15000"/>
                  </a:srgbClr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de-DE" sz="1400" b="0" i="0" u="none" strike="noStrike" kern="0" cap="none" spc="0" normalizeH="0" baseline="0" noProof="1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ptos" panose="020B0004020202020204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128" name="Freihandform: Form 127">
                <a:extLst>
                  <a:ext uri="{FF2B5EF4-FFF2-40B4-BE49-F238E27FC236}">
                    <a16:creationId xmlns:a16="http://schemas.microsoft.com/office/drawing/2014/main" id="{5ACB99DF-4EF5-9BD3-727D-DC13F95AC3D1}"/>
                  </a:ext>
                </a:extLst>
              </p:cNvPr>
              <p:cNvSpPr/>
              <p:nvPr/>
            </p:nvSpPr>
            <p:spPr>
              <a:xfrm>
                <a:off x="4191000" y="3166616"/>
                <a:ext cx="5880100" cy="91133"/>
              </a:xfrm>
              <a:custGeom>
                <a:avLst/>
                <a:gdLst>
                  <a:gd name="connsiteX0" fmla="*/ 88900 w 5880100"/>
                  <a:gd name="connsiteY0" fmla="*/ 342900 h 381000"/>
                  <a:gd name="connsiteX1" fmla="*/ 88900 w 5880100"/>
                  <a:gd name="connsiteY1" fmla="*/ 342900 h 381000"/>
                  <a:gd name="connsiteX2" fmla="*/ 88900 w 5880100"/>
                  <a:gd name="connsiteY2" fmla="*/ 114300 h 381000"/>
                  <a:gd name="connsiteX3" fmla="*/ 88900 w 5880100"/>
                  <a:gd name="connsiteY3" fmla="*/ 0 h 381000"/>
                  <a:gd name="connsiteX4" fmla="*/ 5880100 w 5880100"/>
                  <a:gd name="connsiteY4" fmla="*/ 0 h 381000"/>
                  <a:gd name="connsiteX5" fmla="*/ 5880100 w 5880100"/>
                  <a:gd name="connsiteY5" fmla="*/ 381000 h 381000"/>
                  <a:gd name="connsiteX6" fmla="*/ 0 w 5880100"/>
                  <a:gd name="connsiteY6" fmla="*/ 381000 h 381000"/>
                  <a:gd name="connsiteX7" fmla="*/ 88900 w 5880100"/>
                  <a:gd name="connsiteY7" fmla="*/ 342900 h 3810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5880100" h="381000">
                    <a:moveTo>
                      <a:pt x="88900" y="342900"/>
                    </a:moveTo>
                    <a:lnTo>
                      <a:pt x="88900" y="342900"/>
                    </a:lnTo>
                    <a:lnTo>
                      <a:pt x="88900" y="114300"/>
                    </a:lnTo>
                    <a:lnTo>
                      <a:pt x="88900" y="0"/>
                    </a:lnTo>
                    <a:lnTo>
                      <a:pt x="5880100" y="0"/>
                    </a:lnTo>
                    <a:lnTo>
                      <a:pt x="5880100" y="381000"/>
                    </a:lnTo>
                    <a:lnTo>
                      <a:pt x="0" y="381000"/>
                    </a:lnTo>
                    <a:lnTo>
                      <a:pt x="88900" y="342900"/>
                    </a:lnTo>
                    <a:close/>
                  </a:path>
                </a:pathLst>
              </a:custGeom>
              <a:solidFill>
                <a:srgbClr val="5FB564"/>
              </a:solidFill>
              <a:ln w="12700" cap="flat" cmpd="sng" algn="ctr">
                <a:solidFill>
                  <a:srgbClr val="5FB564">
                    <a:shade val="15000"/>
                  </a:srgbClr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de-DE" sz="1400" b="0" i="0" u="none" strike="noStrike" kern="0" cap="none" spc="0" normalizeH="0" baseline="0" noProof="1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ptos" panose="020B0004020202020204" pitchFamily="34" charset="0"/>
                  <a:ea typeface="+mn-ea"/>
                  <a:cs typeface="+mn-cs"/>
                </a:endParaRPr>
              </a:p>
            </p:txBody>
          </p:sp>
          <p:grpSp>
            <p:nvGrpSpPr>
              <p:cNvPr id="129" name="Gruppieren 128">
                <a:extLst>
                  <a:ext uri="{FF2B5EF4-FFF2-40B4-BE49-F238E27FC236}">
                    <a16:creationId xmlns:a16="http://schemas.microsoft.com/office/drawing/2014/main" id="{B89A0593-CD6A-12DE-877B-792DB452C3D4}"/>
                  </a:ext>
                </a:extLst>
              </p:cNvPr>
              <p:cNvGrpSpPr/>
              <p:nvPr/>
            </p:nvGrpSpPr>
            <p:grpSpPr>
              <a:xfrm>
                <a:off x="4203700" y="1657083"/>
                <a:ext cx="5867400" cy="656347"/>
                <a:chOff x="4088021" y="4219601"/>
                <a:chExt cx="5867400" cy="656347"/>
              </a:xfrm>
            </p:grpSpPr>
            <p:sp>
              <p:nvSpPr>
                <p:cNvPr id="131" name="Freihandform: Form 130">
                  <a:extLst>
                    <a:ext uri="{FF2B5EF4-FFF2-40B4-BE49-F238E27FC236}">
                      <a16:creationId xmlns:a16="http://schemas.microsoft.com/office/drawing/2014/main" id="{F96744A2-C40A-589A-30B7-6BE7B96178FC}"/>
                    </a:ext>
                  </a:extLst>
                </p:cNvPr>
                <p:cNvSpPr/>
                <p:nvPr/>
              </p:nvSpPr>
              <p:spPr>
                <a:xfrm>
                  <a:off x="4088021" y="4219601"/>
                  <a:ext cx="5867400" cy="369332"/>
                </a:xfrm>
                <a:custGeom>
                  <a:avLst/>
                  <a:gdLst>
                    <a:gd name="connsiteX0" fmla="*/ 25400 w 5867400"/>
                    <a:gd name="connsiteY0" fmla="*/ 469900 h 609600"/>
                    <a:gd name="connsiteX1" fmla="*/ 25400 w 5867400"/>
                    <a:gd name="connsiteY1" fmla="*/ 0 h 609600"/>
                    <a:gd name="connsiteX2" fmla="*/ 1981200 w 5867400"/>
                    <a:gd name="connsiteY2" fmla="*/ 215900 h 609600"/>
                    <a:gd name="connsiteX3" fmla="*/ 4114800 w 5867400"/>
                    <a:gd name="connsiteY3" fmla="*/ 469900 h 609600"/>
                    <a:gd name="connsiteX4" fmla="*/ 5867400 w 5867400"/>
                    <a:gd name="connsiteY4" fmla="*/ 508000 h 609600"/>
                    <a:gd name="connsiteX5" fmla="*/ 5867400 w 5867400"/>
                    <a:gd name="connsiteY5" fmla="*/ 609600 h 609600"/>
                    <a:gd name="connsiteX6" fmla="*/ 0 w 5867400"/>
                    <a:gd name="connsiteY6" fmla="*/ 609600 h 609600"/>
                    <a:gd name="connsiteX7" fmla="*/ 25400 w 5867400"/>
                    <a:gd name="connsiteY7" fmla="*/ 469900 h 60960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</a:cxnLst>
                  <a:rect l="l" t="t" r="r" b="b"/>
                  <a:pathLst>
                    <a:path w="5867400" h="609600">
                      <a:moveTo>
                        <a:pt x="25400" y="469900"/>
                      </a:moveTo>
                      <a:lnTo>
                        <a:pt x="25400" y="0"/>
                      </a:lnTo>
                      <a:lnTo>
                        <a:pt x="1981200" y="215900"/>
                      </a:lnTo>
                      <a:lnTo>
                        <a:pt x="4114800" y="469900"/>
                      </a:lnTo>
                      <a:lnTo>
                        <a:pt x="5867400" y="508000"/>
                      </a:lnTo>
                      <a:lnTo>
                        <a:pt x="5867400" y="609600"/>
                      </a:lnTo>
                      <a:lnTo>
                        <a:pt x="0" y="609600"/>
                      </a:lnTo>
                      <a:lnTo>
                        <a:pt x="25400" y="469900"/>
                      </a:lnTo>
                      <a:close/>
                    </a:path>
                  </a:pathLst>
                </a:custGeom>
                <a:solidFill>
                  <a:srgbClr val="950F53"/>
                </a:solidFill>
                <a:ln w="12700" cap="flat" cmpd="sng" algn="ctr">
                  <a:solidFill>
                    <a:srgbClr val="950F53">
                      <a:shade val="15000"/>
                    </a:srgbClr>
                  </a:solidFill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de-DE" sz="1400" b="0" i="0" u="none" strike="noStrike" kern="0" cap="none" spc="0" normalizeH="0" baseline="0" noProof="1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Aptos" panose="020B0004020202020204" pitchFamily="34" charset="0"/>
                    <a:ea typeface="+mn-ea"/>
                    <a:cs typeface="+mn-cs"/>
                  </a:endParaRPr>
                </a:p>
              </p:txBody>
            </p:sp>
            <p:sp>
              <p:nvSpPr>
                <p:cNvPr id="132" name="Freihandform: Form 131">
                  <a:extLst>
                    <a:ext uri="{FF2B5EF4-FFF2-40B4-BE49-F238E27FC236}">
                      <a16:creationId xmlns:a16="http://schemas.microsoft.com/office/drawing/2014/main" id="{2434EE3C-BE72-C7CB-E08F-5A142864D856}"/>
                    </a:ext>
                  </a:extLst>
                </p:cNvPr>
                <p:cNvSpPr/>
                <p:nvPr/>
              </p:nvSpPr>
              <p:spPr>
                <a:xfrm flipV="1">
                  <a:off x="4088021" y="4600781"/>
                  <a:ext cx="5867400" cy="275167"/>
                </a:xfrm>
                <a:custGeom>
                  <a:avLst/>
                  <a:gdLst>
                    <a:gd name="connsiteX0" fmla="*/ 25400 w 5867400"/>
                    <a:gd name="connsiteY0" fmla="*/ 469900 h 609600"/>
                    <a:gd name="connsiteX1" fmla="*/ 25400 w 5867400"/>
                    <a:gd name="connsiteY1" fmla="*/ 0 h 609600"/>
                    <a:gd name="connsiteX2" fmla="*/ 1981200 w 5867400"/>
                    <a:gd name="connsiteY2" fmla="*/ 215900 h 609600"/>
                    <a:gd name="connsiteX3" fmla="*/ 4114800 w 5867400"/>
                    <a:gd name="connsiteY3" fmla="*/ 469900 h 609600"/>
                    <a:gd name="connsiteX4" fmla="*/ 5867400 w 5867400"/>
                    <a:gd name="connsiteY4" fmla="*/ 508000 h 609600"/>
                    <a:gd name="connsiteX5" fmla="*/ 5867400 w 5867400"/>
                    <a:gd name="connsiteY5" fmla="*/ 609600 h 609600"/>
                    <a:gd name="connsiteX6" fmla="*/ 0 w 5867400"/>
                    <a:gd name="connsiteY6" fmla="*/ 609600 h 609600"/>
                    <a:gd name="connsiteX7" fmla="*/ 25400 w 5867400"/>
                    <a:gd name="connsiteY7" fmla="*/ 469900 h 60960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</a:cxnLst>
                  <a:rect l="l" t="t" r="r" b="b"/>
                  <a:pathLst>
                    <a:path w="5867400" h="609600">
                      <a:moveTo>
                        <a:pt x="25400" y="469900"/>
                      </a:moveTo>
                      <a:lnTo>
                        <a:pt x="25400" y="0"/>
                      </a:lnTo>
                      <a:lnTo>
                        <a:pt x="1981200" y="215900"/>
                      </a:lnTo>
                      <a:lnTo>
                        <a:pt x="4114800" y="469900"/>
                      </a:lnTo>
                      <a:lnTo>
                        <a:pt x="5867400" y="508000"/>
                      </a:lnTo>
                      <a:lnTo>
                        <a:pt x="5867400" y="609600"/>
                      </a:lnTo>
                      <a:lnTo>
                        <a:pt x="0" y="609600"/>
                      </a:lnTo>
                      <a:lnTo>
                        <a:pt x="25400" y="469900"/>
                      </a:lnTo>
                      <a:close/>
                    </a:path>
                  </a:pathLst>
                </a:custGeom>
                <a:solidFill>
                  <a:srgbClr val="BCCF00"/>
                </a:solidFill>
                <a:ln w="12700" cap="flat" cmpd="sng" algn="ctr">
                  <a:solidFill>
                    <a:srgbClr val="BCCF00">
                      <a:shade val="15000"/>
                    </a:srgbClr>
                  </a:solidFill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de-DE" sz="1400" b="0" i="0" u="none" strike="noStrike" kern="0" cap="none" spc="0" normalizeH="0" baseline="0" noProof="1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Aptos" panose="020B0004020202020204" pitchFamily="34" charset="0"/>
                    <a:ea typeface="+mn-ea"/>
                    <a:cs typeface="+mn-cs"/>
                  </a:endParaRPr>
                </a:p>
              </p:txBody>
            </p:sp>
          </p:grpSp>
          <p:sp>
            <p:nvSpPr>
              <p:cNvPr id="130" name="Freihandform: Form 129">
                <a:extLst>
                  <a:ext uri="{FF2B5EF4-FFF2-40B4-BE49-F238E27FC236}">
                    <a16:creationId xmlns:a16="http://schemas.microsoft.com/office/drawing/2014/main" id="{969E7CA7-8752-40CA-BF89-B66AB9082921}"/>
                  </a:ext>
                </a:extLst>
              </p:cNvPr>
              <p:cNvSpPr/>
              <p:nvPr/>
            </p:nvSpPr>
            <p:spPr>
              <a:xfrm>
                <a:off x="4216400" y="3369985"/>
                <a:ext cx="5880100" cy="111100"/>
              </a:xfrm>
              <a:custGeom>
                <a:avLst/>
                <a:gdLst>
                  <a:gd name="connsiteX0" fmla="*/ 88900 w 5880100"/>
                  <a:gd name="connsiteY0" fmla="*/ 342900 h 381000"/>
                  <a:gd name="connsiteX1" fmla="*/ 88900 w 5880100"/>
                  <a:gd name="connsiteY1" fmla="*/ 342900 h 381000"/>
                  <a:gd name="connsiteX2" fmla="*/ 88900 w 5880100"/>
                  <a:gd name="connsiteY2" fmla="*/ 114300 h 381000"/>
                  <a:gd name="connsiteX3" fmla="*/ 88900 w 5880100"/>
                  <a:gd name="connsiteY3" fmla="*/ 0 h 381000"/>
                  <a:gd name="connsiteX4" fmla="*/ 5880100 w 5880100"/>
                  <a:gd name="connsiteY4" fmla="*/ 0 h 381000"/>
                  <a:gd name="connsiteX5" fmla="*/ 5880100 w 5880100"/>
                  <a:gd name="connsiteY5" fmla="*/ 381000 h 381000"/>
                  <a:gd name="connsiteX6" fmla="*/ 0 w 5880100"/>
                  <a:gd name="connsiteY6" fmla="*/ 381000 h 381000"/>
                  <a:gd name="connsiteX7" fmla="*/ 88900 w 5880100"/>
                  <a:gd name="connsiteY7" fmla="*/ 342900 h 3810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5880100" h="381000">
                    <a:moveTo>
                      <a:pt x="88900" y="342900"/>
                    </a:moveTo>
                    <a:lnTo>
                      <a:pt x="88900" y="342900"/>
                    </a:lnTo>
                    <a:lnTo>
                      <a:pt x="88900" y="114300"/>
                    </a:lnTo>
                    <a:lnTo>
                      <a:pt x="88900" y="0"/>
                    </a:lnTo>
                    <a:lnTo>
                      <a:pt x="5880100" y="0"/>
                    </a:lnTo>
                    <a:lnTo>
                      <a:pt x="5880100" y="381000"/>
                    </a:lnTo>
                    <a:lnTo>
                      <a:pt x="0" y="381000"/>
                    </a:lnTo>
                    <a:lnTo>
                      <a:pt x="88900" y="342900"/>
                    </a:lnTo>
                    <a:close/>
                  </a:path>
                </a:pathLst>
              </a:custGeom>
              <a:solidFill>
                <a:srgbClr val="F59C00">
                  <a:lumMod val="75000"/>
                </a:srgbClr>
              </a:solidFill>
              <a:ln w="12700" cap="flat" cmpd="sng" algn="ctr">
                <a:solidFill>
                  <a:srgbClr val="F59C00">
                    <a:shade val="15000"/>
                  </a:srgbClr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de-DE" sz="1400" b="0" i="0" u="none" strike="noStrike" kern="0" cap="none" spc="0" normalizeH="0" baseline="0" noProof="1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ptos" panose="020B0004020202020204" pitchFamily="34" charset="0"/>
                  <a:ea typeface="+mn-ea"/>
                  <a:cs typeface="+mn-cs"/>
                </a:endParaRPr>
              </a:p>
            </p:txBody>
          </p:sp>
        </p:grpSp>
        <p:sp>
          <p:nvSpPr>
            <p:cNvPr id="91" name="Pfeil: nach rechts 90">
              <a:extLst>
                <a:ext uri="{FF2B5EF4-FFF2-40B4-BE49-F238E27FC236}">
                  <a16:creationId xmlns:a16="http://schemas.microsoft.com/office/drawing/2014/main" id="{C8FA2893-05C4-D377-01B4-C0E3637AE6D2}"/>
                </a:ext>
              </a:extLst>
            </p:cNvPr>
            <p:cNvSpPr/>
            <p:nvPr/>
          </p:nvSpPr>
          <p:spPr>
            <a:xfrm rot="16200000">
              <a:off x="6091031" y="1820413"/>
              <a:ext cx="2099844" cy="539582"/>
            </a:xfrm>
            <a:prstGeom prst="rightArrow">
              <a:avLst/>
            </a:prstGeom>
            <a:solidFill>
              <a:srgbClr val="3BACBE">
                <a:lumMod val="50000"/>
              </a:srgbClr>
            </a:solidFill>
            <a:ln w="12700" cap="flat" cmpd="sng" algn="ctr">
              <a:solidFill>
                <a:srgbClr val="3BACBE">
                  <a:shade val="15000"/>
                </a:srgbClr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de-DE" sz="700" b="0" i="0" u="none" strike="noStrike" kern="0" cap="none" spc="0" normalizeH="0" baseline="0" noProof="1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ptos" panose="020B0004020202020204" pitchFamily="34" charset="0"/>
                  <a:ea typeface="+mn-ea"/>
                  <a:cs typeface="+mn-cs"/>
                </a:rPr>
                <a:t>Emissions</a:t>
              </a:r>
            </a:p>
          </p:txBody>
        </p:sp>
        <p:sp>
          <p:nvSpPr>
            <p:cNvPr id="92" name="Pfeil: nach rechts 91">
              <a:extLst>
                <a:ext uri="{FF2B5EF4-FFF2-40B4-BE49-F238E27FC236}">
                  <a16:creationId xmlns:a16="http://schemas.microsoft.com/office/drawing/2014/main" id="{B6E47496-3680-3778-A180-FA0B04D00FB1}"/>
                </a:ext>
              </a:extLst>
            </p:cNvPr>
            <p:cNvSpPr/>
            <p:nvPr/>
          </p:nvSpPr>
          <p:spPr>
            <a:xfrm rot="16200000" flipH="1">
              <a:off x="7439446" y="1460925"/>
              <a:ext cx="965730" cy="539582"/>
            </a:xfrm>
            <a:prstGeom prst="rightArrow">
              <a:avLst/>
            </a:prstGeom>
            <a:solidFill>
              <a:srgbClr val="5FB564"/>
            </a:solidFill>
            <a:ln w="12700" cap="flat" cmpd="sng" algn="ctr">
              <a:solidFill>
                <a:srgbClr val="3BACBE">
                  <a:shade val="15000"/>
                </a:srgbClr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de-DE" sz="900" b="0" i="0" u="none" strike="noStrike" kern="0" cap="none" spc="0" normalizeH="0" baseline="0" noProof="1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ptos" panose="020B0004020202020204" pitchFamily="34" charset="0"/>
                  <a:ea typeface="+mn-ea"/>
                  <a:cs typeface="+mn-cs"/>
                </a:rPr>
                <a:t>Emission Savings</a:t>
              </a:r>
            </a:p>
          </p:txBody>
        </p:sp>
        <p:sp>
          <p:nvSpPr>
            <p:cNvPr id="93" name="Pfeil: nach rechts 92">
              <a:extLst>
                <a:ext uri="{FF2B5EF4-FFF2-40B4-BE49-F238E27FC236}">
                  <a16:creationId xmlns:a16="http://schemas.microsoft.com/office/drawing/2014/main" id="{1718A80C-D8B2-45D5-9964-0EC598C70DCB}"/>
                </a:ext>
              </a:extLst>
            </p:cNvPr>
            <p:cNvSpPr/>
            <p:nvPr/>
          </p:nvSpPr>
          <p:spPr>
            <a:xfrm rot="16200000">
              <a:off x="7649487" y="1301673"/>
              <a:ext cx="1097062" cy="539582"/>
            </a:xfrm>
            <a:prstGeom prst="rightArrow">
              <a:avLst/>
            </a:prstGeom>
            <a:solidFill>
              <a:srgbClr val="3BACBE">
                <a:lumMod val="50000"/>
              </a:srgbClr>
            </a:solidFill>
            <a:ln w="12700" cap="flat" cmpd="sng" algn="ctr">
              <a:solidFill>
                <a:srgbClr val="3BACBE">
                  <a:shade val="15000"/>
                </a:srgbClr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de-DE" sz="700" b="0" i="0" u="none" strike="noStrike" kern="0" cap="none" spc="0" normalizeH="0" baseline="0" noProof="1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ptos" panose="020B0004020202020204" pitchFamily="34" charset="0"/>
                  <a:ea typeface="+mn-ea"/>
                  <a:cs typeface="+mn-cs"/>
                </a:rPr>
                <a:t>Emissions</a:t>
              </a:r>
            </a:p>
          </p:txBody>
        </p:sp>
        <p:sp>
          <p:nvSpPr>
            <p:cNvPr id="94" name="Rechteck 93">
              <a:extLst>
                <a:ext uri="{FF2B5EF4-FFF2-40B4-BE49-F238E27FC236}">
                  <a16:creationId xmlns:a16="http://schemas.microsoft.com/office/drawing/2014/main" id="{CC3F79F6-C5F2-9212-8781-DD9298724560}"/>
                </a:ext>
              </a:extLst>
            </p:cNvPr>
            <p:cNvSpPr/>
            <p:nvPr/>
          </p:nvSpPr>
          <p:spPr>
            <a:xfrm>
              <a:off x="3622675" y="1389712"/>
              <a:ext cx="8375883" cy="4269077"/>
            </a:xfrm>
            <a:prstGeom prst="rect">
              <a:avLst/>
            </a:prstGeom>
            <a:noFill/>
            <a:ln w="28575" cap="flat" cmpd="sng" algn="ctr">
              <a:solidFill>
                <a:srgbClr val="E6EFF3">
                  <a:lumMod val="25000"/>
                </a:srgbClr>
              </a:solidFill>
              <a:prstDash val="dash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de-DE" sz="1400" b="0" i="0" u="none" strike="noStrike" kern="0" cap="none" spc="0" normalizeH="0" baseline="0" noProof="1">
                <a:ln>
                  <a:noFill/>
                </a:ln>
                <a:solidFill>
                  <a:srgbClr val="E6EFF3">
                    <a:lumMod val="25000"/>
                  </a:srgbClr>
                </a:solidFill>
                <a:effectLst/>
                <a:uLnTx/>
                <a:uFillTx/>
                <a:latin typeface="Aptos" panose="020B00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5" name="Textfeld 94">
              <a:extLst>
                <a:ext uri="{FF2B5EF4-FFF2-40B4-BE49-F238E27FC236}">
                  <a16:creationId xmlns:a16="http://schemas.microsoft.com/office/drawing/2014/main" id="{289549A6-ECE9-DB75-4E1C-CDA87F47AA43}"/>
                </a:ext>
              </a:extLst>
            </p:cNvPr>
            <p:cNvSpPr txBox="1"/>
            <p:nvPr/>
          </p:nvSpPr>
          <p:spPr>
            <a:xfrm>
              <a:off x="3502550" y="745309"/>
              <a:ext cx="9132326" cy="53671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de-DE" sz="1050" b="0" i="0" u="none" strike="noStrike" kern="0" cap="none" spc="0" normalizeH="0" baseline="0" noProof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ptos" panose="020B0004020202020204" pitchFamily="34" charset="0"/>
                  <a:ea typeface="+mn-ea"/>
                  <a:cs typeface="+mn-cs"/>
                </a:rPr>
                <a:t>2025 Errichtung	</a:t>
              </a:r>
              <a:r>
                <a:rPr kumimoji="0" lang="de-DE" sz="1050" b="1" i="0" u="none" strike="noStrike" kern="0" cap="none" spc="0" normalizeH="0" baseline="0" noProof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ptos" panose="020B0004020202020204" pitchFamily="34" charset="0"/>
                  <a:ea typeface="+mn-ea"/>
                  <a:cs typeface="+mn-cs"/>
                </a:rPr>
                <a:t>2025	2030		2040	               2050 </a:t>
              </a:r>
              <a:r>
                <a:rPr kumimoji="0" lang="de-DE" sz="1050" b="0" i="0" u="none" strike="noStrike" kern="0" cap="none" spc="0" normalizeH="0" baseline="0" noProof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ptos" panose="020B0004020202020204" pitchFamily="34" charset="0"/>
                  <a:ea typeface="+mn-ea"/>
                  <a:cs typeface="+mn-cs"/>
                </a:rPr>
                <a:t>		2075</a:t>
              </a:r>
            </a:p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de-DE" sz="1200" b="1" i="0" u="none" strike="noStrike" kern="0" cap="none" spc="0" normalizeH="0" baseline="0" noProof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ptos" panose="020B0004020202020204" pitchFamily="34" charset="0"/>
                  <a:ea typeface="+mn-ea"/>
                  <a:cs typeface="+mn-cs"/>
                </a:rPr>
                <a:t>	</a:t>
              </a:r>
            </a:p>
          </p:txBody>
        </p:sp>
        <p:sp>
          <p:nvSpPr>
            <p:cNvPr id="96" name="Textfeld 95">
              <a:extLst>
                <a:ext uri="{FF2B5EF4-FFF2-40B4-BE49-F238E27FC236}">
                  <a16:creationId xmlns:a16="http://schemas.microsoft.com/office/drawing/2014/main" id="{C9DA787C-810E-4620-7EBC-A2DCA46FE1D6}"/>
                </a:ext>
              </a:extLst>
            </p:cNvPr>
            <p:cNvSpPr txBox="1"/>
            <p:nvPr/>
          </p:nvSpPr>
          <p:spPr>
            <a:xfrm>
              <a:off x="875495" y="1324875"/>
              <a:ext cx="2618753" cy="591323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de-DE" sz="1400" b="1" i="0" u="none" strike="noStrike" kern="0" cap="none" spc="0" normalizeH="0" baseline="0" noProof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ptos" panose="020B0004020202020204" pitchFamily="34" charset="0"/>
                  <a:ea typeface="+mn-ea"/>
                  <a:cs typeface="+mn-cs"/>
                </a:rPr>
                <a:t>Betrieb</a:t>
              </a:r>
            </a:p>
            <a:p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de-DE" sz="1400" b="0" i="0" u="none" strike="noStrike" kern="0" cap="none" spc="0" normalizeH="0" baseline="0" noProof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Netzstrom</a:t>
              </a:r>
            </a:p>
            <a:p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de-DE" sz="1400" b="0" i="0" u="none" strike="noStrike" kern="0" cap="none" spc="0" normalizeH="0" baseline="0" noProof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Einspeisung/flex</a:t>
              </a:r>
            </a:p>
            <a:p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de-DE" sz="1400" b="0" i="0" u="none" strike="noStrike" kern="0" cap="none" spc="0" normalizeH="0" baseline="0" noProof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  <a:p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de-DE" sz="1400" b="0" i="0" u="none" strike="noStrike" kern="0" cap="none" spc="0" normalizeH="0" baseline="0" noProof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Fernwärme</a:t>
              </a:r>
            </a:p>
            <a:p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de-DE" sz="1400" b="0" i="0" u="none" strike="noStrike" kern="0" cap="none" spc="0" normalizeH="0" baseline="0" noProof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Gas</a:t>
              </a:r>
            </a:p>
            <a:p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de-DE" sz="1400" b="0" i="0" u="none" strike="noStrike" kern="0" cap="none" spc="0" normalizeH="0" baseline="0" noProof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Biomasse</a:t>
              </a:r>
            </a:p>
            <a:p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de-DE" sz="1400" b="0" i="0" u="none" strike="noStrike" kern="0" cap="none" spc="0" normalizeH="0" baseline="0" noProof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MIV Fossil</a:t>
              </a:r>
            </a:p>
            <a:p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de-DE" sz="1400" b="1" i="0" u="none" strike="noStrike" kern="0" cap="none" spc="0" normalizeH="0" baseline="0" noProof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" panose="020B0004020202020204" pitchFamily="34" charset="0"/>
                <a:ea typeface="+mn-ea"/>
                <a:cs typeface="+mn-cs"/>
              </a:endParaRPr>
            </a:p>
            <a:p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de-DE" sz="1400" b="1" i="0" u="none" strike="noStrike" kern="0" cap="none" spc="0" normalizeH="0" baseline="0" noProof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" panose="020B0004020202020204" pitchFamily="34" charset="0"/>
                <a:ea typeface="+mn-ea"/>
                <a:cs typeface="+mn-cs"/>
              </a:endParaRPr>
            </a:p>
            <a:p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de-DE" sz="1400" b="1" i="0" u="none" strike="noStrike" kern="0" cap="none" spc="0" normalizeH="0" baseline="0" noProof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" panose="020B0004020202020204" pitchFamily="34" charset="0"/>
                <a:ea typeface="+mn-ea"/>
                <a:cs typeface="+mn-cs"/>
              </a:endParaRPr>
            </a:p>
            <a:p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de-DE" sz="1400" b="1" i="0" u="none" strike="noStrike" kern="0" cap="none" spc="0" normalizeH="0" baseline="0" noProof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ptos" panose="020B0004020202020204" pitchFamily="34" charset="0"/>
                  <a:ea typeface="+mn-ea"/>
                  <a:cs typeface="+mn-cs"/>
                </a:rPr>
                <a:t>Emissionen</a:t>
              </a:r>
            </a:p>
            <a:p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de-DE" sz="1400" b="1" i="0" u="none" strike="noStrike" kern="0" cap="none" spc="0" normalizeH="0" baseline="0" noProof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ptos" panose="020B0004020202020204" pitchFamily="34" charset="0"/>
                  <a:ea typeface="+mn-ea"/>
                  <a:cs typeface="+mn-cs"/>
                </a:rPr>
                <a:t>Errichtung,</a:t>
              </a:r>
            </a:p>
            <a:p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de-DE" sz="1400" b="1" i="0" u="none" strike="noStrike" kern="0" cap="none" spc="0" normalizeH="0" baseline="0" noProof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ptos" panose="020B0004020202020204" pitchFamily="34" charset="0"/>
                  <a:ea typeface="+mn-ea"/>
                  <a:cs typeface="+mn-cs"/>
                </a:rPr>
                <a:t>Instandsetzung</a:t>
              </a:r>
            </a:p>
            <a:p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de-DE" sz="1400" b="1" i="0" u="none" strike="noStrike" kern="0" cap="none" spc="0" normalizeH="0" baseline="0" noProof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ptos" panose="020B0004020202020204" pitchFamily="34" charset="0"/>
                  <a:ea typeface="+mn-ea"/>
                  <a:cs typeface="+mn-cs"/>
                </a:rPr>
                <a:t>Abbruch</a:t>
              </a:r>
            </a:p>
            <a:p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de-DE" sz="1400" b="1" i="0" u="none" strike="noStrike" kern="0" cap="none" spc="0" normalizeH="0" baseline="0" noProof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ptos" panose="020B0004020202020204" pitchFamily="34" charset="0"/>
                  <a:ea typeface="+mn-ea"/>
                  <a:cs typeface="+mn-cs"/>
                </a:rPr>
                <a:t> </a:t>
              </a:r>
            </a:p>
            <a:p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de-DE" sz="1400" b="1" i="0" u="none" strike="noStrike" kern="0" cap="none" spc="0" normalizeH="0" baseline="0" noProof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" panose="020B0004020202020204" pitchFamily="34" charset="0"/>
                <a:ea typeface="+mn-ea"/>
                <a:cs typeface="+mn-cs"/>
              </a:endParaRPr>
            </a:p>
            <a:p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de-DE" sz="1400" b="1" i="0" u="none" strike="noStrike" kern="0" cap="none" spc="0" normalizeH="0" baseline="0" noProof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" panose="020B0004020202020204" pitchFamily="34" charset="0"/>
                <a:ea typeface="+mn-ea"/>
                <a:cs typeface="+mn-cs"/>
              </a:endParaRPr>
            </a:p>
            <a:p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de-DE" sz="1400" b="1" i="0" u="none" strike="noStrike" kern="0" cap="none" spc="0" normalizeH="0" baseline="0" noProof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" panose="020B0004020202020204" pitchFamily="34" charset="0"/>
                <a:ea typeface="+mn-ea"/>
                <a:cs typeface="+mn-cs"/>
              </a:endParaRPr>
            </a:p>
            <a:p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de-DE" sz="1400" b="1" i="0" u="none" strike="noStrike" kern="0" cap="none" spc="0" normalizeH="0" baseline="0" noProof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" panose="020B0004020202020204" pitchFamily="34" charset="0"/>
                <a:ea typeface="+mn-ea"/>
                <a:cs typeface="+mn-cs"/>
              </a:endParaRPr>
            </a:p>
            <a:p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br>
                <a:rPr kumimoji="0" lang="de-DE" sz="1400" b="1" i="0" u="none" strike="noStrike" kern="0" cap="none" spc="0" normalizeH="0" baseline="0" noProof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ptos" panose="020B0004020202020204" pitchFamily="34" charset="0"/>
                  <a:ea typeface="+mn-ea"/>
                  <a:cs typeface="+mn-cs"/>
                </a:rPr>
              </a:br>
              <a:endParaRPr kumimoji="0" lang="de-DE" sz="1400" b="0" i="0" u="none" strike="noStrike" kern="0" cap="none" spc="0" normalizeH="0" baseline="0" noProof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" panose="020B00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7" name="Textfeld 96">
              <a:extLst>
                <a:ext uri="{FF2B5EF4-FFF2-40B4-BE49-F238E27FC236}">
                  <a16:creationId xmlns:a16="http://schemas.microsoft.com/office/drawing/2014/main" id="{22E467C2-6921-112B-237F-F024CE364F97}"/>
                </a:ext>
              </a:extLst>
            </p:cNvPr>
            <p:cNvSpPr txBox="1"/>
            <p:nvPr/>
          </p:nvSpPr>
          <p:spPr>
            <a:xfrm>
              <a:off x="5354529" y="4076183"/>
              <a:ext cx="2766187" cy="16948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de-DE" sz="1050" b="0" i="0" u="none" strike="noStrike" kern="0" cap="none" spc="0" normalizeH="0" baseline="0" noProof="1">
                  <a:ln>
                    <a:noFill/>
                  </a:ln>
                  <a:solidFill>
                    <a:srgbClr val="BCCF00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🌾</a:t>
              </a:r>
              <a:r>
                <a:rPr kumimoji="0" lang="de-DE" sz="1050" b="0" i="0" u="none" strike="noStrike" kern="0" cap="none" spc="0" normalizeH="0" baseline="0" noProof="1">
                  <a:ln>
                    <a:noFill/>
                  </a:ln>
                  <a:solidFill>
                    <a:srgbClr val="26434F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</a:t>
              </a:r>
              <a:r>
                <a:rPr kumimoji="0" lang="de-DE" sz="1050" b="1" i="0" u="none" strike="noStrike" kern="0" cap="none" spc="0" normalizeH="0" baseline="0" noProof="1">
                  <a:ln>
                    <a:noFill/>
                  </a:ln>
                  <a:solidFill>
                    <a:srgbClr val="F59C00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100 % des biogenen Kohlenstoffgehalts</a:t>
              </a:r>
              <a:r>
                <a:rPr kumimoji="0" lang="de-DE" sz="1050" b="0" i="1" u="none" strike="noStrike" kern="0" cap="none" spc="0" normalizeH="0" baseline="0" noProof="1">
                  <a:ln>
                    <a:noFill/>
                  </a:ln>
                  <a:solidFill>
                    <a:srgbClr val="26434F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als CO₂-Speicher</a:t>
              </a:r>
              <a:br>
                <a:rPr kumimoji="0" lang="de-DE" sz="1050" b="0" i="1" u="none" strike="noStrike" kern="0" cap="none" spc="0" normalizeH="0" baseline="0" noProof="1">
                  <a:ln>
                    <a:noFill/>
                  </a:ln>
                  <a:solidFill>
                    <a:srgbClr val="26434F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</a:br>
              <a:r>
                <a:rPr kumimoji="0" lang="de-DE" sz="1050" b="0" i="0" u="none" strike="noStrike" kern="0" cap="none" spc="0" normalizeH="0" baseline="0" noProof="1">
                  <a:ln>
                    <a:noFill/>
                  </a:ln>
                  <a:solidFill>
                    <a:srgbClr val="5FB564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🌳</a:t>
              </a:r>
              <a:r>
                <a:rPr kumimoji="0" lang="de-DE" sz="1050" b="0" i="1" u="none" strike="noStrike" kern="0" cap="none" spc="0" normalizeH="0" baseline="0" noProof="1">
                  <a:ln>
                    <a:noFill/>
                  </a:ln>
                  <a:solidFill>
                    <a:srgbClr val="26434F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</a:t>
              </a:r>
              <a:r>
                <a:rPr kumimoji="0" lang="de-DE" sz="1050" b="1" i="0" u="none" strike="noStrike" kern="0" cap="none" spc="0" normalizeH="0" baseline="0" noProof="1">
                  <a:ln>
                    <a:noFill/>
                  </a:ln>
                  <a:solidFill>
                    <a:srgbClr val="418D45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55 % des biogenen CO₂-Gehalts</a:t>
              </a:r>
              <a:r>
                <a:rPr kumimoji="0" lang="de-DE" sz="1050" b="1" i="1" u="none" strike="noStrike" kern="0" cap="none" spc="0" normalizeH="0" baseline="0" noProof="1">
                  <a:ln>
                    <a:noFill/>
                  </a:ln>
                  <a:solidFill>
                    <a:srgbClr val="418D45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</a:t>
              </a:r>
              <a:r>
                <a:rPr kumimoji="0" lang="de-DE" sz="1050" b="0" i="1" u="none" strike="noStrike" kern="0" cap="none" spc="0" normalizeH="0" baseline="0" noProof="1">
                  <a:ln>
                    <a:noFill/>
                  </a:ln>
                  <a:solidFill>
                    <a:srgbClr val="26434F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(25 % Kalamitätenholz + 30 % zusätzlicher Biomasseaufbau)​</a:t>
              </a:r>
              <a:br>
                <a:rPr kumimoji="0" lang="de-DE" sz="1050" b="0" i="1" u="none" strike="noStrike" kern="0" cap="none" spc="0" normalizeH="0" baseline="0" noProof="1">
                  <a:ln>
                    <a:noFill/>
                  </a:ln>
                  <a:solidFill>
                    <a:srgbClr val="26434F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</a:br>
              <a:r>
                <a:rPr kumimoji="0" lang="de-DE" sz="1050" b="1" i="0" u="none" strike="noStrike" kern="0" cap="none" spc="0" normalizeH="0" baseline="0" noProof="1">
                  <a:ln>
                    <a:noFill/>
                  </a:ln>
                  <a:solidFill>
                    <a:srgbClr val="5FB564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🌲</a:t>
              </a:r>
              <a:r>
                <a:rPr kumimoji="0" lang="de-DE" sz="1050" b="1" i="0" u="none" strike="noStrike" kern="0" cap="none" spc="0" normalizeH="0" baseline="0" noProof="1">
                  <a:ln>
                    <a:noFill/>
                  </a:ln>
                  <a:solidFill>
                    <a:srgbClr val="E1320F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🪓</a:t>
              </a:r>
              <a:r>
                <a:rPr kumimoji="0" lang="de-DE" sz="1050" b="0" i="1" u="none" strike="noStrike" kern="0" cap="none" spc="0" normalizeH="0" baseline="0" noProof="1">
                  <a:ln>
                    <a:noFill/>
                  </a:ln>
                  <a:solidFill>
                    <a:srgbClr val="26434F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nachweislich Kalamitätenholz </a:t>
              </a:r>
              <a:r>
                <a:rPr kumimoji="0" lang="de-DE" sz="1050" b="1" i="0" u="none" strike="noStrike" kern="0" cap="none" spc="0" normalizeH="0" baseline="0" noProof="1">
                  <a:ln>
                    <a:noFill/>
                  </a:ln>
                  <a:solidFill>
                    <a:srgbClr val="418D45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100 % des biogenen CO2-Speichers</a:t>
              </a:r>
              <a:r>
                <a:rPr kumimoji="0" lang="de-DE" sz="1050" b="0" i="1" u="none" strike="noStrike" kern="0" cap="none" spc="0" normalizeH="0" baseline="0" noProof="1">
                  <a:ln>
                    <a:noFill/>
                  </a:ln>
                  <a:solidFill>
                    <a:srgbClr val="26434F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berücksichtigt.</a:t>
              </a:r>
              <a:endParaRPr kumimoji="0" lang="de-DE" sz="1050" b="0" i="0" u="none" strike="noStrike" kern="0" cap="none" spc="0" normalizeH="0" baseline="0" noProof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98" name="Rechteck 97">
              <a:extLst>
                <a:ext uri="{FF2B5EF4-FFF2-40B4-BE49-F238E27FC236}">
                  <a16:creationId xmlns:a16="http://schemas.microsoft.com/office/drawing/2014/main" id="{C600848E-0119-E06C-23BD-B9259EE94D03}"/>
                </a:ext>
              </a:extLst>
            </p:cNvPr>
            <p:cNvSpPr/>
            <p:nvPr/>
          </p:nvSpPr>
          <p:spPr>
            <a:xfrm>
              <a:off x="3630231" y="338514"/>
              <a:ext cx="8368327" cy="412170"/>
            </a:xfrm>
            <a:prstGeom prst="rect">
              <a:avLst/>
            </a:prstGeom>
            <a:solidFill>
              <a:srgbClr val="E6EFF3"/>
            </a:solidFill>
            <a:ln w="12700" cap="flat" cmpd="sng" algn="ctr">
              <a:solidFill>
                <a:srgbClr val="3BACBE">
                  <a:shade val="15000"/>
                </a:srgbClr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de-DE" sz="1400" b="0" i="0" u="none" strike="noStrike" kern="0" cap="none" spc="0" normalizeH="0" baseline="0" noProof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ptos" panose="020B00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9" name="Pfeil: nach rechts 98">
              <a:extLst>
                <a:ext uri="{FF2B5EF4-FFF2-40B4-BE49-F238E27FC236}">
                  <a16:creationId xmlns:a16="http://schemas.microsoft.com/office/drawing/2014/main" id="{686AF36C-7E52-E317-ECF9-5BAF3DE60C66}"/>
                </a:ext>
              </a:extLst>
            </p:cNvPr>
            <p:cNvSpPr/>
            <p:nvPr/>
          </p:nvSpPr>
          <p:spPr>
            <a:xfrm rot="5400000">
              <a:off x="3521332" y="5664258"/>
              <a:ext cx="1122403" cy="760162"/>
            </a:xfrm>
            <a:prstGeom prst="rightArrow">
              <a:avLst/>
            </a:prstGeom>
            <a:solidFill>
              <a:srgbClr val="3BACBE">
                <a:lumMod val="50000"/>
              </a:srgbClr>
            </a:solidFill>
            <a:ln w="12700" cap="flat" cmpd="sng" algn="ctr">
              <a:solidFill>
                <a:srgbClr val="3BACBE">
                  <a:shade val="15000"/>
                </a:srgbClr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de-DE" sz="900" b="0" i="0" u="none" strike="noStrike" kern="0" cap="none" spc="0" normalizeH="0" baseline="0" noProof="1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ptos" panose="020B0004020202020204" pitchFamily="34" charset="0"/>
                  <a:ea typeface="+mn-ea"/>
                  <a:cs typeface="+mn-cs"/>
                </a:rPr>
                <a:t>Emissionen</a:t>
              </a:r>
            </a:p>
          </p:txBody>
        </p:sp>
        <p:sp>
          <p:nvSpPr>
            <p:cNvPr id="100" name="Pfeil: nach rechts 99">
              <a:extLst>
                <a:ext uri="{FF2B5EF4-FFF2-40B4-BE49-F238E27FC236}">
                  <a16:creationId xmlns:a16="http://schemas.microsoft.com/office/drawing/2014/main" id="{B1AF0F73-0C27-F803-4527-5B30C759B382}"/>
                </a:ext>
              </a:extLst>
            </p:cNvPr>
            <p:cNvSpPr/>
            <p:nvPr/>
          </p:nvSpPr>
          <p:spPr>
            <a:xfrm rot="16200000">
              <a:off x="4466506" y="5533329"/>
              <a:ext cx="1122402" cy="764940"/>
            </a:xfrm>
            <a:prstGeom prst="rightArrow">
              <a:avLst/>
            </a:prstGeom>
            <a:solidFill>
              <a:srgbClr val="5FB564"/>
            </a:solidFill>
            <a:ln w="12700" cap="flat" cmpd="sng" algn="ctr">
              <a:solidFill>
                <a:srgbClr val="3BACBE">
                  <a:shade val="15000"/>
                </a:srgbClr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de-DE" sz="1400" b="0" i="0" u="none" strike="noStrike" kern="0" cap="none" spc="0" normalizeH="0" baseline="0" noProof="1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ptos" panose="020B0004020202020204" pitchFamily="34" charset="0"/>
                  <a:ea typeface="+mn-ea"/>
                  <a:cs typeface="+mn-cs"/>
                </a:rPr>
                <a:t>CCS</a:t>
              </a:r>
            </a:p>
          </p:txBody>
        </p:sp>
        <p:sp>
          <p:nvSpPr>
            <p:cNvPr id="101" name="Textfeld 100">
              <a:extLst>
                <a:ext uri="{FF2B5EF4-FFF2-40B4-BE49-F238E27FC236}">
                  <a16:creationId xmlns:a16="http://schemas.microsoft.com/office/drawing/2014/main" id="{08D8850A-C6A7-1B10-B4BC-95028916D7F2}"/>
                </a:ext>
              </a:extLst>
            </p:cNvPr>
            <p:cNvSpPr txBox="1"/>
            <p:nvPr/>
          </p:nvSpPr>
          <p:spPr>
            <a:xfrm>
              <a:off x="3652800" y="1513966"/>
              <a:ext cx="2478448" cy="56495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de-DE" sz="1200" b="0" i="0" u="none" strike="noStrike" kern="0" cap="none" spc="0" normalizeH="0" baseline="0" noProof="1">
                  <a:ln>
                    <a:noFill/>
                  </a:ln>
                  <a:solidFill>
                    <a:srgbClr val="3BACBE"/>
                  </a:solidFill>
                  <a:effectLst/>
                  <a:uLnTx/>
                  <a:uFillTx/>
                  <a:latin typeface="Aptos" panose="020B0004020202020204" pitchFamily="34" charset="0"/>
                  <a:ea typeface="+mn-ea"/>
                  <a:cs typeface="+mn-cs"/>
                </a:rPr>
                <a:t>⚖⚡☁Stündliche Konversionsfaktoren  </a:t>
              </a:r>
              <a:endParaRPr kumimoji="0" lang="de-DE" sz="1200" b="0" i="0" u="none" strike="noStrike" kern="0" cap="none" spc="0" normalizeH="0" baseline="0" noProof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" panose="020B00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2" name="Textfeld 101">
              <a:extLst>
                <a:ext uri="{FF2B5EF4-FFF2-40B4-BE49-F238E27FC236}">
                  <a16:creationId xmlns:a16="http://schemas.microsoft.com/office/drawing/2014/main" id="{A0552F64-55C6-8407-638F-9BFCA9D31F8D}"/>
                </a:ext>
              </a:extLst>
            </p:cNvPr>
            <p:cNvSpPr txBox="1"/>
            <p:nvPr/>
          </p:nvSpPr>
          <p:spPr>
            <a:xfrm>
              <a:off x="5509847" y="2521288"/>
              <a:ext cx="5437167" cy="33897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de-DE" sz="1200" b="0" i="0" u="none" strike="noStrike" kern="0" cap="none" spc="0" normalizeH="0" baseline="0" noProof="1">
                  <a:ln>
                    <a:noFill/>
                  </a:ln>
                  <a:solidFill>
                    <a:srgbClr val="3BACBE"/>
                  </a:solidFill>
                  <a:effectLst/>
                  <a:uLnTx/>
                  <a:uFillTx/>
                  <a:latin typeface="Aptos" panose="020B0004020202020204" pitchFamily="34" charset="0"/>
                  <a:ea typeface="+mn-ea"/>
                  <a:cs typeface="+mn-cs"/>
                </a:rPr>
                <a:t>⚖☁ jährlicher Dekarbonisierungspfad</a:t>
              </a:r>
              <a:endParaRPr kumimoji="0" lang="de-DE" sz="1200" b="0" i="0" u="none" strike="noStrike" kern="0" cap="none" spc="0" normalizeH="0" baseline="0" noProof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" panose="020B00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3" name="Pfeil: nach rechts 102">
              <a:extLst>
                <a:ext uri="{FF2B5EF4-FFF2-40B4-BE49-F238E27FC236}">
                  <a16:creationId xmlns:a16="http://schemas.microsoft.com/office/drawing/2014/main" id="{E7E9FCCC-2CFA-8C49-D208-CC27ADCDCE91}"/>
                </a:ext>
              </a:extLst>
            </p:cNvPr>
            <p:cNvSpPr/>
            <p:nvPr/>
          </p:nvSpPr>
          <p:spPr>
            <a:xfrm rot="16200000" flipH="1">
              <a:off x="6239302" y="1355681"/>
              <a:ext cx="1321351" cy="604454"/>
            </a:xfrm>
            <a:prstGeom prst="rightArrow">
              <a:avLst/>
            </a:prstGeom>
            <a:solidFill>
              <a:srgbClr val="5FB564"/>
            </a:solidFill>
            <a:ln w="12700" cap="flat" cmpd="sng" algn="ctr">
              <a:solidFill>
                <a:srgbClr val="3BACBE">
                  <a:shade val="15000"/>
                </a:srgbClr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de-DE" sz="900" b="0" i="0" u="none" strike="noStrike" kern="0" cap="none" spc="0" normalizeH="0" baseline="0" noProof="1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ptos" panose="020B0004020202020204" pitchFamily="34" charset="0"/>
                  <a:ea typeface="+mn-ea"/>
                  <a:cs typeface="+mn-cs"/>
                </a:rPr>
                <a:t>THG-Einsparung</a:t>
              </a:r>
            </a:p>
          </p:txBody>
        </p:sp>
        <p:sp>
          <p:nvSpPr>
            <p:cNvPr id="104" name="Pfeil: nach rechts 103">
              <a:extLst>
                <a:ext uri="{FF2B5EF4-FFF2-40B4-BE49-F238E27FC236}">
                  <a16:creationId xmlns:a16="http://schemas.microsoft.com/office/drawing/2014/main" id="{C12A2C2F-8B48-5F0F-7F7B-DE09649BABA1}"/>
                </a:ext>
              </a:extLst>
            </p:cNvPr>
            <p:cNvSpPr/>
            <p:nvPr/>
          </p:nvSpPr>
          <p:spPr>
            <a:xfrm rot="16200000">
              <a:off x="6639507" y="1275970"/>
              <a:ext cx="1097062" cy="539582"/>
            </a:xfrm>
            <a:prstGeom prst="rightArrow">
              <a:avLst/>
            </a:prstGeom>
            <a:solidFill>
              <a:srgbClr val="3BACBE">
                <a:lumMod val="50000"/>
              </a:srgbClr>
            </a:solidFill>
            <a:ln w="12700" cap="flat" cmpd="sng" algn="ctr">
              <a:solidFill>
                <a:srgbClr val="3BACBE">
                  <a:shade val="15000"/>
                </a:srgbClr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de-DE" sz="700" b="0" i="0" u="none" strike="noStrike" kern="0" cap="none" spc="0" normalizeH="0" baseline="0" noProof="1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ptos" panose="020B0004020202020204" pitchFamily="34" charset="0"/>
                  <a:ea typeface="+mn-ea"/>
                  <a:cs typeface="+mn-cs"/>
                </a:rPr>
                <a:t>Emissionen</a:t>
              </a:r>
            </a:p>
          </p:txBody>
        </p:sp>
        <p:sp>
          <p:nvSpPr>
            <p:cNvPr id="106" name="Pfeil: nach rechts 105">
              <a:extLst>
                <a:ext uri="{FF2B5EF4-FFF2-40B4-BE49-F238E27FC236}">
                  <a16:creationId xmlns:a16="http://schemas.microsoft.com/office/drawing/2014/main" id="{890B049C-6394-1DF5-0381-F40F4ADEFBD0}"/>
                </a:ext>
              </a:extLst>
            </p:cNvPr>
            <p:cNvSpPr/>
            <p:nvPr/>
          </p:nvSpPr>
          <p:spPr>
            <a:xfrm rot="16200000">
              <a:off x="8672526" y="5652949"/>
              <a:ext cx="1048671" cy="412234"/>
            </a:xfrm>
            <a:prstGeom prst="rightArrow">
              <a:avLst/>
            </a:prstGeom>
            <a:solidFill>
              <a:srgbClr val="5FB564"/>
            </a:solidFill>
            <a:ln w="12700" cap="flat" cmpd="sng" algn="ctr">
              <a:solidFill>
                <a:srgbClr val="3BACBE">
                  <a:shade val="15000"/>
                </a:srgbClr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de-DE" sz="1400" b="0" i="0" u="none" strike="noStrike" kern="0" cap="none" spc="0" normalizeH="0" baseline="0" noProof="1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ptos" panose="020B0004020202020204" pitchFamily="34" charset="0"/>
                  <a:ea typeface="+mn-ea"/>
                  <a:cs typeface="+mn-cs"/>
                </a:rPr>
                <a:t>CCS</a:t>
              </a:r>
            </a:p>
          </p:txBody>
        </p:sp>
        <p:sp>
          <p:nvSpPr>
            <p:cNvPr id="107" name="Textfeld 106">
              <a:extLst>
                <a:ext uri="{FF2B5EF4-FFF2-40B4-BE49-F238E27FC236}">
                  <a16:creationId xmlns:a16="http://schemas.microsoft.com/office/drawing/2014/main" id="{C45D04EF-65CC-5D20-DB83-4720668B87BA}"/>
                </a:ext>
              </a:extLst>
            </p:cNvPr>
            <p:cNvSpPr txBox="1"/>
            <p:nvPr/>
          </p:nvSpPr>
          <p:spPr>
            <a:xfrm>
              <a:off x="3685862" y="4010869"/>
              <a:ext cx="1775697" cy="146889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de-DE" sz="3600" b="0" i="0" u="none" strike="noStrike" kern="0" cap="none" spc="0" normalizeH="0" baseline="0" noProof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ptos" panose="020B0004020202020204" pitchFamily="34" charset="0"/>
                  <a:ea typeface="+mn-ea"/>
                  <a:cs typeface="+mn-cs"/>
                </a:rPr>
                <a:t>🏗️🏠</a:t>
              </a:r>
            </a:p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de-DE" sz="3600" b="0" i="0" u="none" strike="noStrike" kern="0" cap="none" spc="0" normalizeH="0" baseline="0" noProof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ptos" panose="020B0004020202020204" pitchFamily="34" charset="0"/>
                  <a:ea typeface="+mn-ea"/>
                  <a:cs typeface="+mn-cs"/>
                </a:rPr>
                <a:t>🧱🪵</a:t>
              </a:r>
            </a:p>
          </p:txBody>
        </p:sp>
        <p:sp>
          <p:nvSpPr>
            <p:cNvPr id="108" name="Textfeld 107">
              <a:extLst>
                <a:ext uri="{FF2B5EF4-FFF2-40B4-BE49-F238E27FC236}">
                  <a16:creationId xmlns:a16="http://schemas.microsoft.com/office/drawing/2014/main" id="{4E754C1C-569F-B729-8530-5FC52C33D849}"/>
                </a:ext>
              </a:extLst>
            </p:cNvPr>
            <p:cNvSpPr txBox="1"/>
            <p:nvPr/>
          </p:nvSpPr>
          <p:spPr>
            <a:xfrm>
              <a:off x="7955671" y="4059520"/>
              <a:ext cx="1775697" cy="146889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de-DE" sz="3600" b="0" i="0" u="none" strike="noStrike" kern="0" cap="none" spc="0" normalizeH="0" baseline="0" noProof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ptos" panose="020B0004020202020204" pitchFamily="34" charset="0"/>
                  <a:ea typeface="+mn-ea"/>
                  <a:cs typeface="+mn-cs"/>
                </a:rPr>
                <a:t>🛠️🏚️</a:t>
              </a:r>
            </a:p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de-DE" sz="3600" b="0" i="0" u="none" strike="noStrike" kern="0" cap="none" spc="0" normalizeH="0" baseline="0" noProof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ptos" panose="020B0004020202020204" pitchFamily="34" charset="0"/>
                  <a:ea typeface="+mn-ea"/>
                  <a:cs typeface="+mn-cs"/>
                </a:rPr>
                <a:t>🧱🪵</a:t>
              </a:r>
            </a:p>
          </p:txBody>
        </p:sp>
        <p:sp>
          <p:nvSpPr>
            <p:cNvPr id="109" name="Textfeld 108">
              <a:extLst>
                <a:ext uri="{FF2B5EF4-FFF2-40B4-BE49-F238E27FC236}">
                  <a16:creationId xmlns:a16="http://schemas.microsoft.com/office/drawing/2014/main" id="{D608A562-BAAC-6DC6-E88B-590A466470BA}"/>
                </a:ext>
              </a:extLst>
            </p:cNvPr>
            <p:cNvSpPr txBox="1"/>
            <p:nvPr/>
          </p:nvSpPr>
          <p:spPr>
            <a:xfrm>
              <a:off x="6259676" y="1225114"/>
              <a:ext cx="2534167" cy="79094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de-DE" sz="3600" b="0" i="0" u="none" strike="noStrike" kern="0" cap="none" spc="0" normalizeH="0" baseline="0" noProof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ptos" panose="020B0004020202020204" pitchFamily="34" charset="0"/>
                  <a:ea typeface="+mn-ea"/>
                  <a:cs typeface="+mn-cs"/>
                </a:rPr>
                <a:t>🔌⚡🚗</a:t>
              </a:r>
            </a:p>
          </p:txBody>
        </p:sp>
        <p:sp>
          <p:nvSpPr>
            <p:cNvPr id="110" name="Textfeld 109">
              <a:extLst>
                <a:ext uri="{FF2B5EF4-FFF2-40B4-BE49-F238E27FC236}">
                  <a16:creationId xmlns:a16="http://schemas.microsoft.com/office/drawing/2014/main" id="{D936DE0F-9EB3-1982-5763-2274731978B6}"/>
                </a:ext>
              </a:extLst>
            </p:cNvPr>
            <p:cNvSpPr txBox="1"/>
            <p:nvPr/>
          </p:nvSpPr>
          <p:spPr>
            <a:xfrm>
              <a:off x="4198888" y="5714960"/>
              <a:ext cx="7594488" cy="37664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de-DE" sz="1400" b="1" i="0" u="none" strike="noStrike" kern="0" cap="none" spc="0" normalizeH="0" baseline="0" noProof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ptos" panose="020B0004020202020204" pitchFamily="34" charset="0"/>
                  <a:ea typeface="+mn-ea"/>
                  <a:cs typeface="+mn-cs"/>
                </a:rPr>
                <a:t>A1</a:t>
              </a:r>
              <a:r>
                <a:rPr kumimoji="0" lang="de-DE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ptos" panose="020B0004020202020204" pitchFamily="34" charset="0"/>
                  <a:ea typeface="+mn-ea"/>
                  <a:cs typeface="+mn-cs"/>
                </a:rPr>
                <a:t>−</a:t>
              </a:r>
              <a:r>
                <a:rPr kumimoji="0" lang="de-DE" sz="1400" b="1" i="0" u="none" strike="noStrike" kern="0" cap="none" spc="0" normalizeH="0" baseline="0" noProof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ptos" panose="020B0004020202020204" pitchFamily="34" charset="0"/>
                  <a:ea typeface="+mn-ea"/>
                  <a:cs typeface="+mn-cs"/>
                </a:rPr>
                <a:t>3					</a:t>
              </a:r>
              <a:endParaRPr kumimoji="0" lang="de-DE" sz="1400" b="0" i="0" u="none" strike="noStrike" kern="0" cap="none" spc="0" normalizeH="0" baseline="0" noProof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" panose="020B00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1" name="Textfeld 110">
              <a:extLst>
                <a:ext uri="{FF2B5EF4-FFF2-40B4-BE49-F238E27FC236}">
                  <a16:creationId xmlns:a16="http://schemas.microsoft.com/office/drawing/2014/main" id="{7B807443-B89A-CBD7-0B2F-44A40D8E0A43}"/>
                </a:ext>
              </a:extLst>
            </p:cNvPr>
            <p:cNvSpPr txBox="1"/>
            <p:nvPr/>
          </p:nvSpPr>
          <p:spPr>
            <a:xfrm>
              <a:off x="7410744" y="1027335"/>
              <a:ext cx="6094563" cy="37664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de-DE" sz="1400" b="1" i="0" u="none" strike="noStrike" kern="0" cap="none" spc="0" normalizeH="0" baseline="0" noProof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ptos" panose="020B0004020202020204" pitchFamily="34" charset="0"/>
                  <a:ea typeface="+mn-ea"/>
                  <a:cs typeface="+mn-cs"/>
                </a:rPr>
                <a:t>B6	B8</a:t>
              </a:r>
              <a:endParaRPr kumimoji="0" lang="de-DE" sz="1400" b="0" i="0" u="none" strike="noStrike" kern="0" cap="none" spc="0" normalizeH="0" baseline="0" noProof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" panose="020B00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2" name="Textfeld 111">
              <a:extLst>
                <a:ext uri="{FF2B5EF4-FFF2-40B4-BE49-F238E27FC236}">
                  <a16:creationId xmlns:a16="http://schemas.microsoft.com/office/drawing/2014/main" id="{80C6420F-53E9-90F8-D54C-54FD20DF9F19}"/>
                </a:ext>
              </a:extLst>
            </p:cNvPr>
            <p:cNvSpPr txBox="1"/>
            <p:nvPr/>
          </p:nvSpPr>
          <p:spPr>
            <a:xfrm>
              <a:off x="3564816" y="307683"/>
              <a:ext cx="3373515" cy="33897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de-DE" sz="1200" b="0" i="0" u="none" strike="noStrike" kern="0" cap="none" spc="0" normalizeH="0" baseline="0" noProof="1">
                  <a:ln>
                    <a:noFill/>
                  </a:ln>
                  <a:solidFill>
                    <a:srgbClr val="3BACBE">
                      <a:lumMod val="50000"/>
                    </a:srgbClr>
                  </a:solidFill>
                  <a:effectLst/>
                  <a:uLnTx/>
                  <a:uFillTx/>
                  <a:latin typeface="Aptos" panose="020B0004020202020204" pitchFamily="34" charset="0"/>
                  <a:ea typeface="+mn-ea"/>
                  <a:cs typeface="+mn-cs"/>
                </a:rPr>
                <a:t>Kumulative Emissionen</a:t>
              </a:r>
            </a:p>
          </p:txBody>
        </p:sp>
        <p:sp>
          <p:nvSpPr>
            <p:cNvPr id="113" name="Pfeil: nach oben und unten 112">
              <a:extLst>
                <a:ext uri="{FF2B5EF4-FFF2-40B4-BE49-F238E27FC236}">
                  <a16:creationId xmlns:a16="http://schemas.microsoft.com/office/drawing/2014/main" id="{45C54CD7-D910-6653-5079-C2DD77A245FE}"/>
                </a:ext>
              </a:extLst>
            </p:cNvPr>
            <p:cNvSpPr/>
            <p:nvPr/>
          </p:nvSpPr>
          <p:spPr>
            <a:xfrm>
              <a:off x="10368275" y="5296056"/>
              <a:ext cx="412235" cy="1048672"/>
            </a:xfrm>
            <a:prstGeom prst="upDownArrow">
              <a:avLst/>
            </a:prstGeom>
            <a:noFill/>
            <a:ln w="38100" cap="flat" cmpd="sng" algn="ctr">
              <a:solidFill>
                <a:srgbClr val="E6EFF3">
                  <a:lumMod val="50000"/>
                </a:srgbClr>
              </a:solidFill>
              <a:prstDash val="sysDash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de-DE" sz="1400" b="0" i="0" u="none" strike="noStrike" kern="0" cap="none" spc="0" normalizeH="0" baseline="0" noProof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ptos" panose="020B0004020202020204" pitchFamily="34" charset="0"/>
                <a:ea typeface="+mn-ea"/>
                <a:cs typeface="+mn-cs"/>
              </a:endParaRPr>
            </a:p>
          </p:txBody>
        </p:sp>
        <p:cxnSp>
          <p:nvCxnSpPr>
            <p:cNvPr id="114" name="Gerader Verbinder 113">
              <a:extLst>
                <a:ext uri="{FF2B5EF4-FFF2-40B4-BE49-F238E27FC236}">
                  <a16:creationId xmlns:a16="http://schemas.microsoft.com/office/drawing/2014/main" id="{62475A74-0C98-6214-7CB0-6A3C039E3CB2}"/>
                </a:ext>
              </a:extLst>
            </p:cNvPr>
            <p:cNvCxnSpPr/>
            <p:nvPr/>
          </p:nvCxnSpPr>
          <p:spPr>
            <a:xfrm>
              <a:off x="9838267" y="2163999"/>
              <a:ext cx="1684867" cy="0"/>
            </a:xfrm>
            <a:prstGeom prst="line">
              <a:avLst/>
            </a:prstGeom>
            <a:noFill/>
            <a:ln w="12700" cap="flat" cmpd="sng" algn="ctr">
              <a:solidFill>
                <a:srgbClr val="CA0237"/>
              </a:solidFill>
              <a:prstDash val="solid"/>
              <a:miter lim="800000"/>
            </a:ln>
            <a:effectLst/>
          </p:spPr>
        </p:cxnSp>
        <p:sp>
          <p:nvSpPr>
            <p:cNvPr id="115" name="Textfeld 114">
              <a:extLst>
                <a:ext uri="{FF2B5EF4-FFF2-40B4-BE49-F238E27FC236}">
                  <a16:creationId xmlns:a16="http://schemas.microsoft.com/office/drawing/2014/main" id="{D3EF6D78-D404-4CF0-5BA7-80985C3E5751}"/>
                </a:ext>
              </a:extLst>
            </p:cNvPr>
            <p:cNvSpPr txBox="1"/>
            <p:nvPr/>
          </p:nvSpPr>
          <p:spPr>
            <a:xfrm>
              <a:off x="9735237" y="3696516"/>
              <a:ext cx="2423553" cy="90393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de-DE" sz="1400" b="0" i="0" u="none" strike="noStrike" kern="0" cap="none" spc="0" normalizeH="0" baseline="0" noProof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ptos" panose="020B0004020202020204" pitchFamily="34" charset="0"/>
                  <a:ea typeface="+mn-ea"/>
                  <a:cs typeface="+mn-cs"/>
                </a:rPr>
                <a:t>Annahme: nach 2050: sind Systeme dekarbonisiert </a:t>
              </a:r>
            </a:p>
          </p:txBody>
        </p:sp>
        <p:cxnSp>
          <p:nvCxnSpPr>
            <p:cNvPr id="116" name="Gerader Verbinder 115">
              <a:extLst>
                <a:ext uri="{FF2B5EF4-FFF2-40B4-BE49-F238E27FC236}">
                  <a16:creationId xmlns:a16="http://schemas.microsoft.com/office/drawing/2014/main" id="{805B1AF3-D967-E0C6-F4BA-0E166452BB58}"/>
                </a:ext>
              </a:extLst>
            </p:cNvPr>
            <p:cNvCxnSpPr>
              <a:cxnSpLocks/>
            </p:cNvCxnSpPr>
            <p:nvPr/>
          </p:nvCxnSpPr>
          <p:spPr>
            <a:xfrm>
              <a:off x="9838267" y="2941557"/>
              <a:ext cx="1684867" cy="0"/>
            </a:xfrm>
            <a:prstGeom prst="line">
              <a:avLst/>
            </a:prstGeom>
            <a:noFill/>
            <a:ln w="12700" cap="flat" cmpd="sng" algn="ctr">
              <a:solidFill>
                <a:srgbClr val="CA0237"/>
              </a:solidFill>
              <a:prstDash val="solid"/>
              <a:miter lim="800000"/>
            </a:ln>
            <a:effectLst/>
          </p:spPr>
        </p:cxnSp>
        <p:cxnSp>
          <p:nvCxnSpPr>
            <p:cNvPr id="117" name="Gerader Verbinder 116">
              <a:extLst>
                <a:ext uri="{FF2B5EF4-FFF2-40B4-BE49-F238E27FC236}">
                  <a16:creationId xmlns:a16="http://schemas.microsoft.com/office/drawing/2014/main" id="{39D36654-5ACE-75D3-BF1F-6AE0E0E6ACB3}"/>
                </a:ext>
              </a:extLst>
            </p:cNvPr>
            <p:cNvCxnSpPr>
              <a:cxnSpLocks/>
            </p:cNvCxnSpPr>
            <p:nvPr/>
          </p:nvCxnSpPr>
          <p:spPr>
            <a:xfrm>
              <a:off x="9838267" y="3174486"/>
              <a:ext cx="1684867" cy="0"/>
            </a:xfrm>
            <a:prstGeom prst="line">
              <a:avLst/>
            </a:prstGeom>
            <a:noFill/>
            <a:ln w="12700" cap="flat" cmpd="sng" algn="ctr">
              <a:solidFill>
                <a:srgbClr val="3BACBE">
                  <a:lumMod val="75000"/>
                </a:srgbClr>
              </a:solidFill>
              <a:prstDash val="solid"/>
              <a:miter lim="800000"/>
            </a:ln>
            <a:effectLst/>
          </p:spPr>
        </p:cxnSp>
        <p:cxnSp>
          <p:nvCxnSpPr>
            <p:cNvPr id="118" name="Gerader Verbinder 117">
              <a:extLst>
                <a:ext uri="{FF2B5EF4-FFF2-40B4-BE49-F238E27FC236}">
                  <a16:creationId xmlns:a16="http://schemas.microsoft.com/office/drawing/2014/main" id="{966D31D5-9C51-6637-EDA4-02A628F34365}"/>
                </a:ext>
              </a:extLst>
            </p:cNvPr>
            <p:cNvCxnSpPr>
              <a:cxnSpLocks/>
            </p:cNvCxnSpPr>
            <p:nvPr/>
          </p:nvCxnSpPr>
          <p:spPr>
            <a:xfrm>
              <a:off x="9838267" y="3407415"/>
              <a:ext cx="1684867" cy="0"/>
            </a:xfrm>
            <a:prstGeom prst="line">
              <a:avLst/>
            </a:prstGeom>
            <a:noFill/>
            <a:ln w="12700" cap="flat" cmpd="sng" algn="ctr">
              <a:solidFill>
                <a:srgbClr val="5FB564">
                  <a:lumMod val="75000"/>
                </a:srgbClr>
              </a:solidFill>
              <a:prstDash val="solid"/>
              <a:miter lim="800000"/>
            </a:ln>
            <a:effectLst/>
          </p:spPr>
        </p:cxnSp>
        <p:cxnSp>
          <p:nvCxnSpPr>
            <p:cNvPr id="119" name="Gerader Verbinder 118">
              <a:extLst>
                <a:ext uri="{FF2B5EF4-FFF2-40B4-BE49-F238E27FC236}">
                  <a16:creationId xmlns:a16="http://schemas.microsoft.com/office/drawing/2014/main" id="{9479B0F1-3FD4-1667-6041-8656F8069410}"/>
                </a:ext>
              </a:extLst>
            </p:cNvPr>
            <p:cNvCxnSpPr>
              <a:cxnSpLocks/>
            </p:cNvCxnSpPr>
            <p:nvPr/>
          </p:nvCxnSpPr>
          <p:spPr>
            <a:xfrm>
              <a:off x="9838267" y="3640345"/>
              <a:ext cx="1684867" cy="0"/>
            </a:xfrm>
            <a:prstGeom prst="line">
              <a:avLst/>
            </a:prstGeom>
            <a:noFill/>
            <a:ln w="12700" cap="flat" cmpd="sng" algn="ctr">
              <a:solidFill>
                <a:srgbClr val="F59C00">
                  <a:lumMod val="75000"/>
                </a:srgbClr>
              </a:solidFill>
              <a:prstDash val="solid"/>
              <a:miter lim="800000"/>
            </a:ln>
            <a:effectLst/>
          </p:spPr>
        </p:cxnSp>
        <p:sp>
          <p:nvSpPr>
            <p:cNvPr id="120" name="Rechteck 119">
              <a:extLst>
                <a:ext uri="{FF2B5EF4-FFF2-40B4-BE49-F238E27FC236}">
                  <a16:creationId xmlns:a16="http://schemas.microsoft.com/office/drawing/2014/main" id="{6FA247C1-491C-33F8-6BEF-C9899BD2E53A}"/>
                </a:ext>
              </a:extLst>
            </p:cNvPr>
            <p:cNvSpPr/>
            <p:nvPr/>
          </p:nvSpPr>
          <p:spPr>
            <a:xfrm>
              <a:off x="9680986" y="380831"/>
              <a:ext cx="2317572" cy="358732"/>
            </a:xfrm>
            <a:prstGeom prst="rect">
              <a:avLst/>
            </a:prstGeom>
            <a:solidFill>
              <a:srgbClr val="3BACBE">
                <a:lumMod val="50000"/>
              </a:srgbClr>
            </a:solidFill>
            <a:ln w="12700" cap="flat" cmpd="sng" algn="ctr">
              <a:solidFill>
                <a:srgbClr val="3BACBE">
                  <a:shade val="15000"/>
                </a:srgbClr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de-DE" sz="1400" b="0" i="0" u="none" strike="noStrike" kern="0" cap="none" spc="0" normalizeH="0" baseline="0" noProof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ptos" panose="020B00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1" name="Freihandform: Form 120">
              <a:extLst>
                <a:ext uri="{FF2B5EF4-FFF2-40B4-BE49-F238E27FC236}">
                  <a16:creationId xmlns:a16="http://schemas.microsoft.com/office/drawing/2014/main" id="{4257A9A6-2DD4-50A1-BF05-FFCC35E6C0EB}"/>
                </a:ext>
              </a:extLst>
            </p:cNvPr>
            <p:cNvSpPr/>
            <p:nvPr/>
          </p:nvSpPr>
          <p:spPr>
            <a:xfrm>
              <a:off x="3640667" y="380999"/>
              <a:ext cx="6048172" cy="355208"/>
            </a:xfrm>
            <a:custGeom>
              <a:avLst/>
              <a:gdLst>
                <a:gd name="connsiteX0" fmla="*/ 6011333 w 6028266"/>
                <a:gd name="connsiteY0" fmla="*/ 321733 h 321733"/>
                <a:gd name="connsiteX1" fmla="*/ 0 w 6028266"/>
                <a:gd name="connsiteY1" fmla="*/ 321733 h 321733"/>
                <a:gd name="connsiteX2" fmla="*/ 110066 w 6028266"/>
                <a:gd name="connsiteY2" fmla="*/ 279400 h 321733"/>
                <a:gd name="connsiteX3" fmla="*/ 1651000 w 6028266"/>
                <a:gd name="connsiteY3" fmla="*/ 118533 h 321733"/>
                <a:gd name="connsiteX4" fmla="*/ 2463800 w 6028266"/>
                <a:gd name="connsiteY4" fmla="*/ 50800 h 321733"/>
                <a:gd name="connsiteX5" fmla="*/ 3843866 w 6028266"/>
                <a:gd name="connsiteY5" fmla="*/ 8466 h 321733"/>
                <a:gd name="connsiteX6" fmla="*/ 5909733 w 6028266"/>
                <a:gd name="connsiteY6" fmla="*/ 8466 h 321733"/>
                <a:gd name="connsiteX7" fmla="*/ 6028266 w 6028266"/>
                <a:gd name="connsiteY7" fmla="*/ 0 h 321733"/>
                <a:gd name="connsiteX8" fmla="*/ 6011333 w 6028266"/>
                <a:gd name="connsiteY8" fmla="*/ 321733 h 3217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6028266" h="321733">
                  <a:moveTo>
                    <a:pt x="6011333" y="321733"/>
                  </a:moveTo>
                  <a:lnTo>
                    <a:pt x="0" y="321733"/>
                  </a:lnTo>
                  <a:lnTo>
                    <a:pt x="110066" y="279400"/>
                  </a:lnTo>
                  <a:lnTo>
                    <a:pt x="1651000" y="118533"/>
                  </a:lnTo>
                  <a:lnTo>
                    <a:pt x="2463800" y="50800"/>
                  </a:lnTo>
                  <a:lnTo>
                    <a:pt x="3843866" y="8466"/>
                  </a:lnTo>
                  <a:lnTo>
                    <a:pt x="5909733" y="8466"/>
                  </a:lnTo>
                  <a:lnTo>
                    <a:pt x="6028266" y="0"/>
                  </a:lnTo>
                  <a:lnTo>
                    <a:pt x="6011333" y="321733"/>
                  </a:lnTo>
                  <a:close/>
                </a:path>
              </a:pathLst>
            </a:custGeom>
            <a:solidFill>
              <a:srgbClr val="3BACBE">
                <a:lumMod val="50000"/>
              </a:srgbClr>
            </a:solidFill>
            <a:ln w="12700" cap="flat" cmpd="sng" algn="ctr">
              <a:solidFill>
                <a:srgbClr val="3BACBE">
                  <a:shade val="15000"/>
                </a:srgbClr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de-DE" sz="1400" b="0" i="0" u="none" strike="noStrike" kern="0" cap="none" spc="0" normalizeH="0" baseline="0" noProof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ptos" panose="020B0004020202020204" pitchFamily="34" charset="0"/>
                <a:ea typeface="+mn-ea"/>
                <a:cs typeface="+mn-cs"/>
              </a:endParaRPr>
            </a:p>
          </p:txBody>
        </p:sp>
        <p:cxnSp>
          <p:nvCxnSpPr>
            <p:cNvPr id="122" name="Gerader Verbinder 121">
              <a:extLst>
                <a:ext uri="{FF2B5EF4-FFF2-40B4-BE49-F238E27FC236}">
                  <a16:creationId xmlns:a16="http://schemas.microsoft.com/office/drawing/2014/main" id="{8E7087FC-6574-BCB8-693A-473C60FCFFEB}"/>
                </a:ext>
              </a:extLst>
            </p:cNvPr>
            <p:cNvCxnSpPr>
              <a:cxnSpLocks/>
            </p:cNvCxnSpPr>
            <p:nvPr/>
          </p:nvCxnSpPr>
          <p:spPr>
            <a:xfrm>
              <a:off x="9838267" y="2234138"/>
              <a:ext cx="1684867" cy="0"/>
            </a:xfrm>
            <a:prstGeom prst="line">
              <a:avLst/>
            </a:prstGeom>
            <a:noFill/>
            <a:ln w="12700" cap="flat" cmpd="sng" algn="ctr">
              <a:solidFill>
                <a:srgbClr val="BCCF00"/>
              </a:solidFill>
              <a:prstDash val="solid"/>
              <a:miter lim="800000"/>
            </a:ln>
            <a:effectLst/>
          </p:spPr>
        </p:cxnSp>
        <p:sp>
          <p:nvSpPr>
            <p:cNvPr id="123" name="Pfeil: nach oben und unten 122">
              <a:extLst>
                <a:ext uri="{FF2B5EF4-FFF2-40B4-BE49-F238E27FC236}">
                  <a16:creationId xmlns:a16="http://schemas.microsoft.com/office/drawing/2014/main" id="{E6A4B0A7-14EC-5A45-79CF-69A73DDAF756}"/>
                </a:ext>
              </a:extLst>
            </p:cNvPr>
            <p:cNvSpPr/>
            <p:nvPr/>
          </p:nvSpPr>
          <p:spPr>
            <a:xfrm>
              <a:off x="10434173" y="1031875"/>
              <a:ext cx="412235" cy="1048672"/>
            </a:xfrm>
            <a:prstGeom prst="upDownArrow">
              <a:avLst/>
            </a:prstGeom>
            <a:noFill/>
            <a:ln w="38100" cap="flat" cmpd="sng" algn="ctr">
              <a:solidFill>
                <a:srgbClr val="E6EFF3">
                  <a:lumMod val="50000"/>
                </a:srgbClr>
              </a:solidFill>
              <a:prstDash val="sysDash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de-DE" sz="1400" b="0" i="0" u="none" strike="noStrike" kern="0" cap="none" spc="0" normalizeH="0" baseline="0" noProof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ptos" panose="020B00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4" name="Textfeld 123">
              <a:extLst>
                <a:ext uri="{FF2B5EF4-FFF2-40B4-BE49-F238E27FC236}">
                  <a16:creationId xmlns:a16="http://schemas.microsoft.com/office/drawing/2014/main" id="{3589AC03-4A92-8281-5EC8-CAAAA5ADBC7C}"/>
                </a:ext>
              </a:extLst>
            </p:cNvPr>
            <p:cNvSpPr txBox="1"/>
            <p:nvPr/>
          </p:nvSpPr>
          <p:spPr>
            <a:xfrm>
              <a:off x="6518973" y="5693314"/>
              <a:ext cx="1783544" cy="90393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de-DE" sz="1400" b="1" i="0" u="none" strike="noStrike" kern="0" cap="none" spc="0" normalizeH="0" baseline="0" noProof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ptos" panose="020B0004020202020204" pitchFamily="34" charset="0"/>
                  <a:ea typeface="+mn-ea"/>
                  <a:cs typeface="+mn-cs"/>
                </a:rPr>
                <a:t> B2</a:t>
              </a:r>
              <a:r>
                <a:rPr kumimoji="0" lang="de-DE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ptos" panose="020B0004020202020204" pitchFamily="34" charset="0"/>
                  <a:ea typeface="+mn-ea"/>
                  <a:cs typeface="+mn-cs"/>
                </a:rPr>
                <a:t>−</a:t>
              </a:r>
              <a:r>
                <a:rPr kumimoji="0" lang="de-DE" sz="1400" b="1" i="0" u="none" strike="noStrike" kern="0" cap="none" spc="0" normalizeH="0" baseline="0" noProof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ptos" panose="020B0004020202020204" pitchFamily="34" charset="0"/>
                  <a:ea typeface="+mn-ea"/>
                  <a:cs typeface="+mn-cs"/>
                </a:rPr>
                <a:t>5</a:t>
              </a:r>
            </a:p>
            <a:p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de-DE" sz="1400" b="1" i="0" u="none" strike="noStrike" kern="0" cap="none" spc="0" normalizeH="0" baseline="0" noProof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ptos" panose="020B0004020202020204" pitchFamily="34" charset="0"/>
                  <a:ea typeface="+mn-ea"/>
                  <a:cs typeface="+mn-cs"/>
                </a:rPr>
                <a:t>(nur vor &lt;2050)	</a:t>
              </a:r>
              <a:endParaRPr kumimoji="0" lang="de-DE" sz="1400" b="0" i="0" u="none" strike="noStrike" kern="0" cap="none" spc="0" normalizeH="0" baseline="0" noProof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" panose="020B00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5" name="Pfeil: nach rechts 124">
              <a:extLst>
                <a:ext uri="{FF2B5EF4-FFF2-40B4-BE49-F238E27FC236}">
                  <a16:creationId xmlns:a16="http://schemas.microsoft.com/office/drawing/2014/main" id="{97F92FDC-091A-76D5-9D7A-CED339A380EB}"/>
                </a:ext>
              </a:extLst>
            </p:cNvPr>
            <p:cNvSpPr/>
            <p:nvPr/>
          </p:nvSpPr>
          <p:spPr>
            <a:xfrm rot="16200000" flipH="1">
              <a:off x="7277181" y="1306150"/>
              <a:ext cx="1321351" cy="604454"/>
            </a:xfrm>
            <a:prstGeom prst="rightArrow">
              <a:avLst/>
            </a:prstGeom>
            <a:solidFill>
              <a:srgbClr val="5FB564"/>
            </a:solidFill>
            <a:ln w="12700" cap="flat" cmpd="sng" algn="ctr">
              <a:solidFill>
                <a:srgbClr val="3BACBE">
                  <a:shade val="15000"/>
                </a:srgbClr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de-DE" sz="900" b="0" i="0" u="none" strike="noStrike" kern="0" cap="none" spc="0" normalizeH="0" baseline="0" noProof="1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ptos" panose="020B0004020202020204" pitchFamily="34" charset="0"/>
                  <a:ea typeface="+mn-ea"/>
                  <a:cs typeface="+mn-cs"/>
                </a:rPr>
                <a:t>THG-Einsparung</a:t>
              </a:r>
            </a:p>
          </p:txBody>
        </p:sp>
      </p:grpSp>
      <p:sp>
        <p:nvSpPr>
          <p:cNvPr id="133" name="Pfeil: nach rechts 132">
            <a:extLst>
              <a:ext uri="{FF2B5EF4-FFF2-40B4-BE49-F238E27FC236}">
                <a16:creationId xmlns:a16="http://schemas.microsoft.com/office/drawing/2014/main" id="{63790A30-72EE-0C0D-7F03-7789E6267372}"/>
              </a:ext>
            </a:extLst>
          </p:cNvPr>
          <p:cNvSpPr/>
          <p:nvPr/>
        </p:nvSpPr>
        <p:spPr>
          <a:xfrm rot="5400000">
            <a:off x="8773830" y="5885881"/>
            <a:ext cx="917189" cy="621178"/>
          </a:xfrm>
          <a:prstGeom prst="rightArrow">
            <a:avLst/>
          </a:prstGeom>
          <a:solidFill>
            <a:srgbClr val="3BACBE">
              <a:lumMod val="50000"/>
            </a:srgbClr>
          </a:solidFill>
          <a:ln w="12700" cap="flat" cmpd="sng" algn="ctr">
            <a:solidFill>
              <a:srgbClr val="3BACBE">
                <a:shade val="15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900" b="0" i="0" u="none" strike="noStrike" kern="0" cap="none" spc="0" normalizeH="0" baseline="0" noProof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ptos" panose="020B0004020202020204" pitchFamily="34" charset="0"/>
                <a:ea typeface="+mn-ea"/>
                <a:cs typeface="+mn-cs"/>
              </a:rPr>
              <a:t>Emissionen</a:t>
            </a:r>
          </a:p>
        </p:txBody>
      </p:sp>
    </p:spTree>
    <p:extLst>
      <p:ext uri="{BB962C8B-B14F-4D97-AF65-F5344CB8AC3E}">
        <p14:creationId xmlns:p14="http://schemas.microsoft.com/office/powerpoint/2010/main" val="226467623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AT" dirty="0"/>
              <a:t>Zertifizierung in der Praxis</a:t>
            </a:r>
          </a:p>
        </p:txBody>
      </p:sp>
      <p:sp>
        <p:nvSpPr>
          <p:cNvPr id="3" name="Textplatzhalter 2"/>
          <p:cNvSpPr>
            <a:spLocks noGrp="1"/>
          </p:cNvSpPr>
          <p:nvPr>
            <p:ph type="body" sz="quarter" idx="13"/>
          </p:nvPr>
        </p:nvSpPr>
        <p:spPr>
          <a:xfrm>
            <a:off x="719669" y="2164801"/>
            <a:ext cx="10891306" cy="3977767"/>
          </a:xfrm>
        </p:spPr>
        <p:txBody>
          <a:bodyPr/>
          <a:lstStyle/>
          <a:p>
            <a:pPr marL="457189" indent="-457189">
              <a:buFont typeface="+mj-lt"/>
              <a:buAutoNum type="arabicPeriod"/>
            </a:pPr>
            <a:r>
              <a:rPr lang="de-AT" dirty="0"/>
              <a:t>Datensammlungsprozess</a:t>
            </a:r>
          </a:p>
          <a:p>
            <a:pPr marL="457189" indent="-457189">
              <a:buFont typeface="+mj-lt"/>
              <a:buAutoNum type="arabicPeriod"/>
            </a:pPr>
            <a:r>
              <a:rPr lang="de-AT" spc="-1" dirty="0">
                <a:solidFill>
                  <a:schemeClr val="lt1">
                    <a:lumMod val="10000"/>
                  </a:schemeClr>
                </a:solidFill>
              </a:rPr>
              <a:t>Quick-Check </a:t>
            </a:r>
            <a:r>
              <a:rPr lang="de-AT" dirty="0"/>
              <a:t>mittels</a:t>
            </a:r>
            <a:r>
              <a:rPr lang="de-AT" spc="-1" dirty="0">
                <a:solidFill>
                  <a:schemeClr val="lt1">
                    <a:lumMod val="10000"/>
                  </a:schemeClr>
                </a:solidFill>
              </a:rPr>
              <a:t> frei-verfügbarem Excel-Tool</a:t>
            </a:r>
            <a:endParaRPr lang="de-AT" dirty="0"/>
          </a:p>
          <a:p>
            <a:pPr marL="457189" indent="-457189">
              <a:buFont typeface="+mj-lt"/>
              <a:buAutoNum type="arabicPeriod"/>
            </a:pPr>
            <a:r>
              <a:rPr lang="de-AT" dirty="0"/>
              <a:t>Empfehlungen für Optimierung des Energie-, Gebäude- und Mobilitätskonzepts</a:t>
            </a:r>
          </a:p>
          <a:p>
            <a:pPr marL="457189" indent="-457189">
              <a:buFont typeface="+mj-lt"/>
              <a:buAutoNum type="arabicPeriod"/>
            </a:pPr>
            <a:r>
              <a:rPr lang="de-AT" dirty="0"/>
              <a:t>Nachweisführung mittels </a:t>
            </a:r>
            <a:r>
              <a:rPr lang="de-AT" spc="-1" dirty="0">
                <a:solidFill>
                  <a:schemeClr val="lt1">
                    <a:lumMod val="10000"/>
                  </a:schemeClr>
                </a:solidFill>
              </a:rPr>
              <a:t>frei-verfügbarem </a:t>
            </a:r>
            <a:r>
              <a:rPr lang="de-AT" dirty="0"/>
              <a:t>Excel-Tool</a:t>
            </a:r>
          </a:p>
          <a:p>
            <a:pPr marL="457189" indent="-457189">
              <a:buFont typeface="+mj-lt"/>
              <a:buAutoNum type="arabicPeriod"/>
            </a:pPr>
            <a:r>
              <a:rPr lang="de-AT" dirty="0"/>
              <a:t>Auszeichnung</a:t>
            </a:r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AT" sz="1867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206269C-C24E-4E80-9A4B-E7E19BB59A67}" type="slidenum">
              <a:rPr kumimoji="0" lang="de-AT" sz="1867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27</a:t>
            </a:fld>
            <a:endParaRPr kumimoji="0" lang="de-AT" sz="1867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54167426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Grafik 10" descr="C:\Users\ma0026.NB-MA0026\NextCloud\1_Forschung\2_Laufend\PEQ goes klimaaktiv\Visualisierungen und Darstellungen für Nutzungsbewilligung\Rugierstraße\Isometrie mit Maßnahmen_CMYK.jpg">
            <a:extLst>
              <a:ext uri="{FF2B5EF4-FFF2-40B4-BE49-F238E27FC236}">
                <a16:creationId xmlns:a16="http://schemas.microsoft.com/office/drawing/2014/main" id="{D8C3ADCF-4FA4-4220-8E3C-D20AADD8B7D1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77565" y="3143549"/>
            <a:ext cx="4514435" cy="3714451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itel 1">
            <a:extLst>
              <a:ext uri="{FF2B5EF4-FFF2-40B4-BE49-F238E27FC236}">
                <a16:creationId xmlns:a16="http://schemas.microsoft.com/office/drawing/2014/main" id="{6A6AE471-8316-DB0A-B803-A82550F678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AT" dirty="0"/>
              <a:t>Erfolgsbeispiel </a:t>
            </a:r>
            <a:r>
              <a:rPr lang="de-AT" dirty="0" err="1"/>
              <a:t>RUGInnovation</a:t>
            </a:r>
            <a:endParaRPr lang="de-AT" dirty="0"/>
          </a:p>
        </p:txBody>
      </p:sp>
      <p:sp>
        <p:nvSpPr>
          <p:cNvPr id="34" name="Textplatzhalter 2">
            <a:extLst>
              <a:ext uri="{FF2B5EF4-FFF2-40B4-BE49-F238E27FC236}">
                <a16:creationId xmlns:a16="http://schemas.microsoft.com/office/drawing/2014/main" id="{F15F41BA-B387-4A62-A18C-BB42E63A3FA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719669" y="2164801"/>
            <a:ext cx="6957896" cy="3977767"/>
          </a:xfrm>
        </p:spPr>
        <p:txBody>
          <a:bodyPr vert="horz" lIns="0" tIns="0" rIns="0" bIns="0" rtlCol="0">
            <a:noAutofit/>
          </a:bodyPr>
          <a:lstStyle/>
          <a:p>
            <a:pPr>
              <a:lnSpc>
                <a:spcPct val="100000"/>
              </a:lnSpc>
            </a:pPr>
            <a:r>
              <a:rPr lang="de-DE" dirty="0"/>
              <a:t>Sanierungsvorhaben in Wien</a:t>
            </a:r>
          </a:p>
          <a:p>
            <a:pPr>
              <a:lnSpc>
                <a:spcPct val="100000"/>
              </a:lnSpc>
            </a:pPr>
            <a:r>
              <a:rPr lang="de-DE" dirty="0"/>
              <a:t>90 Wohnungen, 9.760 m²BGF, GFZ 2,1 </a:t>
            </a:r>
          </a:p>
          <a:p>
            <a:pPr>
              <a:lnSpc>
                <a:spcPct val="100000"/>
              </a:lnSpc>
            </a:pPr>
            <a:r>
              <a:rPr lang="de-DE" dirty="0"/>
              <a:t>Bestand aus dem Jahr 1984</a:t>
            </a:r>
          </a:p>
          <a:p>
            <a:pPr>
              <a:lnSpc>
                <a:spcPct val="100000"/>
              </a:lnSpc>
            </a:pPr>
            <a:r>
              <a:rPr lang="de-DE" dirty="0"/>
              <a:t>Wärmepumpe und Fernwärme; Deckenstreifenheizung und -kühlung</a:t>
            </a:r>
          </a:p>
          <a:p>
            <a:pPr>
              <a:lnSpc>
                <a:spcPct val="100000"/>
              </a:lnSpc>
            </a:pPr>
            <a:r>
              <a:rPr lang="de-DE" dirty="0"/>
              <a:t>Photovoltaik Dach, Fassade, Vordach und Brüstung</a:t>
            </a:r>
          </a:p>
          <a:p>
            <a:pPr>
              <a:lnSpc>
                <a:spcPct val="100000"/>
              </a:lnSpc>
            </a:pPr>
            <a:r>
              <a:rPr lang="de-AT" dirty="0"/>
              <a:t>ÖV Güteklasse C; Pkw Stellplatz 1 : 0,7</a:t>
            </a:r>
          </a:p>
          <a:p>
            <a:pPr marL="0" indent="0">
              <a:lnSpc>
                <a:spcPct val="110000"/>
              </a:lnSpc>
              <a:spcAft>
                <a:spcPts val="0"/>
              </a:spcAft>
              <a:buNone/>
            </a:pPr>
            <a:r>
              <a:rPr lang="de-AT" sz="1867" dirty="0">
                <a:highlight>
                  <a:srgbClr val="FFFF00"/>
                </a:highlight>
              </a:rPr>
              <a:t> </a:t>
            </a:r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423E83CD-3A53-4EF8-80E6-FD4B887D7D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AT" sz="1867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8ADDC035-9579-48D7-BE1C-47C9BA2AF3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206269C-C24E-4E80-9A4B-E7E19BB59A67}" type="slidenum">
              <a:rPr kumimoji="0" lang="de-AT" sz="1867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28</a:t>
            </a:fld>
            <a:endParaRPr kumimoji="0" lang="de-AT" sz="1867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8" name="Grafik 7">
            <a:extLst>
              <a:ext uri="{FF2B5EF4-FFF2-40B4-BE49-F238E27FC236}">
                <a16:creationId xmlns:a16="http://schemas.microsoft.com/office/drawing/2014/main" id="{32DEB3A9-74F9-405B-8824-8BF25426A0AA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19759" b="3658"/>
          <a:stretch/>
        </p:blipFill>
        <p:spPr>
          <a:xfrm>
            <a:off x="7677565" y="1419011"/>
            <a:ext cx="4476016" cy="17245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325172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" name="Grafik 28">
            <a:extLst>
              <a:ext uri="{FF2B5EF4-FFF2-40B4-BE49-F238E27FC236}">
                <a16:creationId xmlns:a16="http://schemas.microsoft.com/office/drawing/2014/main" id="{67B7803E-D880-103B-CF3E-0905418B33A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87444" y="924736"/>
            <a:ext cx="6828112" cy="5352752"/>
          </a:xfrm>
          <a:prstGeom prst="rect">
            <a:avLst/>
          </a:prstGeom>
        </p:spPr>
      </p:pic>
      <p:sp>
        <p:nvSpPr>
          <p:cNvPr id="2" name="Titel 1">
            <a:extLst>
              <a:ext uri="{FF2B5EF4-FFF2-40B4-BE49-F238E27FC236}">
                <a16:creationId xmlns:a16="http://schemas.microsoft.com/office/drawing/2014/main" id="{8A8F7F30-47F7-072D-567E-B11A954184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AT" dirty="0"/>
              <a:t>Primärenergie-Nachweise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140A9292-D532-8C4D-0CF3-F4CB8B238CD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719669" y="2164801"/>
            <a:ext cx="4195231" cy="3977767"/>
          </a:xfrm>
        </p:spPr>
        <p:txBody>
          <a:bodyPr/>
          <a:lstStyle/>
          <a:p>
            <a:r>
              <a:rPr lang="de-AT" dirty="0"/>
              <a:t>PEQ-Bilanz: </a:t>
            </a:r>
            <a:r>
              <a:rPr lang="de-AT" b="1" dirty="0">
                <a:solidFill>
                  <a:schemeClr val="accent5"/>
                </a:solidFill>
              </a:rPr>
              <a:t>−2,5</a:t>
            </a:r>
          </a:p>
          <a:p>
            <a:pPr lvl="1"/>
            <a:endParaRPr lang="de-AT" dirty="0"/>
          </a:p>
          <a:p>
            <a:endParaRPr lang="de-AT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5D5F3FF1-7695-14FD-D8CB-20964DC080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AT" sz="1867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B8754F57-B380-7705-1284-D4E83341F4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206269C-C24E-4E80-9A4B-E7E19BB59A67}" type="slidenum">
              <a:rPr kumimoji="0" lang="de-AT" sz="1867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29</a:t>
            </a:fld>
            <a:endParaRPr kumimoji="0" lang="de-AT" sz="1867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6" name="Grafik 5">
            <a:extLst>
              <a:ext uri="{FF2B5EF4-FFF2-40B4-BE49-F238E27FC236}">
                <a16:creationId xmlns:a16="http://schemas.microsoft.com/office/drawing/2014/main" id="{D00090EE-6368-A8E9-AF7C-1947E311E8A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064027" y="2568176"/>
            <a:ext cx="6813663" cy="3977767"/>
          </a:xfrm>
          <a:prstGeom prst="rect">
            <a:avLst/>
          </a:prstGeom>
          <a:noFill/>
        </p:spPr>
      </p:pic>
      <p:grpSp>
        <p:nvGrpSpPr>
          <p:cNvPr id="21" name="Gruppieren 20">
            <a:extLst>
              <a:ext uri="{FF2B5EF4-FFF2-40B4-BE49-F238E27FC236}">
                <a16:creationId xmlns:a16="http://schemas.microsoft.com/office/drawing/2014/main" id="{68340EB3-C004-A7B0-BDD4-2C615B31D8AD}"/>
              </a:ext>
            </a:extLst>
          </p:cNvPr>
          <p:cNvGrpSpPr/>
          <p:nvPr/>
        </p:nvGrpSpPr>
        <p:grpSpPr>
          <a:xfrm>
            <a:off x="5967528" y="1385155"/>
            <a:ext cx="1728000" cy="872196"/>
            <a:chOff x="5868581" y="1243113"/>
            <a:chExt cx="1728000" cy="872196"/>
          </a:xfrm>
          <a:solidFill>
            <a:srgbClr val="D0B0B8"/>
          </a:solidFill>
        </p:grpSpPr>
        <p:sp>
          <p:nvSpPr>
            <p:cNvPr id="9" name="Band: nach unten gekippt 8">
              <a:extLst>
                <a:ext uri="{FF2B5EF4-FFF2-40B4-BE49-F238E27FC236}">
                  <a16:creationId xmlns:a16="http://schemas.microsoft.com/office/drawing/2014/main" id="{0E8C96BB-209C-04E7-54A4-0E4E646A584B}"/>
                </a:ext>
              </a:extLst>
            </p:cNvPr>
            <p:cNvSpPr/>
            <p:nvPr/>
          </p:nvSpPr>
          <p:spPr bwMode="auto">
            <a:xfrm>
              <a:off x="5868581" y="1575309"/>
              <a:ext cx="1728000" cy="540000"/>
            </a:xfrm>
            <a:prstGeom prst="ribbon">
              <a:avLst>
                <a:gd name="adj1" fmla="val 17116"/>
                <a:gd name="adj2" fmla="val 75000"/>
              </a:avLst>
            </a:prstGeom>
            <a:grpFill/>
            <a:ln w="635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de-DE" sz="1400" b="0" i="0" u="none" strike="noStrike" kern="0" cap="none" spc="0" normalizeH="0" baseline="0" noProof="1">
                <a:ln>
                  <a:noFill/>
                </a:ln>
                <a:solidFill>
                  <a:srgbClr val="E6EFF3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0" name="Rechteck 9">
              <a:extLst>
                <a:ext uri="{FF2B5EF4-FFF2-40B4-BE49-F238E27FC236}">
                  <a16:creationId xmlns:a16="http://schemas.microsoft.com/office/drawing/2014/main" id="{36858547-EFB5-D486-6CAA-343E662CCA6C}"/>
                </a:ext>
              </a:extLst>
            </p:cNvPr>
            <p:cNvSpPr/>
            <p:nvPr/>
          </p:nvSpPr>
          <p:spPr bwMode="auto">
            <a:xfrm>
              <a:off x="6082449" y="1685877"/>
              <a:ext cx="1333351" cy="415498"/>
            </a:xfrm>
            <a:prstGeom prst="rect">
              <a:avLst/>
            </a:prstGeom>
            <a:grpFill/>
          </p:spPr>
          <p:txBody>
            <a:bodyPr wrap="square">
              <a:spAutoFit/>
            </a:bodyPr>
            <a:lstStyle/>
            <a:p>
              <a:pPr marL="0" marR="0" lvl="0" indent="0" algn="ctr" defTabSz="914377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de-DE" sz="1050" b="1" i="0" u="none" strike="noStrike" kern="1200" cap="none" spc="0" normalizeH="0" baseline="0" noProof="1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Bahnschrift" panose="020B0502040204020203" pitchFamily="34" charset="0"/>
                  <a:ea typeface="+mn-ea"/>
                  <a:cs typeface="+mn-cs"/>
                </a:rPr>
                <a:t>Plus-Energie-Quartier</a:t>
              </a:r>
            </a:p>
          </p:txBody>
        </p:sp>
        <p:grpSp>
          <p:nvGrpSpPr>
            <p:cNvPr id="11" name="Gruppieren 10">
              <a:extLst>
                <a:ext uri="{FF2B5EF4-FFF2-40B4-BE49-F238E27FC236}">
                  <a16:creationId xmlns:a16="http://schemas.microsoft.com/office/drawing/2014/main" id="{A815580C-8B13-E9D9-48F2-565451B69DE6}"/>
                </a:ext>
              </a:extLst>
            </p:cNvPr>
            <p:cNvGrpSpPr/>
            <p:nvPr/>
          </p:nvGrpSpPr>
          <p:grpSpPr>
            <a:xfrm>
              <a:off x="6476281" y="1243113"/>
              <a:ext cx="483327" cy="460448"/>
              <a:chOff x="640424" y="760723"/>
              <a:chExt cx="730208" cy="730206"/>
            </a:xfrm>
            <a:grpFill/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grpSpPr>
          <p:sp>
            <p:nvSpPr>
              <p:cNvPr id="12" name="Stern: 12 Zacken 11">
                <a:extLst>
                  <a:ext uri="{FF2B5EF4-FFF2-40B4-BE49-F238E27FC236}">
                    <a16:creationId xmlns:a16="http://schemas.microsoft.com/office/drawing/2014/main" id="{45122AD7-C1E4-4A6F-63D6-F64C57718ECF}"/>
                  </a:ext>
                </a:extLst>
              </p:cNvPr>
              <p:cNvSpPr/>
              <p:nvPr/>
            </p:nvSpPr>
            <p:spPr>
              <a:xfrm>
                <a:off x="640424" y="760723"/>
                <a:ext cx="730208" cy="730206"/>
              </a:xfrm>
              <a:prstGeom prst="star12">
                <a:avLst>
                  <a:gd name="adj" fmla="val 44170"/>
                </a:avLst>
              </a:prstGeom>
              <a:grpFill/>
              <a:ln w="12700" cap="flat" cmpd="sng" algn="ctr">
                <a:solidFill>
                  <a:srgbClr val="950F53"/>
                </a:solidFill>
                <a:prstDash val="solid"/>
                <a:miter lim="800000"/>
              </a:ln>
              <a:effectLst>
                <a:innerShdw blurRad="63500" dist="50800" dir="13500000">
                  <a:srgbClr val="F59C00">
                    <a:lumMod val="20000"/>
                    <a:lumOff val="80000"/>
                    <a:alpha val="72000"/>
                  </a:srgbClr>
                </a:innerShdw>
              </a:effectLst>
            </p:spPr>
            <p:txBody>
              <a:bodyPr rtlCol="0" anchor="ctr"/>
              <a:lstStyle/>
              <a:p>
                <a:pPr marL="0" marR="0" lvl="0" indent="0" algn="ctr" defTabSz="121917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de-DE" sz="1400" b="0" i="0" u="none" strike="noStrike" kern="0" cap="none" spc="0" normalizeH="0" baseline="0" noProof="1">
                  <a:ln>
                    <a:noFill/>
                  </a:ln>
                  <a:solidFill>
                    <a:srgbClr val="E6EFF3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3" name="Building5" descr="{&quot;Key&quot;:&quot;POWER_USER_SHAPE_ICON&quot;,&quot;Value&quot;:&quot;POWER_USER_SHAPE_ICON_STYLE_1&quot;}">
                <a:extLst>
                  <a:ext uri="{FF2B5EF4-FFF2-40B4-BE49-F238E27FC236}">
                    <a16:creationId xmlns:a16="http://schemas.microsoft.com/office/drawing/2014/main" id="{A64B3283-6EAB-8460-DD11-FAF76CB85DBB}"/>
                  </a:ext>
                </a:extLst>
              </p:cNvPr>
              <p:cNvSpPr>
                <a:spLocks noChangeAspect="1" noEditPoints="1"/>
              </p:cNvSpPr>
              <p:nvPr>
                <p:custDataLst>
                  <p:tags r:id="rId1"/>
                </p:custDataLst>
              </p:nvPr>
            </p:nvSpPr>
            <p:spPr bwMode="auto">
              <a:xfrm>
                <a:off x="757342" y="875488"/>
                <a:ext cx="490330" cy="436778"/>
              </a:xfrm>
              <a:custGeom>
                <a:avLst/>
                <a:gdLst>
                  <a:gd name="T0" fmla="*/ 915 w 1250"/>
                  <a:gd name="T1" fmla="*/ 250 h 1187"/>
                  <a:gd name="T2" fmla="*/ 915 w 1250"/>
                  <a:gd name="T3" fmla="*/ 1053 h 1187"/>
                  <a:gd name="T4" fmla="*/ 848 w 1250"/>
                  <a:gd name="T5" fmla="*/ 1053 h 1187"/>
                  <a:gd name="T6" fmla="*/ 850 w 1250"/>
                  <a:gd name="T7" fmla="*/ 0 h 1187"/>
                  <a:gd name="T8" fmla="*/ 448 w 1250"/>
                  <a:gd name="T9" fmla="*/ 0 h 1187"/>
                  <a:gd name="T10" fmla="*/ 446 w 1250"/>
                  <a:gd name="T11" fmla="*/ 1053 h 1187"/>
                  <a:gd name="T12" fmla="*/ 379 w 1250"/>
                  <a:gd name="T13" fmla="*/ 1053 h 1187"/>
                  <a:gd name="T14" fmla="*/ 379 w 1250"/>
                  <a:gd name="T15" fmla="*/ 361 h 1187"/>
                  <a:gd name="T16" fmla="*/ 0 w 1250"/>
                  <a:gd name="T17" fmla="*/ 361 h 1187"/>
                  <a:gd name="T18" fmla="*/ 0 w 1250"/>
                  <a:gd name="T19" fmla="*/ 1187 h 1187"/>
                  <a:gd name="T20" fmla="*/ 1250 w 1250"/>
                  <a:gd name="T21" fmla="*/ 1187 h 1187"/>
                  <a:gd name="T22" fmla="*/ 1250 w 1250"/>
                  <a:gd name="T23" fmla="*/ 250 h 1187"/>
                  <a:gd name="T24" fmla="*/ 915 w 1250"/>
                  <a:gd name="T25" fmla="*/ 250 h 1187"/>
                  <a:gd name="T26" fmla="*/ 982 w 1250"/>
                  <a:gd name="T27" fmla="*/ 339 h 1187"/>
                  <a:gd name="T28" fmla="*/ 1183 w 1250"/>
                  <a:gd name="T29" fmla="*/ 339 h 1187"/>
                  <a:gd name="T30" fmla="*/ 1183 w 1250"/>
                  <a:gd name="T31" fmla="*/ 584 h 1187"/>
                  <a:gd name="T32" fmla="*/ 982 w 1250"/>
                  <a:gd name="T33" fmla="*/ 584 h 1187"/>
                  <a:gd name="T34" fmla="*/ 982 w 1250"/>
                  <a:gd name="T35" fmla="*/ 339 h 1187"/>
                  <a:gd name="T36" fmla="*/ 982 w 1250"/>
                  <a:gd name="T37" fmla="*/ 674 h 1187"/>
                  <a:gd name="T38" fmla="*/ 1183 w 1250"/>
                  <a:gd name="T39" fmla="*/ 674 h 1187"/>
                  <a:gd name="T40" fmla="*/ 1183 w 1250"/>
                  <a:gd name="T41" fmla="*/ 919 h 1187"/>
                  <a:gd name="T42" fmla="*/ 982 w 1250"/>
                  <a:gd name="T43" fmla="*/ 919 h 1187"/>
                  <a:gd name="T44" fmla="*/ 982 w 1250"/>
                  <a:gd name="T45" fmla="*/ 674 h 1187"/>
                  <a:gd name="T46" fmla="*/ 513 w 1250"/>
                  <a:gd name="T47" fmla="*/ 71 h 1187"/>
                  <a:gd name="T48" fmla="*/ 781 w 1250"/>
                  <a:gd name="T49" fmla="*/ 71 h 1187"/>
                  <a:gd name="T50" fmla="*/ 781 w 1250"/>
                  <a:gd name="T51" fmla="*/ 183 h 1187"/>
                  <a:gd name="T52" fmla="*/ 513 w 1250"/>
                  <a:gd name="T53" fmla="*/ 183 h 1187"/>
                  <a:gd name="T54" fmla="*/ 513 w 1250"/>
                  <a:gd name="T55" fmla="*/ 71 h 1187"/>
                  <a:gd name="T56" fmla="*/ 513 w 1250"/>
                  <a:gd name="T57" fmla="*/ 294 h 1187"/>
                  <a:gd name="T58" fmla="*/ 781 w 1250"/>
                  <a:gd name="T59" fmla="*/ 294 h 1187"/>
                  <a:gd name="T60" fmla="*/ 781 w 1250"/>
                  <a:gd name="T61" fmla="*/ 406 h 1187"/>
                  <a:gd name="T62" fmla="*/ 513 w 1250"/>
                  <a:gd name="T63" fmla="*/ 406 h 1187"/>
                  <a:gd name="T64" fmla="*/ 513 w 1250"/>
                  <a:gd name="T65" fmla="*/ 294 h 1187"/>
                  <a:gd name="T66" fmla="*/ 513 w 1250"/>
                  <a:gd name="T67" fmla="*/ 517 h 1187"/>
                  <a:gd name="T68" fmla="*/ 781 w 1250"/>
                  <a:gd name="T69" fmla="*/ 517 h 1187"/>
                  <a:gd name="T70" fmla="*/ 781 w 1250"/>
                  <a:gd name="T71" fmla="*/ 629 h 1187"/>
                  <a:gd name="T72" fmla="*/ 513 w 1250"/>
                  <a:gd name="T73" fmla="*/ 629 h 1187"/>
                  <a:gd name="T74" fmla="*/ 513 w 1250"/>
                  <a:gd name="T75" fmla="*/ 517 h 1187"/>
                  <a:gd name="T76" fmla="*/ 513 w 1250"/>
                  <a:gd name="T77" fmla="*/ 741 h 1187"/>
                  <a:gd name="T78" fmla="*/ 781 w 1250"/>
                  <a:gd name="T79" fmla="*/ 741 h 1187"/>
                  <a:gd name="T80" fmla="*/ 781 w 1250"/>
                  <a:gd name="T81" fmla="*/ 852 h 1187"/>
                  <a:gd name="T82" fmla="*/ 513 w 1250"/>
                  <a:gd name="T83" fmla="*/ 852 h 1187"/>
                  <a:gd name="T84" fmla="*/ 513 w 1250"/>
                  <a:gd name="T85" fmla="*/ 741 h 1187"/>
                  <a:gd name="T86" fmla="*/ 67 w 1250"/>
                  <a:gd name="T87" fmla="*/ 450 h 1187"/>
                  <a:gd name="T88" fmla="*/ 156 w 1250"/>
                  <a:gd name="T89" fmla="*/ 450 h 1187"/>
                  <a:gd name="T90" fmla="*/ 156 w 1250"/>
                  <a:gd name="T91" fmla="*/ 607 h 1187"/>
                  <a:gd name="T92" fmla="*/ 67 w 1250"/>
                  <a:gd name="T93" fmla="*/ 607 h 1187"/>
                  <a:gd name="T94" fmla="*/ 67 w 1250"/>
                  <a:gd name="T95" fmla="*/ 450 h 1187"/>
                  <a:gd name="T96" fmla="*/ 223 w 1250"/>
                  <a:gd name="T97" fmla="*/ 450 h 1187"/>
                  <a:gd name="T98" fmla="*/ 313 w 1250"/>
                  <a:gd name="T99" fmla="*/ 450 h 1187"/>
                  <a:gd name="T100" fmla="*/ 313 w 1250"/>
                  <a:gd name="T101" fmla="*/ 607 h 1187"/>
                  <a:gd name="T102" fmla="*/ 223 w 1250"/>
                  <a:gd name="T103" fmla="*/ 607 h 1187"/>
                  <a:gd name="T104" fmla="*/ 223 w 1250"/>
                  <a:gd name="T105" fmla="*/ 450 h 1187"/>
                  <a:gd name="T106" fmla="*/ 67 w 1250"/>
                  <a:gd name="T107" fmla="*/ 718 h 1187"/>
                  <a:gd name="T108" fmla="*/ 156 w 1250"/>
                  <a:gd name="T109" fmla="*/ 718 h 1187"/>
                  <a:gd name="T110" fmla="*/ 156 w 1250"/>
                  <a:gd name="T111" fmla="*/ 875 h 1187"/>
                  <a:gd name="T112" fmla="*/ 67 w 1250"/>
                  <a:gd name="T113" fmla="*/ 875 h 1187"/>
                  <a:gd name="T114" fmla="*/ 67 w 1250"/>
                  <a:gd name="T115" fmla="*/ 718 h 1187"/>
                  <a:gd name="T116" fmla="*/ 223 w 1250"/>
                  <a:gd name="T117" fmla="*/ 718 h 1187"/>
                  <a:gd name="T118" fmla="*/ 313 w 1250"/>
                  <a:gd name="T119" fmla="*/ 718 h 1187"/>
                  <a:gd name="T120" fmla="*/ 313 w 1250"/>
                  <a:gd name="T121" fmla="*/ 875 h 1187"/>
                  <a:gd name="T122" fmla="*/ 223 w 1250"/>
                  <a:gd name="T123" fmla="*/ 875 h 1187"/>
                  <a:gd name="T124" fmla="*/ 223 w 1250"/>
                  <a:gd name="T125" fmla="*/ 718 h 118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  <a:cxn ang="0">
                    <a:pos x="T122" y="T123"/>
                  </a:cxn>
                  <a:cxn ang="0">
                    <a:pos x="T124" y="T125"/>
                  </a:cxn>
                </a:cxnLst>
                <a:rect l="0" t="0" r="r" b="b"/>
                <a:pathLst>
                  <a:path w="1250" h="1187">
                    <a:moveTo>
                      <a:pt x="915" y="250"/>
                    </a:moveTo>
                    <a:lnTo>
                      <a:pt x="915" y="1053"/>
                    </a:lnTo>
                    <a:lnTo>
                      <a:pt x="848" y="1053"/>
                    </a:lnTo>
                    <a:lnTo>
                      <a:pt x="850" y="0"/>
                    </a:lnTo>
                    <a:lnTo>
                      <a:pt x="448" y="0"/>
                    </a:lnTo>
                    <a:lnTo>
                      <a:pt x="446" y="1053"/>
                    </a:lnTo>
                    <a:lnTo>
                      <a:pt x="379" y="1053"/>
                    </a:lnTo>
                    <a:lnTo>
                      <a:pt x="379" y="361"/>
                    </a:lnTo>
                    <a:lnTo>
                      <a:pt x="0" y="361"/>
                    </a:lnTo>
                    <a:lnTo>
                      <a:pt x="0" y="1187"/>
                    </a:lnTo>
                    <a:lnTo>
                      <a:pt x="1250" y="1187"/>
                    </a:lnTo>
                    <a:lnTo>
                      <a:pt x="1250" y="250"/>
                    </a:lnTo>
                    <a:lnTo>
                      <a:pt x="915" y="250"/>
                    </a:lnTo>
                    <a:close/>
                    <a:moveTo>
                      <a:pt x="982" y="339"/>
                    </a:moveTo>
                    <a:lnTo>
                      <a:pt x="1183" y="339"/>
                    </a:lnTo>
                    <a:lnTo>
                      <a:pt x="1183" y="584"/>
                    </a:lnTo>
                    <a:lnTo>
                      <a:pt x="982" y="584"/>
                    </a:lnTo>
                    <a:lnTo>
                      <a:pt x="982" y="339"/>
                    </a:lnTo>
                    <a:close/>
                    <a:moveTo>
                      <a:pt x="982" y="674"/>
                    </a:moveTo>
                    <a:lnTo>
                      <a:pt x="1183" y="674"/>
                    </a:lnTo>
                    <a:lnTo>
                      <a:pt x="1183" y="919"/>
                    </a:lnTo>
                    <a:lnTo>
                      <a:pt x="982" y="919"/>
                    </a:lnTo>
                    <a:lnTo>
                      <a:pt x="982" y="674"/>
                    </a:lnTo>
                    <a:close/>
                    <a:moveTo>
                      <a:pt x="513" y="71"/>
                    </a:moveTo>
                    <a:lnTo>
                      <a:pt x="781" y="71"/>
                    </a:lnTo>
                    <a:lnTo>
                      <a:pt x="781" y="183"/>
                    </a:lnTo>
                    <a:lnTo>
                      <a:pt x="513" y="183"/>
                    </a:lnTo>
                    <a:lnTo>
                      <a:pt x="513" y="71"/>
                    </a:lnTo>
                    <a:close/>
                    <a:moveTo>
                      <a:pt x="513" y="294"/>
                    </a:moveTo>
                    <a:lnTo>
                      <a:pt x="781" y="294"/>
                    </a:lnTo>
                    <a:lnTo>
                      <a:pt x="781" y="406"/>
                    </a:lnTo>
                    <a:lnTo>
                      <a:pt x="513" y="406"/>
                    </a:lnTo>
                    <a:lnTo>
                      <a:pt x="513" y="294"/>
                    </a:lnTo>
                    <a:close/>
                    <a:moveTo>
                      <a:pt x="513" y="517"/>
                    </a:moveTo>
                    <a:lnTo>
                      <a:pt x="781" y="517"/>
                    </a:lnTo>
                    <a:lnTo>
                      <a:pt x="781" y="629"/>
                    </a:lnTo>
                    <a:lnTo>
                      <a:pt x="513" y="629"/>
                    </a:lnTo>
                    <a:lnTo>
                      <a:pt x="513" y="517"/>
                    </a:lnTo>
                    <a:close/>
                    <a:moveTo>
                      <a:pt x="513" y="741"/>
                    </a:moveTo>
                    <a:lnTo>
                      <a:pt x="781" y="741"/>
                    </a:lnTo>
                    <a:lnTo>
                      <a:pt x="781" y="852"/>
                    </a:lnTo>
                    <a:lnTo>
                      <a:pt x="513" y="852"/>
                    </a:lnTo>
                    <a:lnTo>
                      <a:pt x="513" y="741"/>
                    </a:lnTo>
                    <a:close/>
                    <a:moveTo>
                      <a:pt x="67" y="450"/>
                    </a:moveTo>
                    <a:lnTo>
                      <a:pt x="156" y="450"/>
                    </a:lnTo>
                    <a:lnTo>
                      <a:pt x="156" y="607"/>
                    </a:lnTo>
                    <a:lnTo>
                      <a:pt x="67" y="607"/>
                    </a:lnTo>
                    <a:lnTo>
                      <a:pt x="67" y="450"/>
                    </a:lnTo>
                    <a:close/>
                    <a:moveTo>
                      <a:pt x="223" y="450"/>
                    </a:moveTo>
                    <a:lnTo>
                      <a:pt x="313" y="450"/>
                    </a:lnTo>
                    <a:lnTo>
                      <a:pt x="313" y="607"/>
                    </a:lnTo>
                    <a:lnTo>
                      <a:pt x="223" y="607"/>
                    </a:lnTo>
                    <a:lnTo>
                      <a:pt x="223" y="450"/>
                    </a:lnTo>
                    <a:close/>
                    <a:moveTo>
                      <a:pt x="67" y="718"/>
                    </a:moveTo>
                    <a:lnTo>
                      <a:pt x="156" y="718"/>
                    </a:lnTo>
                    <a:lnTo>
                      <a:pt x="156" y="875"/>
                    </a:lnTo>
                    <a:lnTo>
                      <a:pt x="67" y="875"/>
                    </a:lnTo>
                    <a:lnTo>
                      <a:pt x="67" y="718"/>
                    </a:lnTo>
                    <a:close/>
                    <a:moveTo>
                      <a:pt x="223" y="718"/>
                    </a:moveTo>
                    <a:lnTo>
                      <a:pt x="313" y="718"/>
                    </a:lnTo>
                    <a:lnTo>
                      <a:pt x="313" y="875"/>
                    </a:lnTo>
                    <a:lnTo>
                      <a:pt x="223" y="875"/>
                    </a:lnTo>
                    <a:lnTo>
                      <a:pt x="223" y="718"/>
                    </a:lnTo>
                    <a:close/>
                  </a:path>
                </a:pathLst>
              </a:custGeom>
              <a:grpFill/>
              <a:ln>
                <a:noFill/>
              </a:ln>
              <a:effectLst>
                <a:glow rad="38100">
                  <a:srgbClr val="F59C00">
                    <a:lumMod val="20000"/>
                    <a:lumOff val="80000"/>
                    <a:alpha val="68000"/>
                  </a:srgbClr>
                </a:glow>
              </a:effec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377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de-DE" sz="1200" b="0" i="0" u="none" strike="noStrike" kern="0" cap="none" spc="0" normalizeH="0" baseline="0" noProof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</p:grpSp>
      <p:sp>
        <p:nvSpPr>
          <p:cNvPr id="24" name="Rechteck 23">
            <a:extLst>
              <a:ext uri="{FF2B5EF4-FFF2-40B4-BE49-F238E27FC236}">
                <a16:creationId xmlns:a16="http://schemas.microsoft.com/office/drawing/2014/main" id="{64404B48-0118-B1E6-ACBF-7EF908C24450}"/>
              </a:ext>
            </a:extLst>
          </p:cNvPr>
          <p:cNvSpPr/>
          <p:nvPr/>
        </p:nvSpPr>
        <p:spPr>
          <a:xfrm>
            <a:off x="7738095" y="1796443"/>
            <a:ext cx="1745860" cy="373029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5" name="Rechteck 24">
            <a:extLst>
              <a:ext uri="{FF2B5EF4-FFF2-40B4-BE49-F238E27FC236}">
                <a16:creationId xmlns:a16="http://schemas.microsoft.com/office/drawing/2014/main" id="{83F2F4B4-2002-4527-F982-075952CF9FBB}"/>
              </a:ext>
            </a:extLst>
          </p:cNvPr>
          <p:cNvSpPr/>
          <p:nvPr/>
        </p:nvSpPr>
        <p:spPr>
          <a:xfrm>
            <a:off x="6878675" y="2717267"/>
            <a:ext cx="748092" cy="201407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6" name="Rechteck 25">
            <a:extLst>
              <a:ext uri="{FF2B5EF4-FFF2-40B4-BE49-F238E27FC236}">
                <a16:creationId xmlns:a16="http://schemas.microsoft.com/office/drawing/2014/main" id="{F3E9908A-F29C-708C-1C68-C16F11648639}"/>
              </a:ext>
            </a:extLst>
          </p:cNvPr>
          <p:cNvSpPr/>
          <p:nvPr/>
        </p:nvSpPr>
        <p:spPr>
          <a:xfrm>
            <a:off x="6947436" y="2568176"/>
            <a:ext cx="748092" cy="153952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7" name="Rechteck 26">
            <a:extLst>
              <a:ext uri="{FF2B5EF4-FFF2-40B4-BE49-F238E27FC236}">
                <a16:creationId xmlns:a16="http://schemas.microsoft.com/office/drawing/2014/main" id="{C100B962-499B-D23F-2B19-58E515188E59}"/>
              </a:ext>
            </a:extLst>
          </p:cNvPr>
          <p:cNvSpPr/>
          <p:nvPr/>
        </p:nvSpPr>
        <p:spPr>
          <a:xfrm>
            <a:off x="6878675" y="2540989"/>
            <a:ext cx="748092" cy="120551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0" name="Eckige Klammer links 29">
            <a:extLst>
              <a:ext uri="{FF2B5EF4-FFF2-40B4-BE49-F238E27FC236}">
                <a16:creationId xmlns:a16="http://schemas.microsoft.com/office/drawing/2014/main" id="{81A7C444-7133-DC38-DC48-1C9302161010}"/>
              </a:ext>
            </a:extLst>
          </p:cNvPr>
          <p:cNvSpPr/>
          <p:nvPr/>
        </p:nvSpPr>
        <p:spPr>
          <a:xfrm rot="10800000" flipV="1">
            <a:off x="6686549" y="2652712"/>
            <a:ext cx="902549" cy="67071"/>
          </a:xfrm>
          <a:prstGeom prst="leftBracket">
            <a:avLst>
              <a:gd name="adj" fmla="val 0"/>
            </a:avLst>
          </a:prstGeom>
          <a:ln>
            <a:solidFill>
              <a:schemeClr val="accent5"/>
            </a:solidFill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1" name="Textfeld 30">
            <a:extLst>
              <a:ext uri="{FF2B5EF4-FFF2-40B4-BE49-F238E27FC236}">
                <a16:creationId xmlns:a16="http://schemas.microsoft.com/office/drawing/2014/main" id="{29FB825D-06F0-B1F0-A18E-867507B85E45}"/>
              </a:ext>
            </a:extLst>
          </p:cNvPr>
          <p:cNvSpPr txBox="1"/>
          <p:nvPr/>
        </p:nvSpPr>
        <p:spPr>
          <a:xfrm>
            <a:off x="6575228" y="2347935"/>
            <a:ext cx="67901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AT" sz="1800" b="1" i="0" u="none" strike="noStrike" kern="1200" cap="none" spc="0" normalizeH="0" baseline="0" noProof="0" dirty="0">
                <a:ln>
                  <a:noFill/>
                </a:ln>
                <a:solidFill>
                  <a:srgbClr val="CA0237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−2,5</a:t>
            </a:r>
            <a:endParaRPr kumimoji="0" lang="de-DE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32" name="Grafik 31">
            <a:extLst>
              <a:ext uri="{FF2B5EF4-FFF2-40B4-BE49-F238E27FC236}">
                <a16:creationId xmlns:a16="http://schemas.microsoft.com/office/drawing/2014/main" id="{3799FA04-4E8A-2980-7CE9-8F2EE1D6218F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t="19759" b="3658"/>
          <a:stretch/>
        </p:blipFill>
        <p:spPr>
          <a:xfrm>
            <a:off x="9583631" y="0"/>
            <a:ext cx="2608369" cy="10049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82644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10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" dur="1000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-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7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3" dur="10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000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-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7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0" dur="10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1" dur="1000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-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6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9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" grpId="0" animBg="1"/>
      <p:bldP spid="26" grpId="0" animBg="1"/>
      <p:bldP spid="27" grpId="0" animBg="1"/>
      <p:bldP spid="30" grpId="0" animBg="1"/>
      <p:bldP spid="31" grpId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47D9999-25A3-348B-4241-98CE6D635B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31FBBACF-4337-9A45-F203-FEFEBE2E836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A2A7D911-C5F5-A2D8-6A77-EE115319FA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AT"/>
              <a:t>Präsentationstitel</a:t>
            </a:r>
            <a:endParaRPr lang="de-AT" dirty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C7D8EAE8-C8A2-E9D4-162C-A91913ABEA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06269C-C24E-4E80-9A4B-E7E19BB59A67}" type="slidenum">
              <a:rPr lang="de-AT" smtClean="0"/>
              <a:pPr/>
              <a:t>30</a:t>
            </a:fld>
            <a:endParaRPr lang="de-AT" dirty="0"/>
          </a:p>
        </p:txBody>
      </p:sp>
      <p:pic>
        <p:nvPicPr>
          <p:cNvPr id="7" name="Grafik 6" descr="Ein Bild, das Text, Screenshot, Schrift, Design enthält.&#10;&#10;KI-generierte Inhalte können fehlerhaft sein.">
            <a:extLst>
              <a:ext uri="{FF2B5EF4-FFF2-40B4-BE49-F238E27FC236}">
                <a16:creationId xmlns:a16="http://schemas.microsoft.com/office/drawing/2014/main" id="{EBC770A7-8664-2DE5-F826-E1144423D5B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76391" y="2089052"/>
            <a:ext cx="2975099" cy="46598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4018081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2998F6-BCDA-286B-5FAB-25CDC9332E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2" name="Grafik 41">
            <a:extLst>
              <a:ext uri="{FF2B5EF4-FFF2-40B4-BE49-F238E27FC236}">
                <a16:creationId xmlns:a16="http://schemas.microsoft.com/office/drawing/2014/main" id="{58902CDD-9C31-55FD-0C9D-0AA1DF2E4E3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87444" y="924736"/>
            <a:ext cx="6828112" cy="5352752"/>
          </a:xfrm>
          <a:prstGeom prst="rect">
            <a:avLst/>
          </a:prstGeom>
        </p:spPr>
      </p:pic>
      <p:sp>
        <p:nvSpPr>
          <p:cNvPr id="2" name="Titel 1">
            <a:extLst>
              <a:ext uri="{FF2B5EF4-FFF2-40B4-BE49-F238E27FC236}">
                <a16:creationId xmlns:a16="http://schemas.microsoft.com/office/drawing/2014/main" id="{A2391A90-2A8D-4749-044A-3245C7EBE4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AT" dirty="0"/>
              <a:t>Primärenergie-Nachweise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6CB7DDA1-C1E3-1669-7374-37169CB2E61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719669" y="2164801"/>
            <a:ext cx="4468930" cy="3977767"/>
          </a:xfrm>
        </p:spPr>
        <p:txBody>
          <a:bodyPr/>
          <a:lstStyle/>
          <a:p>
            <a:r>
              <a:rPr lang="de-AT" dirty="0"/>
              <a:t>PEQ-Bilanz: </a:t>
            </a:r>
            <a:r>
              <a:rPr lang="de-AT" b="1" dirty="0">
                <a:solidFill>
                  <a:schemeClr val="accent5"/>
                </a:solidFill>
              </a:rPr>
              <a:t>−2,5</a:t>
            </a:r>
          </a:p>
          <a:p>
            <a:r>
              <a:rPr lang="de-AT" dirty="0"/>
              <a:t>PEQ m. Mobilität: </a:t>
            </a:r>
            <a:r>
              <a:rPr lang="de-AT" b="1" dirty="0">
                <a:solidFill>
                  <a:schemeClr val="accent3"/>
                </a:solidFill>
              </a:rPr>
              <a:t>+1,2</a:t>
            </a:r>
          </a:p>
          <a:p>
            <a:pPr marL="252000" indent="-252000" defTabSz="914400">
              <a:lnSpc>
                <a:spcPct val="110000"/>
              </a:lnSpc>
              <a:buClr>
                <a:srgbClr val="000000"/>
              </a:buClr>
              <a:buFont typeface="Arial"/>
              <a:buChar char="•"/>
            </a:pPr>
            <a:r>
              <a:rPr lang="de-DE" sz="1800" spc="-1" dirty="0">
                <a:solidFill>
                  <a:schemeClr val="lt1">
                    <a:lumMod val="10000"/>
                  </a:schemeClr>
                </a:solidFill>
              </a:rPr>
              <a:t>Der Nachweis umfasst </a:t>
            </a:r>
            <a:r>
              <a:rPr lang="de-DE" sz="1800" spc="-1" dirty="0">
                <a:solidFill>
                  <a:schemeClr val="accent1"/>
                </a:solidFill>
              </a:rPr>
              <a:t>Betriebsenergie</a:t>
            </a:r>
            <a:r>
              <a:rPr lang="de-DE" sz="1800" spc="-1" dirty="0">
                <a:solidFill>
                  <a:schemeClr val="lt1">
                    <a:lumMod val="10000"/>
                  </a:schemeClr>
                </a:solidFill>
              </a:rPr>
              <a:t> für Heizen, Kühlen, Warmwasser, Lüftung, Hilfs- und Nutzerstrom, sowie den Energiebedarf für </a:t>
            </a:r>
            <a:r>
              <a:rPr lang="de-DE" sz="1800" spc="-1" dirty="0">
                <a:solidFill>
                  <a:schemeClr val="accent1"/>
                </a:solidFill>
              </a:rPr>
              <a:t>Alltagsmobilität</a:t>
            </a:r>
            <a:endParaRPr lang="de-DE" sz="1800" spc="-1" dirty="0">
              <a:solidFill>
                <a:schemeClr val="lt1">
                  <a:lumMod val="10000"/>
                </a:schemeClr>
              </a:solidFill>
            </a:endParaRPr>
          </a:p>
          <a:p>
            <a:pPr marL="252000" indent="-252000" defTabSz="914400">
              <a:lnSpc>
                <a:spcPct val="110000"/>
              </a:lnSpc>
              <a:buClr>
                <a:srgbClr val="000000"/>
              </a:buClr>
              <a:buFont typeface="Arial"/>
              <a:buChar char="•"/>
            </a:pPr>
            <a:r>
              <a:rPr lang="de-DE" sz="1800" spc="-1" dirty="0">
                <a:solidFill>
                  <a:schemeClr val="lt1">
                    <a:lumMod val="10000"/>
                  </a:schemeClr>
                </a:solidFill>
              </a:rPr>
              <a:t>Gegenüber den </a:t>
            </a:r>
            <a:r>
              <a:rPr lang="de-DE" sz="1800" spc="-1" dirty="0">
                <a:solidFill>
                  <a:schemeClr val="accent1"/>
                </a:solidFill>
              </a:rPr>
              <a:t>lokalen Erneuerbaren</a:t>
            </a:r>
            <a:r>
              <a:rPr lang="de-DE" sz="1800" spc="-1" dirty="0">
                <a:solidFill>
                  <a:schemeClr val="lt1">
                    <a:lumMod val="10000"/>
                  </a:schemeClr>
                </a:solidFill>
              </a:rPr>
              <a:t>, der </a:t>
            </a:r>
            <a:r>
              <a:rPr lang="de-DE" sz="1800" spc="-1" dirty="0">
                <a:solidFill>
                  <a:schemeClr val="accent1"/>
                </a:solidFill>
              </a:rPr>
              <a:t>Energieflexibilität</a:t>
            </a:r>
            <a:r>
              <a:rPr lang="de-DE" sz="1800" spc="-1" dirty="0">
                <a:solidFill>
                  <a:schemeClr val="lt1">
                    <a:lumMod val="10000"/>
                  </a:schemeClr>
                </a:solidFill>
              </a:rPr>
              <a:t> und den </a:t>
            </a:r>
            <a:r>
              <a:rPr lang="de-DE" sz="1800" spc="-1" dirty="0">
                <a:solidFill>
                  <a:schemeClr val="accent1"/>
                </a:solidFill>
              </a:rPr>
              <a:t>Kontextfaktoren</a:t>
            </a:r>
            <a:r>
              <a:rPr lang="de-DE" sz="1800" spc="-1" dirty="0">
                <a:solidFill>
                  <a:schemeClr val="lt1">
                    <a:lumMod val="10000"/>
                  </a:schemeClr>
                </a:solidFill>
              </a:rPr>
              <a:t> ergibt sich eine positive Bilanz von +</a:t>
            </a:r>
            <a:r>
              <a:rPr lang="de-DE" sz="1800" b="1" spc="-1" dirty="0">
                <a:solidFill>
                  <a:schemeClr val="accent3"/>
                </a:solidFill>
              </a:rPr>
              <a:t>1,2</a:t>
            </a:r>
            <a:r>
              <a:rPr lang="de-DE" sz="1800" spc="-1" dirty="0">
                <a:solidFill>
                  <a:schemeClr val="lt1">
                    <a:lumMod val="10000"/>
                  </a:schemeClr>
                </a:solidFill>
              </a:rPr>
              <a:t> </a:t>
            </a:r>
            <a:r>
              <a:rPr lang="de-DE" sz="1800" spc="-1" dirty="0" err="1">
                <a:solidFill>
                  <a:schemeClr val="lt1">
                    <a:lumMod val="10000"/>
                  </a:schemeClr>
                </a:solidFill>
              </a:rPr>
              <a:t>kWh</a:t>
            </a:r>
            <a:r>
              <a:rPr lang="de-DE" sz="1800" spc="-1" baseline="-25000" dirty="0" err="1">
                <a:solidFill>
                  <a:schemeClr val="lt1">
                    <a:lumMod val="10000"/>
                  </a:schemeClr>
                </a:solidFill>
              </a:rPr>
              <a:t>PE</a:t>
            </a:r>
            <a:r>
              <a:rPr lang="de-DE" sz="1800" spc="-1" dirty="0">
                <a:solidFill>
                  <a:schemeClr val="lt1">
                    <a:lumMod val="10000"/>
                  </a:schemeClr>
                </a:solidFill>
              </a:rPr>
              <a:t>/(m²</a:t>
            </a:r>
            <a:r>
              <a:rPr lang="de-DE" sz="1800" spc="-1" baseline="-25000" dirty="0">
                <a:solidFill>
                  <a:schemeClr val="lt1">
                    <a:lumMod val="10000"/>
                  </a:schemeClr>
                </a:solidFill>
              </a:rPr>
              <a:t>NGF</a:t>
            </a:r>
            <a:r>
              <a:rPr lang="de-DE" sz="1800" spc="-1" dirty="0">
                <a:solidFill>
                  <a:schemeClr val="lt1">
                    <a:lumMod val="10000"/>
                  </a:schemeClr>
                </a:solidFill>
              </a:rPr>
              <a:t>a)</a:t>
            </a:r>
          </a:p>
          <a:p>
            <a:endParaRPr lang="de-AT" b="1" dirty="0">
              <a:solidFill>
                <a:schemeClr val="accent3"/>
              </a:solidFill>
            </a:endParaRPr>
          </a:p>
          <a:p>
            <a:pPr lvl="1"/>
            <a:endParaRPr lang="de-AT" dirty="0"/>
          </a:p>
          <a:p>
            <a:endParaRPr lang="de-AT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BEA382BC-C889-3CF7-95E3-B8281BAAA7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AT" sz="1867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B669034E-AE9F-14C0-FB6E-8707082678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206269C-C24E-4E80-9A4B-E7E19BB59A67}" type="slidenum">
              <a:rPr kumimoji="0" lang="de-AT" sz="1867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31</a:t>
            </a:fld>
            <a:endParaRPr kumimoji="0" lang="de-AT" sz="1867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6" name="Grafik 5">
            <a:extLst>
              <a:ext uri="{FF2B5EF4-FFF2-40B4-BE49-F238E27FC236}">
                <a16:creationId xmlns:a16="http://schemas.microsoft.com/office/drawing/2014/main" id="{22C16E60-0040-4662-BBF6-38F521061CC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064027" y="2568176"/>
            <a:ext cx="6813663" cy="3977767"/>
          </a:xfrm>
          <a:prstGeom prst="rect">
            <a:avLst/>
          </a:prstGeom>
          <a:noFill/>
        </p:spPr>
      </p:pic>
      <p:grpSp>
        <p:nvGrpSpPr>
          <p:cNvPr id="21" name="Gruppieren 20">
            <a:extLst>
              <a:ext uri="{FF2B5EF4-FFF2-40B4-BE49-F238E27FC236}">
                <a16:creationId xmlns:a16="http://schemas.microsoft.com/office/drawing/2014/main" id="{48BEAA28-2E4D-51D2-6C88-E394C16380C1}"/>
              </a:ext>
            </a:extLst>
          </p:cNvPr>
          <p:cNvGrpSpPr/>
          <p:nvPr/>
        </p:nvGrpSpPr>
        <p:grpSpPr>
          <a:xfrm>
            <a:off x="5967528" y="1385155"/>
            <a:ext cx="1728000" cy="872196"/>
            <a:chOff x="5868581" y="1243113"/>
            <a:chExt cx="1728000" cy="872196"/>
          </a:xfrm>
          <a:solidFill>
            <a:srgbClr val="D0B0B8"/>
          </a:solidFill>
        </p:grpSpPr>
        <p:sp>
          <p:nvSpPr>
            <p:cNvPr id="9" name="Band: nach unten gekippt 8">
              <a:extLst>
                <a:ext uri="{FF2B5EF4-FFF2-40B4-BE49-F238E27FC236}">
                  <a16:creationId xmlns:a16="http://schemas.microsoft.com/office/drawing/2014/main" id="{8803DB7A-B6EA-298C-0516-5EF9BD5B9122}"/>
                </a:ext>
              </a:extLst>
            </p:cNvPr>
            <p:cNvSpPr/>
            <p:nvPr/>
          </p:nvSpPr>
          <p:spPr bwMode="auto">
            <a:xfrm>
              <a:off x="5868581" y="1575309"/>
              <a:ext cx="1728000" cy="540000"/>
            </a:xfrm>
            <a:prstGeom prst="ribbon">
              <a:avLst>
                <a:gd name="adj1" fmla="val 17116"/>
                <a:gd name="adj2" fmla="val 75000"/>
              </a:avLst>
            </a:prstGeom>
            <a:grpFill/>
            <a:ln w="635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de-DE" sz="1400" b="0" i="0" u="none" strike="noStrike" kern="0" cap="none" spc="0" normalizeH="0" baseline="0" noProof="1">
                <a:ln>
                  <a:noFill/>
                </a:ln>
                <a:solidFill>
                  <a:srgbClr val="E6EFF3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0" name="Rechteck 9">
              <a:extLst>
                <a:ext uri="{FF2B5EF4-FFF2-40B4-BE49-F238E27FC236}">
                  <a16:creationId xmlns:a16="http://schemas.microsoft.com/office/drawing/2014/main" id="{F277B105-1123-80AD-180C-8018CA893E5A}"/>
                </a:ext>
              </a:extLst>
            </p:cNvPr>
            <p:cNvSpPr/>
            <p:nvPr/>
          </p:nvSpPr>
          <p:spPr bwMode="auto">
            <a:xfrm>
              <a:off x="6082449" y="1685877"/>
              <a:ext cx="1333351" cy="415498"/>
            </a:xfrm>
            <a:prstGeom prst="rect">
              <a:avLst/>
            </a:prstGeom>
            <a:grpFill/>
          </p:spPr>
          <p:txBody>
            <a:bodyPr wrap="square">
              <a:spAutoFit/>
            </a:bodyPr>
            <a:lstStyle/>
            <a:p>
              <a:pPr marL="0" marR="0" lvl="0" indent="0" algn="ctr" defTabSz="914377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de-DE" sz="1050" b="1" i="0" u="none" strike="noStrike" kern="1200" cap="none" spc="0" normalizeH="0" baseline="0" noProof="1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Bahnschrift" panose="020B0502040204020203" pitchFamily="34" charset="0"/>
                  <a:ea typeface="+mn-ea"/>
                  <a:cs typeface="+mn-cs"/>
                </a:rPr>
                <a:t>Plus-Energie-Quartier</a:t>
              </a:r>
            </a:p>
          </p:txBody>
        </p:sp>
        <p:grpSp>
          <p:nvGrpSpPr>
            <p:cNvPr id="11" name="Gruppieren 10">
              <a:extLst>
                <a:ext uri="{FF2B5EF4-FFF2-40B4-BE49-F238E27FC236}">
                  <a16:creationId xmlns:a16="http://schemas.microsoft.com/office/drawing/2014/main" id="{2127AA04-F178-F2BE-D89F-B48BBC65A93B}"/>
                </a:ext>
              </a:extLst>
            </p:cNvPr>
            <p:cNvGrpSpPr/>
            <p:nvPr/>
          </p:nvGrpSpPr>
          <p:grpSpPr>
            <a:xfrm>
              <a:off x="6476281" y="1243113"/>
              <a:ext cx="483327" cy="460448"/>
              <a:chOff x="640424" y="760723"/>
              <a:chExt cx="730208" cy="730206"/>
            </a:xfrm>
            <a:grpFill/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grpSpPr>
          <p:sp>
            <p:nvSpPr>
              <p:cNvPr id="12" name="Stern: 12 Zacken 11">
                <a:extLst>
                  <a:ext uri="{FF2B5EF4-FFF2-40B4-BE49-F238E27FC236}">
                    <a16:creationId xmlns:a16="http://schemas.microsoft.com/office/drawing/2014/main" id="{87054BEE-BE69-3038-94CC-CD669E212109}"/>
                  </a:ext>
                </a:extLst>
              </p:cNvPr>
              <p:cNvSpPr/>
              <p:nvPr/>
            </p:nvSpPr>
            <p:spPr>
              <a:xfrm>
                <a:off x="640424" y="760723"/>
                <a:ext cx="730208" cy="730206"/>
              </a:xfrm>
              <a:prstGeom prst="star12">
                <a:avLst>
                  <a:gd name="adj" fmla="val 44170"/>
                </a:avLst>
              </a:prstGeom>
              <a:grpFill/>
              <a:ln w="12700" cap="flat" cmpd="sng" algn="ctr">
                <a:solidFill>
                  <a:srgbClr val="950F53"/>
                </a:solidFill>
                <a:prstDash val="solid"/>
                <a:miter lim="800000"/>
              </a:ln>
              <a:effectLst>
                <a:innerShdw blurRad="63500" dist="50800" dir="13500000">
                  <a:srgbClr val="F59C00">
                    <a:lumMod val="20000"/>
                    <a:lumOff val="80000"/>
                    <a:alpha val="72000"/>
                  </a:srgbClr>
                </a:innerShdw>
              </a:effectLst>
            </p:spPr>
            <p:txBody>
              <a:bodyPr rtlCol="0" anchor="ctr"/>
              <a:lstStyle/>
              <a:p>
                <a:pPr marL="0" marR="0" lvl="0" indent="0" algn="ctr" defTabSz="121917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de-DE" sz="1400" b="0" i="0" u="none" strike="noStrike" kern="0" cap="none" spc="0" normalizeH="0" baseline="0" noProof="1">
                  <a:ln>
                    <a:noFill/>
                  </a:ln>
                  <a:solidFill>
                    <a:srgbClr val="E6EFF3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3" name="Building5" descr="{&quot;Key&quot;:&quot;POWER_USER_SHAPE_ICON&quot;,&quot;Value&quot;:&quot;POWER_USER_SHAPE_ICON_STYLE_1&quot;}">
                <a:extLst>
                  <a:ext uri="{FF2B5EF4-FFF2-40B4-BE49-F238E27FC236}">
                    <a16:creationId xmlns:a16="http://schemas.microsoft.com/office/drawing/2014/main" id="{1BFBAB9C-DEC5-1FA8-496B-DFA21BDBB08E}"/>
                  </a:ext>
                </a:extLst>
              </p:cNvPr>
              <p:cNvSpPr>
                <a:spLocks noChangeAspect="1" noEditPoints="1"/>
              </p:cNvSpPr>
              <p:nvPr>
                <p:custDataLst>
                  <p:tags r:id="rId2"/>
                </p:custDataLst>
              </p:nvPr>
            </p:nvSpPr>
            <p:spPr bwMode="auto">
              <a:xfrm>
                <a:off x="757342" y="875488"/>
                <a:ext cx="490330" cy="436778"/>
              </a:xfrm>
              <a:custGeom>
                <a:avLst/>
                <a:gdLst>
                  <a:gd name="T0" fmla="*/ 915 w 1250"/>
                  <a:gd name="T1" fmla="*/ 250 h 1187"/>
                  <a:gd name="T2" fmla="*/ 915 w 1250"/>
                  <a:gd name="T3" fmla="*/ 1053 h 1187"/>
                  <a:gd name="T4" fmla="*/ 848 w 1250"/>
                  <a:gd name="T5" fmla="*/ 1053 h 1187"/>
                  <a:gd name="T6" fmla="*/ 850 w 1250"/>
                  <a:gd name="T7" fmla="*/ 0 h 1187"/>
                  <a:gd name="T8" fmla="*/ 448 w 1250"/>
                  <a:gd name="T9" fmla="*/ 0 h 1187"/>
                  <a:gd name="T10" fmla="*/ 446 w 1250"/>
                  <a:gd name="T11" fmla="*/ 1053 h 1187"/>
                  <a:gd name="T12" fmla="*/ 379 w 1250"/>
                  <a:gd name="T13" fmla="*/ 1053 h 1187"/>
                  <a:gd name="T14" fmla="*/ 379 w 1250"/>
                  <a:gd name="T15" fmla="*/ 361 h 1187"/>
                  <a:gd name="T16" fmla="*/ 0 w 1250"/>
                  <a:gd name="T17" fmla="*/ 361 h 1187"/>
                  <a:gd name="T18" fmla="*/ 0 w 1250"/>
                  <a:gd name="T19" fmla="*/ 1187 h 1187"/>
                  <a:gd name="T20" fmla="*/ 1250 w 1250"/>
                  <a:gd name="T21" fmla="*/ 1187 h 1187"/>
                  <a:gd name="T22" fmla="*/ 1250 w 1250"/>
                  <a:gd name="T23" fmla="*/ 250 h 1187"/>
                  <a:gd name="T24" fmla="*/ 915 w 1250"/>
                  <a:gd name="T25" fmla="*/ 250 h 1187"/>
                  <a:gd name="T26" fmla="*/ 982 w 1250"/>
                  <a:gd name="T27" fmla="*/ 339 h 1187"/>
                  <a:gd name="T28" fmla="*/ 1183 w 1250"/>
                  <a:gd name="T29" fmla="*/ 339 h 1187"/>
                  <a:gd name="T30" fmla="*/ 1183 w 1250"/>
                  <a:gd name="T31" fmla="*/ 584 h 1187"/>
                  <a:gd name="T32" fmla="*/ 982 w 1250"/>
                  <a:gd name="T33" fmla="*/ 584 h 1187"/>
                  <a:gd name="T34" fmla="*/ 982 w 1250"/>
                  <a:gd name="T35" fmla="*/ 339 h 1187"/>
                  <a:gd name="T36" fmla="*/ 982 w 1250"/>
                  <a:gd name="T37" fmla="*/ 674 h 1187"/>
                  <a:gd name="T38" fmla="*/ 1183 w 1250"/>
                  <a:gd name="T39" fmla="*/ 674 h 1187"/>
                  <a:gd name="T40" fmla="*/ 1183 w 1250"/>
                  <a:gd name="T41" fmla="*/ 919 h 1187"/>
                  <a:gd name="T42" fmla="*/ 982 w 1250"/>
                  <a:gd name="T43" fmla="*/ 919 h 1187"/>
                  <a:gd name="T44" fmla="*/ 982 w 1250"/>
                  <a:gd name="T45" fmla="*/ 674 h 1187"/>
                  <a:gd name="T46" fmla="*/ 513 w 1250"/>
                  <a:gd name="T47" fmla="*/ 71 h 1187"/>
                  <a:gd name="T48" fmla="*/ 781 w 1250"/>
                  <a:gd name="T49" fmla="*/ 71 h 1187"/>
                  <a:gd name="T50" fmla="*/ 781 w 1250"/>
                  <a:gd name="T51" fmla="*/ 183 h 1187"/>
                  <a:gd name="T52" fmla="*/ 513 w 1250"/>
                  <a:gd name="T53" fmla="*/ 183 h 1187"/>
                  <a:gd name="T54" fmla="*/ 513 w 1250"/>
                  <a:gd name="T55" fmla="*/ 71 h 1187"/>
                  <a:gd name="T56" fmla="*/ 513 w 1250"/>
                  <a:gd name="T57" fmla="*/ 294 h 1187"/>
                  <a:gd name="T58" fmla="*/ 781 w 1250"/>
                  <a:gd name="T59" fmla="*/ 294 h 1187"/>
                  <a:gd name="T60" fmla="*/ 781 w 1250"/>
                  <a:gd name="T61" fmla="*/ 406 h 1187"/>
                  <a:gd name="T62" fmla="*/ 513 w 1250"/>
                  <a:gd name="T63" fmla="*/ 406 h 1187"/>
                  <a:gd name="T64" fmla="*/ 513 w 1250"/>
                  <a:gd name="T65" fmla="*/ 294 h 1187"/>
                  <a:gd name="T66" fmla="*/ 513 w 1250"/>
                  <a:gd name="T67" fmla="*/ 517 h 1187"/>
                  <a:gd name="T68" fmla="*/ 781 w 1250"/>
                  <a:gd name="T69" fmla="*/ 517 h 1187"/>
                  <a:gd name="T70" fmla="*/ 781 w 1250"/>
                  <a:gd name="T71" fmla="*/ 629 h 1187"/>
                  <a:gd name="T72" fmla="*/ 513 w 1250"/>
                  <a:gd name="T73" fmla="*/ 629 h 1187"/>
                  <a:gd name="T74" fmla="*/ 513 w 1250"/>
                  <a:gd name="T75" fmla="*/ 517 h 1187"/>
                  <a:gd name="T76" fmla="*/ 513 w 1250"/>
                  <a:gd name="T77" fmla="*/ 741 h 1187"/>
                  <a:gd name="T78" fmla="*/ 781 w 1250"/>
                  <a:gd name="T79" fmla="*/ 741 h 1187"/>
                  <a:gd name="T80" fmla="*/ 781 w 1250"/>
                  <a:gd name="T81" fmla="*/ 852 h 1187"/>
                  <a:gd name="T82" fmla="*/ 513 w 1250"/>
                  <a:gd name="T83" fmla="*/ 852 h 1187"/>
                  <a:gd name="T84" fmla="*/ 513 w 1250"/>
                  <a:gd name="T85" fmla="*/ 741 h 1187"/>
                  <a:gd name="T86" fmla="*/ 67 w 1250"/>
                  <a:gd name="T87" fmla="*/ 450 h 1187"/>
                  <a:gd name="T88" fmla="*/ 156 w 1250"/>
                  <a:gd name="T89" fmla="*/ 450 h 1187"/>
                  <a:gd name="T90" fmla="*/ 156 w 1250"/>
                  <a:gd name="T91" fmla="*/ 607 h 1187"/>
                  <a:gd name="T92" fmla="*/ 67 w 1250"/>
                  <a:gd name="T93" fmla="*/ 607 h 1187"/>
                  <a:gd name="T94" fmla="*/ 67 w 1250"/>
                  <a:gd name="T95" fmla="*/ 450 h 1187"/>
                  <a:gd name="T96" fmla="*/ 223 w 1250"/>
                  <a:gd name="T97" fmla="*/ 450 h 1187"/>
                  <a:gd name="T98" fmla="*/ 313 w 1250"/>
                  <a:gd name="T99" fmla="*/ 450 h 1187"/>
                  <a:gd name="T100" fmla="*/ 313 w 1250"/>
                  <a:gd name="T101" fmla="*/ 607 h 1187"/>
                  <a:gd name="T102" fmla="*/ 223 w 1250"/>
                  <a:gd name="T103" fmla="*/ 607 h 1187"/>
                  <a:gd name="T104" fmla="*/ 223 w 1250"/>
                  <a:gd name="T105" fmla="*/ 450 h 1187"/>
                  <a:gd name="T106" fmla="*/ 67 w 1250"/>
                  <a:gd name="T107" fmla="*/ 718 h 1187"/>
                  <a:gd name="T108" fmla="*/ 156 w 1250"/>
                  <a:gd name="T109" fmla="*/ 718 h 1187"/>
                  <a:gd name="T110" fmla="*/ 156 w 1250"/>
                  <a:gd name="T111" fmla="*/ 875 h 1187"/>
                  <a:gd name="T112" fmla="*/ 67 w 1250"/>
                  <a:gd name="T113" fmla="*/ 875 h 1187"/>
                  <a:gd name="T114" fmla="*/ 67 w 1250"/>
                  <a:gd name="T115" fmla="*/ 718 h 1187"/>
                  <a:gd name="T116" fmla="*/ 223 w 1250"/>
                  <a:gd name="T117" fmla="*/ 718 h 1187"/>
                  <a:gd name="T118" fmla="*/ 313 w 1250"/>
                  <a:gd name="T119" fmla="*/ 718 h 1187"/>
                  <a:gd name="T120" fmla="*/ 313 w 1250"/>
                  <a:gd name="T121" fmla="*/ 875 h 1187"/>
                  <a:gd name="T122" fmla="*/ 223 w 1250"/>
                  <a:gd name="T123" fmla="*/ 875 h 1187"/>
                  <a:gd name="T124" fmla="*/ 223 w 1250"/>
                  <a:gd name="T125" fmla="*/ 718 h 118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  <a:cxn ang="0">
                    <a:pos x="T122" y="T123"/>
                  </a:cxn>
                  <a:cxn ang="0">
                    <a:pos x="T124" y="T125"/>
                  </a:cxn>
                </a:cxnLst>
                <a:rect l="0" t="0" r="r" b="b"/>
                <a:pathLst>
                  <a:path w="1250" h="1187">
                    <a:moveTo>
                      <a:pt x="915" y="250"/>
                    </a:moveTo>
                    <a:lnTo>
                      <a:pt x="915" y="1053"/>
                    </a:lnTo>
                    <a:lnTo>
                      <a:pt x="848" y="1053"/>
                    </a:lnTo>
                    <a:lnTo>
                      <a:pt x="850" y="0"/>
                    </a:lnTo>
                    <a:lnTo>
                      <a:pt x="448" y="0"/>
                    </a:lnTo>
                    <a:lnTo>
                      <a:pt x="446" y="1053"/>
                    </a:lnTo>
                    <a:lnTo>
                      <a:pt x="379" y="1053"/>
                    </a:lnTo>
                    <a:lnTo>
                      <a:pt x="379" y="361"/>
                    </a:lnTo>
                    <a:lnTo>
                      <a:pt x="0" y="361"/>
                    </a:lnTo>
                    <a:lnTo>
                      <a:pt x="0" y="1187"/>
                    </a:lnTo>
                    <a:lnTo>
                      <a:pt x="1250" y="1187"/>
                    </a:lnTo>
                    <a:lnTo>
                      <a:pt x="1250" y="250"/>
                    </a:lnTo>
                    <a:lnTo>
                      <a:pt x="915" y="250"/>
                    </a:lnTo>
                    <a:close/>
                    <a:moveTo>
                      <a:pt x="982" y="339"/>
                    </a:moveTo>
                    <a:lnTo>
                      <a:pt x="1183" y="339"/>
                    </a:lnTo>
                    <a:lnTo>
                      <a:pt x="1183" y="584"/>
                    </a:lnTo>
                    <a:lnTo>
                      <a:pt x="982" y="584"/>
                    </a:lnTo>
                    <a:lnTo>
                      <a:pt x="982" y="339"/>
                    </a:lnTo>
                    <a:close/>
                    <a:moveTo>
                      <a:pt x="982" y="674"/>
                    </a:moveTo>
                    <a:lnTo>
                      <a:pt x="1183" y="674"/>
                    </a:lnTo>
                    <a:lnTo>
                      <a:pt x="1183" y="919"/>
                    </a:lnTo>
                    <a:lnTo>
                      <a:pt x="982" y="919"/>
                    </a:lnTo>
                    <a:lnTo>
                      <a:pt x="982" y="674"/>
                    </a:lnTo>
                    <a:close/>
                    <a:moveTo>
                      <a:pt x="513" y="71"/>
                    </a:moveTo>
                    <a:lnTo>
                      <a:pt x="781" y="71"/>
                    </a:lnTo>
                    <a:lnTo>
                      <a:pt x="781" y="183"/>
                    </a:lnTo>
                    <a:lnTo>
                      <a:pt x="513" y="183"/>
                    </a:lnTo>
                    <a:lnTo>
                      <a:pt x="513" y="71"/>
                    </a:lnTo>
                    <a:close/>
                    <a:moveTo>
                      <a:pt x="513" y="294"/>
                    </a:moveTo>
                    <a:lnTo>
                      <a:pt x="781" y="294"/>
                    </a:lnTo>
                    <a:lnTo>
                      <a:pt x="781" y="406"/>
                    </a:lnTo>
                    <a:lnTo>
                      <a:pt x="513" y="406"/>
                    </a:lnTo>
                    <a:lnTo>
                      <a:pt x="513" y="294"/>
                    </a:lnTo>
                    <a:close/>
                    <a:moveTo>
                      <a:pt x="513" y="517"/>
                    </a:moveTo>
                    <a:lnTo>
                      <a:pt x="781" y="517"/>
                    </a:lnTo>
                    <a:lnTo>
                      <a:pt x="781" y="629"/>
                    </a:lnTo>
                    <a:lnTo>
                      <a:pt x="513" y="629"/>
                    </a:lnTo>
                    <a:lnTo>
                      <a:pt x="513" y="517"/>
                    </a:lnTo>
                    <a:close/>
                    <a:moveTo>
                      <a:pt x="513" y="741"/>
                    </a:moveTo>
                    <a:lnTo>
                      <a:pt x="781" y="741"/>
                    </a:lnTo>
                    <a:lnTo>
                      <a:pt x="781" y="852"/>
                    </a:lnTo>
                    <a:lnTo>
                      <a:pt x="513" y="852"/>
                    </a:lnTo>
                    <a:lnTo>
                      <a:pt x="513" y="741"/>
                    </a:lnTo>
                    <a:close/>
                    <a:moveTo>
                      <a:pt x="67" y="450"/>
                    </a:moveTo>
                    <a:lnTo>
                      <a:pt x="156" y="450"/>
                    </a:lnTo>
                    <a:lnTo>
                      <a:pt x="156" y="607"/>
                    </a:lnTo>
                    <a:lnTo>
                      <a:pt x="67" y="607"/>
                    </a:lnTo>
                    <a:lnTo>
                      <a:pt x="67" y="450"/>
                    </a:lnTo>
                    <a:close/>
                    <a:moveTo>
                      <a:pt x="223" y="450"/>
                    </a:moveTo>
                    <a:lnTo>
                      <a:pt x="313" y="450"/>
                    </a:lnTo>
                    <a:lnTo>
                      <a:pt x="313" y="607"/>
                    </a:lnTo>
                    <a:lnTo>
                      <a:pt x="223" y="607"/>
                    </a:lnTo>
                    <a:lnTo>
                      <a:pt x="223" y="450"/>
                    </a:lnTo>
                    <a:close/>
                    <a:moveTo>
                      <a:pt x="67" y="718"/>
                    </a:moveTo>
                    <a:lnTo>
                      <a:pt x="156" y="718"/>
                    </a:lnTo>
                    <a:lnTo>
                      <a:pt x="156" y="875"/>
                    </a:lnTo>
                    <a:lnTo>
                      <a:pt x="67" y="875"/>
                    </a:lnTo>
                    <a:lnTo>
                      <a:pt x="67" y="718"/>
                    </a:lnTo>
                    <a:close/>
                    <a:moveTo>
                      <a:pt x="223" y="718"/>
                    </a:moveTo>
                    <a:lnTo>
                      <a:pt x="313" y="718"/>
                    </a:lnTo>
                    <a:lnTo>
                      <a:pt x="313" y="875"/>
                    </a:lnTo>
                    <a:lnTo>
                      <a:pt x="223" y="875"/>
                    </a:lnTo>
                    <a:lnTo>
                      <a:pt x="223" y="718"/>
                    </a:lnTo>
                    <a:close/>
                  </a:path>
                </a:pathLst>
              </a:custGeom>
              <a:grpFill/>
              <a:ln>
                <a:noFill/>
              </a:ln>
              <a:effectLst>
                <a:glow rad="38100">
                  <a:srgbClr val="F59C00">
                    <a:lumMod val="20000"/>
                    <a:lumOff val="80000"/>
                    <a:alpha val="68000"/>
                  </a:srgbClr>
                </a:glow>
              </a:effec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377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de-DE" sz="1200" b="0" i="0" u="none" strike="noStrike" kern="0" cap="none" spc="0" normalizeH="0" baseline="0" noProof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20" name="Gruppieren 19">
            <a:extLst>
              <a:ext uri="{FF2B5EF4-FFF2-40B4-BE49-F238E27FC236}">
                <a16:creationId xmlns:a16="http://schemas.microsoft.com/office/drawing/2014/main" id="{F631DF29-AED7-4ED1-5FAA-833AACAFF96C}"/>
              </a:ext>
            </a:extLst>
          </p:cNvPr>
          <p:cNvGrpSpPr/>
          <p:nvPr/>
        </p:nvGrpSpPr>
        <p:grpSpPr>
          <a:xfrm>
            <a:off x="7695528" y="695829"/>
            <a:ext cx="1847342" cy="1094218"/>
            <a:chOff x="9624656" y="925240"/>
            <a:chExt cx="1847342" cy="1094218"/>
          </a:xfrm>
        </p:grpSpPr>
        <p:sp>
          <p:nvSpPr>
            <p:cNvPr id="14" name="Band: nach unten gekippt 13">
              <a:extLst>
                <a:ext uri="{FF2B5EF4-FFF2-40B4-BE49-F238E27FC236}">
                  <a16:creationId xmlns:a16="http://schemas.microsoft.com/office/drawing/2014/main" id="{B284CA47-F460-B7A0-48AF-0F81B5354BAE}"/>
                </a:ext>
              </a:extLst>
            </p:cNvPr>
            <p:cNvSpPr/>
            <p:nvPr/>
          </p:nvSpPr>
          <p:spPr bwMode="auto">
            <a:xfrm>
              <a:off x="9624656" y="1450474"/>
              <a:ext cx="1775199" cy="540000"/>
            </a:xfrm>
            <a:prstGeom prst="ribbon">
              <a:avLst>
                <a:gd name="adj1" fmla="val 19017"/>
                <a:gd name="adj2" fmla="val 75000"/>
              </a:avLst>
            </a:prstGeom>
            <a:solidFill>
              <a:srgbClr val="F59C00">
                <a:lumMod val="60000"/>
                <a:lumOff val="40000"/>
              </a:srgbClr>
            </a:solidFill>
            <a:ln w="635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de-DE" sz="1400" b="0" i="0" u="none" strike="noStrike" kern="0" cap="none" spc="0" normalizeH="0" baseline="0" noProof="1">
                <a:ln>
                  <a:noFill/>
                </a:ln>
                <a:solidFill>
                  <a:srgbClr val="E6EFF3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5" name="Rechteck 14">
              <a:extLst>
                <a:ext uri="{FF2B5EF4-FFF2-40B4-BE49-F238E27FC236}">
                  <a16:creationId xmlns:a16="http://schemas.microsoft.com/office/drawing/2014/main" id="{91ED5E1D-01D1-CCEC-EB42-9DAB7EBF3B1B}"/>
                </a:ext>
              </a:extLst>
            </p:cNvPr>
            <p:cNvSpPr/>
            <p:nvPr/>
          </p:nvSpPr>
          <p:spPr bwMode="auto">
            <a:xfrm>
              <a:off x="9687606" y="1603960"/>
              <a:ext cx="1784392" cy="415498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0" marR="0" lvl="0" indent="0" algn="ctr" defTabSz="914377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de-DE" sz="1050" b="1" i="0" u="none" strike="noStrike" kern="1200" cap="none" spc="0" normalizeH="0" baseline="0" noProof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Bahnschrift" panose="020B0502040204020203" pitchFamily="34" charset="0"/>
                  <a:ea typeface="+mn-ea"/>
                  <a:cs typeface="+mn-cs"/>
                </a:rPr>
                <a:t>Plus-Energie-Quartier</a:t>
              </a:r>
            </a:p>
            <a:p>
              <a:pPr marL="0" marR="0" lvl="0" indent="0" algn="ctr" defTabSz="914377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de-DE" sz="1050" b="1" i="0" u="none" strike="noStrike" kern="1200" cap="none" spc="0" normalizeH="0" baseline="0" noProof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Bahnschrift" panose="020B0502040204020203" pitchFamily="34" charset="0"/>
                  <a:ea typeface="+mn-ea"/>
                  <a:cs typeface="+mn-cs"/>
                </a:rPr>
                <a:t>Mit Mobilität</a:t>
              </a:r>
            </a:p>
          </p:txBody>
        </p:sp>
        <p:grpSp>
          <p:nvGrpSpPr>
            <p:cNvPr id="16" name="Gruppieren 15">
              <a:extLst>
                <a:ext uri="{FF2B5EF4-FFF2-40B4-BE49-F238E27FC236}">
                  <a16:creationId xmlns:a16="http://schemas.microsoft.com/office/drawing/2014/main" id="{32FE6692-CB6F-23F4-42FF-5D8827DDD0C8}"/>
                </a:ext>
              </a:extLst>
            </p:cNvPr>
            <p:cNvGrpSpPr/>
            <p:nvPr/>
          </p:nvGrpSpPr>
          <p:grpSpPr>
            <a:xfrm>
              <a:off x="10161463" y="925240"/>
              <a:ext cx="700101" cy="694145"/>
              <a:chOff x="4399640" y="1143095"/>
              <a:chExt cx="785172" cy="778492"/>
            </a:xfrm>
            <a:solidFill>
              <a:srgbClr val="F59C00"/>
            </a:solidFill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grpSpPr>
          <p:sp>
            <p:nvSpPr>
              <p:cNvPr id="17" name="Stern: 10 Zacken 16">
                <a:extLst>
                  <a:ext uri="{FF2B5EF4-FFF2-40B4-BE49-F238E27FC236}">
                    <a16:creationId xmlns:a16="http://schemas.microsoft.com/office/drawing/2014/main" id="{8295CD0B-9BBE-3CA2-7940-AADF17981FEC}"/>
                  </a:ext>
                </a:extLst>
              </p:cNvPr>
              <p:cNvSpPr/>
              <p:nvPr/>
            </p:nvSpPr>
            <p:spPr>
              <a:xfrm>
                <a:off x="4399640" y="1143095"/>
                <a:ext cx="785172" cy="778492"/>
              </a:xfrm>
              <a:prstGeom prst="star10">
                <a:avLst>
                  <a:gd name="adj" fmla="val 44491"/>
                  <a:gd name="hf" fmla="val 105146"/>
                </a:avLst>
              </a:prstGeom>
              <a:grpFill/>
              <a:ln w="19050" cap="flat" cmpd="sng" algn="ctr">
                <a:solidFill>
                  <a:srgbClr val="F59C00"/>
                </a:solidFill>
                <a:prstDash val="solid"/>
                <a:miter lim="800000"/>
              </a:ln>
              <a:effectLst>
                <a:innerShdw blurRad="63500" dist="50800" dir="13500000">
                  <a:srgbClr val="F59C00">
                    <a:alpha val="77000"/>
                  </a:srgbClr>
                </a:innerShdw>
              </a:effectLst>
            </p:spPr>
            <p:txBody>
              <a:bodyPr rtlCol="0" anchor="ctr"/>
              <a:lstStyle/>
              <a:p>
                <a:pPr marL="0" marR="0" lvl="0" indent="0" algn="ctr" defTabSz="121917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de-DE" sz="1400" b="0" i="0" u="none" strike="noStrike" kern="0" cap="none" spc="0" normalizeH="0" baseline="0" noProof="1">
                  <a:ln>
                    <a:noFill/>
                  </a:ln>
                  <a:solidFill>
                    <a:srgbClr val="E6EFF3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8" name="Zehneck 17">
                <a:extLst>
                  <a:ext uri="{FF2B5EF4-FFF2-40B4-BE49-F238E27FC236}">
                    <a16:creationId xmlns:a16="http://schemas.microsoft.com/office/drawing/2014/main" id="{1F03D902-5E1B-B01B-5F26-DA19FAF9279C}"/>
                  </a:ext>
                </a:extLst>
              </p:cNvPr>
              <p:cNvSpPr/>
              <p:nvPr/>
            </p:nvSpPr>
            <p:spPr>
              <a:xfrm>
                <a:off x="4476265" y="1217862"/>
                <a:ext cx="620528" cy="620529"/>
              </a:xfrm>
              <a:prstGeom prst="decagon">
                <a:avLst/>
              </a:prstGeom>
              <a:solidFill>
                <a:srgbClr val="950F53"/>
              </a:solidFill>
              <a:ln w="12700" cap="flat" cmpd="sng" algn="ctr">
                <a:solidFill>
                  <a:srgbClr val="950F53"/>
                </a:solidFill>
                <a:prstDash val="solid"/>
                <a:miter lim="800000"/>
              </a:ln>
              <a:effectLst>
                <a:innerShdw blurRad="63500" dist="50800" dir="13500000">
                  <a:srgbClr val="F59C00">
                    <a:lumMod val="20000"/>
                    <a:lumOff val="80000"/>
                    <a:alpha val="72000"/>
                  </a:srgbClr>
                </a:innerShdw>
              </a:effectLst>
            </p:spPr>
            <p:txBody>
              <a:bodyPr rtlCol="0" anchor="ctr"/>
              <a:lstStyle/>
              <a:p>
                <a:pPr marL="0" marR="0" lvl="0" indent="0" algn="ctr" defTabSz="121917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de-DE" sz="1400" b="0" i="0" u="none" strike="noStrike" kern="0" cap="none" spc="0" normalizeH="0" baseline="0" noProof="1">
                  <a:ln>
                    <a:noFill/>
                  </a:ln>
                  <a:solidFill>
                    <a:srgbClr val="E6EFF3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9" name="Building5" descr="{&quot;Key&quot;:&quot;POWER_USER_SHAPE_ICON&quot;,&quot;Value&quot;:&quot;POWER_USER_SHAPE_ICON_STYLE_1&quot;}">
                <a:extLst>
                  <a:ext uri="{FF2B5EF4-FFF2-40B4-BE49-F238E27FC236}">
                    <a16:creationId xmlns:a16="http://schemas.microsoft.com/office/drawing/2014/main" id="{DC6C82B4-B274-190F-F701-78ED69C88FFB}"/>
                  </a:ext>
                </a:extLst>
              </p:cNvPr>
              <p:cNvSpPr>
                <a:spLocks noChangeAspect="1" noEditPoints="1"/>
              </p:cNvSpPr>
              <p:nvPr>
                <p:custDataLst>
                  <p:tags r:id="rId1"/>
                </p:custDataLst>
              </p:nvPr>
            </p:nvSpPr>
            <p:spPr bwMode="auto">
              <a:xfrm>
                <a:off x="4550947" y="1301271"/>
                <a:ext cx="461320" cy="410937"/>
              </a:xfrm>
              <a:custGeom>
                <a:avLst/>
                <a:gdLst>
                  <a:gd name="T0" fmla="*/ 915 w 1250"/>
                  <a:gd name="T1" fmla="*/ 250 h 1187"/>
                  <a:gd name="T2" fmla="*/ 915 w 1250"/>
                  <a:gd name="T3" fmla="*/ 1053 h 1187"/>
                  <a:gd name="T4" fmla="*/ 848 w 1250"/>
                  <a:gd name="T5" fmla="*/ 1053 h 1187"/>
                  <a:gd name="T6" fmla="*/ 850 w 1250"/>
                  <a:gd name="T7" fmla="*/ 0 h 1187"/>
                  <a:gd name="T8" fmla="*/ 448 w 1250"/>
                  <a:gd name="T9" fmla="*/ 0 h 1187"/>
                  <a:gd name="T10" fmla="*/ 446 w 1250"/>
                  <a:gd name="T11" fmla="*/ 1053 h 1187"/>
                  <a:gd name="T12" fmla="*/ 379 w 1250"/>
                  <a:gd name="T13" fmla="*/ 1053 h 1187"/>
                  <a:gd name="T14" fmla="*/ 379 w 1250"/>
                  <a:gd name="T15" fmla="*/ 361 h 1187"/>
                  <a:gd name="T16" fmla="*/ 0 w 1250"/>
                  <a:gd name="T17" fmla="*/ 361 h 1187"/>
                  <a:gd name="T18" fmla="*/ 0 w 1250"/>
                  <a:gd name="T19" fmla="*/ 1187 h 1187"/>
                  <a:gd name="T20" fmla="*/ 1250 w 1250"/>
                  <a:gd name="T21" fmla="*/ 1187 h 1187"/>
                  <a:gd name="T22" fmla="*/ 1250 w 1250"/>
                  <a:gd name="T23" fmla="*/ 250 h 1187"/>
                  <a:gd name="T24" fmla="*/ 915 w 1250"/>
                  <a:gd name="T25" fmla="*/ 250 h 1187"/>
                  <a:gd name="T26" fmla="*/ 982 w 1250"/>
                  <a:gd name="T27" fmla="*/ 339 h 1187"/>
                  <a:gd name="T28" fmla="*/ 1183 w 1250"/>
                  <a:gd name="T29" fmla="*/ 339 h 1187"/>
                  <a:gd name="T30" fmla="*/ 1183 w 1250"/>
                  <a:gd name="T31" fmla="*/ 584 h 1187"/>
                  <a:gd name="T32" fmla="*/ 982 w 1250"/>
                  <a:gd name="T33" fmla="*/ 584 h 1187"/>
                  <a:gd name="T34" fmla="*/ 982 w 1250"/>
                  <a:gd name="T35" fmla="*/ 339 h 1187"/>
                  <a:gd name="T36" fmla="*/ 982 w 1250"/>
                  <a:gd name="T37" fmla="*/ 674 h 1187"/>
                  <a:gd name="T38" fmla="*/ 1183 w 1250"/>
                  <a:gd name="T39" fmla="*/ 674 h 1187"/>
                  <a:gd name="T40" fmla="*/ 1183 w 1250"/>
                  <a:gd name="T41" fmla="*/ 919 h 1187"/>
                  <a:gd name="T42" fmla="*/ 982 w 1250"/>
                  <a:gd name="T43" fmla="*/ 919 h 1187"/>
                  <a:gd name="T44" fmla="*/ 982 w 1250"/>
                  <a:gd name="T45" fmla="*/ 674 h 1187"/>
                  <a:gd name="T46" fmla="*/ 513 w 1250"/>
                  <a:gd name="T47" fmla="*/ 71 h 1187"/>
                  <a:gd name="T48" fmla="*/ 781 w 1250"/>
                  <a:gd name="T49" fmla="*/ 71 h 1187"/>
                  <a:gd name="T50" fmla="*/ 781 w 1250"/>
                  <a:gd name="T51" fmla="*/ 183 h 1187"/>
                  <a:gd name="T52" fmla="*/ 513 w 1250"/>
                  <a:gd name="T53" fmla="*/ 183 h 1187"/>
                  <a:gd name="T54" fmla="*/ 513 w 1250"/>
                  <a:gd name="T55" fmla="*/ 71 h 1187"/>
                  <a:gd name="T56" fmla="*/ 513 w 1250"/>
                  <a:gd name="T57" fmla="*/ 294 h 1187"/>
                  <a:gd name="T58" fmla="*/ 781 w 1250"/>
                  <a:gd name="T59" fmla="*/ 294 h 1187"/>
                  <a:gd name="T60" fmla="*/ 781 w 1250"/>
                  <a:gd name="T61" fmla="*/ 406 h 1187"/>
                  <a:gd name="T62" fmla="*/ 513 w 1250"/>
                  <a:gd name="T63" fmla="*/ 406 h 1187"/>
                  <a:gd name="T64" fmla="*/ 513 w 1250"/>
                  <a:gd name="T65" fmla="*/ 294 h 1187"/>
                  <a:gd name="T66" fmla="*/ 513 w 1250"/>
                  <a:gd name="T67" fmla="*/ 517 h 1187"/>
                  <a:gd name="T68" fmla="*/ 781 w 1250"/>
                  <a:gd name="T69" fmla="*/ 517 h 1187"/>
                  <a:gd name="T70" fmla="*/ 781 w 1250"/>
                  <a:gd name="T71" fmla="*/ 629 h 1187"/>
                  <a:gd name="T72" fmla="*/ 513 w 1250"/>
                  <a:gd name="T73" fmla="*/ 629 h 1187"/>
                  <a:gd name="T74" fmla="*/ 513 w 1250"/>
                  <a:gd name="T75" fmla="*/ 517 h 1187"/>
                  <a:gd name="T76" fmla="*/ 513 w 1250"/>
                  <a:gd name="T77" fmla="*/ 741 h 1187"/>
                  <a:gd name="T78" fmla="*/ 781 w 1250"/>
                  <a:gd name="T79" fmla="*/ 741 h 1187"/>
                  <a:gd name="T80" fmla="*/ 781 w 1250"/>
                  <a:gd name="T81" fmla="*/ 852 h 1187"/>
                  <a:gd name="T82" fmla="*/ 513 w 1250"/>
                  <a:gd name="T83" fmla="*/ 852 h 1187"/>
                  <a:gd name="T84" fmla="*/ 513 w 1250"/>
                  <a:gd name="T85" fmla="*/ 741 h 1187"/>
                  <a:gd name="T86" fmla="*/ 67 w 1250"/>
                  <a:gd name="T87" fmla="*/ 450 h 1187"/>
                  <a:gd name="T88" fmla="*/ 156 w 1250"/>
                  <a:gd name="T89" fmla="*/ 450 h 1187"/>
                  <a:gd name="T90" fmla="*/ 156 w 1250"/>
                  <a:gd name="T91" fmla="*/ 607 h 1187"/>
                  <a:gd name="T92" fmla="*/ 67 w 1250"/>
                  <a:gd name="T93" fmla="*/ 607 h 1187"/>
                  <a:gd name="T94" fmla="*/ 67 w 1250"/>
                  <a:gd name="T95" fmla="*/ 450 h 1187"/>
                  <a:gd name="T96" fmla="*/ 223 w 1250"/>
                  <a:gd name="T97" fmla="*/ 450 h 1187"/>
                  <a:gd name="T98" fmla="*/ 313 w 1250"/>
                  <a:gd name="T99" fmla="*/ 450 h 1187"/>
                  <a:gd name="T100" fmla="*/ 313 w 1250"/>
                  <a:gd name="T101" fmla="*/ 607 h 1187"/>
                  <a:gd name="T102" fmla="*/ 223 w 1250"/>
                  <a:gd name="T103" fmla="*/ 607 h 1187"/>
                  <a:gd name="T104" fmla="*/ 223 w 1250"/>
                  <a:gd name="T105" fmla="*/ 450 h 1187"/>
                  <a:gd name="T106" fmla="*/ 67 w 1250"/>
                  <a:gd name="T107" fmla="*/ 718 h 1187"/>
                  <a:gd name="T108" fmla="*/ 156 w 1250"/>
                  <a:gd name="T109" fmla="*/ 718 h 1187"/>
                  <a:gd name="T110" fmla="*/ 156 w 1250"/>
                  <a:gd name="T111" fmla="*/ 875 h 1187"/>
                  <a:gd name="T112" fmla="*/ 67 w 1250"/>
                  <a:gd name="T113" fmla="*/ 875 h 1187"/>
                  <a:gd name="T114" fmla="*/ 67 w 1250"/>
                  <a:gd name="T115" fmla="*/ 718 h 1187"/>
                  <a:gd name="T116" fmla="*/ 223 w 1250"/>
                  <a:gd name="T117" fmla="*/ 718 h 1187"/>
                  <a:gd name="T118" fmla="*/ 313 w 1250"/>
                  <a:gd name="T119" fmla="*/ 718 h 1187"/>
                  <a:gd name="T120" fmla="*/ 313 w 1250"/>
                  <a:gd name="T121" fmla="*/ 875 h 1187"/>
                  <a:gd name="T122" fmla="*/ 223 w 1250"/>
                  <a:gd name="T123" fmla="*/ 875 h 1187"/>
                  <a:gd name="T124" fmla="*/ 223 w 1250"/>
                  <a:gd name="T125" fmla="*/ 718 h 118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  <a:cxn ang="0">
                    <a:pos x="T122" y="T123"/>
                  </a:cxn>
                  <a:cxn ang="0">
                    <a:pos x="T124" y="T125"/>
                  </a:cxn>
                </a:cxnLst>
                <a:rect l="0" t="0" r="r" b="b"/>
                <a:pathLst>
                  <a:path w="1250" h="1187">
                    <a:moveTo>
                      <a:pt x="915" y="250"/>
                    </a:moveTo>
                    <a:lnTo>
                      <a:pt x="915" y="1053"/>
                    </a:lnTo>
                    <a:lnTo>
                      <a:pt x="848" y="1053"/>
                    </a:lnTo>
                    <a:lnTo>
                      <a:pt x="850" y="0"/>
                    </a:lnTo>
                    <a:lnTo>
                      <a:pt x="448" y="0"/>
                    </a:lnTo>
                    <a:lnTo>
                      <a:pt x="446" y="1053"/>
                    </a:lnTo>
                    <a:lnTo>
                      <a:pt x="379" y="1053"/>
                    </a:lnTo>
                    <a:lnTo>
                      <a:pt x="379" y="361"/>
                    </a:lnTo>
                    <a:lnTo>
                      <a:pt x="0" y="361"/>
                    </a:lnTo>
                    <a:lnTo>
                      <a:pt x="0" y="1187"/>
                    </a:lnTo>
                    <a:lnTo>
                      <a:pt x="1250" y="1187"/>
                    </a:lnTo>
                    <a:lnTo>
                      <a:pt x="1250" y="250"/>
                    </a:lnTo>
                    <a:lnTo>
                      <a:pt x="915" y="250"/>
                    </a:lnTo>
                    <a:close/>
                    <a:moveTo>
                      <a:pt x="982" y="339"/>
                    </a:moveTo>
                    <a:lnTo>
                      <a:pt x="1183" y="339"/>
                    </a:lnTo>
                    <a:lnTo>
                      <a:pt x="1183" y="584"/>
                    </a:lnTo>
                    <a:lnTo>
                      <a:pt x="982" y="584"/>
                    </a:lnTo>
                    <a:lnTo>
                      <a:pt x="982" y="339"/>
                    </a:lnTo>
                    <a:close/>
                    <a:moveTo>
                      <a:pt x="982" y="674"/>
                    </a:moveTo>
                    <a:lnTo>
                      <a:pt x="1183" y="674"/>
                    </a:lnTo>
                    <a:lnTo>
                      <a:pt x="1183" y="919"/>
                    </a:lnTo>
                    <a:lnTo>
                      <a:pt x="982" y="919"/>
                    </a:lnTo>
                    <a:lnTo>
                      <a:pt x="982" y="674"/>
                    </a:lnTo>
                    <a:close/>
                    <a:moveTo>
                      <a:pt x="513" y="71"/>
                    </a:moveTo>
                    <a:lnTo>
                      <a:pt x="781" y="71"/>
                    </a:lnTo>
                    <a:lnTo>
                      <a:pt x="781" y="183"/>
                    </a:lnTo>
                    <a:lnTo>
                      <a:pt x="513" y="183"/>
                    </a:lnTo>
                    <a:lnTo>
                      <a:pt x="513" y="71"/>
                    </a:lnTo>
                    <a:close/>
                    <a:moveTo>
                      <a:pt x="513" y="294"/>
                    </a:moveTo>
                    <a:lnTo>
                      <a:pt x="781" y="294"/>
                    </a:lnTo>
                    <a:lnTo>
                      <a:pt x="781" y="406"/>
                    </a:lnTo>
                    <a:lnTo>
                      <a:pt x="513" y="406"/>
                    </a:lnTo>
                    <a:lnTo>
                      <a:pt x="513" y="294"/>
                    </a:lnTo>
                    <a:close/>
                    <a:moveTo>
                      <a:pt x="513" y="517"/>
                    </a:moveTo>
                    <a:lnTo>
                      <a:pt x="781" y="517"/>
                    </a:lnTo>
                    <a:lnTo>
                      <a:pt x="781" y="629"/>
                    </a:lnTo>
                    <a:lnTo>
                      <a:pt x="513" y="629"/>
                    </a:lnTo>
                    <a:lnTo>
                      <a:pt x="513" y="517"/>
                    </a:lnTo>
                    <a:close/>
                    <a:moveTo>
                      <a:pt x="513" y="741"/>
                    </a:moveTo>
                    <a:lnTo>
                      <a:pt x="781" y="741"/>
                    </a:lnTo>
                    <a:lnTo>
                      <a:pt x="781" y="852"/>
                    </a:lnTo>
                    <a:lnTo>
                      <a:pt x="513" y="852"/>
                    </a:lnTo>
                    <a:lnTo>
                      <a:pt x="513" y="741"/>
                    </a:lnTo>
                    <a:close/>
                    <a:moveTo>
                      <a:pt x="67" y="450"/>
                    </a:moveTo>
                    <a:lnTo>
                      <a:pt x="156" y="450"/>
                    </a:lnTo>
                    <a:lnTo>
                      <a:pt x="156" y="607"/>
                    </a:lnTo>
                    <a:lnTo>
                      <a:pt x="67" y="607"/>
                    </a:lnTo>
                    <a:lnTo>
                      <a:pt x="67" y="450"/>
                    </a:lnTo>
                    <a:close/>
                    <a:moveTo>
                      <a:pt x="223" y="450"/>
                    </a:moveTo>
                    <a:lnTo>
                      <a:pt x="313" y="450"/>
                    </a:lnTo>
                    <a:lnTo>
                      <a:pt x="313" y="607"/>
                    </a:lnTo>
                    <a:lnTo>
                      <a:pt x="223" y="607"/>
                    </a:lnTo>
                    <a:lnTo>
                      <a:pt x="223" y="450"/>
                    </a:lnTo>
                    <a:close/>
                    <a:moveTo>
                      <a:pt x="67" y="718"/>
                    </a:moveTo>
                    <a:lnTo>
                      <a:pt x="156" y="718"/>
                    </a:lnTo>
                    <a:lnTo>
                      <a:pt x="156" y="875"/>
                    </a:lnTo>
                    <a:lnTo>
                      <a:pt x="67" y="875"/>
                    </a:lnTo>
                    <a:lnTo>
                      <a:pt x="67" y="718"/>
                    </a:lnTo>
                    <a:close/>
                    <a:moveTo>
                      <a:pt x="223" y="718"/>
                    </a:moveTo>
                    <a:lnTo>
                      <a:pt x="313" y="718"/>
                    </a:lnTo>
                    <a:lnTo>
                      <a:pt x="313" y="875"/>
                    </a:lnTo>
                    <a:lnTo>
                      <a:pt x="223" y="875"/>
                    </a:lnTo>
                    <a:lnTo>
                      <a:pt x="223" y="718"/>
                    </a:lnTo>
                    <a:close/>
                  </a:path>
                </a:pathLst>
              </a:custGeom>
              <a:solidFill>
                <a:srgbClr val="F59C00"/>
              </a:solidFill>
              <a:ln>
                <a:noFill/>
              </a:ln>
              <a:effectLst>
                <a:glow rad="76200">
                  <a:srgbClr val="F59C00">
                    <a:lumMod val="20000"/>
                    <a:lumOff val="80000"/>
                    <a:alpha val="88000"/>
                  </a:srgbClr>
                </a:glow>
              </a:effec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377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de-DE" sz="1200" b="0" i="0" u="none" strike="noStrike" kern="0" cap="none" spc="0" normalizeH="0" baseline="0" noProof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</p:grpSp>
      <p:pic>
        <p:nvPicPr>
          <p:cNvPr id="29" name="Grafik 28">
            <a:extLst>
              <a:ext uri="{FF2B5EF4-FFF2-40B4-BE49-F238E27FC236}">
                <a16:creationId xmlns:a16="http://schemas.microsoft.com/office/drawing/2014/main" id="{BC4FFBF7-C7A0-C50B-A6CC-62B9B20ECFC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514463" y="1193191"/>
            <a:ext cx="6828112" cy="5352752"/>
          </a:xfrm>
          <a:prstGeom prst="rect">
            <a:avLst/>
          </a:prstGeom>
        </p:spPr>
      </p:pic>
      <p:sp>
        <p:nvSpPr>
          <p:cNvPr id="23" name="Textfeld 22">
            <a:extLst>
              <a:ext uri="{FF2B5EF4-FFF2-40B4-BE49-F238E27FC236}">
                <a16:creationId xmlns:a16="http://schemas.microsoft.com/office/drawing/2014/main" id="{631FF78A-2441-A860-8A03-AE9BD4ECC9B4}"/>
              </a:ext>
            </a:extLst>
          </p:cNvPr>
          <p:cNvSpPr txBox="1"/>
          <p:nvPr/>
        </p:nvSpPr>
        <p:spPr>
          <a:xfrm>
            <a:off x="8671177" y="1665150"/>
            <a:ext cx="993775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AT" sz="1800" b="1" i="0" u="none" strike="noStrike" kern="1200" cap="none" spc="0" normalizeH="0" baseline="0" noProof="0" dirty="0">
                <a:ln>
                  <a:noFill/>
                </a:ln>
                <a:solidFill>
                  <a:srgbClr val="5FB564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+1,2</a:t>
            </a:r>
            <a:endParaRPr kumimoji="0" lang="de-DE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8" name="Eckige Klammer links 27">
            <a:extLst>
              <a:ext uri="{FF2B5EF4-FFF2-40B4-BE49-F238E27FC236}">
                <a16:creationId xmlns:a16="http://schemas.microsoft.com/office/drawing/2014/main" id="{C8FE3F52-82A8-F779-62B1-5C3A1699EB63}"/>
              </a:ext>
            </a:extLst>
          </p:cNvPr>
          <p:cNvSpPr/>
          <p:nvPr/>
        </p:nvSpPr>
        <p:spPr>
          <a:xfrm rot="10800000" flipV="1">
            <a:off x="6686549" y="2652712"/>
            <a:ext cx="902549" cy="67071"/>
          </a:xfrm>
          <a:prstGeom prst="leftBracket">
            <a:avLst>
              <a:gd name="adj" fmla="val 0"/>
            </a:avLst>
          </a:prstGeom>
          <a:ln>
            <a:solidFill>
              <a:schemeClr val="accent5"/>
            </a:solidFill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1" name="Textfeld 30">
            <a:extLst>
              <a:ext uri="{FF2B5EF4-FFF2-40B4-BE49-F238E27FC236}">
                <a16:creationId xmlns:a16="http://schemas.microsoft.com/office/drawing/2014/main" id="{61DCEC9C-497A-93B3-15D7-72B7DABD9172}"/>
              </a:ext>
            </a:extLst>
          </p:cNvPr>
          <p:cNvSpPr txBox="1"/>
          <p:nvPr/>
        </p:nvSpPr>
        <p:spPr>
          <a:xfrm>
            <a:off x="6575228" y="2347935"/>
            <a:ext cx="67901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AT" sz="1800" b="1" i="0" u="none" strike="noStrike" kern="1200" cap="none" spc="0" normalizeH="0" baseline="0" noProof="0" dirty="0">
                <a:ln>
                  <a:noFill/>
                </a:ln>
                <a:solidFill>
                  <a:srgbClr val="CA0237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−2,5</a:t>
            </a:r>
            <a:endParaRPr kumimoji="0" lang="de-DE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5" name="Freihandform: Form 34">
            <a:extLst>
              <a:ext uri="{FF2B5EF4-FFF2-40B4-BE49-F238E27FC236}">
                <a16:creationId xmlns:a16="http://schemas.microsoft.com/office/drawing/2014/main" id="{C6FD89BF-2C45-C439-0AAA-909D8D14D03D}"/>
              </a:ext>
            </a:extLst>
          </p:cNvPr>
          <p:cNvSpPr/>
          <p:nvPr/>
        </p:nvSpPr>
        <p:spPr>
          <a:xfrm>
            <a:off x="8496300" y="1907381"/>
            <a:ext cx="311944" cy="745332"/>
          </a:xfrm>
          <a:custGeom>
            <a:avLst/>
            <a:gdLst>
              <a:gd name="connsiteX0" fmla="*/ 2381 w 311944"/>
              <a:gd name="connsiteY0" fmla="*/ 35719 h 745332"/>
              <a:gd name="connsiteX1" fmla="*/ 311944 w 311944"/>
              <a:gd name="connsiteY1" fmla="*/ 0 h 745332"/>
              <a:gd name="connsiteX2" fmla="*/ 311944 w 311944"/>
              <a:gd name="connsiteY2" fmla="*/ 433388 h 745332"/>
              <a:gd name="connsiteX3" fmla="*/ 0 w 311944"/>
              <a:gd name="connsiteY3" fmla="*/ 745332 h 745332"/>
              <a:gd name="connsiteX4" fmla="*/ 2381 w 311944"/>
              <a:gd name="connsiteY4" fmla="*/ 35719 h 7453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11944" h="745332">
                <a:moveTo>
                  <a:pt x="2381" y="35719"/>
                </a:moveTo>
                <a:lnTo>
                  <a:pt x="311944" y="0"/>
                </a:lnTo>
                <a:lnTo>
                  <a:pt x="311944" y="433388"/>
                </a:lnTo>
                <a:lnTo>
                  <a:pt x="0" y="745332"/>
                </a:lnTo>
                <a:cubicBezTo>
                  <a:pt x="794" y="508794"/>
                  <a:pt x="1587" y="272257"/>
                  <a:pt x="2381" y="35719"/>
                </a:cubicBezTo>
                <a:close/>
              </a:path>
            </a:pathLst>
          </a:custGeom>
          <a:solidFill>
            <a:srgbClr val="FFC5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Eckige Klammer links 6">
            <a:extLst>
              <a:ext uri="{FF2B5EF4-FFF2-40B4-BE49-F238E27FC236}">
                <a16:creationId xmlns:a16="http://schemas.microsoft.com/office/drawing/2014/main" id="{13ADB90B-51A2-64FE-F88B-6A3CF66B44E7}"/>
              </a:ext>
            </a:extLst>
          </p:cNvPr>
          <p:cNvSpPr/>
          <p:nvPr/>
        </p:nvSpPr>
        <p:spPr>
          <a:xfrm flipV="1">
            <a:off x="7891463" y="1900945"/>
            <a:ext cx="912017" cy="45719"/>
          </a:xfrm>
          <a:prstGeom prst="leftBracket">
            <a:avLst>
              <a:gd name="adj" fmla="val 0"/>
            </a:avLst>
          </a:prstGeom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43" name="Grafik 42">
            <a:extLst>
              <a:ext uri="{FF2B5EF4-FFF2-40B4-BE49-F238E27FC236}">
                <a16:creationId xmlns:a16="http://schemas.microsoft.com/office/drawing/2014/main" id="{2031CF6D-523D-7389-2EB6-AA4AC613F1F4}"/>
              </a:ext>
            </a:extLst>
          </p:cNvPr>
          <p:cNvPicPr>
            <a:picLocks noChangeAspect="1"/>
          </p:cNvPicPr>
          <p:nvPr/>
        </p:nvPicPr>
        <p:blipFill rotWithShape="1">
          <a:blip r:embed="rId6"/>
          <a:srcRect t="19759" b="3658"/>
          <a:stretch/>
        </p:blipFill>
        <p:spPr>
          <a:xfrm>
            <a:off x="9583631" y="0"/>
            <a:ext cx="2608369" cy="10049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5773145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DA10BC-6CBB-F0FB-CE74-D84DF17CFC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Grafik 21">
            <a:extLst>
              <a:ext uri="{FF2B5EF4-FFF2-40B4-BE49-F238E27FC236}">
                <a16:creationId xmlns:a16="http://schemas.microsoft.com/office/drawing/2014/main" id="{B687471C-7CA3-680D-3CC6-307A5ADAF58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87444" y="924736"/>
            <a:ext cx="6828112" cy="5352752"/>
          </a:xfrm>
          <a:prstGeom prst="rect">
            <a:avLst/>
          </a:prstGeom>
        </p:spPr>
      </p:pic>
      <p:sp>
        <p:nvSpPr>
          <p:cNvPr id="2" name="Titel 1">
            <a:extLst>
              <a:ext uri="{FF2B5EF4-FFF2-40B4-BE49-F238E27FC236}">
                <a16:creationId xmlns:a16="http://schemas.microsoft.com/office/drawing/2014/main" id="{7104EA5A-C861-21B5-23B4-DC551FD6D9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AT" dirty="0"/>
              <a:t>Primärenergie-Nachweise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16B99CE9-0780-260D-3446-68EBFC8241B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719669" y="2164801"/>
            <a:ext cx="4195231" cy="3977767"/>
          </a:xfrm>
        </p:spPr>
        <p:txBody>
          <a:bodyPr/>
          <a:lstStyle/>
          <a:p>
            <a:r>
              <a:rPr lang="de-AT" dirty="0"/>
              <a:t>PEQ-Bilanz: </a:t>
            </a:r>
            <a:r>
              <a:rPr lang="de-AT" b="1" dirty="0">
                <a:solidFill>
                  <a:schemeClr val="accent5"/>
                </a:solidFill>
              </a:rPr>
              <a:t>−2,5</a:t>
            </a:r>
          </a:p>
          <a:p>
            <a:r>
              <a:rPr lang="de-AT" dirty="0"/>
              <a:t>PEQ m. Mobilität: </a:t>
            </a:r>
            <a:r>
              <a:rPr lang="de-AT" b="1" dirty="0">
                <a:solidFill>
                  <a:schemeClr val="accent3"/>
                </a:solidFill>
              </a:rPr>
              <a:t>+1,2</a:t>
            </a:r>
          </a:p>
          <a:p>
            <a:pPr marL="252000" indent="-252000" defTabSz="914400">
              <a:lnSpc>
                <a:spcPct val="110000"/>
              </a:lnSpc>
              <a:buClr>
                <a:srgbClr val="000000"/>
              </a:buClr>
              <a:buFont typeface="Arial"/>
              <a:buChar char="•"/>
            </a:pPr>
            <a:r>
              <a:rPr lang="de-DE" sz="1800" spc="-1" dirty="0">
                <a:solidFill>
                  <a:schemeClr val="lt1">
                    <a:lumMod val="10000"/>
                  </a:schemeClr>
                </a:solidFill>
              </a:rPr>
              <a:t>Der Nachweis umfasst </a:t>
            </a:r>
            <a:r>
              <a:rPr lang="de-DE" sz="1800" spc="-1" dirty="0">
                <a:solidFill>
                  <a:schemeClr val="accent1"/>
                </a:solidFill>
              </a:rPr>
              <a:t>Betriebsenergie</a:t>
            </a:r>
            <a:r>
              <a:rPr lang="de-DE" sz="1800" spc="-1" dirty="0">
                <a:solidFill>
                  <a:schemeClr val="lt1">
                    <a:lumMod val="10000"/>
                  </a:schemeClr>
                </a:solidFill>
              </a:rPr>
              <a:t> für Heizen, Kühlen, Warmwasser, Lüftung, Hilfs- und Nutzerstrom, sowie den Energiebedarf für </a:t>
            </a:r>
            <a:r>
              <a:rPr lang="de-DE" sz="1800" spc="-1" dirty="0">
                <a:solidFill>
                  <a:schemeClr val="accent1"/>
                </a:solidFill>
              </a:rPr>
              <a:t>Alltagsmobilität</a:t>
            </a:r>
            <a:endParaRPr lang="de-DE" sz="1800" spc="-1" dirty="0">
              <a:solidFill>
                <a:schemeClr val="lt1">
                  <a:lumMod val="10000"/>
                </a:schemeClr>
              </a:solidFill>
            </a:endParaRPr>
          </a:p>
          <a:p>
            <a:pPr marL="252000" indent="-252000" defTabSz="914400">
              <a:lnSpc>
                <a:spcPct val="110000"/>
              </a:lnSpc>
              <a:buClr>
                <a:srgbClr val="000000"/>
              </a:buClr>
              <a:buFont typeface="Arial"/>
              <a:buChar char="•"/>
            </a:pPr>
            <a:r>
              <a:rPr lang="de-DE" sz="1800" spc="-1" dirty="0">
                <a:solidFill>
                  <a:schemeClr val="lt1">
                    <a:lumMod val="10000"/>
                  </a:schemeClr>
                </a:solidFill>
              </a:rPr>
              <a:t>Gegenüber den </a:t>
            </a:r>
            <a:r>
              <a:rPr lang="de-DE" sz="1800" spc="-1" dirty="0">
                <a:solidFill>
                  <a:schemeClr val="accent1"/>
                </a:solidFill>
              </a:rPr>
              <a:t>lokalen Erneuerbaren</a:t>
            </a:r>
            <a:r>
              <a:rPr lang="de-DE" sz="1800" spc="-1" dirty="0">
                <a:solidFill>
                  <a:schemeClr val="lt1">
                    <a:lumMod val="10000"/>
                  </a:schemeClr>
                </a:solidFill>
              </a:rPr>
              <a:t>, der </a:t>
            </a:r>
            <a:r>
              <a:rPr lang="de-DE" sz="1800" spc="-1" dirty="0">
                <a:solidFill>
                  <a:schemeClr val="accent1"/>
                </a:solidFill>
              </a:rPr>
              <a:t>Energieflexibilität</a:t>
            </a:r>
            <a:r>
              <a:rPr lang="de-DE" sz="1800" spc="-1" dirty="0">
                <a:solidFill>
                  <a:schemeClr val="lt1">
                    <a:lumMod val="10000"/>
                  </a:schemeClr>
                </a:solidFill>
              </a:rPr>
              <a:t> und den </a:t>
            </a:r>
            <a:r>
              <a:rPr lang="de-DE" sz="1800" spc="-1" dirty="0">
                <a:solidFill>
                  <a:schemeClr val="accent1"/>
                </a:solidFill>
              </a:rPr>
              <a:t>Kontextfaktoren</a:t>
            </a:r>
            <a:r>
              <a:rPr lang="de-DE" sz="1800" spc="-1" dirty="0">
                <a:solidFill>
                  <a:schemeClr val="lt1">
                    <a:lumMod val="10000"/>
                  </a:schemeClr>
                </a:solidFill>
              </a:rPr>
              <a:t> ergibt sich eine positive Bilanz von +</a:t>
            </a:r>
            <a:r>
              <a:rPr lang="de-DE" sz="1800" b="1" spc="-1" dirty="0">
                <a:solidFill>
                  <a:schemeClr val="accent3"/>
                </a:solidFill>
              </a:rPr>
              <a:t>1,2</a:t>
            </a:r>
            <a:r>
              <a:rPr lang="de-DE" sz="1800" spc="-1" dirty="0">
                <a:solidFill>
                  <a:schemeClr val="lt1">
                    <a:lumMod val="10000"/>
                  </a:schemeClr>
                </a:solidFill>
              </a:rPr>
              <a:t> </a:t>
            </a:r>
            <a:r>
              <a:rPr lang="de-DE" sz="1800" spc="-1" dirty="0" err="1">
                <a:solidFill>
                  <a:schemeClr val="lt1">
                    <a:lumMod val="10000"/>
                  </a:schemeClr>
                </a:solidFill>
              </a:rPr>
              <a:t>kWh</a:t>
            </a:r>
            <a:r>
              <a:rPr lang="de-DE" sz="1800" spc="-1" baseline="-25000" dirty="0" err="1">
                <a:solidFill>
                  <a:schemeClr val="lt1">
                    <a:lumMod val="10000"/>
                  </a:schemeClr>
                </a:solidFill>
              </a:rPr>
              <a:t>PE</a:t>
            </a:r>
            <a:r>
              <a:rPr lang="de-DE" sz="1800" spc="-1" dirty="0">
                <a:solidFill>
                  <a:schemeClr val="lt1">
                    <a:lumMod val="10000"/>
                  </a:schemeClr>
                </a:solidFill>
              </a:rPr>
              <a:t>/(m²</a:t>
            </a:r>
            <a:r>
              <a:rPr lang="de-DE" sz="1800" spc="-1" baseline="-25000" dirty="0">
                <a:solidFill>
                  <a:schemeClr val="lt1">
                    <a:lumMod val="10000"/>
                  </a:schemeClr>
                </a:solidFill>
              </a:rPr>
              <a:t>NGF</a:t>
            </a:r>
            <a:r>
              <a:rPr lang="de-DE" sz="1800" spc="-1" dirty="0">
                <a:solidFill>
                  <a:schemeClr val="lt1">
                    <a:lumMod val="10000"/>
                  </a:schemeClr>
                </a:solidFill>
              </a:rPr>
              <a:t>a)</a:t>
            </a:r>
          </a:p>
          <a:p>
            <a:pPr lvl="1"/>
            <a:endParaRPr lang="de-AT" dirty="0"/>
          </a:p>
          <a:p>
            <a:endParaRPr lang="de-AT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84E6731B-9A42-490C-6847-C8888C9F8B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AT" sz="1867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65DC840B-6BF4-748D-2C22-A035367F53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206269C-C24E-4E80-9A4B-E7E19BB59A67}" type="slidenum">
              <a:rPr kumimoji="0" lang="de-AT" sz="1867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32</a:t>
            </a:fld>
            <a:endParaRPr kumimoji="0" lang="de-AT" sz="1867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6" name="Grafik 5">
            <a:extLst>
              <a:ext uri="{FF2B5EF4-FFF2-40B4-BE49-F238E27FC236}">
                <a16:creationId xmlns:a16="http://schemas.microsoft.com/office/drawing/2014/main" id="{084DFDB4-1B02-C3BB-CF06-0FE69D3D8231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064027" y="2568176"/>
            <a:ext cx="6813663" cy="3977767"/>
          </a:xfrm>
          <a:prstGeom prst="rect">
            <a:avLst/>
          </a:prstGeom>
          <a:noFill/>
        </p:spPr>
      </p:pic>
      <p:grpSp>
        <p:nvGrpSpPr>
          <p:cNvPr id="21" name="Gruppieren 20">
            <a:extLst>
              <a:ext uri="{FF2B5EF4-FFF2-40B4-BE49-F238E27FC236}">
                <a16:creationId xmlns:a16="http://schemas.microsoft.com/office/drawing/2014/main" id="{8AAE0A02-977F-2619-AACF-B813F1CC0CEB}"/>
              </a:ext>
            </a:extLst>
          </p:cNvPr>
          <p:cNvGrpSpPr/>
          <p:nvPr/>
        </p:nvGrpSpPr>
        <p:grpSpPr>
          <a:xfrm>
            <a:off x="5967528" y="1385155"/>
            <a:ext cx="1728000" cy="872196"/>
            <a:chOff x="5868581" y="1243113"/>
            <a:chExt cx="1728000" cy="872196"/>
          </a:xfrm>
          <a:solidFill>
            <a:srgbClr val="D0B0B8"/>
          </a:solidFill>
        </p:grpSpPr>
        <p:sp>
          <p:nvSpPr>
            <p:cNvPr id="9" name="Band: nach unten gekippt 8">
              <a:extLst>
                <a:ext uri="{FF2B5EF4-FFF2-40B4-BE49-F238E27FC236}">
                  <a16:creationId xmlns:a16="http://schemas.microsoft.com/office/drawing/2014/main" id="{C7D1E289-E0A9-2F98-AEFB-00E24B794B4E}"/>
                </a:ext>
              </a:extLst>
            </p:cNvPr>
            <p:cNvSpPr/>
            <p:nvPr/>
          </p:nvSpPr>
          <p:spPr bwMode="auto">
            <a:xfrm>
              <a:off x="5868581" y="1575309"/>
              <a:ext cx="1728000" cy="540000"/>
            </a:xfrm>
            <a:prstGeom prst="ribbon">
              <a:avLst>
                <a:gd name="adj1" fmla="val 17116"/>
                <a:gd name="adj2" fmla="val 75000"/>
              </a:avLst>
            </a:prstGeom>
            <a:grpFill/>
            <a:ln w="635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de-DE" sz="1400" b="0" i="0" u="none" strike="noStrike" kern="0" cap="none" spc="0" normalizeH="0" baseline="0" noProof="1">
                <a:ln>
                  <a:noFill/>
                </a:ln>
                <a:solidFill>
                  <a:srgbClr val="E6EFF3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0" name="Rechteck 9">
              <a:extLst>
                <a:ext uri="{FF2B5EF4-FFF2-40B4-BE49-F238E27FC236}">
                  <a16:creationId xmlns:a16="http://schemas.microsoft.com/office/drawing/2014/main" id="{17187086-0A35-C1D4-541B-1BD287652497}"/>
                </a:ext>
              </a:extLst>
            </p:cNvPr>
            <p:cNvSpPr/>
            <p:nvPr/>
          </p:nvSpPr>
          <p:spPr bwMode="auto">
            <a:xfrm>
              <a:off x="6082449" y="1685877"/>
              <a:ext cx="1333351" cy="415498"/>
            </a:xfrm>
            <a:prstGeom prst="rect">
              <a:avLst/>
            </a:prstGeom>
            <a:grpFill/>
          </p:spPr>
          <p:txBody>
            <a:bodyPr wrap="square">
              <a:spAutoFit/>
            </a:bodyPr>
            <a:lstStyle/>
            <a:p>
              <a:pPr marL="0" marR="0" lvl="0" indent="0" algn="ctr" defTabSz="914377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de-DE" sz="1050" b="1" i="0" u="none" strike="noStrike" kern="1200" cap="none" spc="0" normalizeH="0" baseline="0" noProof="1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Bahnschrift" panose="020B0502040204020203" pitchFamily="34" charset="0"/>
                  <a:ea typeface="+mn-ea"/>
                  <a:cs typeface="+mn-cs"/>
                </a:rPr>
                <a:t>Plus-Energie-Quartier</a:t>
              </a:r>
            </a:p>
          </p:txBody>
        </p:sp>
        <p:grpSp>
          <p:nvGrpSpPr>
            <p:cNvPr id="11" name="Gruppieren 10">
              <a:extLst>
                <a:ext uri="{FF2B5EF4-FFF2-40B4-BE49-F238E27FC236}">
                  <a16:creationId xmlns:a16="http://schemas.microsoft.com/office/drawing/2014/main" id="{F8C22BE8-5F50-5947-59F1-A7AE4859E78A}"/>
                </a:ext>
              </a:extLst>
            </p:cNvPr>
            <p:cNvGrpSpPr/>
            <p:nvPr/>
          </p:nvGrpSpPr>
          <p:grpSpPr>
            <a:xfrm>
              <a:off x="6476281" y="1243113"/>
              <a:ext cx="483327" cy="460448"/>
              <a:chOff x="640424" y="760723"/>
              <a:chExt cx="730208" cy="730206"/>
            </a:xfrm>
            <a:grpFill/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grpSpPr>
          <p:sp>
            <p:nvSpPr>
              <p:cNvPr id="12" name="Stern: 12 Zacken 11">
                <a:extLst>
                  <a:ext uri="{FF2B5EF4-FFF2-40B4-BE49-F238E27FC236}">
                    <a16:creationId xmlns:a16="http://schemas.microsoft.com/office/drawing/2014/main" id="{EA5E4C7E-8C11-2732-2DD9-810712107851}"/>
                  </a:ext>
                </a:extLst>
              </p:cNvPr>
              <p:cNvSpPr/>
              <p:nvPr/>
            </p:nvSpPr>
            <p:spPr>
              <a:xfrm>
                <a:off x="640424" y="760723"/>
                <a:ext cx="730208" cy="730206"/>
              </a:xfrm>
              <a:prstGeom prst="star12">
                <a:avLst>
                  <a:gd name="adj" fmla="val 44170"/>
                </a:avLst>
              </a:prstGeom>
              <a:grpFill/>
              <a:ln w="12700" cap="flat" cmpd="sng" algn="ctr">
                <a:solidFill>
                  <a:srgbClr val="950F53"/>
                </a:solidFill>
                <a:prstDash val="solid"/>
                <a:miter lim="800000"/>
              </a:ln>
              <a:effectLst>
                <a:innerShdw blurRad="63500" dist="50800" dir="13500000">
                  <a:srgbClr val="F59C00">
                    <a:lumMod val="20000"/>
                    <a:lumOff val="80000"/>
                    <a:alpha val="72000"/>
                  </a:srgbClr>
                </a:innerShdw>
              </a:effectLst>
            </p:spPr>
            <p:txBody>
              <a:bodyPr rtlCol="0" anchor="ctr"/>
              <a:lstStyle/>
              <a:p>
                <a:pPr marL="0" marR="0" lvl="0" indent="0" algn="ctr" defTabSz="121917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de-DE" sz="1400" b="0" i="0" u="none" strike="noStrike" kern="0" cap="none" spc="0" normalizeH="0" baseline="0" noProof="1">
                  <a:ln>
                    <a:noFill/>
                  </a:ln>
                  <a:solidFill>
                    <a:srgbClr val="E6EFF3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3" name="Building5" descr="{&quot;Key&quot;:&quot;POWER_USER_SHAPE_ICON&quot;,&quot;Value&quot;:&quot;POWER_USER_SHAPE_ICON_STYLE_1&quot;}">
                <a:extLst>
                  <a:ext uri="{FF2B5EF4-FFF2-40B4-BE49-F238E27FC236}">
                    <a16:creationId xmlns:a16="http://schemas.microsoft.com/office/drawing/2014/main" id="{5E211A61-E160-96DF-554C-C6EE0B917962}"/>
                  </a:ext>
                </a:extLst>
              </p:cNvPr>
              <p:cNvSpPr>
                <a:spLocks noChangeAspect="1" noEditPoints="1"/>
              </p:cNvSpPr>
              <p:nvPr>
                <p:custDataLst>
                  <p:tags r:id="rId2"/>
                </p:custDataLst>
              </p:nvPr>
            </p:nvSpPr>
            <p:spPr bwMode="auto">
              <a:xfrm>
                <a:off x="757342" y="875488"/>
                <a:ext cx="490330" cy="436778"/>
              </a:xfrm>
              <a:custGeom>
                <a:avLst/>
                <a:gdLst>
                  <a:gd name="T0" fmla="*/ 915 w 1250"/>
                  <a:gd name="T1" fmla="*/ 250 h 1187"/>
                  <a:gd name="T2" fmla="*/ 915 w 1250"/>
                  <a:gd name="T3" fmla="*/ 1053 h 1187"/>
                  <a:gd name="T4" fmla="*/ 848 w 1250"/>
                  <a:gd name="T5" fmla="*/ 1053 h 1187"/>
                  <a:gd name="T6" fmla="*/ 850 w 1250"/>
                  <a:gd name="T7" fmla="*/ 0 h 1187"/>
                  <a:gd name="T8" fmla="*/ 448 w 1250"/>
                  <a:gd name="T9" fmla="*/ 0 h 1187"/>
                  <a:gd name="T10" fmla="*/ 446 w 1250"/>
                  <a:gd name="T11" fmla="*/ 1053 h 1187"/>
                  <a:gd name="T12" fmla="*/ 379 w 1250"/>
                  <a:gd name="T13" fmla="*/ 1053 h 1187"/>
                  <a:gd name="T14" fmla="*/ 379 w 1250"/>
                  <a:gd name="T15" fmla="*/ 361 h 1187"/>
                  <a:gd name="T16" fmla="*/ 0 w 1250"/>
                  <a:gd name="T17" fmla="*/ 361 h 1187"/>
                  <a:gd name="T18" fmla="*/ 0 w 1250"/>
                  <a:gd name="T19" fmla="*/ 1187 h 1187"/>
                  <a:gd name="T20" fmla="*/ 1250 w 1250"/>
                  <a:gd name="T21" fmla="*/ 1187 h 1187"/>
                  <a:gd name="T22" fmla="*/ 1250 w 1250"/>
                  <a:gd name="T23" fmla="*/ 250 h 1187"/>
                  <a:gd name="T24" fmla="*/ 915 w 1250"/>
                  <a:gd name="T25" fmla="*/ 250 h 1187"/>
                  <a:gd name="T26" fmla="*/ 982 w 1250"/>
                  <a:gd name="T27" fmla="*/ 339 h 1187"/>
                  <a:gd name="T28" fmla="*/ 1183 w 1250"/>
                  <a:gd name="T29" fmla="*/ 339 h 1187"/>
                  <a:gd name="T30" fmla="*/ 1183 w 1250"/>
                  <a:gd name="T31" fmla="*/ 584 h 1187"/>
                  <a:gd name="T32" fmla="*/ 982 w 1250"/>
                  <a:gd name="T33" fmla="*/ 584 h 1187"/>
                  <a:gd name="T34" fmla="*/ 982 w 1250"/>
                  <a:gd name="T35" fmla="*/ 339 h 1187"/>
                  <a:gd name="T36" fmla="*/ 982 w 1250"/>
                  <a:gd name="T37" fmla="*/ 674 h 1187"/>
                  <a:gd name="T38" fmla="*/ 1183 w 1250"/>
                  <a:gd name="T39" fmla="*/ 674 h 1187"/>
                  <a:gd name="T40" fmla="*/ 1183 w 1250"/>
                  <a:gd name="T41" fmla="*/ 919 h 1187"/>
                  <a:gd name="T42" fmla="*/ 982 w 1250"/>
                  <a:gd name="T43" fmla="*/ 919 h 1187"/>
                  <a:gd name="T44" fmla="*/ 982 w 1250"/>
                  <a:gd name="T45" fmla="*/ 674 h 1187"/>
                  <a:gd name="T46" fmla="*/ 513 w 1250"/>
                  <a:gd name="T47" fmla="*/ 71 h 1187"/>
                  <a:gd name="T48" fmla="*/ 781 w 1250"/>
                  <a:gd name="T49" fmla="*/ 71 h 1187"/>
                  <a:gd name="T50" fmla="*/ 781 w 1250"/>
                  <a:gd name="T51" fmla="*/ 183 h 1187"/>
                  <a:gd name="T52" fmla="*/ 513 w 1250"/>
                  <a:gd name="T53" fmla="*/ 183 h 1187"/>
                  <a:gd name="T54" fmla="*/ 513 w 1250"/>
                  <a:gd name="T55" fmla="*/ 71 h 1187"/>
                  <a:gd name="T56" fmla="*/ 513 w 1250"/>
                  <a:gd name="T57" fmla="*/ 294 h 1187"/>
                  <a:gd name="T58" fmla="*/ 781 w 1250"/>
                  <a:gd name="T59" fmla="*/ 294 h 1187"/>
                  <a:gd name="T60" fmla="*/ 781 w 1250"/>
                  <a:gd name="T61" fmla="*/ 406 h 1187"/>
                  <a:gd name="T62" fmla="*/ 513 w 1250"/>
                  <a:gd name="T63" fmla="*/ 406 h 1187"/>
                  <a:gd name="T64" fmla="*/ 513 w 1250"/>
                  <a:gd name="T65" fmla="*/ 294 h 1187"/>
                  <a:gd name="T66" fmla="*/ 513 w 1250"/>
                  <a:gd name="T67" fmla="*/ 517 h 1187"/>
                  <a:gd name="T68" fmla="*/ 781 w 1250"/>
                  <a:gd name="T69" fmla="*/ 517 h 1187"/>
                  <a:gd name="T70" fmla="*/ 781 w 1250"/>
                  <a:gd name="T71" fmla="*/ 629 h 1187"/>
                  <a:gd name="T72" fmla="*/ 513 w 1250"/>
                  <a:gd name="T73" fmla="*/ 629 h 1187"/>
                  <a:gd name="T74" fmla="*/ 513 w 1250"/>
                  <a:gd name="T75" fmla="*/ 517 h 1187"/>
                  <a:gd name="T76" fmla="*/ 513 w 1250"/>
                  <a:gd name="T77" fmla="*/ 741 h 1187"/>
                  <a:gd name="T78" fmla="*/ 781 w 1250"/>
                  <a:gd name="T79" fmla="*/ 741 h 1187"/>
                  <a:gd name="T80" fmla="*/ 781 w 1250"/>
                  <a:gd name="T81" fmla="*/ 852 h 1187"/>
                  <a:gd name="T82" fmla="*/ 513 w 1250"/>
                  <a:gd name="T83" fmla="*/ 852 h 1187"/>
                  <a:gd name="T84" fmla="*/ 513 w 1250"/>
                  <a:gd name="T85" fmla="*/ 741 h 1187"/>
                  <a:gd name="T86" fmla="*/ 67 w 1250"/>
                  <a:gd name="T87" fmla="*/ 450 h 1187"/>
                  <a:gd name="T88" fmla="*/ 156 w 1250"/>
                  <a:gd name="T89" fmla="*/ 450 h 1187"/>
                  <a:gd name="T90" fmla="*/ 156 w 1250"/>
                  <a:gd name="T91" fmla="*/ 607 h 1187"/>
                  <a:gd name="T92" fmla="*/ 67 w 1250"/>
                  <a:gd name="T93" fmla="*/ 607 h 1187"/>
                  <a:gd name="T94" fmla="*/ 67 w 1250"/>
                  <a:gd name="T95" fmla="*/ 450 h 1187"/>
                  <a:gd name="T96" fmla="*/ 223 w 1250"/>
                  <a:gd name="T97" fmla="*/ 450 h 1187"/>
                  <a:gd name="T98" fmla="*/ 313 w 1250"/>
                  <a:gd name="T99" fmla="*/ 450 h 1187"/>
                  <a:gd name="T100" fmla="*/ 313 w 1250"/>
                  <a:gd name="T101" fmla="*/ 607 h 1187"/>
                  <a:gd name="T102" fmla="*/ 223 w 1250"/>
                  <a:gd name="T103" fmla="*/ 607 h 1187"/>
                  <a:gd name="T104" fmla="*/ 223 w 1250"/>
                  <a:gd name="T105" fmla="*/ 450 h 1187"/>
                  <a:gd name="T106" fmla="*/ 67 w 1250"/>
                  <a:gd name="T107" fmla="*/ 718 h 1187"/>
                  <a:gd name="T108" fmla="*/ 156 w 1250"/>
                  <a:gd name="T109" fmla="*/ 718 h 1187"/>
                  <a:gd name="T110" fmla="*/ 156 w 1250"/>
                  <a:gd name="T111" fmla="*/ 875 h 1187"/>
                  <a:gd name="T112" fmla="*/ 67 w 1250"/>
                  <a:gd name="T113" fmla="*/ 875 h 1187"/>
                  <a:gd name="T114" fmla="*/ 67 w 1250"/>
                  <a:gd name="T115" fmla="*/ 718 h 1187"/>
                  <a:gd name="T116" fmla="*/ 223 w 1250"/>
                  <a:gd name="T117" fmla="*/ 718 h 1187"/>
                  <a:gd name="T118" fmla="*/ 313 w 1250"/>
                  <a:gd name="T119" fmla="*/ 718 h 1187"/>
                  <a:gd name="T120" fmla="*/ 313 w 1250"/>
                  <a:gd name="T121" fmla="*/ 875 h 1187"/>
                  <a:gd name="T122" fmla="*/ 223 w 1250"/>
                  <a:gd name="T123" fmla="*/ 875 h 1187"/>
                  <a:gd name="T124" fmla="*/ 223 w 1250"/>
                  <a:gd name="T125" fmla="*/ 718 h 118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  <a:cxn ang="0">
                    <a:pos x="T122" y="T123"/>
                  </a:cxn>
                  <a:cxn ang="0">
                    <a:pos x="T124" y="T125"/>
                  </a:cxn>
                </a:cxnLst>
                <a:rect l="0" t="0" r="r" b="b"/>
                <a:pathLst>
                  <a:path w="1250" h="1187">
                    <a:moveTo>
                      <a:pt x="915" y="250"/>
                    </a:moveTo>
                    <a:lnTo>
                      <a:pt x="915" y="1053"/>
                    </a:lnTo>
                    <a:lnTo>
                      <a:pt x="848" y="1053"/>
                    </a:lnTo>
                    <a:lnTo>
                      <a:pt x="850" y="0"/>
                    </a:lnTo>
                    <a:lnTo>
                      <a:pt x="448" y="0"/>
                    </a:lnTo>
                    <a:lnTo>
                      <a:pt x="446" y="1053"/>
                    </a:lnTo>
                    <a:lnTo>
                      <a:pt x="379" y="1053"/>
                    </a:lnTo>
                    <a:lnTo>
                      <a:pt x="379" y="361"/>
                    </a:lnTo>
                    <a:lnTo>
                      <a:pt x="0" y="361"/>
                    </a:lnTo>
                    <a:lnTo>
                      <a:pt x="0" y="1187"/>
                    </a:lnTo>
                    <a:lnTo>
                      <a:pt x="1250" y="1187"/>
                    </a:lnTo>
                    <a:lnTo>
                      <a:pt x="1250" y="250"/>
                    </a:lnTo>
                    <a:lnTo>
                      <a:pt x="915" y="250"/>
                    </a:lnTo>
                    <a:close/>
                    <a:moveTo>
                      <a:pt x="982" y="339"/>
                    </a:moveTo>
                    <a:lnTo>
                      <a:pt x="1183" y="339"/>
                    </a:lnTo>
                    <a:lnTo>
                      <a:pt x="1183" y="584"/>
                    </a:lnTo>
                    <a:lnTo>
                      <a:pt x="982" y="584"/>
                    </a:lnTo>
                    <a:lnTo>
                      <a:pt x="982" y="339"/>
                    </a:lnTo>
                    <a:close/>
                    <a:moveTo>
                      <a:pt x="982" y="674"/>
                    </a:moveTo>
                    <a:lnTo>
                      <a:pt x="1183" y="674"/>
                    </a:lnTo>
                    <a:lnTo>
                      <a:pt x="1183" y="919"/>
                    </a:lnTo>
                    <a:lnTo>
                      <a:pt x="982" y="919"/>
                    </a:lnTo>
                    <a:lnTo>
                      <a:pt x="982" y="674"/>
                    </a:lnTo>
                    <a:close/>
                    <a:moveTo>
                      <a:pt x="513" y="71"/>
                    </a:moveTo>
                    <a:lnTo>
                      <a:pt x="781" y="71"/>
                    </a:lnTo>
                    <a:lnTo>
                      <a:pt x="781" y="183"/>
                    </a:lnTo>
                    <a:lnTo>
                      <a:pt x="513" y="183"/>
                    </a:lnTo>
                    <a:lnTo>
                      <a:pt x="513" y="71"/>
                    </a:lnTo>
                    <a:close/>
                    <a:moveTo>
                      <a:pt x="513" y="294"/>
                    </a:moveTo>
                    <a:lnTo>
                      <a:pt x="781" y="294"/>
                    </a:lnTo>
                    <a:lnTo>
                      <a:pt x="781" y="406"/>
                    </a:lnTo>
                    <a:lnTo>
                      <a:pt x="513" y="406"/>
                    </a:lnTo>
                    <a:lnTo>
                      <a:pt x="513" y="294"/>
                    </a:lnTo>
                    <a:close/>
                    <a:moveTo>
                      <a:pt x="513" y="517"/>
                    </a:moveTo>
                    <a:lnTo>
                      <a:pt x="781" y="517"/>
                    </a:lnTo>
                    <a:lnTo>
                      <a:pt x="781" y="629"/>
                    </a:lnTo>
                    <a:lnTo>
                      <a:pt x="513" y="629"/>
                    </a:lnTo>
                    <a:lnTo>
                      <a:pt x="513" y="517"/>
                    </a:lnTo>
                    <a:close/>
                    <a:moveTo>
                      <a:pt x="513" y="741"/>
                    </a:moveTo>
                    <a:lnTo>
                      <a:pt x="781" y="741"/>
                    </a:lnTo>
                    <a:lnTo>
                      <a:pt x="781" y="852"/>
                    </a:lnTo>
                    <a:lnTo>
                      <a:pt x="513" y="852"/>
                    </a:lnTo>
                    <a:lnTo>
                      <a:pt x="513" y="741"/>
                    </a:lnTo>
                    <a:close/>
                    <a:moveTo>
                      <a:pt x="67" y="450"/>
                    </a:moveTo>
                    <a:lnTo>
                      <a:pt x="156" y="450"/>
                    </a:lnTo>
                    <a:lnTo>
                      <a:pt x="156" y="607"/>
                    </a:lnTo>
                    <a:lnTo>
                      <a:pt x="67" y="607"/>
                    </a:lnTo>
                    <a:lnTo>
                      <a:pt x="67" y="450"/>
                    </a:lnTo>
                    <a:close/>
                    <a:moveTo>
                      <a:pt x="223" y="450"/>
                    </a:moveTo>
                    <a:lnTo>
                      <a:pt x="313" y="450"/>
                    </a:lnTo>
                    <a:lnTo>
                      <a:pt x="313" y="607"/>
                    </a:lnTo>
                    <a:lnTo>
                      <a:pt x="223" y="607"/>
                    </a:lnTo>
                    <a:lnTo>
                      <a:pt x="223" y="450"/>
                    </a:lnTo>
                    <a:close/>
                    <a:moveTo>
                      <a:pt x="67" y="718"/>
                    </a:moveTo>
                    <a:lnTo>
                      <a:pt x="156" y="718"/>
                    </a:lnTo>
                    <a:lnTo>
                      <a:pt x="156" y="875"/>
                    </a:lnTo>
                    <a:lnTo>
                      <a:pt x="67" y="875"/>
                    </a:lnTo>
                    <a:lnTo>
                      <a:pt x="67" y="718"/>
                    </a:lnTo>
                    <a:close/>
                    <a:moveTo>
                      <a:pt x="223" y="718"/>
                    </a:moveTo>
                    <a:lnTo>
                      <a:pt x="313" y="718"/>
                    </a:lnTo>
                    <a:lnTo>
                      <a:pt x="313" y="875"/>
                    </a:lnTo>
                    <a:lnTo>
                      <a:pt x="223" y="875"/>
                    </a:lnTo>
                    <a:lnTo>
                      <a:pt x="223" y="718"/>
                    </a:lnTo>
                    <a:close/>
                  </a:path>
                </a:pathLst>
              </a:custGeom>
              <a:grpFill/>
              <a:ln>
                <a:noFill/>
              </a:ln>
              <a:effectLst>
                <a:glow rad="38100">
                  <a:srgbClr val="F59C00">
                    <a:lumMod val="20000"/>
                    <a:lumOff val="80000"/>
                    <a:alpha val="68000"/>
                  </a:srgbClr>
                </a:glow>
              </a:effec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377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de-DE" sz="1200" b="0" i="0" u="none" strike="noStrike" kern="0" cap="none" spc="0" normalizeH="0" baseline="0" noProof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20" name="Gruppieren 19">
            <a:extLst>
              <a:ext uri="{FF2B5EF4-FFF2-40B4-BE49-F238E27FC236}">
                <a16:creationId xmlns:a16="http://schemas.microsoft.com/office/drawing/2014/main" id="{28DEE3DF-EBC3-016F-1193-9364BEE42ECD}"/>
              </a:ext>
            </a:extLst>
          </p:cNvPr>
          <p:cNvGrpSpPr/>
          <p:nvPr/>
        </p:nvGrpSpPr>
        <p:grpSpPr>
          <a:xfrm>
            <a:off x="7695528" y="695829"/>
            <a:ext cx="1847342" cy="1094218"/>
            <a:chOff x="9624656" y="925240"/>
            <a:chExt cx="1847342" cy="1094218"/>
          </a:xfrm>
        </p:grpSpPr>
        <p:sp>
          <p:nvSpPr>
            <p:cNvPr id="14" name="Band: nach unten gekippt 13">
              <a:extLst>
                <a:ext uri="{FF2B5EF4-FFF2-40B4-BE49-F238E27FC236}">
                  <a16:creationId xmlns:a16="http://schemas.microsoft.com/office/drawing/2014/main" id="{FB5ACC74-D7DE-B3C1-CC15-3FC466B9E808}"/>
                </a:ext>
              </a:extLst>
            </p:cNvPr>
            <p:cNvSpPr/>
            <p:nvPr/>
          </p:nvSpPr>
          <p:spPr bwMode="auto">
            <a:xfrm>
              <a:off x="9624656" y="1450474"/>
              <a:ext cx="1775199" cy="540000"/>
            </a:xfrm>
            <a:prstGeom prst="ribbon">
              <a:avLst>
                <a:gd name="adj1" fmla="val 19017"/>
                <a:gd name="adj2" fmla="val 75000"/>
              </a:avLst>
            </a:prstGeom>
            <a:solidFill>
              <a:srgbClr val="F59C00">
                <a:lumMod val="60000"/>
                <a:lumOff val="40000"/>
              </a:srgbClr>
            </a:solidFill>
            <a:ln w="635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de-DE" sz="1400" b="0" i="0" u="none" strike="noStrike" kern="0" cap="none" spc="0" normalizeH="0" baseline="0" noProof="1">
                <a:ln>
                  <a:noFill/>
                </a:ln>
                <a:solidFill>
                  <a:srgbClr val="E6EFF3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5" name="Rechteck 14">
              <a:extLst>
                <a:ext uri="{FF2B5EF4-FFF2-40B4-BE49-F238E27FC236}">
                  <a16:creationId xmlns:a16="http://schemas.microsoft.com/office/drawing/2014/main" id="{3860B6AD-4352-4E74-F22F-351B6883DFF9}"/>
                </a:ext>
              </a:extLst>
            </p:cNvPr>
            <p:cNvSpPr/>
            <p:nvPr/>
          </p:nvSpPr>
          <p:spPr bwMode="auto">
            <a:xfrm>
              <a:off x="9687606" y="1603960"/>
              <a:ext cx="1784392" cy="415498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0" marR="0" lvl="0" indent="0" algn="ctr" defTabSz="914377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de-DE" sz="1050" b="1" i="0" u="none" strike="noStrike" kern="1200" cap="none" spc="0" normalizeH="0" baseline="0" noProof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Bahnschrift" panose="020B0502040204020203" pitchFamily="34" charset="0"/>
                  <a:ea typeface="+mn-ea"/>
                  <a:cs typeface="+mn-cs"/>
                </a:rPr>
                <a:t>Plus-Energie-Quartier</a:t>
              </a:r>
            </a:p>
            <a:p>
              <a:pPr marL="0" marR="0" lvl="0" indent="0" algn="ctr" defTabSz="914377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de-DE" sz="1050" b="1" i="0" u="none" strike="noStrike" kern="1200" cap="none" spc="0" normalizeH="0" baseline="0" noProof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Bahnschrift" panose="020B0502040204020203" pitchFamily="34" charset="0"/>
                  <a:ea typeface="+mn-ea"/>
                  <a:cs typeface="+mn-cs"/>
                </a:rPr>
                <a:t>Mit Mobilität</a:t>
              </a:r>
            </a:p>
          </p:txBody>
        </p:sp>
        <p:grpSp>
          <p:nvGrpSpPr>
            <p:cNvPr id="16" name="Gruppieren 15">
              <a:extLst>
                <a:ext uri="{FF2B5EF4-FFF2-40B4-BE49-F238E27FC236}">
                  <a16:creationId xmlns:a16="http://schemas.microsoft.com/office/drawing/2014/main" id="{815F37EB-36C6-3C29-8FBE-0A85DCBC222C}"/>
                </a:ext>
              </a:extLst>
            </p:cNvPr>
            <p:cNvGrpSpPr/>
            <p:nvPr/>
          </p:nvGrpSpPr>
          <p:grpSpPr>
            <a:xfrm>
              <a:off x="10161463" y="925240"/>
              <a:ext cx="700101" cy="694145"/>
              <a:chOff x="4399640" y="1143095"/>
              <a:chExt cx="785172" cy="778492"/>
            </a:xfrm>
            <a:solidFill>
              <a:srgbClr val="F59C00"/>
            </a:solidFill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grpSpPr>
          <p:sp>
            <p:nvSpPr>
              <p:cNvPr id="17" name="Stern: 10 Zacken 16">
                <a:extLst>
                  <a:ext uri="{FF2B5EF4-FFF2-40B4-BE49-F238E27FC236}">
                    <a16:creationId xmlns:a16="http://schemas.microsoft.com/office/drawing/2014/main" id="{6737242B-CBD7-FFF9-4889-683D8EB7656D}"/>
                  </a:ext>
                </a:extLst>
              </p:cNvPr>
              <p:cNvSpPr/>
              <p:nvPr/>
            </p:nvSpPr>
            <p:spPr>
              <a:xfrm>
                <a:off x="4399640" y="1143095"/>
                <a:ext cx="785172" cy="778492"/>
              </a:xfrm>
              <a:prstGeom prst="star10">
                <a:avLst>
                  <a:gd name="adj" fmla="val 44491"/>
                  <a:gd name="hf" fmla="val 105146"/>
                </a:avLst>
              </a:prstGeom>
              <a:grpFill/>
              <a:ln w="19050" cap="flat" cmpd="sng" algn="ctr">
                <a:solidFill>
                  <a:srgbClr val="F59C00"/>
                </a:solidFill>
                <a:prstDash val="solid"/>
                <a:miter lim="800000"/>
              </a:ln>
              <a:effectLst>
                <a:innerShdw blurRad="63500" dist="50800" dir="13500000">
                  <a:srgbClr val="F59C00">
                    <a:alpha val="77000"/>
                  </a:srgbClr>
                </a:innerShdw>
              </a:effectLst>
            </p:spPr>
            <p:txBody>
              <a:bodyPr rtlCol="0" anchor="ctr"/>
              <a:lstStyle/>
              <a:p>
                <a:pPr marL="0" marR="0" lvl="0" indent="0" algn="ctr" defTabSz="121917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de-DE" sz="1400" b="0" i="0" u="none" strike="noStrike" kern="0" cap="none" spc="0" normalizeH="0" baseline="0" noProof="1">
                  <a:ln>
                    <a:noFill/>
                  </a:ln>
                  <a:solidFill>
                    <a:srgbClr val="E6EFF3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8" name="Zehneck 17">
                <a:extLst>
                  <a:ext uri="{FF2B5EF4-FFF2-40B4-BE49-F238E27FC236}">
                    <a16:creationId xmlns:a16="http://schemas.microsoft.com/office/drawing/2014/main" id="{859FB763-B067-88E0-19AD-B77D5CBBEFBB}"/>
                  </a:ext>
                </a:extLst>
              </p:cNvPr>
              <p:cNvSpPr/>
              <p:nvPr/>
            </p:nvSpPr>
            <p:spPr>
              <a:xfrm>
                <a:off x="4476265" y="1217862"/>
                <a:ext cx="620528" cy="620529"/>
              </a:xfrm>
              <a:prstGeom prst="decagon">
                <a:avLst/>
              </a:prstGeom>
              <a:solidFill>
                <a:srgbClr val="950F53"/>
              </a:solidFill>
              <a:ln w="12700" cap="flat" cmpd="sng" algn="ctr">
                <a:solidFill>
                  <a:srgbClr val="950F53"/>
                </a:solidFill>
                <a:prstDash val="solid"/>
                <a:miter lim="800000"/>
              </a:ln>
              <a:effectLst>
                <a:innerShdw blurRad="63500" dist="50800" dir="13500000">
                  <a:srgbClr val="F59C00">
                    <a:lumMod val="20000"/>
                    <a:lumOff val="80000"/>
                    <a:alpha val="72000"/>
                  </a:srgbClr>
                </a:innerShdw>
              </a:effectLst>
            </p:spPr>
            <p:txBody>
              <a:bodyPr rtlCol="0" anchor="ctr"/>
              <a:lstStyle/>
              <a:p>
                <a:pPr marL="0" marR="0" lvl="0" indent="0" algn="ctr" defTabSz="121917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de-DE" sz="1400" b="0" i="0" u="none" strike="noStrike" kern="0" cap="none" spc="0" normalizeH="0" baseline="0" noProof="1">
                  <a:ln>
                    <a:noFill/>
                  </a:ln>
                  <a:solidFill>
                    <a:srgbClr val="E6EFF3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9" name="Building5" descr="{&quot;Key&quot;:&quot;POWER_USER_SHAPE_ICON&quot;,&quot;Value&quot;:&quot;POWER_USER_SHAPE_ICON_STYLE_1&quot;}">
                <a:extLst>
                  <a:ext uri="{FF2B5EF4-FFF2-40B4-BE49-F238E27FC236}">
                    <a16:creationId xmlns:a16="http://schemas.microsoft.com/office/drawing/2014/main" id="{906182F0-46EA-3B3F-D3A4-AB10A417CB8B}"/>
                  </a:ext>
                </a:extLst>
              </p:cNvPr>
              <p:cNvSpPr>
                <a:spLocks noChangeAspect="1" noEditPoints="1"/>
              </p:cNvSpPr>
              <p:nvPr>
                <p:custDataLst>
                  <p:tags r:id="rId1"/>
                </p:custDataLst>
              </p:nvPr>
            </p:nvSpPr>
            <p:spPr bwMode="auto">
              <a:xfrm>
                <a:off x="4550947" y="1301271"/>
                <a:ext cx="461320" cy="410937"/>
              </a:xfrm>
              <a:custGeom>
                <a:avLst/>
                <a:gdLst>
                  <a:gd name="T0" fmla="*/ 915 w 1250"/>
                  <a:gd name="T1" fmla="*/ 250 h 1187"/>
                  <a:gd name="T2" fmla="*/ 915 w 1250"/>
                  <a:gd name="T3" fmla="*/ 1053 h 1187"/>
                  <a:gd name="T4" fmla="*/ 848 w 1250"/>
                  <a:gd name="T5" fmla="*/ 1053 h 1187"/>
                  <a:gd name="T6" fmla="*/ 850 w 1250"/>
                  <a:gd name="T7" fmla="*/ 0 h 1187"/>
                  <a:gd name="T8" fmla="*/ 448 w 1250"/>
                  <a:gd name="T9" fmla="*/ 0 h 1187"/>
                  <a:gd name="T10" fmla="*/ 446 w 1250"/>
                  <a:gd name="T11" fmla="*/ 1053 h 1187"/>
                  <a:gd name="T12" fmla="*/ 379 w 1250"/>
                  <a:gd name="T13" fmla="*/ 1053 h 1187"/>
                  <a:gd name="T14" fmla="*/ 379 w 1250"/>
                  <a:gd name="T15" fmla="*/ 361 h 1187"/>
                  <a:gd name="T16" fmla="*/ 0 w 1250"/>
                  <a:gd name="T17" fmla="*/ 361 h 1187"/>
                  <a:gd name="T18" fmla="*/ 0 w 1250"/>
                  <a:gd name="T19" fmla="*/ 1187 h 1187"/>
                  <a:gd name="T20" fmla="*/ 1250 w 1250"/>
                  <a:gd name="T21" fmla="*/ 1187 h 1187"/>
                  <a:gd name="T22" fmla="*/ 1250 w 1250"/>
                  <a:gd name="T23" fmla="*/ 250 h 1187"/>
                  <a:gd name="T24" fmla="*/ 915 w 1250"/>
                  <a:gd name="T25" fmla="*/ 250 h 1187"/>
                  <a:gd name="T26" fmla="*/ 982 w 1250"/>
                  <a:gd name="T27" fmla="*/ 339 h 1187"/>
                  <a:gd name="T28" fmla="*/ 1183 w 1250"/>
                  <a:gd name="T29" fmla="*/ 339 h 1187"/>
                  <a:gd name="T30" fmla="*/ 1183 w 1250"/>
                  <a:gd name="T31" fmla="*/ 584 h 1187"/>
                  <a:gd name="T32" fmla="*/ 982 w 1250"/>
                  <a:gd name="T33" fmla="*/ 584 h 1187"/>
                  <a:gd name="T34" fmla="*/ 982 w 1250"/>
                  <a:gd name="T35" fmla="*/ 339 h 1187"/>
                  <a:gd name="T36" fmla="*/ 982 w 1250"/>
                  <a:gd name="T37" fmla="*/ 674 h 1187"/>
                  <a:gd name="T38" fmla="*/ 1183 w 1250"/>
                  <a:gd name="T39" fmla="*/ 674 h 1187"/>
                  <a:gd name="T40" fmla="*/ 1183 w 1250"/>
                  <a:gd name="T41" fmla="*/ 919 h 1187"/>
                  <a:gd name="T42" fmla="*/ 982 w 1250"/>
                  <a:gd name="T43" fmla="*/ 919 h 1187"/>
                  <a:gd name="T44" fmla="*/ 982 w 1250"/>
                  <a:gd name="T45" fmla="*/ 674 h 1187"/>
                  <a:gd name="T46" fmla="*/ 513 w 1250"/>
                  <a:gd name="T47" fmla="*/ 71 h 1187"/>
                  <a:gd name="T48" fmla="*/ 781 w 1250"/>
                  <a:gd name="T49" fmla="*/ 71 h 1187"/>
                  <a:gd name="T50" fmla="*/ 781 w 1250"/>
                  <a:gd name="T51" fmla="*/ 183 h 1187"/>
                  <a:gd name="T52" fmla="*/ 513 w 1250"/>
                  <a:gd name="T53" fmla="*/ 183 h 1187"/>
                  <a:gd name="T54" fmla="*/ 513 w 1250"/>
                  <a:gd name="T55" fmla="*/ 71 h 1187"/>
                  <a:gd name="T56" fmla="*/ 513 w 1250"/>
                  <a:gd name="T57" fmla="*/ 294 h 1187"/>
                  <a:gd name="T58" fmla="*/ 781 w 1250"/>
                  <a:gd name="T59" fmla="*/ 294 h 1187"/>
                  <a:gd name="T60" fmla="*/ 781 w 1250"/>
                  <a:gd name="T61" fmla="*/ 406 h 1187"/>
                  <a:gd name="T62" fmla="*/ 513 w 1250"/>
                  <a:gd name="T63" fmla="*/ 406 h 1187"/>
                  <a:gd name="T64" fmla="*/ 513 w 1250"/>
                  <a:gd name="T65" fmla="*/ 294 h 1187"/>
                  <a:gd name="T66" fmla="*/ 513 w 1250"/>
                  <a:gd name="T67" fmla="*/ 517 h 1187"/>
                  <a:gd name="T68" fmla="*/ 781 w 1250"/>
                  <a:gd name="T69" fmla="*/ 517 h 1187"/>
                  <a:gd name="T70" fmla="*/ 781 w 1250"/>
                  <a:gd name="T71" fmla="*/ 629 h 1187"/>
                  <a:gd name="T72" fmla="*/ 513 w 1250"/>
                  <a:gd name="T73" fmla="*/ 629 h 1187"/>
                  <a:gd name="T74" fmla="*/ 513 w 1250"/>
                  <a:gd name="T75" fmla="*/ 517 h 1187"/>
                  <a:gd name="T76" fmla="*/ 513 w 1250"/>
                  <a:gd name="T77" fmla="*/ 741 h 1187"/>
                  <a:gd name="T78" fmla="*/ 781 w 1250"/>
                  <a:gd name="T79" fmla="*/ 741 h 1187"/>
                  <a:gd name="T80" fmla="*/ 781 w 1250"/>
                  <a:gd name="T81" fmla="*/ 852 h 1187"/>
                  <a:gd name="T82" fmla="*/ 513 w 1250"/>
                  <a:gd name="T83" fmla="*/ 852 h 1187"/>
                  <a:gd name="T84" fmla="*/ 513 w 1250"/>
                  <a:gd name="T85" fmla="*/ 741 h 1187"/>
                  <a:gd name="T86" fmla="*/ 67 w 1250"/>
                  <a:gd name="T87" fmla="*/ 450 h 1187"/>
                  <a:gd name="T88" fmla="*/ 156 w 1250"/>
                  <a:gd name="T89" fmla="*/ 450 h 1187"/>
                  <a:gd name="T90" fmla="*/ 156 w 1250"/>
                  <a:gd name="T91" fmla="*/ 607 h 1187"/>
                  <a:gd name="T92" fmla="*/ 67 w 1250"/>
                  <a:gd name="T93" fmla="*/ 607 h 1187"/>
                  <a:gd name="T94" fmla="*/ 67 w 1250"/>
                  <a:gd name="T95" fmla="*/ 450 h 1187"/>
                  <a:gd name="T96" fmla="*/ 223 w 1250"/>
                  <a:gd name="T97" fmla="*/ 450 h 1187"/>
                  <a:gd name="T98" fmla="*/ 313 w 1250"/>
                  <a:gd name="T99" fmla="*/ 450 h 1187"/>
                  <a:gd name="T100" fmla="*/ 313 w 1250"/>
                  <a:gd name="T101" fmla="*/ 607 h 1187"/>
                  <a:gd name="T102" fmla="*/ 223 w 1250"/>
                  <a:gd name="T103" fmla="*/ 607 h 1187"/>
                  <a:gd name="T104" fmla="*/ 223 w 1250"/>
                  <a:gd name="T105" fmla="*/ 450 h 1187"/>
                  <a:gd name="T106" fmla="*/ 67 w 1250"/>
                  <a:gd name="T107" fmla="*/ 718 h 1187"/>
                  <a:gd name="T108" fmla="*/ 156 w 1250"/>
                  <a:gd name="T109" fmla="*/ 718 h 1187"/>
                  <a:gd name="T110" fmla="*/ 156 w 1250"/>
                  <a:gd name="T111" fmla="*/ 875 h 1187"/>
                  <a:gd name="T112" fmla="*/ 67 w 1250"/>
                  <a:gd name="T113" fmla="*/ 875 h 1187"/>
                  <a:gd name="T114" fmla="*/ 67 w 1250"/>
                  <a:gd name="T115" fmla="*/ 718 h 1187"/>
                  <a:gd name="T116" fmla="*/ 223 w 1250"/>
                  <a:gd name="T117" fmla="*/ 718 h 1187"/>
                  <a:gd name="T118" fmla="*/ 313 w 1250"/>
                  <a:gd name="T119" fmla="*/ 718 h 1187"/>
                  <a:gd name="T120" fmla="*/ 313 w 1250"/>
                  <a:gd name="T121" fmla="*/ 875 h 1187"/>
                  <a:gd name="T122" fmla="*/ 223 w 1250"/>
                  <a:gd name="T123" fmla="*/ 875 h 1187"/>
                  <a:gd name="T124" fmla="*/ 223 w 1250"/>
                  <a:gd name="T125" fmla="*/ 718 h 118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  <a:cxn ang="0">
                    <a:pos x="T122" y="T123"/>
                  </a:cxn>
                  <a:cxn ang="0">
                    <a:pos x="T124" y="T125"/>
                  </a:cxn>
                </a:cxnLst>
                <a:rect l="0" t="0" r="r" b="b"/>
                <a:pathLst>
                  <a:path w="1250" h="1187">
                    <a:moveTo>
                      <a:pt x="915" y="250"/>
                    </a:moveTo>
                    <a:lnTo>
                      <a:pt x="915" y="1053"/>
                    </a:lnTo>
                    <a:lnTo>
                      <a:pt x="848" y="1053"/>
                    </a:lnTo>
                    <a:lnTo>
                      <a:pt x="850" y="0"/>
                    </a:lnTo>
                    <a:lnTo>
                      <a:pt x="448" y="0"/>
                    </a:lnTo>
                    <a:lnTo>
                      <a:pt x="446" y="1053"/>
                    </a:lnTo>
                    <a:lnTo>
                      <a:pt x="379" y="1053"/>
                    </a:lnTo>
                    <a:lnTo>
                      <a:pt x="379" y="361"/>
                    </a:lnTo>
                    <a:lnTo>
                      <a:pt x="0" y="361"/>
                    </a:lnTo>
                    <a:lnTo>
                      <a:pt x="0" y="1187"/>
                    </a:lnTo>
                    <a:lnTo>
                      <a:pt x="1250" y="1187"/>
                    </a:lnTo>
                    <a:lnTo>
                      <a:pt x="1250" y="250"/>
                    </a:lnTo>
                    <a:lnTo>
                      <a:pt x="915" y="250"/>
                    </a:lnTo>
                    <a:close/>
                    <a:moveTo>
                      <a:pt x="982" y="339"/>
                    </a:moveTo>
                    <a:lnTo>
                      <a:pt x="1183" y="339"/>
                    </a:lnTo>
                    <a:lnTo>
                      <a:pt x="1183" y="584"/>
                    </a:lnTo>
                    <a:lnTo>
                      <a:pt x="982" y="584"/>
                    </a:lnTo>
                    <a:lnTo>
                      <a:pt x="982" y="339"/>
                    </a:lnTo>
                    <a:close/>
                    <a:moveTo>
                      <a:pt x="982" y="674"/>
                    </a:moveTo>
                    <a:lnTo>
                      <a:pt x="1183" y="674"/>
                    </a:lnTo>
                    <a:lnTo>
                      <a:pt x="1183" y="919"/>
                    </a:lnTo>
                    <a:lnTo>
                      <a:pt x="982" y="919"/>
                    </a:lnTo>
                    <a:lnTo>
                      <a:pt x="982" y="674"/>
                    </a:lnTo>
                    <a:close/>
                    <a:moveTo>
                      <a:pt x="513" y="71"/>
                    </a:moveTo>
                    <a:lnTo>
                      <a:pt x="781" y="71"/>
                    </a:lnTo>
                    <a:lnTo>
                      <a:pt x="781" y="183"/>
                    </a:lnTo>
                    <a:lnTo>
                      <a:pt x="513" y="183"/>
                    </a:lnTo>
                    <a:lnTo>
                      <a:pt x="513" y="71"/>
                    </a:lnTo>
                    <a:close/>
                    <a:moveTo>
                      <a:pt x="513" y="294"/>
                    </a:moveTo>
                    <a:lnTo>
                      <a:pt x="781" y="294"/>
                    </a:lnTo>
                    <a:lnTo>
                      <a:pt x="781" y="406"/>
                    </a:lnTo>
                    <a:lnTo>
                      <a:pt x="513" y="406"/>
                    </a:lnTo>
                    <a:lnTo>
                      <a:pt x="513" y="294"/>
                    </a:lnTo>
                    <a:close/>
                    <a:moveTo>
                      <a:pt x="513" y="517"/>
                    </a:moveTo>
                    <a:lnTo>
                      <a:pt x="781" y="517"/>
                    </a:lnTo>
                    <a:lnTo>
                      <a:pt x="781" y="629"/>
                    </a:lnTo>
                    <a:lnTo>
                      <a:pt x="513" y="629"/>
                    </a:lnTo>
                    <a:lnTo>
                      <a:pt x="513" y="517"/>
                    </a:lnTo>
                    <a:close/>
                    <a:moveTo>
                      <a:pt x="513" y="741"/>
                    </a:moveTo>
                    <a:lnTo>
                      <a:pt x="781" y="741"/>
                    </a:lnTo>
                    <a:lnTo>
                      <a:pt x="781" y="852"/>
                    </a:lnTo>
                    <a:lnTo>
                      <a:pt x="513" y="852"/>
                    </a:lnTo>
                    <a:lnTo>
                      <a:pt x="513" y="741"/>
                    </a:lnTo>
                    <a:close/>
                    <a:moveTo>
                      <a:pt x="67" y="450"/>
                    </a:moveTo>
                    <a:lnTo>
                      <a:pt x="156" y="450"/>
                    </a:lnTo>
                    <a:lnTo>
                      <a:pt x="156" y="607"/>
                    </a:lnTo>
                    <a:lnTo>
                      <a:pt x="67" y="607"/>
                    </a:lnTo>
                    <a:lnTo>
                      <a:pt x="67" y="450"/>
                    </a:lnTo>
                    <a:close/>
                    <a:moveTo>
                      <a:pt x="223" y="450"/>
                    </a:moveTo>
                    <a:lnTo>
                      <a:pt x="313" y="450"/>
                    </a:lnTo>
                    <a:lnTo>
                      <a:pt x="313" y="607"/>
                    </a:lnTo>
                    <a:lnTo>
                      <a:pt x="223" y="607"/>
                    </a:lnTo>
                    <a:lnTo>
                      <a:pt x="223" y="450"/>
                    </a:lnTo>
                    <a:close/>
                    <a:moveTo>
                      <a:pt x="67" y="718"/>
                    </a:moveTo>
                    <a:lnTo>
                      <a:pt x="156" y="718"/>
                    </a:lnTo>
                    <a:lnTo>
                      <a:pt x="156" y="875"/>
                    </a:lnTo>
                    <a:lnTo>
                      <a:pt x="67" y="875"/>
                    </a:lnTo>
                    <a:lnTo>
                      <a:pt x="67" y="718"/>
                    </a:lnTo>
                    <a:close/>
                    <a:moveTo>
                      <a:pt x="223" y="718"/>
                    </a:moveTo>
                    <a:lnTo>
                      <a:pt x="313" y="718"/>
                    </a:lnTo>
                    <a:lnTo>
                      <a:pt x="313" y="875"/>
                    </a:lnTo>
                    <a:lnTo>
                      <a:pt x="223" y="875"/>
                    </a:lnTo>
                    <a:lnTo>
                      <a:pt x="223" y="718"/>
                    </a:lnTo>
                    <a:close/>
                  </a:path>
                </a:pathLst>
              </a:custGeom>
              <a:solidFill>
                <a:srgbClr val="F59C00"/>
              </a:solidFill>
              <a:ln>
                <a:noFill/>
              </a:ln>
              <a:effectLst>
                <a:glow rad="76200">
                  <a:srgbClr val="F59C00">
                    <a:lumMod val="20000"/>
                    <a:lumOff val="80000"/>
                    <a:alpha val="88000"/>
                  </a:srgbClr>
                </a:glow>
              </a:effec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377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de-DE" sz="1200" b="0" i="0" u="none" strike="noStrike" kern="0" cap="none" spc="0" normalizeH="0" baseline="0" noProof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</p:grpSp>
      <p:pic>
        <p:nvPicPr>
          <p:cNvPr id="29" name="Grafik 28">
            <a:extLst>
              <a:ext uri="{FF2B5EF4-FFF2-40B4-BE49-F238E27FC236}">
                <a16:creationId xmlns:a16="http://schemas.microsoft.com/office/drawing/2014/main" id="{FD538002-365E-A8B6-6917-3922BA82F21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514463" y="1193191"/>
            <a:ext cx="6828112" cy="5352752"/>
          </a:xfrm>
          <a:prstGeom prst="rect">
            <a:avLst/>
          </a:prstGeom>
        </p:spPr>
      </p:pic>
      <p:sp>
        <p:nvSpPr>
          <p:cNvPr id="23" name="Textfeld 22">
            <a:extLst>
              <a:ext uri="{FF2B5EF4-FFF2-40B4-BE49-F238E27FC236}">
                <a16:creationId xmlns:a16="http://schemas.microsoft.com/office/drawing/2014/main" id="{C846CD52-8243-8E7B-4878-EAD645469D69}"/>
              </a:ext>
            </a:extLst>
          </p:cNvPr>
          <p:cNvSpPr txBox="1"/>
          <p:nvPr/>
        </p:nvSpPr>
        <p:spPr>
          <a:xfrm>
            <a:off x="8671177" y="1665150"/>
            <a:ext cx="993775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AT" sz="1800" b="1" i="0" u="none" strike="noStrike" kern="1200" cap="none" spc="0" normalizeH="0" baseline="0" noProof="0" dirty="0">
                <a:ln>
                  <a:noFill/>
                </a:ln>
                <a:solidFill>
                  <a:srgbClr val="5FB564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+1,2</a:t>
            </a:r>
            <a:endParaRPr kumimoji="0" lang="de-DE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8" name="Eckige Klammer links 27">
            <a:extLst>
              <a:ext uri="{FF2B5EF4-FFF2-40B4-BE49-F238E27FC236}">
                <a16:creationId xmlns:a16="http://schemas.microsoft.com/office/drawing/2014/main" id="{E832BFC3-AFFD-26F4-4762-BA1F5F606EDD}"/>
              </a:ext>
            </a:extLst>
          </p:cNvPr>
          <p:cNvSpPr/>
          <p:nvPr/>
        </p:nvSpPr>
        <p:spPr>
          <a:xfrm rot="10800000" flipV="1">
            <a:off x="6686549" y="2652712"/>
            <a:ext cx="902549" cy="67071"/>
          </a:xfrm>
          <a:prstGeom prst="leftBracket">
            <a:avLst>
              <a:gd name="adj" fmla="val 0"/>
            </a:avLst>
          </a:prstGeom>
          <a:ln>
            <a:solidFill>
              <a:schemeClr val="accent5"/>
            </a:solidFill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1" name="Textfeld 30">
            <a:extLst>
              <a:ext uri="{FF2B5EF4-FFF2-40B4-BE49-F238E27FC236}">
                <a16:creationId xmlns:a16="http://schemas.microsoft.com/office/drawing/2014/main" id="{B9BD8EE0-9C53-9FDF-3A1D-30D1396EC694}"/>
              </a:ext>
            </a:extLst>
          </p:cNvPr>
          <p:cNvSpPr txBox="1"/>
          <p:nvPr/>
        </p:nvSpPr>
        <p:spPr>
          <a:xfrm>
            <a:off x="6575228" y="2347935"/>
            <a:ext cx="67901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AT" sz="1800" b="1" i="0" u="none" strike="noStrike" kern="1200" cap="none" spc="0" normalizeH="0" baseline="0" noProof="0" dirty="0">
                <a:ln>
                  <a:noFill/>
                </a:ln>
                <a:solidFill>
                  <a:srgbClr val="CA0237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−2,5</a:t>
            </a:r>
            <a:endParaRPr kumimoji="0" lang="de-DE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5" name="Freihandform: Form 34">
            <a:extLst>
              <a:ext uri="{FF2B5EF4-FFF2-40B4-BE49-F238E27FC236}">
                <a16:creationId xmlns:a16="http://schemas.microsoft.com/office/drawing/2014/main" id="{71390580-5DE3-7AD3-52F1-B40A702324BB}"/>
              </a:ext>
            </a:extLst>
          </p:cNvPr>
          <p:cNvSpPr/>
          <p:nvPr/>
        </p:nvSpPr>
        <p:spPr>
          <a:xfrm>
            <a:off x="8496300" y="1907381"/>
            <a:ext cx="311944" cy="745332"/>
          </a:xfrm>
          <a:custGeom>
            <a:avLst/>
            <a:gdLst>
              <a:gd name="connsiteX0" fmla="*/ 2381 w 311944"/>
              <a:gd name="connsiteY0" fmla="*/ 35719 h 745332"/>
              <a:gd name="connsiteX1" fmla="*/ 311944 w 311944"/>
              <a:gd name="connsiteY1" fmla="*/ 0 h 745332"/>
              <a:gd name="connsiteX2" fmla="*/ 311944 w 311944"/>
              <a:gd name="connsiteY2" fmla="*/ 433388 h 745332"/>
              <a:gd name="connsiteX3" fmla="*/ 0 w 311944"/>
              <a:gd name="connsiteY3" fmla="*/ 745332 h 745332"/>
              <a:gd name="connsiteX4" fmla="*/ 2381 w 311944"/>
              <a:gd name="connsiteY4" fmla="*/ 35719 h 7453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11944" h="745332">
                <a:moveTo>
                  <a:pt x="2381" y="35719"/>
                </a:moveTo>
                <a:lnTo>
                  <a:pt x="311944" y="0"/>
                </a:lnTo>
                <a:lnTo>
                  <a:pt x="311944" y="433388"/>
                </a:lnTo>
                <a:lnTo>
                  <a:pt x="0" y="745332"/>
                </a:lnTo>
                <a:cubicBezTo>
                  <a:pt x="794" y="508794"/>
                  <a:pt x="1587" y="272257"/>
                  <a:pt x="2381" y="35719"/>
                </a:cubicBezTo>
                <a:close/>
              </a:path>
            </a:pathLst>
          </a:custGeom>
          <a:solidFill>
            <a:srgbClr val="FFC5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7" name="Freihandform: Form 36">
            <a:extLst>
              <a:ext uri="{FF2B5EF4-FFF2-40B4-BE49-F238E27FC236}">
                <a16:creationId xmlns:a16="http://schemas.microsoft.com/office/drawing/2014/main" id="{8DEB5623-5CC6-FEB5-EE13-078726A6DD9F}"/>
              </a:ext>
            </a:extLst>
          </p:cNvPr>
          <p:cNvSpPr/>
          <p:nvPr/>
        </p:nvSpPr>
        <p:spPr>
          <a:xfrm>
            <a:off x="7591425" y="3648075"/>
            <a:ext cx="1200150" cy="409575"/>
          </a:xfrm>
          <a:custGeom>
            <a:avLst/>
            <a:gdLst>
              <a:gd name="connsiteX0" fmla="*/ 0 w 1200150"/>
              <a:gd name="connsiteY0" fmla="*/ 409575 h 409575"/>
              <a:gd name="connsiteX1" fmla="*/ 1200150 w 1200150"/>
              <a:gd name="connsiteY1" fmla="*/ 409575 h 409575"/>
              <a:gd name="connsiteX2" fmla="*/ 1200150 w 1200150"/>
              <a:gd name="connsiteY2" fmla="*/ 0 h 409575"/>
              <a:gd name="connsiteX3" fmla="*/ 0 w 1200150"/>
              <a:gd name="connsiteY3" fmla="*/ 409575 h 4095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00150" h="409575">
                <a:moveTo>
                  <a:pt x="0" y="409575"/>
                </a:moveTo>
                <a:lnTo>
                  <a:pt x="1200150" y="409575"/>
                </a:lnTo>
                <a:lnTo>
                  <a:pt x="1200150" y="0"/>
                </a:lnTo>
                <a:lnTo>
                  <a:pt x="0" y="409575"/>
                </a:lnTo>
                <a:close/>
              </a:path>
            </a:pathLst>
          </a:custGeom>
          <a:solidFill>
            <a:srgbClr val="EEFF4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8" name="Rechteck 37">
            <a:extLst>
              <a:ext uri="{FF2B5EF4-FFF2-40B4-BE49-F238E27FC236}">
                <a16:creationId xmlns:a16="http://schemas.microsoft.com/office/drawing/2014/main" id="{F0BE0219-857E-E531-9282-6ED21379E839}"/>
              </a:ext>
            </a:extLst>
          </p:cNvPr>
          <p:cNvSpPr/>
          <p:nvPr/>
        </p:nvSpPr>
        <p:spPr>
          <a:xfrm>
            <a:off x="7589098" y="4048125"/>
            <a:ext cx="1214382" cy="647700"/>
          </a:xfrm>
          <a:prstGeom prst="rect">
            <a:avLst/>
          </a:prstGeom>
          <a:solidFill>
            <a:srgbClr val="EEFF49">
              <a:alpha val="18824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9" name="Textfeld 38">
            <a:extLst>
              <a:ext uri="{FF2B5EF4-FFF2-40B4-BE49-F238E27FC236}">
                <a16:creationId xmlns:a16="http://schemas.microsoft.com/office/drawing/2014/main" id="{574716AC-87D4-408B-BF27-C07FE1EBD8C5}"/>
              </a:ext>
            </a:extLst>
          </p:cNvPr>
          <p:cNvSpPr txBox="1"/>
          <p:nvPr/>
        </p:nvSpPr>
        <p:spPr>
          <a:xfrm>
            <a:off x="8300658" y="3751310"/>
            <a:ext cx="993775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AT" sz="1400" b="1" i="0" u="none" strike="noStrike" kern="1200" cap="none" spc="0" normalizeH="0" baseline="0" noProof="0" dirty="0">
                <a:ln>
                  <a:noFill/>
                </a:ln>
                <a:solidFill>
                  <a:srgbClr val="BCCF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+12,8</a:t>
            </a:r>
            <a:endParaRPr kumimoji="0" lang="de-DE" sz="1400" b="0" i="0" u="none" strike="noStrike" kern="1200" cap="none" spc="0" normalizeH="0" baseline="0" noProof="0" dirty="0">
              <a:ln>
                <a:noFill/>
              </a:ln>
              <a:solidFill>
                <a:srgbClr val="BCCF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Eckige Klammer links 6">
            <a:extLst>
              <a:ext uri="{FF2B5EF4-FFF2-40B4-BE49-F238E27FC236}">
                <a16:creationId xmlns:a16="http://schemas.microsoft.com/office/drawing/2014/main" id="{1CA11F8E-15D8-A3F4-B88D-FD87510F10F4}"/>
              </a:ext>
            </a:extLst>
          </p:cNvPr>
          <p:cNvSpPr/>
          <p:nvPr/>
        </p:nvSpPr>
        <p:spPr>
          <a:xfrm flipV="1">
            <a:off x="7891463" y="1900945"/>
            <a:ext cx="912017" cy="45719"/>
          </a:xfrm>
          <a:prstGeom prst="leftBracket">
            <a:avLst>
              <a:gd name="adj" fmla="val 0"/>
            </a:avLst>
          </a:prstGeom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24" name="Grafik 23">
            <a:extLst>
              <a:ext uri="{FF2B5EF4-FFF2-40B4-BE49-F238E27FC236}">
                <a16:creationId xmlns:a16="http://schemas.microsoft.com/office/drawing/2014/main" id="{29F3A0DF-842E-14CF-E7B0-6CF61EAC4FA8}"/>
              </a:ext>
            </a:extLst>
          </p:cNvPr>
          <p:cNvPicPr>
            <a:picLocks noChangeAspect="1"/>
          </p:cNvPicPr>
          <p:nvPr/>
        </p:nvPicPr>
        <p:blipFill rotWithShape="1">
          <a:blip r:embed="rId6"/>
          <a:srcRect t="19759" b="3658"/>
          <a:stretch/>
        </p:blipFill>
        <p:spPr>
          <a:xfrm>
            <a:off x="9583631" y="0"/>
            <a:ext cx="2608369" cy="10049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0270023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Grafik 24">
            <a:extLst>
              <a:ext uri="{FF2B5EF4-FFF2-40B4-BE49-F238E27FC236}">
                <a16:creationId xmlns:a16="http://schemas.microsoft.com/office/drawing/2014/main" id="{CE07DAA9-E69A-76D9-2ABC-00E4BBB478DF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19759" b="3658"/>
          <a:stretch/>
        </p:blipFill>
        <p:spPr>
          <a:xfrm>
            <a:off x="9583631" y="0"/>
            <a:ext cx="2608369" cy="1004963"/>
          </a:xfrm>
          <a:prstGeom prst="rect">
            <a:avLst/>
          </a:prstGeom>
        </p:spPr>
      </p:pic>
      <p:sp>
        <p:nvSpPr>
          <p:cNvPr id="2" name="Titel 1">
            <a:extLst>
              <a:ext uri="{FF2B5EF4-FFF2-40B4-BE49-F238E27FC236}">
                <a16:creationId xmlns:a16="http://schemas.microsoft.com/office/drawing/2014/main" id="{D8D2BFF4-5E8D-F4D1-FFAB-FED81E6F5A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AT" dirty="0"/>
              <a:t>Nachweis klimaneutrales Plus-Energie-Quartier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34C40616-B0C2-07D3-6C51-C98B7736704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719669" y="2164801"/>
            <a:ext cx="5033431" cy="3977767"/>
          </a:xfrm>
        </p:spPr>
        <p:txBody>
          <a:bodyPr>
            <a:normAutofit fontScale="92500"/>
          </a:bodyPr>
          <a:lstStyle/>
          <a:p>
            <a:r>
              <a:rPr lang="de-AT" dirty="0"/>
              <a:t>Errichtung: THG-Emissionen nur für </a:t>
            </a:r>
            <a:r>
              <a:rPr lang="de-AT" b="1" dirty="0"/>
              <a:t>neue</a:t>
            </a:r>
            <a:r>
              <a:rPr lang="de-AT" dirty="0"/>
              <a:t> Bauteile</a:t>
            </a:r>
          </a:p>
          <a:p>
            <a:pPr marL="252000" indent="-252000" defTabSz="914400">
              <a:lnSpc>
                <a:spcPct val="110000"/>
              </a:lnSpc>
              <a:buClr>
                <a:srgbClr val="000000"/>
              </a:buClr>
              <a:buFont typeface="Arial"/>
              <a:buChar char="•"/>
            </a:pPr>
            <a:r>
              <a:rPr lang="de-AT" spc="-1" dirty="0">
                <a:solidFill>
                  <a:schemeClr val="lt1">
                    <a:lumMod val="10000"/>
                  </a:schemeClr>
                </a:solidFill>
              </a:rPr>
              <a:t>Das Treibhausgasemissionen des Quartiers - auf 50 Jahre gerechnet - liegen mit </a:t>
            </a:r>
            <a:r>
              <a:rPr lang="de-AT" spc="-1" dirty="0">
                <a:solidFill>
                  <a:schemeClr val="accent5"/>
                </a:solidFill>
              </a:rPr>
              <a:t>228,6 </a:t>
            </a:r>
            <a:r>
              <a:rPr lang="de-AT" spc="-1" dirty="0" err="1">
                <a:solidFill>
                  <a:schemeClr val="lt1">
                    <a:lumMod val="10000"/>
                  </a:schemeClr>
                </a:solidFill>
              </a:rPr>
              <a:t>kg</a:t>
            </a:r>
            <a:r>
              <a:rPr lang="de-AT" spc="-1" baseline="-25000" dirty="0" err="1">
                <a:solidFill>
                  <a:schemeClr val="lt1">
                    <a:lumMod val="10000"/>
                  </a:schemeClr>
                </a:solidFill>
              </a:rPr>
              <a:t>CO₂eq</a:t>
            </a:r>
            <a:r>
              <a:rPr lang="de-AT" spc="-1" dirty="0">
                <a:solidFill>
                  <a:schemeClr val="lt1">
                    <a:lumMod val="10000"/>
                  </a:schemeClr>
                </a:solidFill>
              </a:rPr>
              <a:t>/m²</a:t>
            </a:r>
            <a:r>
              <a:rPr lang="de-AT" spc="-1" baseline="-25000" dirty="0">
                <a:solidFill>
                  <a:schemeClr val="lt1">
                    <a:lumMod val="10000"/>
                  </a:schemeClr>
                </a:solidFill>
              </a:rPr>
              <a:t>BGF</a:t>
            </a:r>
            <a:r>
              <a:rPr lang="de-AT" spc="-1" dirty="0">
                <a:solidFill>
                  <a:schemeClr val="lt1">
                    <a:lumMod val="10000"/>
                  </a:schemeClr>
                </a:solidFill>
              </a:rPr>
              <a:t> deutlich unter dem Grenzwert von </a:t>
            </a:r>
            <a:r>
              <a:rPr lang="de-AT" spc="-1" dirty="0">
                <a:solidFill>
                  <a:schemeClr val="accent6"/>
                </a:solidFill>
              </a:rPr>
              <a:t>320</a:t>
            </a:r>
            <a:r>
              <a:rPr lang="de-AT" spc="-1" dirty="0">
                <a:solidFill>
                  <a:schemeClr val="lt1">
                    <a:lumMod val="10000"/>
                  </a:schemeClr>
                </a:solidFill>
              </a:rPr>
              <a:t> </a:t>
            </a:r>
            <a:r>
              <a:rPr lang="de-AT" spc="-1" dirty="0" err="1">
                <a:solidFill>
                  <a:schemeClr val="lt1">
                    <a:lumMod val="10000"/>
                  </a:schemeClr>
                </a:solidFill>
              </a:rPr>
              <a:t>kg</a:t>
            </a:r>
            <a:r>
              <a:rPr lang="de-AT" spc="-1" baseline="-25000" dirty="0" err="1">
                <a:solidFill>
                  <a:schemeClr val="lt1">
                    <a:lumMod val="10000"/>
                  </a:schemeClr>
                </a:solidFill>
              </a:rPr>
              <a:t>CO₂eq</a:t>
            </a:r>
            <a:r>
              <a:rPr lang="de-AT" spc="-1" dirty="0">
                <a:solidFill>
                  <a:schemeClr val="lt1">
                    <a:lumMod val="10000"/>
                  </a:schemeClr>
                </a:solidFill>
              </a:rPr>
              <a:t>/m²</a:t>
            </a:r>
            <a:r>
              <a:rPr lang="de-AT" spc="-1" baseline="-25000" dirty="0">
                <a:solidFill>
                  <a:schemeClr val="lt1">
                    <a:lumMod val="10000"/>
                  </a:schemeClr>
                </a:solidFill>
              </a:rPr>
              <a:t>BGF</a:t>
            </a:r>
            <a:endParaRPr lang="de-DE" spc="-1" dirty="0">
              <a:solidFill>
                <a:schemeClr val="lt1">
                  <a:lumMod val="10000"/>
                </a:schemeClr>
              </a:solidFill>
            </a:endParaRPr>
          </a:p>
          <a:p>
            <a:pPr marL="252000" indent="-252000" defTabSz="914400">
              <a:lnSpc>
                <a:spcPct val="110000"/>
              </a:lnSpc>
              <a:buClr>
                <a:srgbClr val="000000"/>
              </a:buClr>
              <a:buFont typeface="Arial"/>
              <a:buChar char="•"/>
            </a:pPr>
            <a:r>
              <a:rPr lang="de-AT" spc="-1" dirty="0">
                <a:solidFill>
                  <a:schemeClr val="lt1">
                    <a:lumMod val="10000"/>
                  </a:schemeClr>
                </a:solidFill>
              </a:rPr>
              <a:t>Damit erreicht die </a:t>
            </a:r>
            <a:r>
              <a:rPr lang="de-AT" spc="-1" dirty="0" err="1">
                <a:solidFill>
                  <a:schemeClr val="lt1">
                    <a:lumMod val="10000"/>
                  </a:schemeClr>
                </a:solidFill>
              </a:rPr>
              <a:t>RUGInnovation</a:t>
            </a:r>
            <a:r>
              <a:rPr lang="de-AT" spc="-1" dirty="0">
                <a:solidFill>
                  <a:schemeClr val="lt1">
                    <a:lumMod val="10000"/>
                  </a:schemeClr>
                </a:solidFill>
              </a:rPr>
              <a:t> eine positive Bilanz und erfüllt alle Kriterien zum klimaneutralen Plus-Energie-Quartier</a:t>
            </a:r>
            <a:endParaRPr lang="de-AT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C147D380-15A4-6ED7-34C1-62A81F273E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AT" sz="1867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B1648371-6235-01C5-C1E7-04D46B92AA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206269C-C24E-4E80-9A4B-E7E19BB59A67}" type="slidenum">
              <a:rPr kumimoji="0" lang="de-AT" sz="1867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33</a:t>
            </a:fld>
            <a:endParaRPr kumimoji="0" lang="de-AT" sz="1867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6" name="Grafik 5">
            <a:extLst>
              <a:ext uri="{FF2B5EF4-FFF2-40B4-BE49-F238E27FC236}">
                <a16:creationId xmlns:a16="http://schemas.microsoft.com/office/drawing/2014/main" id="{9BDC454E-F77D-5356-7872-18D373B100D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205883" y="2009891"/>
            <a:ext cx="6168293" cy="3977767"/>
          </a:xfrm>
          <a:prstGeom prst="rect">
            <a:avLst/>
          </a:prstGeom>
          <a:noFill/>
        </p:spPr>
      </p:pic>
      <p:grpSp>
        <p:nvGrpSpPr>
          <p:cNvPr id="17" name="Gruppieren 37">
            <a:extLst>
              <a:ext uri="{FF2B5EF4-FFF2-40B4-BE49-F238E27FC236}">
                <a16:creationId xmlns:a16="http://schemas.microsoft.com/office/drawing/2014/main" id="{83D16F70-5DFE-FF9C-9C23-63E8E10B6ABE}"/>
              </a:ext>
            </a:extLst>
          </p:cNvPr>
          <p:cNvGrpSpPr/>
          <p:nvPr/>
        </p:nvGrpSpPr>
        <p:grpSpPr>
          <a:xfrm>
            <a:off x="8922120" y="790575"/>
            <a:ext cx="2293717" cy="1559679"/>
            <a:chOff x="6018840" y="12960"/>
            <a:chExt cx="1865160" cy="1166760"/>
          </a:xfrm>
        </p:grpSpPr>
        <p:sp>
          <p:nvSpPr>
            <p:cNvPr id="18" name="Band: nach unten gekippt 40">
              <a:extLst>
                <a:ext uri="{FF2B5EF4-FFF2-40B4-BE49-F238E27FC236}">
                  <a16:creationId xmlns:a16="http://schemas.microsoft.com/office/drawing/2014/main" id="{E510FD10-F421-EE4E-0618-0C547D5C9DA4}"/>
                </a:ext>
              </a:extLst>
            </p:cNvPr>
            <p:cNvSpPr/>
            <p:nvPr/>
          </p:nvSpPr>
          <p:spPr>
            <a:xfrm>
              <a:off x="6018840" y="566640"/>
              <a:ext cx="1865160" cy="420480"/>
            </a:xfrm>
            <a:prstGeom prst="ribbon">
              <a:avLst>
                <a:gd name="adj1" fmla="val 15670"/>
                <a:gd name="adj2" fmla="val 75000"/>
              </a:avLst>
            </a:prstGeom>
            <a:solidFill>
              <a:srgbClr val="3BACBE"/>
            </a:solidFill>
            <a:ln w="6350" cap="flat" cmpd="sng" algn="ctr">
              <a:noFill/>
              <a:prstDash val="solid"/>
            </a:ln>
            <a:effectLst/>
          </p:spPr>
          <p:txBody>
            <a:bodyPr lIns="90000" tIns="45000" rIns="90000" bIns="45000" anchor="ctr">
              <a:noAutofit/>
            </a:bodyPr>
            <a:lstStyle/>
            <a:p>
              <a:pPr marL="0" marR="0" lvl="0" indent="0" algn="ctr" defTabSz="121932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de-AT" sz="2130" b="0" i="0" u="none" strike="noStrike" kern="0" cap="none" spc="-1" normalizeH="0" baseline="0" noProof="0">
                <a:ln>
                  <a:noFill/>
                </a:ln>
                <a:solidFill>
                  <a:srgbClr val="E6EFF3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9" name="Stern: 12 Zacken 41">
              <a:extLst>
                <a:ext uri="{FF2B5EF4-FFF2-40B4-BE49-F238E27FC236}">
                  <a16:creationId xmlns:a16="http://schemas.microsoft.com/office/drawing/2014/main" id="{EA9B704B-3750-09C7-3C78-2E37D5DFBEC0}"/>
                </a:ext>
              </a:extLst>
            </p:cNvPr>
            <p:cNvSpPr/>
            <p:nvPr/>
          </p:nvSpPr>
          <p:spPr>
            <a:xfrm>
              <a:off x="6623280" y="12960"/>
              <a:ext cx="691560" cy="663840"/>
            </a:xfrm>
            <a:prstGeom prst="star12">
              <a:avLst>
                <a:gd name="adj" fmla="val 47681"/>
              </a:avLst>
            </a:prstGeom>
            <a:solidFill>
              <a:srgbClr val="3BACBE"/>
            </a:solidFill>
            <a:ln w="19050" cap="flat" cmpd="sng" algn="ctr">
              <a:solidFill>
                <a:srgbClr val="3BACBE"/>
              </a:solidFill>
              <a:prstDash val="solid"/>
              <a:round/>
            </a:ln>
            <a:effectLst>
              <a:innerShdw blurRad="63500" dist="50800" dir="13500000">
                <a:srgbClr val="5FB564">
                  <a:lumMod val="20000"/>
                  <a:lumOff val="80000"/>
                  <a:alpha val="86000"/>
                </a:srgbClr>
              </a:innerShdw>
            </a:effectLst>
          </p:spPr>
          <p:txBody>
            <a:bodyPr lIns="90000" tIns="45000" rIns="90000" bIns="45000" anchor="ctr">
              <a:noAutofit/>
            </a:bodyPr>
            <a:lstStyle/>
            <a:p>
              <a:pPr marL="0" marR="0" lvl="0" indent="0" algn="ctr" defTabSz="121932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de-AT" sz="1400" b="0" i="0" u="none" strike="noStrike" kern="0" cap="none" spc="-1" normalizeH="0" baseline="0" noProof="0">
                <a:ln>
                  <a:noFill/>
                </a:ln>
                <a:solidFill>
                  <a:srgbClr val="E6EFF3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0" name="Textfeld 42">
              <a:extLst>
                <a:ext uri="{FF2B5EF4-FFF2-40B4-BE49-F238E27FC236}">
                  <a16:creationId xmlns:a16="http://schemas.microsoft.com/office/drawing/2014/main" id="{65EB4B1D-5A04-EECF-6E3B-C7C3CBE8F2C7}"/>
                </a:ext>
              </a:extLst>
            </p:cNvPr>
            <p:cNvSpPr/>
            <p:nvPr/>
          </p:nvSpPr>
          <p:spPr>
            <a:xfrm>
              <a:off x="6132240" y="610560"/>
              <a:ext cx="1624320" cy="569160"/>
            </a:xfrm>
            <a:prstGeom prst="rect">
              <a:avLst/>
            </a:prstGeom>
            <a:noFill/>
            <a:ln w="0">
              <a:noFill/>
            </a:ln>
            <a:effectLst/>
          </p:spPr>
          <p:txBody>
            <a:bodyPr lIns="90000" tIns="45000" rIns="90000" bIns="45000" anchor="t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50" b="1" i="0" u="none" strike="noStrike" kern="0" cap="none" spc="-1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Bahnschrift"/>
                  <a:ea typeface="+mn-ea"/>
                  <a:cs typeface="+mn-cs"/>
                </a:rPr>
                <a:t>klimaneutrales </a:t>
              </a:r>
              <a:endParaRPr kumimoji="0" lang="de-DE" sz="1050" b="0" i="0" u="none" strike="noStrike" kern="0" cap="none" spc="-1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50" b="1" i="0" u="none" strike="noStrike" kern="0" cap="none" spc="-1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Bahnschrift"/>
                  <a:ea typeface="+mn-ea"/>
                  <a:cs typeface="+mn-cs"/>
                </a:rPr>
                <a:t>Plus-Energie-Quartier</a:t>
              </a:r>
              <a:endParaRPr kumimoji="0" lang="de-DE" sz="1050" b="0" i="0" u="none" strike="noStrike" kern="0" cap="none" spc="-1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de-DE" sz="1050" b="0" i="0" u="none" strike="noStrike" kern="0" cap="none" spc="-1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grpSp>
          <p:nvGrpSpPr>
            <p:cNvPr id="21" name="Gruppieren 43">
              <a:extLst>
                <a:ext uri="{FF2B5EF4-FFF2-40B4-BE49-F238E27FC236}">
                  <a16:creationId xmlns:a16="http://schemas.microsoft.com/office/drawing/2014/main" id="{5712623D-F597-6F24-1E54-4BF8B99AA0FF}"/>
                </a:ext>
              </a:extLst>
            </p:cNvPr>
            <p:cNvGrpSpPr/>
            <p:nvPr/>
          </p:nvGrpSpPr>
          <p:grpSpPr>
            <a:xfrm>
              <a:off x="6662520" y="43560"/>
              <a:ext cx="611640" cy="606600"/>
              <a:chOff x="6662520" y="43560"/>
              <a:chExt cx="611640" cy="606600"/>
            </a:xfrm>
          </p:grpSpPr>
          <p:sp>
            <p:nvSpPr>
              <p:cNvPr id="23" name="Stern: 10 Zacken 45">
                <a:extLst>
                  <a:ext uri="{FF2B5EF4-FFF2-40B4-BE49-F238E27FC236}">
                    <a16:creationId xmlns:a16="http://schemas.microsoft.com/office/drawing/2014/main" id="{E0FD3B72-E948-A952-49EB-626F8D9272D0}"/>
                  </a:ext>
                </a:extLst>
              </p:cNvPr>
              <p:cNvSpPr/>
              <p:nvPr/>
            </p:nvSpPr>
            <p:spPr>
              <a:xfrm>
                <a:off x="6662520" y="43560"/>
                <a:ext cx="611640" cy="606600"/>
              </a:xfrm>
              <a:prstGeom prst="star10">
                <a:avLst>
                  <a:gd name="adj" fmla="val 44491"/>
                  <a:gd name="hf" fmla="val 105146"/>
                </a:avLst>
              </a:prstGeom>
              <a:solidFill>
                <a:srgbClr val="F59C00"/>
              </a:solidFill>
              <a:ln w="19050" cap="flat" cmpd="sng" algn="ctr">
                <a:solidFill>
                  <a:srgbClr val="F59C00"/>
                </a:solidFill>
                <a:prstDash val="solid"/>
                <a:round/>
              </a:ln>
              <a:effectLst>
                <a:innerShdw blurRad="63500" dist="50800" dir="13500000">
                  <a:srgbClr val="F59C00">
                    <a:alpha val="77000"/>
                  </a:srgbClr>
                </a:innerShdw>
              </a:effectLst>
            </p:spPr>
            <p:txBody>
              <a:bodyPr lIns="90000" tIns="45000" rIns="90000" bIns="45000" anchor="ctr">
                <a:noAutofit/>
              </a:bodyPr>
              <a:lstStyle/>
              <a:p>
                <a:pPr marL="0" marR="0" lvl="0" indent="0" algn="ctr" defTabSz="121932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de-AT" sz="1400" b="0" i="0" u="none" strike="noStrike" kern="0" cap="none" spc="-1" normalizeH="0" baseline="0" noProof="0">
                  <a:ln>
                    <a:noFill/>
                  </a:ln>
                  <a:solidFill>
                    <a:srgbClr val="E6EFF3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4" name="Zehneck 46">
                <a:extLst>
                  <a:ext uri="{FF2B5EF4-FFF2-40B4-BE49-F238E27FC236}">
                    <a16:creationId xmlns:a16="http://schemas.microsoft.com/office/drawing/2014/main" id="{66B6F51B-7543-21C2-9186-DDDAA5728DBE}"/>
                  </a:ext>
                </a:extLst>
              </p:cNvPr>
              <p:cNvSpPr/>
              <p:nvPr/>
            </p:nvSpPr>
            <p:spPr>
              <a:xfrm>
                <a:off x="6723720" y="103680"/>
                <a:ext cx="483480" cy="483480"/>
              </a:xfrm>
              <a:prstGeom prst="decagon">
                <a:avLst>
                  <a:gd name="vf" fmla="val 105146"/>
                </a:avLst>
              </a:prstGeom>
              <a:solidFill>
                <a:srgbClr val="F59C00"/>
              </a:solidFill>
              <a:ln w="26425" cap="flat" cmpd="sng" algn="ctr">
                <a:solidFill>
                  <a:srgbClr val="950F53"/>
                </a:solidFill>
                <a:prstDash val="solid"/>
                <a:round/>
              </a:ln>
              <a:effectLst>
                <a:innerShdw blurRad="63500" dist="50800" dir="13500000">
                  <a:srgbClr val="F59C00">
                    <a:lumMod val="20000"/>
                    <a:lumOff val="80000"/>
                    <a:alpha val="72000"/>
                  </a:srgbClr>
                </a:innerShdw>
              </a:effectLst>
            </p:spPr>
            <p:txBody>
              <a:bodyPr lIns="90000" tIns="45000" rIns="90000" bIns="45000" anchor="ctr">
                <a:noAutofit/>
              </a:bodyPr>
              <a:lstStyle/>
              <a:p>
                <a:pPr marL="0" marR="0" lvl="0" indent="0" algn="ctr" defTabSz="121932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de-AT" sz="1400" b="0" i="0" u="none" strike="noStrike" kern="0" cap="none" spc="-1" normalizeH="0" baseline="0" noProof="0">
                  <a:ln>
                    <a:noFill/>
                  </a:ln>
                  <a:solidFill>
                    <a:srgbClr val="E6EFF3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  <p:sp>
          <p:nvSpPr>
            <p:cNvPr id="22" name="Building5">
              <a:extLst>
                <a:ext uri="{FF2B5EF4-FFF2-40B4-BE49-F238E27FC236}">
                  <a16:creationId xmlns:a16="http://schemas.microsoft.com/office/drawing/2014/main" id="{2189CAA0-5C3D-61EE-2D5C-EFD237C3C863}"/>
                </a:ext>
              </a:extLst>
            </p:cNvPr>
            <p:cNvSpPr/>
            <p:nvPr/>
          </p:nvSpPr>
          <p:spPr>
            <a:xfrm>
              <a:off x="6802920" y="191520"/>
              <a:ext cx="320040" cy="285120"/>
            </a:xfrm>
            <a:custGeom>
              <a:avLst/>
              <a:gdLst>
                <a:gd name="textAreaLeft" fmla="*/ 0 w 320040"/>
                <a:gd name="textAreaRight" fmla="*/ 320400 w 320040"/>
                <a:gd name="textAreaTop" fmla="*/ 0 h 285120"/>
                <a:gd name="textAreaBottom" fmla="*/ 285480 h 285120"/>
              </a:gdLst>
              <a:ahLst/>
              <a:cxnLst/>
              <a:rect l="textAreaLeft" t="textAreaTop" r="textAreaRight" b="textAreaBottom"/>
              <a:pathLst>
                <a:path w="1250" h="1187">
                  <a:moveTo>
                    <a:pt x="915" y="250"/>
                  </a:moveTo>
                  <a:lnTo>
                    <a:pt x="915" y="1053"/>
                  </a:lnTo>
                  <a:lnTo>
                    <a:pt x="848" y="1053"/>
                  </a:lnTo>
                  <a:lnTo>
                    <a:pt x="850" y="0"/>
                  </a:lnTo>
                  <a:lnTo>
                    <a:pt x="448" y="0"/>
                  </a:lnTo>
                  <a:lnTo>
                    <a:pt x="446" y="1053"/>
                  </a:lnTo>
                  <a:lnTo>
                    <a:pt x="379" y="1053"/>
                  </a:lnTo>
                  <a:lnTo>
                    <a:pt x="379" y="361"/>
                  </a:lnTo>
                  <a:lnTo>
                    <a:pt x="0" y="361"/>
                  </a:lnTo>
                  <a:lnTo>
                    <a:pt x="0" y="1187"/>
                  </a:lnTo>
                  <a:lnTo>
                    <a:pt x="1250" y="1187"/>
                  </a:lnTo>
                  <a:lnTo>
                    <a:pt x="1250" y="250"/>
                  </a:lnTo>
                  <a:lnTo>
                    <a:pt x="915" y="250"/>
                  </a:lnTo>
                  <a:close/>
                  <a:moveTo>
                    <a:pt x="982" y="339"/>
                  </a:moveTo>
                  <a:lnTo>
                    <a:pt x="1183" y="339"/>
                  </a:lnTo>
                  <a:lnTo>
                    <a:pt x="1183" y="584"/>
                  </a:lnTo>
                  <a:lnTo>
                    <a:pt x="982" y="584"/>
                  </a:lnTo>
                  <a:lnTo>
                    <a:pt x="982" y="339"/>
                  </a:lnTo>
                  <a:close/>
                  <a:moveTo>
                    <a:pt x="982" y="674"/>
                  </a:moveTo>
                  <a:lnTo>
                    <a:pt x="1183" y="674"/>
                  </a:lnTo>
                  <a:lnTo>
                    <a:pt x="1183" y="919"/>
                  </a:lnTo>
                  <a:lnTo>
                    <a:pt x="982" y="919"/>
                  </a:lnTo>
                  <a:lnTo>
                    <a:pt x="982" y="674"/>
                  </a:lnTo>
                  <a:close/>
                  <a:moveTo>
                    <a:pt x="513" y="71"/>
                  </a:moveTo>
                  <a:lnTo>
                    <a:pt x="781" y="71"/>
                  </a:lnTo>
                  <a:lnTo>
                    <a:pt x="781" y="183"/>
                  </a:lnTo>
                  <a:lnTo>
                    <a:pt x="513" y="183"/>
                  </a:lnTo>
                  <a:lnTo>
                    <a:pt x="513" y="71"/>
                  </a:lnTo>
                  <a:close/>
                  <a:moveTo>
                    <a:pt x="513" y="294"/>
                  </a:moveTo>
                  <a:lnTo>
                    <a:pt x="781" y="294"/>
                  </a:lnTo>
                  <a:lnTo>
                    <a:pt x="781" y="406"/>
                  </a:lnTo>
                  <a:lnTo>
                    <a:pt x="513" y="406"/>
                  </a:lnTo>
                  <a:lnTo>
                    <a:pt x="513" y="294"/>
                  </a:lnTo>
                  <a:close/>
                  <a:moveTo>
                    <a:pt x="513" y="517"/>
                  </a:moveTo>
                  <a:lnTo>
                    <a:pt x="781" y="517"/>
                  </a:lnTo>
                  <a:lnTo>
                    <a:pt x="781" y="629"/>
                  </a:lnTo>
                  <a:lnTo>
                    <a:pt x="513" y="629"/>
                  </a:lnTo>
                  <a:lnTo>
                    <a:pt x="513" y="517"/>
                  </a:lnTo>
                  <a:close/>
                  <a:moveTo>
                    <a:pt x="513" y="741"/>
                  </a:moveTo>
                  <a:lnTo>
                    <a:pt x="781" y="741"/>
                  </a:lnTo>
                  <a:lnTo>
                    <a:pt x="781" y="852"/>
                  </a:lnTo>
                  <a:lnTo>
                    <a:pt x="513" y="852"/>
                  </a:lnTo>
                  <a:lnTo>
                    <a:pt x="513" y="741"/>
                  </a:lnTo>
                  <a:close/>
                  <a:moveTo>
                    <a:pt x="67" y="450"/>
                  </a:moveTo>
                  <a:lnTo>
                    <a:pt x="156" y="450"/>
                  </a:lnTo>
                  <a:lnTo>
                    <a:pt x="156" y="607"/>
                  </a:lnTo>
                  <a:lnTo>
                    <a:pt x="67" y="607"/>
                  </a:lnTo>
                  <a:lnTo>
                    <a:pt x="67" y="450"/>
                  </a:lnTo>
                  <a:close/>
                  <a:moveTo>
                    <a:pt x="223" y="450"/>
                  </a:moveTo>
                  <a:lnTo>
                    <a:pt x="313" y="450"/>
                  </a:lnTo>
                  <a:lnTo>
                    <a:pt x="313" y="607"/>
                  </a:lnTo>
                  <a:lnTo>
                    <a:pt x="223" y="607"/>
                  </a:lnTo>
                  <a:lnTo>
                    <a:pt x="223" y="450"/>
                  </a:lnTo>
                  <a:close/>
                  <a:moveTo>
                    <a:pt x="67" y="718"/>
                  </a:moveTo>
                  <a:lnTo>
                    <a:pt x="156" y="718"/>
                  </a:lnTo>
                  <a:lnTo>
                    <a:pt x="156" y="875"/>
                  </a:lnTo>
                  <a:lnTo>
                    <a:pt x="67" y="875"/>
                  </a:lnTo>
                  <a:lnTo>
                    <a:pt x="67" y="718"/>
                  </a:lnTo>
                  <a:close/>
                  <a:moveTo>
                    <a:pt x="223" y="718"/>
                  </a:moveTo>
                  <a:lnTo>
                    <a:pt x="313" y="718"/>
                  </a:lnTo>
                  <a:lnTo>
                    <a:pt x="313" y="875"/>
                  </a:lnTo>
                  <a:lnTo>
                    <a:pt x="223" y="875"/>
                  </a:lnTo>
                  <a:lnTo>
                    <a:pt x="223" y="718"/>
                  </a:lnTo>
                  <a:close/>
                </a:path>
              </a:pathLst>
            </a:custGeom>
            <a:solidFill>
              <a:srgbClr val="3BACBE"/>
            </a:solidFill>
            <a:ln w="0">
              <a:noFill/>
            </a:ln>
            <a:effectLst>
              <a:glow rad="101520">
                <a:srgbClr val="FBE5DE">
                  <a:alpha val="86000"/>
                </a:srgbClr>
              </a:glow>
              <a:innerShdw blurRad="63500" dist="50800" dir="13500000">
                <a:srgbClr val="61FFA8">
                  <a:alpha val="38000"/>
                </a:srgbClr>
              </a:innerShdw>
            </a:effectLst>
          </p:spPr>
          <p:txBody>
            <a:bodyPr numCol="1" spcCol="0" anchor="t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200" b="0" i="0" u="none" strike="noStrike" kern="0" cap="none" spc="-1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graphicFrame>
        <p:nvGraphicFramePr>
          <p:cNvPr id="7" name="Diagramm 6">
            <a:extLst>
              <a:ext uri="{FF2B5EF4-FFF2-40B4-BE49-F238E27FC236}">
                <a16:creationId xmlns:a16="http://schemas.microsoft.com/office/drawing/2014/main" id="{D475C3C4-B0E2-4526-9174-791DAF1A1ECF}"/>
              </a:ext>
            </a:extLst>
          </p:cNvPr>
          <p:cNvGraphicFramePr>
            <a:graphicFrameLocks/>
          </p:cNvGraphicFramePr>
          <p:nvPr/>
        </p:nvGraphicFramePr>
        <p:xfrm>
          <a:off x="6272338" y="2399269"/>
          <a:ext cx="5578475" cy="371017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</p:spTree>
    <p:extLst>
      <p:ext uri="{BB962C8B-B14F-4D97-AF65-F5344CB8AC3E}">
        <p14:creationId xmlns:p14="http://schemas.microsoft.com/office/powerpoint/2010/main" val="3689720754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350B97A-D235-0188-4937-AE21315AB6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Beispiel Pilzgasse ZQ3 Demo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B9EA6C5D-7472-4200-99D5-2E37C2C8BBA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719669" y="2164801"/>
            <a:ext cx="5376331" cy="3977767"/>
          </a:xfrm>
        </p:spPr>
        <p:txBody>
          <a:bodyPr/>
          <a:lstStyle/>
          <a:p>
            <a:r>
              <a:rPr lang="de-DE" dirty="0"/>
              <a:t>Hohe Bauliche Dichte (GFZ=4,6) -&gt; 40,7 Kontextfaktor</a:t>
            </a:r>
          </a:p>
          <a:p>
            <a:r>
              <a:rPr lang="de-DE" dirty="0"/>
              <a:t>40% Gewerbe -&gt; Höherer Mobilitäts-Bedarf und Budget</a:t>
            </a:r>
          </a:p>
          <a:p>
            <a:r>
              <a:rPr lang="de-DE" dirty="0"/>
              <a:t>Insgesamt deutlich positive PE-Bilanz </a:t>
            </a:r>
            <a:r>
              <a:rPr lang="de-DE" spc="-1" dirty="0">
                <a:solidFill>
                  <a:schemeClr val="lt1">
                    <a:lumMod val="10000"/>
                  </a:schemeClr>
                </a:solidFill>
              </a:rPr>
              <a:t>von +</a:t>
            </a:r>
            <a:r>
              <a:rPr lang="de-DE" b="1" spc="-1" dirty="0">
                <a:solidFill>
                  <a:schemeClr val="accent3"/>
                </a:solidFill>
              </a:rPr>
              <a:t>4,2</a:t>
            </a:r>
            <a:r>
              <a:rPr lang="de-DE" spc="-1" dirty="0">
                <a:solidFill>
                  <a:schemeClr val="lt1">
                    <a:lumMod val="10000"/>
                  </a:schemeClr>
                </a:solidFill>
              </a:rPr>
              <a:t> </a:t>
            </a:r>
            <a:r>
              <a:rPr lang="de-DE" spc="-1" dirty="0" err="1">
                <a:solidFill>
                  <a:schemeClr val="lt1">
                    <a:lumMod val="10000"/>
                  </a:schemeClr>
                </a:solidFill>
              </a:rPr>
              <a:t>kWh</a:t>
            </a:r>
            <a:r>
              <a:rPr lang="de-DE" spc="-1" baseline="-25000" dirty="0" err="1">
                <a:solidFill>
                  <a:schemeClr val="lt1">
                    <a:lumMod val="10000"/>
                  </a:schemeClr>
                </a:solidFill>
              </a:rPr>
              <a:t>PE</a:t>
            </a:r>
            <a:r>
              <a:rPr lang="de-DE" spc="-1" dirty="0">
                <a:solidFill>
                  <a:schemeClr val="lt1">
                    <a:lumMod val="10000"/>
                  </a:schemeClr>
                </a:solidFill>
              </a:rPr>
              <a:t>/(m²</a:t>
            </a:r>
            <a:r>
              <a:rPr lang="de-DE" spc="-1" baseline="-25000" dirty="0">
                <a:solidFill>
                  <a:schemeClr val="lt1">
                    <a:lumMod val="10000"/>
                  </a:schemeClr>
                </a:solidFill>
              </a:rPr>
              <a:t>NGF</a:t>
            </a:r>
            <a:r>
              <a:rPr lang="de-DE" spc="-1" dirty="0">
                <a:solidFill>
                  <a:schemeClr val="lt1">
                    <a:lumMod val="10000"/>
                  </a:schemeClr>
                </a:solidFill>
              </a:rPr>
              <a:t>a)</a:t>
            </a:r>
          </a:p>
          <a:p>
            <a:endParaRPr lang="de-DE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9489C891-7DF8-DBE0-4DE3-32CAF03561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AT" sz="1867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F1D0D667-BD54-1F18-5751-7900C4880A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206269C-C24E-4E80-9A4B-E7E19BB59A67}" type="slidenum">
              <a:rPr kumimoji="0" lang="de-AT" sz="1867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34</a:t>
            </a:fld>
            <a:endParaRPr kumimoji="0" lang="de-AT" sz="1867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aphicFrame>
        <p:nvGraphicFramePr>
          <p:cNvPr id="6" name="Diagramm 5">
            <a:extLst>
              <a:ext uri="{FF2B5EF4-FFF2-40B4-BE49-F238E27FC236}">
                <a16:creationId xmlns:a16="http://schemas.microsoft.com/office/drawing/2014/main" id="{0181B24C-2236-4C92-AF28-0C835916ED4D}"/>
              </a:ext>
            </a:extLst>
          </p:cNvPr>
          <p:cNvGraphicFramePr>
            <a:graphicFrameLocks/>
          </p:cNvGraphicFramePr>
          <p:nvPr/>
        </p:nvGraphicFramePr>
        <p:xfrm>
          <a:off x="6408102" y="1710269"/>
          <a:ext cx="5364798" cy="443229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8" name="Textfeld 7">
            <a:extLst>
              <a:ext uri="{FF2B5EF4-FFF2-40B4-BE49-F238E27FC236}">
                <a16:creationId xmlns:a16="http://schemas.microsoft.com/office/drawing/2014/main" id="{BA25310B-A36C-948A-D81B-FFE3FFFB8777}"/>
              </a:ext>
            </a:extLst>
          </p:cNvPr>
          <p:cNvSpPr txBox="1"/>
          <p:nvPr/>
        </p:nvSpPr>
        <p:spPr>
          <a:xfrm>
            <a:off x="7977907" y="2307191"/>
            <a:ext cx="993775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AT" sz="1800" b="1" i="0" u="none" strike="noStrike" kern="1200" cap="none" spc="0" normalizeH="0" baseline="0" noProof="0" dirty="0">
                <a:ln>
                  <a:noFill/>
                </a:ln>
                <a:solidFill>
                  <a:srgbClr val="5FB564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+4,2</a:t>
            </a:r>
            <a:endParaRPr kumimoji="0" lang="de-DE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Eckige Klammer links 8">
            <a:extLst>
              <a:ext uri="{FF2B5EF4-FFF2-40B4-BE49-F238E27FC236}">
                <a16:creationId xmlns:a16="http://schemas.microsoft.com/office/drawing/2014/main" id="{1F88B0F2-0686-9BFF-1999-EBCB8FC77FBC}"/>
              </a:ext>
            </a:extLst>
          </p:cNvPr>
          <p:cNvSpPr/>
          <p:nvPr/>
        </p:nvSpPr>
        <p:spPr>
          <a:xfrm flipV="1">
            <a:off x="7268527" y="2576513"/>
            <a:ext cx="912017" cy="100010"/>
          </a:xfrm>
          <a:prstGeom prst="leftBracket">
            <a:avLst>
              <a:gd name="adj" fmla="val 0"/>
            </a:avLst>
          </a:prstGeom>
          <a:ln w="19050"/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pSp>
        <p:nvGrpSpPr>
          <p:cNvPr id="10" name="Gruppieren 9">
            <a:extLst>
              <a:ext uri="{FF2B5EF4-FFF2-40B4-BE49-F238E27FC236}">
                <a16:creationId xmlns:a16="http://schemas.microsoft.com/office/drawing/2014/main" id="{50F60CB6-FF2D-CF04-11BE-8E2AA6769BEC}"/>
              </a:ext>
            </a:extLst>
          </p:cNvPr>
          <p:cNvGrpSpPr/>
          <p:nvPr/>
        </p:nvGrpSpPr>
        <p:grpSpPr>
          <a:xfrm>
            <a:off x="6913616" y="616051"/>
            <a:ext cx="1847342" cy="1094218"/>
            <a:chOff x="9624656" y="925240"/>
            <a:chExt cx="1847342" cy="1094218"/>
          </a:xfrm>
        </p:grpSpPr>
        <p:sp>
          <p:nvSpPr>
            <p:cNvPr id="11" name="Band: nach unten gekippt 10">
              <a:extLst>
                <a:ext uri="{FF2B5EF4-FFF2-40B4-BE49-F238E27FC236}">
                  <a16:creationId xmlns:a16="http://schemas.microsoft.com/office/drawing/2014/main" id="{9C9EE071-6FFD-D32B-3833-BF20C87C410A}"/>
                </a:ext>
              </a:extLst>
            </p:cNvPr>
            <p:cNvSpPr/>
            <p:nvPr/>
          </p:nvSpPr>
          <p:spPr bwMode="auto">
            <a:xfrm>
              <a:off x="9624656" y="1450474"/>
              <a:ext cx="1775199" cy="540000"/>
            </a:xfrm>
            <a:prstGeom prst="ribbon">
              <a:avLst>
                <a:gd name="adj1" fmla="val 19017"/>
                <a:gd name="adj2" fmla="val 75000"/>
              </a:avLst>
            </a:prstGeom>
            <a:solidFill>
              <a:srgbClr val="F59C00">
                <a:lumMod val="60000"/>
                <a:lumOff val="40000"/>
              </a:srgbClr>
            </a:solidFill>
            <a:ln w="635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de-DE" sz="1400" b="0" i="0" u="none" strike="noStrike" kern="0" cap="none" spc="0" normalizeH="0" baseline="0" noProof="1">
                <a:ln>
                  <a:noFill/>
                </a:ln>
                <a:solidFill>
                  <a:srgbClr val="E6EFF3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2" name="Rechteck 11">
              <a:extLst>
                <a:ext uri="{FF2B5EF4-FFF2-40B4-BE49-F238E27FC236}">
                  <a16:creationId xmlns:a16="http://schemas.microsoft.com/office/drawing/2014/main" id="{80C718D8-9FCB-C0A0-F450-08BC8A1D2D58}"/>
                </a:ext>
              </a:extLst>
            </p:cNvPr>
            <p:cNvSpPr/>
            <p:nvPr/>
          </p:nvSpPr>
          <p:spPr bwMode="auto">
            <a:xfrm>
              <a:off x="9687606" y="1603960"/>
              <a:ext cx="1784392" cy="415498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0" marR="0" lvl="0" indent="0" algn="ctr" defTabSz="914377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de-DE" sz="1050" b="1" i="0" u="none" strike="noStrike" kern="1200" cap="none" spc="0" normalizeH="0" baseline="0" noProof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Bahnschrift" panose="020B0502040204020203" pitchFamily="34" charset="0"/>
                  <a:ea typeface="+mn-ea"/>
                  <a:cs typeface="+mn-cs"/>
                </a:rPr>
                <a:t>Plus-Energie-Quartier</a:t>
              </a:r>
            </a:p>
            <a:p>
              <a:pPr marL="0" marR="0" lvl="0" indent="0" algn="ctr" defTabSz="914377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de-DE" sz="1050" b="1" i="0" u="none" strike="noStrike" kern="1200" cap="none" spc="0" normalizeH="0" baseline="0" noProof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Bahnschrift" panose="020B0502040204020203" pitchFamily="34" charset="0"/>
                  <a:ea typeface="+mn-ea"/>
                  <a:cs typeface="+mn-cs"/>
                </a:rPr>
                <a:t>Mit Mobilität</a:t>
              </a:r>
            </a:p>
          </p:txBody>
        </p:sp>
        <p:grpSp>
          <p:nvGrpSpPr>
            <p:cNvPr id="13" name="Gruppieren 12">
              <a:extLst>
                <a:ext uri="{FF2B5EF4-FFF2-40B4-BE49-F238E27FC236}">
                  <a16:creationId xmlns:a16="http://schemas.microsoft.com/office/drawing/2014/main" id="{21A62431-65C7-8DE6-D8AE-F6177D1E78AF}"/>
                </a:ext>
              </a:extLst>
            </p:cNvPr>
            <p:cNvGrpSpPr/>
            <p:nvPr/>
          </p:nvGrpSpPr>
          <p:grpSpPr>
            <a:xfrm>
              <a:off x="10161463" y="925240"/>
              <a:ext cx="700101" cy="694145"/>
              <a:chOff x="4399640" y="1143095"/>
              <a:chExt cx="785172" cy="778492"/>
            </a:xfrm>
            <a:solidFill>
              <a:srgbClr val="F59C00"/>
            </a:solidFill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grpSpPr>
          <p:sp>
            <p:nvSpPr>
              <p:cNvPr id="14" name="Stern: 10 Zacken 13">
                <a:extLst>
                  <a:ext uri="{FF2B5EF4-FFF2-40B4-BE49-F238E27FC236}">
                    <a16:creationId xmlns:a16="http://schemas.microsoft.com/office/drawing/2014/main" id="{D39C2D94-20C8-99D1-8B57-B6A3871C82EB}"/>
                  </a:ext>
                </a:extLst>
              </p:cNvPr>
              <p:cNvSpPr/>
              <p:nvPr/>
            </p:nvSpPr>
            <p:spPr>
              <a:xfrm>
                <a:off x="4399640" y="1143095"/>
                <a:ext cx="785172" cy="778492"/>
              </a:xfrm>
              <a:prstGeom prst="star10">
                <a:avLst>
                  <a:gd name="adj" fmla="val 44491"/>
                  <a:gd name="hf" fmla="val 105146"/>
                </a:avLst>
              </a:prstGeom>
              <a:grpFill/>
              <a:ln w="19050" cap="flat" cmpd="sng" algn="ctr">
                <a:solidFill>
                  <a:srgbClr val="F59C00"/>
                </a:solidFill>
                <a:prstDash val="solid"/>
                <a:miter lim="800000"/>
              </a:ln>
              <a:effectLst>
                <a:innerShdw blurRad="63500" dist="50800" dir="13500000">
                  <a:srgbClr val="F59C00">
                    <a:alpha val="77000"/>
                  </a:srgbClr>
                </a:innerShdw>
              </a:effectLst>
            </p:spPr>
            <p:txBody>
              <a:bodyPr rtlCol="0" anchor="ctr"/>
              <a:lstStyle/>
              <a:p>
                <a:pPr marL="0" marR="0" lvl="0" indent="0" algn="ctr" defTabSz="121917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de-DE" sz="1400" b="0" i="0" u="none" strike="noStrike" kern="0" cap="none" spc="0" normalizeH="0" baseline="0" noProof="1">
                  <a:ln>
                    <a:noFill/>
                  </a:ln>
                  <a:solidFill>
                    <a:srgbClr val="E6EFF3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5" name="Zehneck 14">
                <a:extLst>
                  <a:ext uri="{FF2B5EF4-FFF2-40B4-BE49-F238E27FC236}">
                    <a16:creationId xmlns:a16="http://schemas.microsoft.com/office/drawing/2014/main" id="{E29D3918-1F62-29C7-DA52-3D2412314069}"/>
                  </a:ext>
                </a:extLst>
              </p:cNvPr>
              <p:cNvSpPr/>
              <p:nvPr/>
            </p:nvSpPr>
            <p:spPr>
              <a:xfrm>
                <a:off x="4476265" y="1217862"/>
                <a:ext cx="620528" cy="620529"/>
              </a:xfrm>
              <a:prstGeom prst="decagon">
                <a:avLst/>
              </a:prstGeom>
              <a:solidFill>
                <a:srgbClr val="950F53"/>
              </a:solidFill>
              <a:ln w="12700" cap="flat" cmpd="sng" algn="ctr">
                <a:solidFill>
                  <a:srgbClr val="950F53"/>
                </a:solidFill>
                <a:prstDash val="solid"/>
                <a:miter lim="800000"/>
              </a:ln>
              <a:effectLst>
                <a:innerShdw blurRad="63500" dist="50800" dir="13500000">
                  <a:srgbClr val="F59C00">
                    <a:lumMod val="20000"/>
                    <a:lumOff val="80000"/>
                    <a:alpha val="72000"/>
                  </a:srgbClr>
                </a:innerShdw>
              </a:effectLst>
            </p:spPr>
            <p:txBody>
              <a:bodyPr rtlCol="0" anchor="ctr"/>
              <a:lstStyle/>
              <a:p>
                <a:pPr marL="0" marR="0" lvl="0" indent="0" algn="ctr" defTabSz="121917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de-DE" sz="1400" b="0" i="0" u="none" strike="noStrike" kern="0" cap="none" spc="0" normalizeH="0" baseline="0" noProof="1">
                  <a:ln>
                    <a:noFill/>
                  </a:ln>
                  <a:solidFill>
                    <a:srgbClr val="E6EFF3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6" name="Building5" descr="{&quot;Key&quot;:&quot;POWER_USER_SHAPE_ICON&quot;,&quot;Value&quot;:&quot;POWER_USER_SHAPE_ICON_STYLE_1&quot;}">
                <a:extLst>
                  <a:ext uri="{FF2B5EF4-FFF2-40B4-BE49-F238E27FC236}">
                    <a16:creationId xmlns:a16="http://schemas.microsoft.com/office/drawing/2014/main" id="{3DE0DDD9-6086-79EC-A838-CF1BEBF71E63}"/>
                  </a:ext>
                </a:extLst>
              </p:cNvPr>
              <p:cNvSpPr>
                <a:spLocks noChangeAspect="1" noEditPoints="1"/>
              </p:cNvSpPr>
              <p:nvPr>
                <p:custDataLst>
                  <p:tags r:id="rId1"/>
                </p:custDataLst>
              </p:nvPr>
            </p:nvSpPr>
            <p:spPr bwMode="auto">
              <a:xfrm>
                <a:off x="4550947" y="1301271"/>
                <a:ext cx="461320" cy="410937"/>
              </a:xfrm>
              <a:custGeom>
                <a:avLst/>
                <a:gdLst>
                  <a:gd name="T0" fmla="*/ 915 w 1250"/>
                  <a:gd name="T1" fmla="*/ 250 h 1187"/>
                  <a:gd name="T2" fmla="*/ 915 w 1250"/>
                  <a:gd name="T3" fmla="*/ 1053 h 1187"/>
                  <a:gd name="T4" fmla="*/ 848 w 1250"/>
                  <a:gd name="T5" fmla="*/ 1053 h 1187"/>
                  <a:gd name="T6" fmla="*/ 850 w 1250"/>
                  <a:gd name="T7" fmla="*/ 0 h 1187"/>
                  <a:gd name="T8" fmla="*/ 448 w 1250"/>
                  <a:gd name="T9" fmla="*/ 0 h 1187"/>
                  <a:gd name="T10" fmla="*/ 446 w 1250"/>
                  <a:gd name="T11" fmla="*/ 1053 h 1187"/>
                  <a:gd name="T12" fmla="*/ 379 w 1250"/>
                  <a:gd name="T13" fmla="*/ 1053 h 1187"/>
                  <a:gd name="T14" fmla="*/ 379 w 1250"/>
                  <a:gd name="T15" fmla="*/ 361 h 1187"/>
                  <a:gd name="T16" fmla="*/ 0 w 1250"/>
                  <a:gd name="T17" fmla="*/ 361 h 1187"/>
                  <a:gd name="T18" fmla="*/ 0 w 1250"/>
                  <a:gd name="T19" fmla="*/ 1187 h 1187"/>
                  <a:gd name="T20" fmla="*/ 1250 w 1250"/>
                  <a:gd name="T21" fmla="*/ 1187 h 1187"/>
                  <a:gd name="T22" fmla="*/ 1250 w 1250"/>
                  <a:gd name="T23" fmla="*/ 250 h 1187"/>
                  <a:gd name="T24" fmla="*/ 915 w 1250"/>
                  <a:gd name="T25" fmla="*/ 250 h 1187"/>
                  <a:gd name="T26" fmla="*/ 982 w 1250"/>
                  <a:gd name="T27" fmla="*/ 339 h 1187"/>
                  <a:gd name="T28" fmla="*/ 1183 w 1250"/>
                  <a:gd name="T29" fmla="*/ 339 h 1187"/>
                  <a:gd name="T30" fmla="*/ 1183 w 1250"/>
                  <a:gd name="T31" fmla="*/ 584 h 1187"/>
                  <a:gd name="T32" fmla="*/ 982 w 1250"/>
                  <a:gd name="T33" fmla="*/ 584 h 1187"/>
                  <a:gd name="T34" fmla="*/ 982 w 1250"/>
                  <a:gd name="T35" fmla="*/ 339 h 1187"/>
                  <a:gd name="T36" fmla="*/ 982 w 1250"/>
                  <a:gd name="T37" fmla="*/ 674 h 1187"/>
                  <a:gd name="T38" fmla="*/ 1183 w 1250"/>
                  <a:gd name="T39" fmla="*/ 674 h 1187"/>
                  <a:gd name="T40" fmla="*/ 1183 w 1250"/>
                  <a:gd name="T41" fmla="*/ 919 h 1187"/>
                  <a:gd name="T42" fmla="*/ 982 w 1250"/>
                  <a:gd name="T43" fmla="*/ 919 h 1187"/>
                  <a:gd name="T44" fmla="*/ 982 w 1250"/>
                  <a:gd name="T45" fmla="*/ 674 h 1187"/>
                  <a:gd name="T46" fmla="*/ 513 w 1250"/>
                  <a:gd name="T47" fmla="*/ 71 h 1187"/>
                  <a:gd name="T48" fmla="*/ 781 w 1250"/>
                  <a:gd name="T49" fmla="*/ 71 h 1187"/>
                  <a:gd name="T50" fmla="*/ 781 w 1250"/>
                  <a:gd name="T51" fmla="*/ 183 h 1187"/>
                  <a:gd name="T52" fmla="*/ 513 w 1250"/>
                  <a:gd name="T53" fmla="*/ 183 h 1187"/>
                  <a:gd name="T54" fmla="*/ 513 w 1250"/>
                  <a:gd name="T55" fmla="*/ 71 h 1187"/>
                  <a:gd name="T56" fmla="*/ 513 w 1250"/>
                  <a:gd name="T57" fmla="*/ 294 h 1187"/>
                  <a:gd name="T58" fmla="*/ 781 w 1250"/>
                  <a:gd name="T59" fmla="*/ 294 h 1187"/>
                  <a:gd name="T60" fmla="*/ 781 w 1250"/>
                  <a:gd name="T61" fmla="*/ 406 h 1187"/>
                  <a:gd name="T62" fmla="*/ 513 w 1250"/>
                  <a:gd name="T63" fmla="*/ 406 h 1187"/>
                  <a:gd name="T64" fmla="*/ 513 w 1250"/>
                  <a:gd name="T65" fmla="*/ 294 h 1187"/>
                  <a:gd name="T66" fmla="*/ 513 w 1250"/>
                  <a:gd name="T67" fmla="*/ 517 h 1187"/>
                  <a:gd name="T68" fmla="*/ 781 w 1250"/>
                  <a:gd name="T69" fmla="*/ 517 h 1187"/>
                  <a:gd name="T70" fmla="*/ 781 w 1250"/>
                  <a:gd name="T71" fmla="*/ 629 h 1187"/>
                  <a:gd name="T72" fmla="*/ 513 w 1250"/>
                  <a:gd name="T73" fmla="*/ 629 h 1187"/>
                  <a:gd name="T74" fmla="*/ 513 w 1250"/>
                  <a:gd name="T75" fmla="*/ 517 h 1187"/>
                  <a:gd name="T76" fmla="*/ 513 w 1250"/>
                  <a:gd name="T77" fmla="*/ 741 h 1187"/>
                  <a:gd name="T78" fmla="*/ 781 w 1250"/>
                  <a:gd name="T79" fmla="*/ 741 h 1187"/>
                  <a:gd name="T80" fmla="*/ 781 w 1250"/>
                  <a:gd name="T81" fmla="*/ 852 h 1187"/>
                  <a:gd name="T82" fmla="*/ 513 w 1250"/>
                  <a:gd name="T83" fmla="*/ 852 h 1187"/>
                  <a:gd name="T84" fmla="*/ 513 w 1250"/>
                  <a:gd name="T85" fmla="*/ 741 h 1187"/>
                  <a:gd name="T86" fmla="*/ 67 w 1250"/>
                  <a:gd name="T87" fmla="*/ 450 h 1187"/>
                  <a:gd name="T88" fmla="*/ 156 w 1250"/>
                  <a:gd name="T89" fmla="*/ 450 h 1187"/>
                  <a:gd name="T90" fmla="*/ 156 w 1250"/>
                  <a:gd name="T91" fmla="*/ 607 h 1187"/>
                  <a:gd name="T92" fmla="*/ 67 w 1250"/>
                  <a:gd name="T93" fmla="*/ 607 h 1187"/>
                  <a:gd name="T94" fmla="*/ 67 w 1250"/>
                  <a:gd name="T95" fmla="*/ 450 h 1187"/>
                  <a:gd name="T96" fmla="*/ 223 w 1250"/>
                  <a:gd name="T97" fmla="*/ 450 h 1187"/>
                  <a:gd name="T98" fmla="*/ 313 w 1250"/>
                  <a:gd name="T99" fmla="*/ 450 h 1187"/>
                  <a:gd name="T100" fmla="*/ 313 w 1250"/>
                  <a:gd name="T101" fmla="*/ 607 h 1187"/>
                  <a:gd name="T102" fmla="*/ 223 w 1250"/>
                  <a:gd name="T103" fmla="*/ 607 h 1187"/>
                  <a:gd name="T104" fmla="*/ 223 w 1250"/>
                  <a:gd name="T105" fmla="*/ 450 h 1187"/>
                  <a:gd name="T106" fmla="*/ 67 w 1250"/>
                  <a:gd name="T107" fmla="*/ 718 h 1187"/>
                  <a:gd name="T108" fmla="*/ 156 w 1250"/>
                  <a:gd name="T109" fmla="*/ 718 h 1187"/>
                  <a:gd name="T110" fmla="*/ 156 w 1250"/>
                  <a:gd name="T111" fmla="*/ 875 h 1187"/>
                  <a:gd name="T112" fmla="*/ 67 w 1250"/>
                  <a:gd name="T113" fmla="*/ 875 h 1187"/>
                  <a:gd name="T114" fmla="*/ 67 w 1250"/>
                  <a:gd name="T115" fmla="*/ 718 h 1187"/>
                  <a:gd name="T116" fmla="*/ 223 w 1250"/>
                  <a:gd name="T117" fmla="*/ 718 h 1187"/>
                  <a:gd name="T118" fmla="*/ 313 w 1250"/>
                  <a:gd name="T119" fmla="*/ 718 h 1187"/>
                  <a:gd name="T120" fmla="*/ 313 w 1250"/>
                  <a:gd name="T121" fmla="*/ 875 h 1187"/>
                  <a:gd name="T122" fmla="*/ 223 w 1250"/>
                  <a:gd name="T123" fmla="*/ 875 h 1187"/>
                  <a:gd name="T124" fmla="*/ 223 w 1250"/>
                  <a:gd name="T125" fmla="*/ 718 h 118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  <a:cxn ang="0">
                    <a:pos x="T122" y="T123"/>
                  </a:cxn>
                  <a:cxn ang="0">
                    <a:pos x="T124" y="T125"/>
                  </a:cxn>
                </a:cxnLst>
                <a:rect l="0" t="0" r="r" b="b"/>
                <a:pathLst>
                  <a:path w="1250" h="1187">
                    <a:moveTo>
                      <a:pt x="915" y="250"/>
                    </a:moveTo>
                    <a:lnTo>
                      <a:pt x="915" y="1053"/>
                    </a:lnTo>
                    <a:lnTo>
                      <a:pt x="848" y="1053"/>
                    </a:lnTo>
                    <a:lnTo>
                      <a:pt x="850" y="0"/>
                    </a:lnTo>
                    <a:lnTo>
                      <a:pt x="448" y="0"/>
                    </a:lnTo>
                    <a:lnTo>
                      <a:pt x="446" y="1053"/>
                    </a:lnTo>
                    <a:lnTo>
                      <a:pt x="379" y="1053"/>
                    </a:lnTo>
                    <a:lnTo>
                      <a:pt x="379" y="361"/>
                    </a:lnTo>
                    <a:lnTo>
                      <a:pt x="0" y="361"/>
                    </a:lnTo>
                    <a:lnTo>
                      <a:pt x="0" y="1187"/>
                    </a:lnTo>
                    <a:lnTo>
                      <a:pt x="1250" y="1187"/>
                    </a:lnTo>
                    <a:lnTo>
                      <a:pt x="1250" y="250"/>
                    </a:lnTo>
                    <a:lnTo>
                      <a:pt x="915" y="250"/>
                    </a:lnTo>
                    <a:close/>
                    <a:moveTo>
                      <a:pt x="982" y="339"/>
                    </a:moveTo>
                    <a:lnTo>
                      <a:pt x="1183" y="339"/>
                    </a:lnTo>
                    <a:lnTo>
                      <a:pt x="1183" y="584"/>
                    </a:lnTo>
                    <a:lnTo>
                      <a:pt x="982" y="584"/>
                    </a:lnTo>
                    <a:lnTo>
                      <a:pt x="982" y="339"/>
                    </a:lnTo>
                    <a:close/>
                    <a:moveTo>
                      <a:pt x="982" y="674"/>
                    </a:moveTo>
                    <a:lnTo>
                      <a:pt x="1183" y="674"/>
                    </a:lnTo>
                    <a:lnTo>
                      <a:pt x="1183" y="919"/>
                    </a:lnTo>
                    <a:lnTo>
                      <a:pt x="982" y="919"/>
                    </a:lnTo>
                    <a:lnTo>
                      <a:pt x="982" y="674"/>
                    </a:lnTo>
                    <a:close/>
                    <a:moveTo>
                      <a:pt x="513" y="71"/>
                    </a:moveTo>
                    <a:lnTo>
                      <a:pt x="781" y="71"/>
                    </a:lnTo>
                    <a:lnTo>
                      <a:pt x="781" y="183"/>
                    </a:lnTo>
                    <a:lnTo>
                      <a:pt x="513" y="183"/>
                    </a:lnTo>
                    <a:lnTo>
                      <a:pt x="513" y="71"/>
                    </a:lnTo>
                    <a:close/>
                    <a:moveTo>
                      <a:pt x="513" y="294"/>
                    </a:moveTo>
                    <a:lnTo>
                      <a:pt x="781" y="294"/>
                    </a:lnTo>
                    <a:lnTo>
                      <a:pt x="781" y="406"/>
                    </a:lnTo>
                    <a:lnTo>
                      <a:pt x="513" y="406"/>
                    </a:lnTo>
                    <a:lnTo>
                      <a:pt x="513" y="294"/>
                    </a:lnTo>
                    <a:close/>
                    <a:moveTo>
                      <a:pt x="513" y="517"/>
                    </a:moveTo>
                    <a:lnTo>
                      <a:pt x="781" y="517"/>
                    </a:lnTo>
                    <a:lnTo>
                      <a:pt x="781" y="629"/>
                    </a:lnTo>
                    <a:lnTo>
                      <a:pt x="513" y="629"/>
                    </a:lnTo>
                    <a:lnTo>
                      <a:pt x="513" y="517"/>
                    </a:lnTo>
                    <a:close/>
                    <a:moveTo>
                      <a:pt x="513" y="741"/>
                    </a:moveTo>
                    <a:lnTo>
                      <a:pt x="781" y="741"/>
                    </a:lnTo>
                    <a:lnTo>
                      <a:pt x="781" y="852"/>
                    </a:lnTo>
                    <a:lnTo>
                      <a:pt x="513" y="852"/>
                    </a:lnTo>
                    <a:lnTo>
                      <a:pt x="513" y="741"/>
                    </a:lnTo>
                    <a:close/>
                    <a:moveTo>
                      <a:pt x="67" y="450"/>
                    </a:moveTo>
                    <a:lnTo>
                      <a:pt x="156" y="450"/>
                    </a:lnTo>
                    <a:lnTo>
                      <a:pt x="156" y="607"/>
                    </a:lnTo>
                    <a:lnTo>
                      <a:pt x="67" y="607"/>
                    </a:lnTo>
                    <a:lnTo>
                      <a:pt x="67" y="450"/>
                    </a:lnTo>
                    <a:close/>
                    <a:moveTo>
                      <a:pt x="223" y="450"/>
                    </a:moveTo>
                    <a:lnTo>
                      <a:pt x="313" y="450"/>
                    </a:lnTo>
                    <a:lnTo>
                      <a:pt x="313" y="607"/>
                    </a:lnTo>
                    <a:lnTo>
                      <a:pt x="223" y="607"/>
                    </a:lnTo>
                    <a:lnTo>
                      <a:pt x="223" y="450"/>
                    </a:lnTo>
                    <a:close/>
                    <a:moveTo>
                      <a:pt x="67" y="718"/>
                    </a:moveTo>
                    <a:lnTo>
                      <a:pt x="156" y="718"/>
                    </a:lnTo>
                    <a:lnTo>
                      <a:pt x="156" y="875"/>
                    </a:lnTo>
                    <a:lnTo>
                      <a:pt x="67" y="875"/>
                    </a:lnTo>
                    <a:lnTo>
                      <a:pt x="67" y="718"/>
                    </a:lnTo>
                    <a:close/>
                    <a:moveTo>
                      <a:pt x="223" y="718"/>
                    </a:moveTo>
                    <a:lnTo>
                      <a:pt x="313" y="718"/>
                    </a:lnTo>
                    <a:lnTo>
                      <a:pt x="313" y="875"/>
                    </a:lnTo>
                    <a:lnTo>
                      <a:pt x="223" y="875"/>
                    </a:lnTo>
                    <a:lnTo>
                      <a:pt x="223" y="718"/>
                    </a:lnTo>
                    <a:close/>
                  </a:path>
                </a:pathLst>
              </a:custGeom>
              <a:solidFill>
                <a:srgbClr val="F59C00"/>
              </a:solidFill>
              <a:ln>
                <a:noFill/>
              </a:ln>
              <a:effectLst>
                <a:glow rad="76200">
                  <a:srgbClr val="F59C00">
                    <a:lumMod val="20000"/>
                    <a:lumOff val="80000"/>
                    <a:alpha val="88000"/>
                  </a:srgbClr>
                </a:glow>
              </a:effec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377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de-DE" sz="1200" b="0" i="0" u="none" strike="noStrike" kern="0" cap="none" spc="0" normalizeH="0" baseline="0" noProof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</p:grpSp>
      <p:pic>
        <p:nvPicPr>
          <p:cNvPr id="18" name="Grafik 17">
            <a:extLst>
              <a:ext uri="{FF2B5EF4-FFF2-40B4-BE49-F238E27FC236}">
                <a16:creationId xmlns:a16="http://schemas.microsoft.com/office/drawing/2014/main" id="{EE8788C6-0DC1-519B-E64D-4D0763B8528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30104" y="138726"/>
            <a:ext cx="3011942" cy="19386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60503835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2E76A51-F7D8-500F-0459-EC953251EF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Beispiel Alliiertenviertel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BF277484-77D9-90F9-9C6F-0527937C87D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719669" y="2164801"/>
            <a:ext cx="4652431" cy="3977767"/>
          </a:xfrm>
        </p:spPr>
        <p:txBody>
          <a:bodyPr/>
          <a:lstStyle/>
          <a:p>
            <a:r>
              <a:rPr lang="de-DE" dirty="0"/>
              <a:t>„Raus aus Gas“ allein reicht nicht</a:t>
            </a:r>
          </a:p>
          <a:p>
            <a:r>
              <a:rPr lang="de-DE" dirty="0"/>
              <a:t>Thermische Sanierung</a:t>
            </a:r>
          </a:p>
          <a:p>
            <a:r>
              <a:rPr lang="de-DE" dirty="0"/>
              <a:t>PV Ausbau nach Solarpotentialkataster</a:t>
            </a:r>
          </a:p>
          <a:p>
            <a:r>
              <a:rPr lang="de-DE" dirty="0"/>
              <a:t>Flexibles HKLS System</a:t>
            </a:r>
          </a:p>
          <a:p>
            <a:r>
              <a:rPr lang="de-DE" dirty="0"/>
              <a:t>Mobilität kann abgedeckt werden</a:t>
            </a:r>
          </a:p>
          <a:p>
            <a:endParaRPr lang="de-DE" dirty="0"/>
          </a:p>
          <a:p>
            <a:endParaRPr lang="de-DE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99630989-EEDD-F3BA-0D0D-3427D48CF7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AT" sz="1867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B9A60344-8B7B-4897-8717-50FB61DC0B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206269C-C24E-4E80-9A4B-E7E19BB59A67}" type="slidenum">
              <a:rPr kumimoji="0" lang="de-AT" sz="1867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35</a:t>
            </a:fld>
            <a:endParaRPr kumimoji="0" lang="de-AT" sz="1867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aphicFrame>
        <p:nvGraphicFramePr>
          <p:cNvPr id="6" name="Diagramm 5">
            <a:extLst>
              <a:ext uri="{FF2B5EF4-FFF2-40B4-BE49-F238E27FC236}">
                <a16:creationId xmlns:a16="http://schemas.microsoft.com/office/drawing/2014/main" id="{C279EF59-DC7E-4FBB-9732-3E68B227B128}"/>
              </a:ext>
            </a:extLst>
          </p:cNvPr>
          <p:cNvGraphicFramePr>
            <a:graphicFrameLocks/>
          </p:cNvGraphicFramePr>
          <p:nvPr/>
        </p:nvGraphicFramePr>
        <p:xfrm>
          <a:off x="5419723" y="2164801"/>
          <a:ext cx="6617063" cy="409998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9" name="Pfeil: nach rechts 8">
            <a:extLst>
              <a:ext uri="{FF2B5EF4-FFF2-40B4-BE49-F238E27FC236}">
                <a16:creationId xmlns:a16="http://schemas.microsoft.com/office/drawing/2014/main" id="{DEE62992-4BE3-C291-8DAC-43AF1CF1BBB7}"/>
              </a:ext>
            </a:extLst>
          </p:cNvPr>
          <p:cNvSpPr/>
          <p:nvPr/>
        </p:nvSpPr>
        <p:spPr>
          <a:xfrm>
            <a:off x="6457950" y="4214794"/>
            <a:ext cx="323850" cy="290862"/>
          </a:xfrm>
          <a:prstGeom prst="rightArrow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Pfeil: nach rechts 9">
            <a:extLst>
              <a:ext uri="{FF2B5EF4-FFF2-40B4-BE49-F238E27FC236}">
                <a16:creationId xmlns:a16="http://schemas.microsoft.com/office/drawing/2014/main" id="{F951EA04-908F-6AD8-AA1F-33559D3376EA}"/>
              </a:ext>
            </a:extLst>
          </p:cNvPr>
          <p:cNvSpPr/>
          <p:nvPr/>
        </p:nvSpPr>
        <p:spPr>
          <a:xfrm>
            <a:off x="7115175" y="4406403"/>
            <a:ext cx="323850" cy="290862"/>
          </a:xfrm>
          <a:prstGeom prst="rightArrow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Pfeil: nach rechts 10">
            <a:extLst>
              <a:ext uri="{FF2B5EF4-FFF2-40B4-BE49-F238E27FC236}">
                <a16:creationId xmlns:a16="http://schemas.microsoft.com/office/drawing/2014/main" id="{73AF452E-2D07-5D5C-5CA3-6D23C9370BFE}"/>
              </a:ext>
            </a:extLst>
          </p:cNvPr>
          <p:cNvSpPr/>
          <p:nvPr/>
        </p:nvSpPr>
        <p:spPr>
          <a:xfrm>
            <a:off x="8096300" y="4908985"/>
            <a:ext cx="323850" cy="290862"/>
          </a:xfrm>
          <a:prstGeom prst="rightArrow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Pfeil: nach rechts 11">
            <a:extLst>
              <a:ext uri="{FF2B5EF4-FFF2-40B4-BE49-F238E27FC236}">
                <a16:creationId xmlns:a16="http://schemas.microsoft.com/office/drawing/2014/main" id="{B859E5C3-CD21-5C06-A1CD-A12D4215F11A}"/>
              </a:ext>
            </a:extLst>
          </p:cNvPr>
          <p:cNvSpPr/>
          <p:nvPr/>
        </p:nvSpPr>
        <p:spPr>
          <a:xfrm>
            <a:off x="8720382" y="4763554"/>
            <a:ext cx="323850" cy="290862"/>
          </a:xfrm>
          <a:prstGeom prst="rightArrow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Pfeil: nach rechts 12">
            <a:extLst>
              <a:ext uri="{FF2B5EF4-FFF2-40B4-BE49-F238E27FC236}">
                <a16:creationId xmlns:a16="http://schemas.microsoft.com/office/drawing/2014/main" id="{C71285F8-9FE9-5086-09FF-5997D2B01C81}"/>
              </a:ext>
            </a:extLst>
          </p:cNvPr>
          <p:cNvSpPr/>
          <p:nvPr/>
        </p:nvSpPr>
        <p:spPr>
          <a:xfrm>
            <a:off x="9344465" y="4763554"/>
            <a:ext cx="323850" cy="290862"/>
          </a:xfrm>
          <a:prstGeom prst="rightArrow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7" name="Grafik 16">
            <a:extLst>
              <a:ext uri="{FF2B5EF4-FFF2-40B4-BE49-F238E27FC236}">
                <a16:creationId xmlns:a16="http://schemas.microsoft.com/office/drawing/2014/main" id="{19A61283-8859-F3A4-EEC9-C28BF6FEC1D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3225"/>
          <a:stretch>
            <a:fillRect/>
          </a:stretch>
        </p:blipFill>
        <p:spPr>
          <a:xfrm>
            <a:off x="6163115" y="739140"/>
            <a:ext cx="3731365" cy="2959475"/>
          </a:xfrm>
          <a:prstGeom prst="rect">
            <a:avLst/>
          </a:prstGeom>
        </p:spPr>
      </p:pic>
      <p:sp>
        <p:nvSpPr>
          <p:cNvPr id="18" name="Rechteck 17">
            <a:extLst>
              <a:ext uri="{FF2B5EF4-FFF2-40B4-BE49-F238E27FC236}">
                <a16:creationId xmlns:a16="http://schemas.microsoft.com/office/drawing/2014/main" id="{D8C3CC9E-D9A8-3365-ECCC-CB0A0606EFC5}"/>
              </a:ext>
            </a:extLst>
          </p:cNvPr>
          <p:cNvSpPr/>
          <p:nvPr/>
        </p:nvSpPr>
        <p:spPr>
          <a:xfrm>
            <a:off x="6198393" y="2947988"/>
            <a:ext cx="207170" cy="1176337"/>
          </a:xfrm>
          <a:prstGeom prst="rect">
            <a:avLst/>
          </a:prstGeom>
          <a:solidFill>
            <a:srgbClr val="2C818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174666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0" grpId="0" animBg="1"/>
      <p:bldP spid="11" grpId="0" animBg="1"/>
      <p:bldP spid="12" grpId="0" animBg="1"/>
      <p:bldP spid="13" grpId="0" animBg="1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FD2C367-28C2-B2D7-BD8C-CDAE33FEDE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Übersicht</a:t>
            </a:r>
            <a:endParaRPr lang="de-AT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1EDD2333-C3C4-1A4E-1FCF-EA11558366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AT" sz="1867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Präsentationstitel</a:t>
            </a:r>
            <a:endParaRPr kumimoji="0" lang="de-AT" sz="1867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B0AC1F82-E73D-087D-9352-1E72C1AE93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206269C-C24E-4E80-9A4B-E7E19BB59A67}" type="slidenum">
              <a:rPr kumimoji="0" lang="de-AT" sz="1867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36</a:t>
            </a:fld>
            <a:endParaRPr kumimoji="0" lang="de-AT" sz="1867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Textplatzhalter 8">
            <a:extLst>
              <a:ext uri="{FF2B5EF4-FFF2-40B4-BE49-F238E27FC236}">
                <a16:creationId xmlns:a16="http://schemas.microsoft.com/office/drawing/2014/main" id="{F7DBDF54-9CBB-154F-BB68-2A6D85B1FEB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00074" y="2164801"/>
            <a:ext cx="10757961" cy="3977767"/>
          </a:xfrm>
        </p:spPr>
        <p:txBody>
          <a:bodyPr/>
          <a:lstStyle/>
          <a:p>
            <a:r>
              <a:rPr lang="de-DE" sz="2000" dirty="0"/>
              <a:t>Am Bichl III</a:t>
            </a:r>
          </a:p>
          <a:p>
            <a:r>
              <a:rPr lang="de-DE" sz="2000" dirty="0"/>
              <a:t>Pilzgasse PEQ21</a:t>
            </a:r>
          </a:p>
          <a:p>
            <a:r>
              <a:rPr lang="de-DE" sz="2000" dirty="0" err="1"/>
              <a:t>RUGInnovation</a:t>
            </a:r>
            <a:endParaRPr lang="de-DE" sz="2000" dirty="0"/>
          </a:p>
          <a:p>
            <a:r>
              <a:rPr lang="de-DE" sz="2000" dirty="0" err="1"/>
              <a:t>Alliiiertenviertel</a:t>
            </a:r>
            <a:endParaRPr lang="de-AT" sz="2000" dirty="0"/>
          </a:p>
        </p:txBody>
      </p:sp>
      <p:graphicFrame>
        <p:nvGraphicFramePr>
          <p:cNvPr id="12" name="Diagramm 11">
            <a:extLst>
              <a:ext uri="{FF2B5EF4-FFF2-40B4-BE49-F238E27FC236}">
                <a16:creationId xmlns:a16="http://schemas.microsoft.com/office/drawing/2014/main" id="{C279EF59-DC7E-4FBB-9732-3E68B227B128}"/>
              </a:ext>
            </a:extLst>
          </p:cNvPr>
          <p:cNvGraphicFramePr>
            <a:graphicFrameLocks/>
          </p:cNvGraphicFramePr>
          <p:nvPr/>
        </p:nvGraphicFramePr>
        <p:xfrm>
          <a:off x="2900287" y="2086874"/>
          <a:ext cx="9167888" cy="422220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pic>
        <p:nvPicPr>
          <p:cNvPr id="6" name="Grafik 5">
            <a:extLst>
              <a:ext uri="{FF2B5EF4-FFF2-40B4-BE49-F238E27FC236}">
                <a16:creationId xmlns:a16="http://schemas.microsoft.com/office/drawing/2014/main" id="{BA2D7C5D-17B8-A020-3DF8-FAE82D7A88E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71889" y="1736273"/>
            <a:ext cx="1489314" cy="958617"/>
          </a:xfrm>
          <a:prstGeom prst="rect">
            <a:avLst/>
          </a:prstGeom>
          <a:effectLst>
            <a:softEdge rad="12700"/>
          </a:effectLst>
        </p:spPr>
      </p:pic>
      <p:pic>
        <p:nvPicPr>
          <p:cNvPr id="7" name="Grafik 6">
            <a:extLst>
              <a:ext uri="{FF2B5EF4-FFF2-40B4-BE49-F238E27FC236}">
                <a16:creationId xmlns:a16="http://schemas.microsoft.com/office/drawing/2014/main" id="{9F8F7849-5DBF-F8EA-519B-AB35BB44C5A2}"/>
              </a:ext>
            </a:extLst>
          </p:cNvPr>
          <p:cNvPicPr>
            <a:picLocks noChangeAspect="1"/>
          </p:cNvPicPr>
          <p:nvPr/>
        </p:nvPicPr>
        <p:blipFill rotWithShape="1">
          <a:blip r:embed="rId6"/>
          <a:srcRect t="19759" b="3658"/>
          <a:stretch/>
        </p:blipFill>
        <p:spPr>
          <a:xfrm>
            <a:off x="6854071" y="1994991"/>
            <a:ext cx="1733160" cy="667759"/>
          </a:xfrm>
          <a:prstGeom prst="rect">
            <a:avLst/>
          </a:prstGeom>
          <a:effectLst>
            <a:softEdge rad="12700"/>
          </a:effectLst>
        </p:spPr>
      </p:pic>
      <p:pic>
        <p:nvPicPr>
          <p:cNvPr id="11" name="Grafik 10">
            <a:extLst>
              <a:ext uri="{FF2B5EF4-FFF2-40B4-BE49-F238E27FC236}">
                <a16:creationId xmlns:a16="http://schemas.microsoft.com/office/drawing/2014/main" id="{2A498B52-FD7A-DC33-C1D8-2524034265B6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568768" y="1777072"/>
            <a:ext cx="1687513" cy="917818"/>
          </a:xfrm>
          <a:prstGeom prst="rect">
            <a:avLst/>
          </a:prstGeom>
          <a:effectLst>
            <a:softEdge rad="12700"/>
          </a:effectLst>
        </p:spPr>
      </p:pic>
      <p:pic>
        <p:nvPicPr>
          <p:cNvPr id="16" name="Grafik 15">
            <a:extLst>
              <a:ext uri="{FF2B5EF4-FFF2-40B4-BE49-F238E27FC236}">
                <a16:creationId xmlns:a16="http://schemas.microsoft.com/office/drawing/2014/main" id="{F7CC0897-E14D-88EF-1D6C-1817FA3E3026}"/>
              </a:ext>
            </a:extLst>
          </p:cNvPr>
          <p:cNvPicPr>
            <a:picLocks noChangeAspect="1"/>
          </p:cNvPicPr>
          <p:nvPr/>
        </p:nvPicPr>
        <p:blipFill>
          <a:blip r:embed="rId8"/>
          <a:srcRect r="3225"/>
          <a:stretch>
            <a:fillRect/>
          </a:stretch>
        </p:blipFill>
        <p:spPr>
          <a:xfrm>
            <a:off x="8587231" y="1574188"/>
            <a:ext cx="1489313" cy="1181226"/>
          </a:xfrm>
          <a:prstGeom prst="rect">
            <a:avLst/>
          </a:prstGeom>
          <a:effectLst>
            <a:softEdge rad="12700"/>
          </a:effectLst>
        </p:spPr>
      </p:pic>
      <p:grpSp>
        <p:nvGrpSpPr>
          <p:cNvPr id="3" name="Gruppieren 37">
            <a:extLst>
              <a:ext uri="{FF2B5EF4-FFF2-40B4-BE49-F238E27FC236}">
                <a16:creationId xmlns:a16="http://schemas.microsoft.com/office/drawing/2014/main" id="{72A1580F-19C3-0AAF-E32B-1A786710EBEF}"/>
              </a:ext>
            </a:extLst>
          </p:cNvPr>
          <p:cNvGrpSpPr/>
          <p:nvPr/>
        </p:nvGrpSpPr>
        <p:grpSpPr>
          <a:xfrm>
            <a:off x="6527359" y="461813"/>
            <a:ext cx="2293717" cy="1559679"/>
            <a:chOff x="6018840" y="12960"/>
            <a:chExt cx="1865160" cy="1166760"/>
          </a:xfrm>
        </p:grpSpPr>
        <p:sp>
          <p:nvSpPr>
            <p:cNvPr id="8" name="Band: nach unten gekippt 40">
              <a:extLst>
                <a:ext uri="{FF2B5EF4-FFF2-40B4-BE49-F238E27FC236}">
                  <a16:creationId xmlns:a16="http://schemas.microsoft.com/office/drawing/2014/main" id="{A18F3E19-9897-6CB5-6DF9-E91FE522A802}"/>
                </a:ext>
              </a:extLst>
            </p:cNvPr>
            <p:cNvSpPr/>
            <p:nvPr/>
          </p:nvSpPr>
          <p:spPr>
            <a:xfrm>
              <a:off x="6018840" y="566640"/>
              <a:ext cx="1865160" cy="420480"/>
            </a:xfrm>
            <a:prstGeom prst="ribbon">
              <a:avLst>
                <a:gd name="adj1" fmla="val 15670"/>
                <a:gd name="adj2" fmla="val 75000"/>
              </a:avLst>
            </a:prstGeom>
            <a:solidFill>
              <a:srgbClr val="3BACBE"/>
            </a:solidFill>
            <a:ln w="6350" cap="flat" cmpd="sng" algn="ctr">
              <a:noFill/>
              <a:prstDash val="solid"/>
            </a:ln>
            <a:effectLst/>
          </p:spPr>
          <p:txBody>
            <a:bodyPr lIns="90000" tIns="45000" rIns="90000" bIns="45000" anchor="ctr">
              <a:noAutofit/>
            </a:bodyPr>
            <a:lstStyle/>
            <a:p>
              <a:pPr marL="0" marR="0" lvl="0" indent="0" algn="ctr" defTabSz="121932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de-AT" sz="2130" b="0" i="0" u="none" strike="noStrike" kern="0" cap="none" spc="-1" normalizeH="0" baseline="0" noProof="0">
                <a:ln>
                  <a:noFill/>
                </a:ln>
                <a:solidFill>
                  <a:srgbClr val="E6EFF3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0" name="Stern: 12 Zacken 41">
              <a:extLst>
                <a:ext uri="{FF2B5EF4-FFF2-40B4-BE49-F238E27FC236}">
                  <a16:creationId xmlns:a16="http://schemas.microsoft.com/office/drawing/2014/main" id="{3FDE6C9C-3A64-B0E0-8B06-BAD50E73C214}"/>
                </a:ext>
              </a:extLst>
            </p:cNvPr>
            <p:cNvSpPr/>
            <p:nvPr/>
          </p:nvSpPr>
          <p:spPr>
            <a:xfrm>
              <a:off x="6623280" y="12960"/>
              <a:ext cx="691560" cy="663840"/>
            </a:xfrm>
            <a:prstGeom prst="star12">
              <a:avLst>
                <a:gd name="adj" fmla="val 47681"/>
              </a:avLst>
            </a:prstGeom>
            <a:solidFill>
              <a:srgbClr val="3BACBE"/>
            </a:solidFill>
            <a:ln w="19050" cap="flat" cmpd="sng" algn="ctr">
              <a:solidFill>
                <a:srgbClr val="3BACBE"/>
              </a:solidFill>
              <a:prstDash val="solid"/>
              <a:round/>
            </a:ln>
            <a:effectLst>
              <a:innerShdw blurRad="63500" dist="50800" dir="13500000">
                <a:srgbClr val="5FB564">
                  <a:lumMod val="20000"/>
                  <a:lumOff val="80000"/>
                  <a:alpha val="86000"/>
                </a:srgbClr>
              </a:innerShdw>
            </a:effectLst>
          </p:spPr>
          <p:txBody>
            <a:bodyPr lIns="90000" tIns="45000" rIns="90000" bIns="45000" anchor="ctr">
              <a:noAutofit/>
            </a:bodyPr>
            <a:lstStyle/>
            <a:p>
              <a:pPr marL="0" marR="0" lvl="0" indent="0" algn="ctr" defTabSz="121932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de-AT" sz="1400" b="0" i="0" u="none" strike="noStrike" kern="0" cap="none" spc="-1" normalizeH="0" baseline="0" noProof="0">
                <a:ln>
                  <a:noFill/>
                </a:ln>
                <a:solidFill>
                  <a:srgbClr val="E6EFF3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" name="Textfeld 42">
              <a:extLst>
                <a:ext uri="{FF2B5EF4-FFF2-40B4-BE49-F238E27FC236}">
                  <a16:creationId xmlns:a16="http://schemas.microsoft.com/office/drawing/2014/main" id="{9BBD7278-4969-7044-FECB-555E94F28B7B}"/>
                </a:ext>
              </a:extLst>
            </p:cNvPr>
            <p:cNvSpPr/>
            <p:nvPr/>
          </p:nvSpPr>
          <p:spPr>
            <a:xfrm>
              <a:off x="6132240" y="610560"/>
              <a:ext cx="1624320" cy="569160"/>
            </a:xfrm>
            <a:prstGeom prst="rect">
              <a:avLst/>
            </a:prstGeom>
            <a:noFill/>
            <a:ln w="0">
              <a:noFill/>
            </a:ln>
            <a:effectLst/>
          </p:spPr>
          <p:txBody>
            <a:bodyPr lIns="90000" tIns="45000" rIns="90000" bIns="45000" anchor="t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50" b="1" i="0" u="none" strike="noStrike" kern="0" cap="none" spc="-1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Bahnschrift"/>
                  <a:ea typeface="+mn-ea"/>
                  <a:cs typeface="+mn-cs"/>
                </a:rPr>
                <a:t>klimaneutrales </a:t>
              </a:r>
              <a:endParaRPr kumimoji="0" lang="de-DE" sz="1050" b="0" i="0" u="none" strike="noStrike" kern="0" cap="none" spc="-1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50" b="1" i="0" u="none" strike="noStrike" kern="0" cap="none" spc="-1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Bahnschrift"/>
                  <a:ea typeface="+mn-ea"/>
                  <a:cs typeface="+mn-cs"/>
                </a:rPr>
                <a:t>Plus-Energie-Quartier</a:t>
              </a:r>
              <a:endParaRPr kumimoji="0" lang="de-DE" sz="1050" b="0" i="0" u="none" strike="noStrike" kern="0" cap="none" spc="-1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de-DE" sz="1050" b="0" i="0" u="none" strike="noStrike" kern="0" cap="none" spc="-1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grpSp>
          <p:nvGrpSpPr>
            <p:cNvPr id="14" name="Gruppieren 43">
              <a:extLst>
                <a:ext uri="{FF2B5EF4-FFF2-40B4-BE49-F238E27FC236}">
                  <a16:creationId xmlns:a16="http://schemas.microsoft.com/office/drawing/2014/main" id="{823F4A7D-0111-4DEB-E4CF-9FF27BB57392}"/>
                </a:ext>
              </a:extLst>
            </p:cNvPr>
            <p:cNvGrpSpPr/>
            <p:nvPr/>
          </p:nvGrpSpPr>
          <p:grpSpPr>
            <a:xfrm>
              <a:off x="6662520" y="43560"/>
              <a:ext cx="611640" cy="606600"/>
              <a:chOff x="6662520" y="43560"/>
              <a:chExt cx="611640" cy="606600"/>
            </a:xfrm>
          </p:grpSpPr>
          <p:sp>
            <p:nvSpPr>
              <p:cNvPr id="17" name="Stern: 10 Zacken 45">
                <a:extLst>
                  <a:ext uri="{FF2B5EF4-FFF2-40B4-BE49-F238E27FC236}">
                    <a16:creationId xmlns:a16="http://schemas.microsoft.com/office/drawing/2014/main" id="{2B116316-3E13-467F-D2D8-C001AE5ABA7A}"/>
                  </a:ext>
                </a:extLst>
              </p:cNvPr>
              <p:cNvSpPr/>
              <p:nvPr/>
            </p:nvSpPr>
            <p:spPr>
              <a:xfrm>
                <a:off x="6662520" y="43560"/>
                <a:ext cx="611640" cy="606600"/>
              </a:xfrm>
              <a:prstGeom prst="star10">
                <a:avLst>
                  <a:gd name="adj" fmla="val 44491"/>
                  <a:gd name="hf" fmla="val 105146"/>
                </a:avLst>
              </a:prstGeom>
              <a:solidFill>
                <a:srgbClr val="F59C00"/>
              </a:solidFill>
              <a:ln w="19050" cap="flat" cmpd="sng" algn="ctr">
                <a:solidFill>
                  <a:srgbClr val="F59C00"/>
                </a:solidFill>
                <a:prstDash val="solid"/>
                <a:round/>
              </a:ln>
              <a:effectLst>
                <a:innerShdw blurRad="63500" dist="50800" dir="13500000">
                  <a:srgbClr val="F59C00">
                    <a:alpha val="77000"/>
                  </a:srgbClr>
                </a:innerShdw>
              </a:effectLst>
            </p:spPr>
            <p:txBody>
              <a:bodyPr lIns="90000" tIns="45000" rIns="90000" bIns="45000" anchor="ctr">
                <a:noAutofit/>
              </a:bodyPr>
              <a:lstStyle/>
              <a:p>
                <a:pPr marL="0" marR="0" lvl="0" indent="0" algn="ctr" defTabSz="121932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de-AT" sz="1400" b="0" i="0" u="none" strike="noStrike" kern="0" cap="none" spc="-1" normalizeH="0" baseline="0" noProof="0">
                  <a:ln>
                    <a:noFill/>
                  </a:ln>
                  <a:solidFill>
                    <a:srgbClr val="E6EFF3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8" name="Zehneck 46">
                <a:extLst>
                  <a:ext uri="{FF2B5EF4-FFF2-40B4-BE49-F238E27FC236}">
                    <a16:creationId xmlns:a16="http://schemas.microsoft.com/office/drawing/2014/main" id="{2E823663-1540-ABBE-1846-74C0B53F44AE}"/>
                  </a:ext>
                </a:extLst>
              </p:cNvPr>
              <p:cNvSpPr/>
              <p:nvPr/>
            </p:nvSpPr>
            <p:spPr>
              <a:xfrm>
                <a:off x="6723720" y="103680"/>
                <a:ext cx="483480" cy="483480"/>
              </a:xfrm>
              <a:prstGeom prst="decagon">
                <a:avLst>
                  <a:gd name="vf" fmla="val 105146"/>
                </a:avLst>
              </a:prstGeom>
              <a:solidFill>
                <a:srgbClr val="F59C00"/>
              </a:solidFill>
              <a:ln w="26425" cap="flat" cmpd="sng" algn="ctr">
                <a:solidFill>
                  <a:srgbClr val="950F53"/>
                </a:solidFill>
                <a:prstDash val="solid"/>
                <a:round/>
              </a:ln>
              <a:effectLst>
                <a:innerShdw blurRad="63500" dist="50800" dir="13500000">
                  <a:srgbClr val="F59C00">
                    <a:lumMod val="20000"/>
                    <a:lumOff val="80000"/>
                    <a:alpha val="72000"/>
                  </a:srgbClr>
                </a:innerShdw>
              </a:effectLst>
            </p:spPr>
            <p:txBody>
              <a:bodyPr lIns="90000" tIns="45000" rIns="90000" bIns="45000" anchor="ctr">
                <a:noAutofit/>
              </a:bodyPr>
              <a:lstStyle/>
              <a:p>
                <a:pPr marL="0" marR="0" lvl="0" indent="0" algn="ctr" defTabSz="121932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de-AT" sz="1400" b="0" i="0" u="none" strike="noStrike" kern="0" cap="none" spc="-1" normalizeH="0" baseline="0" noProof="0">
                  <a:ln>
                    <a:noFill/>
                  </a:ln>
                  <a:solidFill>
                    <a:srgbClr val="E6EFF3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  <p:sp>
          <p:nvSpPr>
            <p:cNvPr id="15" name="Building5">
              <a:extLst>
                <a:ext uri="{FF2B5EF4-FFF2-40B4-BE49-F238E27FC236}">
                  <a16:creationId xmlns:a16="http://schemas.microsoft.com/office/drawing/2014/main" id="{4CB67A7E-C89F-6736-090C-D76C8989FC0E}"/>
                </a:ext>
              </a:extLst>
            </p:cNvPr>
            <p:cNvSpPr/>
            <p:nvPr/>
          </p:nvSpPr>
          <p:spPr>
            <a:xfrm>
              <a:off x="6802920" y="191520"/>
              <a:ext cx="320040" cy="285120"/>
            </a:xfrm>
            <a:custGeom>
              <a:avLst/>
              <a:gdLst>
                <a:gd name="textAreaLeft" fmla="*/ 0 w 320040"/>
                <a:gd name="textAreaRight" fmla="*/ 320400 w 320040"/>
                <a:gd name="textAreaTop" fmla="*/ 0 h 285120"/>
                <a:gd name="textAreaBottom" fmla="*/ 285480 h 285120"/>
              </a:gdLst>
              <a:ahLst/>
              <a:cxnLst/>
              <a:rect l="textAreaLeft" t="textAreaTop" r="textAreaRight" b="textAreaBottom"/>
              <a:pathLst>
                <a:path w="1250" h="1187">
                  <a:moveTo>
                    <a:pt x="915" y="250"/>
                  </a:moveTo>
                  <a:lnTo>
                    <a:pt x="915" y="1053"/>
                  </a:lnTo>
                  <a:lnTo>
                    <a:pt x="848" y="1053"/>
                  </a:lnTo>
                  <a:lnTo>
                    <a:pt x="850" y="0"/>
                  </a:lnTo>
                  <a:lnTo>
                    <a:pt x="448" y="0"/>
                  </a:lnTo>
                  <a:lnTo>
                    <a:pt x="446" y="1053"/>
                  </a:lnTo>
                  <a:lnTo>
                    <a:pt x="379" y="1053"/>
                  </a:lnTo>
                  <a:lnTo>
                    <a:pt x="379" y="361"/>
                  </a:lnTo>
                  <a:lnTo>
                    <a:pt x="0" y="361"/>
                  </a:lnTo>
                  <a:lnTo>
                    <a:pt x="0" y="1187"/>
                  </a:lnTo>
                  <a:lnTo>
                    <a:pt x="1250" y="1187"/>
                  </a:lnTo>
                  <a:lnTo>
                    <a:pt x="1250" y="250"/>
                  </a:lnTo>
                  <a:lnTo>
                    <a:pt x="915" y="250"/>
                  </a:lnTo>
                  <a:close/>
                  <a:moveTo>
                    <a:pt x="982" y="339"/>
                  </a:moveTo>
                  <a:lnTo>
                    <a:pt x="1183" y="339"/>
                  </a:lnTo>
                  <a:lnTo>
                    <a:pt x="1183" y="584"/>
                  </a:lnTo>
                  <a:lnTo>
                    <a:pt x="982" y="584"/>
                  </a:lnTo>
                  <a:lnTo>
                    <a:pt x="982" y="339"/>
                  </a:lnTo>
                  <a:close/>
                  <a:moveTo>
                    <a:pt x="982" y="674"/>
                  </a:moveTo>
                  <a:lnTo>
                    <a:pt x="1183" y="674"/>
                  </a:lnTo>
                  <a:lnTo>
                    <a:pt x="1183" y="919"/>
                  </a:lnTo>
                  <a:lnTo>
                    <a:pt x="982" y="919"/>
                  </a:lnTo>
                  <a:lnTo>
                    <a:pt x="982" y="674"/>
                  </a:lnTo>
                  <a:close/>
                  <a:moveTo>
                    <a:pt x="513" y="71"/>
                  </a:moveTo>
                  <a:lnTo>
                    <a:pt x="781" y="71"/>
                  </a:lnTo>
                  <a:lnTo>
                    <a:pt x="781" y="183"/>
                  </a:lnTo>
                  <a:lnTo>
                    <a:pt x="513" y="183"/>
                  </a:lnTo>
                  <a:lnTo>
                    <a:pt x="513" y="71"/>
                  </a:lnTo>
                  <a:close/>
                  <a:moveTo>
                    <a:pt x="513" y="294"/>
                  </a:moveTo>
                  <a:lnTo>
                    <a:pt x="781" y="294"/>
                  </a:lnTo>
                  <a:lnTo>
                    <a:pt x="781" y="406"/>
                  </a:lnTo>
                  <a:lnTo>
                    <a:pt x="513" y="406"/>
                  </a:lnTo>
                  <a:lnTo>
                    <a:pt x="513" y="294"/>
                  </a:lnTo>
                  <a:close/>
                  <a:moveTo>
                    <a:pt x="513" y="517"/>
                  </a:moveTo>
                  <a:lnTo>
                    <a:pt x="781" y="517"/>
                  </a:lnTo>
                  <a:lnTo>
                    <a:pt x="781" y="629"/>
                  </a:lnTo>
                  <a:lnTo>
                    <a:pt x="513" y="629"/>
                  </a:lnTo>
                  <a:lnTo>
                    <a:pt x="513" y="517"/>
                  </a:lnTo>
                  <a:close/>
                  <a:moveTo>
                    <a:pt x="513" y="741"/>
                  </a:moveTo>
                  <a:lnTo>
                    <a:pt x="781" y="741"/>
                  </a:lnTo>
                  <a:lnTo>
                    <a:pt x="781" y="852"/>
                  </a:lnTo>
                  <a:lnTo>
                    <a:pt x="513" y="852"/>
                  </a:lnTo>
                  <a:lnTo>
                    <a:pt x="513" y="741"/>
                  </a:lnTo>
                  <a:close/>
                  <a:moveTo>
                    <a:pt x="67" y="450"/>
                  </a:moveTo>
                  <a:lnTo>
                    <a:pt x="156" y="450"/>
                  </a:lnTo>
                  <a:lnTo>
                    <a:pt x="156" y="607"/>
                  </a:lnTo>
                  <a:lnTo>
                    <a:pt x="67" y="607"/>
                  </a:lnTo>
                  <a:lnTo>
                    <a:pt x="67" y="450"/>
                  </a:lnTo>
                  <a:close/>
                  <a:moveTo>
                    <a:pt x="223" y="450"/>
                  </a:moveTo>
                  <a:lnTo>
                    <a:pt x="313" y="450"/>
                  </a:lnTo>
                  <a:lnTo>
                    <a:pt x="313" y="607"/>
                  </a:lnTo>
                  <a:lnTo>
                    <a:pt x="223" y="607"/>
                  </a:lnTo>
                  <a:lnTo>
                    <a:pt x="223" y="450"/>
                  </a:lnTo>
                  <a:close/>
                  <a:moveTo>
                    <a:pt x="67" y="718"/>
                  </a:moveTo>
                  <a:lnTo>
                    <a:pt x="156" y="718"/>
                  </a:lnTo>
                  <a:lnTo>
                    <a:pt x="156" y="875"/>
                  </a:lnTo>
                  <a:lnTo>
                    <a:pt x="67" y="875"/>
                  </a:lnTo>
                  <a:lnTo>
                    <a:pt x="67" y="718"/>
                  </a:lnTo>
                  <a:close/>
                  <a:moveTo>
                    <a:pt x="223" y="718"/>
                  </a:moveTo>
                  <a:lnTo>
                    <a:pt x="313" y="718"/>
                  </a:lnTo>
                  <a:lnTo>
                    <a:pt x="313" y="875"/>
                  </a:lnTo>
                  <a:lnTo>
                    <a:pt x="223" y="875"/>
                  </a:lnTo>
                  <a:lnTo>
                    <a:pt x="223" y="718"/>
                  </a:lnTo>
                  <a:close/>
                </a:path>
              </a:pathLst>
            </a:custGeom>
            <a:solidFill>
              <a:srgbClr val="3BACBE"/>
            </a:solidFill>
            <a:ln w="0">
              <a:noFill/>
            </a:ln>
            <a:effectLst>
              <a:glow rad="101520">
                <a:srgbClr val="FBE5DE">
                  <a:alpha val="86000"/>
                </a:srgbClr>
              </a:glow>
              <a:innerShdw blurRad="63500" dist="50800" dir="13500000">
                <a:srgbClr val="61FFA8">
                  <a:alpha val="38000"/>
                </a:srgbClr>
              </a:innerShdw>
            </a:effectLst>
          </p:spPr>
          <p:txBody>
            <a:bodyPr numCol="1" spcCol="0" anchor="t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200" b="0" i="0" u="none" strike="noStrike" kern="0" cap="none" spc="-1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grpSp>
        <p:nvGrpSpPr>
          <p:cNvPr id="19" name="Gruppieren 18">
            <a:extLst>
              <a:ext uri="{FF2B5EF4-FFF2-40B4-BE49-F238E27FC236}">
                <a16:creationId xmlns:a16="http://schemas.microsoft.com/office/drawing/2014/main" id="{4FCB25F7-1457-2142-1F71-E8FF83E97427}"/>
              </a:ext>
            </a:extLst>
          </p:cNvPr>
          <p:cNvGrpSpPr/>
          <p:nvPr/>
        </p:nvGrpSpPr>
        <p:grpSpPr>
          <a:xfrm>
            <a:off x="5155736" y="682272"/>
            <a:ext cx="1847342" cy="1094218"/>
            <a:chOff x="9624656" y="925240"/>
            <a:chExt cx="1847342" cy="1094218"/>
          </a:xfrm>
        </p:grpSpPr>
        <p:sp>
          <p:nvSpPr>
            <p:cNvPr id="20" name="Band: nach unten gekippt 19">
              <a:extLst>
                <a:ext uri="{FF2B5EF4-FFF2-40B4-BE49-F238E27FC236}">
                  <a16:creationId xmlns:a16="http://schemas.microsoft.com/office/drawing/2014/main" id="{CCAA6E44-8499-0060-05BE-A87741B76764}"/>
                </a:ext>
              </a:extLst>
            </p:cNvPr>
            <p:cNvSpPr/>
            <p:nvPr/>
          </p:nvSpPr>
          <p:spPr bwMode="auto">
            <a:xfrm>
              <a:off x="9624656" y="1450474"/>
              <a:ext cx="1775199" cy="540000"/>
            </a:xfrm>
            <a:prstGeom prst="ribbon">
              <a:avLst>
                <a:gd name="adj1" fmla="val 19017"/>
                <a:gd name="adj2" fmla="val 75000"/>
              </a:avLst>
            </a:prstGeom>
            <a:solidFill>
              <a:srgbClr val="F59C00">
                <a:lumMod val="60000"/>
                <a:lumOff val="40000"/>
              </a:srgbClr>
            </a:solidFill>
            <a:ln w="635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de-DE" sz="1400" b="0" i="0" u="none" strike="noStrike" kern="0" cap="none" spc="0" normalizeH="0" baseline="0" noProof="1">
                <a:ln>
                  <a:noFill/>
                </a:ln>
                <a:solidFill>
                  <a:srgbClr val="E6EFF3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1" name="Rechteck 20">
              <a:extLst>
                <a:ext uri="{FF2B5EF4-FFF2-40B4-BE49-F238E27FC236}">
                  <a16:creationId xmlns:a16="http://schemas.microsoft.com/office/drawing/2014/main" id="{82B7BDEC-6AC8-1C2E-0C3B-F12412E08524}"/>
                </a:ext>
              </a:extLst>
            </p:cNvPr>
            <p:cNvSpPr/>
            <p:nvPr/>
          </p:nvSpPr>
          <p:spPr bwMode="auto">
            <a:xfrm>
              <a:off x="9687606" y="1603960"/>
              <a:ext cx="1784392" cy="415498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0" marR="0" lvl="0" indent="0" algn="ctr" defTabSz="914377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de-DE" sz="1050" b="1" i="0" u="none" strike="noStrike" kern="1200" cap="none" spc="0" normalizeH="0" baseline="0" noProof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Bahnschrift" panose="020B0502040204020203" pitchFamily="34" charset="0"/>
                  <a:ea typeface="+mn-ea"/>
                  <a:cs typeface="+mn-cs"/>
                </a:rPr>
                <a:t>Plus-Energie-Quartier</a:t>
              </a:r>
            </a:p>
            <a:p>
              <a:pPr marL="0" marR="0" lvl="0" indent="0" algn="ctr" defTabSz="914377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de-DE" sz="1050" b="1" i="0" u="none" strike="noStrike" kern="1200" cap="none" spc="0" normalizeH="0" baseline="0" noProof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Bahnschrift" panose="020B0502040204020203" pitchFamily="34" charset="0"/>
                  <a:ea typeface="+mn-ea"/>
                  <a:cs typeface="+mn-cs"/>
                </a:rPr>
                <a:t>Mit Mobilität</a:t>
              </a:r>
            </a:p>
          </p:txBody>
        </p:sp>
        <p:grpSp>
          <p:nvGrpSpPr>
            <p:cNvPr id="22" name="Gruppieren 21">
              <a:extLst>
                <a:ext uri="{FF2B5EF4-FFF2-40B4-BE49-F238E27FC236}">
                  <a16:creationId xmlns:a16="http://schemas.microsoft.com/office/drawing/2014/main" id="{9A6F5403-D954-F9DD-CB04-FBF2F2D9D105}"/>
                </a:ext>
              </a:extLst>
            </p:cNvPr>
            <p:cNvGrpSpPr/>
            <p:nvPr/>
          </p:nvGrpSpPr>
          <p:grpSpPr>
            <a:xfrm>
              <a:off x="10161463" y="925240"/>
              <a:ext cx="700101" cy="694145"/>
              <a:chOff x="4399640" y="1143095"/>
              <a:chExt cx="785172" cy="778492"/>
            </a:xfrm>
            <a:solidFill>
              <a:srgbClr val="F59C00"/>
            </a:solidFill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grpSpPr>
          <p:sp>
            <p:nvSpPr>
              <p:cNvPr id="23" name="Stern: 10 Zacken 22">
                <a:extLst>
                  <a:ext uri="{FF2B5EF4-FFF2-40B4-BE49-F238E27FC236}">
                    <a16:creationId xmlns:a16="http://schemas.microsoft.com/office/drawing/2014/main" id="{9A09C75A-21F3-C0E2-3C95-D3C7573105A3}"/>
                  </a:ext>
                </a:extLst>
              </p:cNvPr>
              <p:cNvSpPr/>
              <p:nvPr/>
            </p:nvSpPr>
            <p:spPr>
              <a:xfrm>
                <a:off x="4399640" y="1143095"/>
                <a:ext cx="785172" cy="778492"/>
              </a:xfrm>
              <a:prstGeom prst="star10">
                <a:avLst>
                  <a:gd name="adj" fmla="val 44491"/>
                  <a:gd name="hf" fmla="val 105146"/>
                </a:avLst>
              </a:prstGeom>
              <a:grpFill/>
              <a:ln w="19050" cap="flat" cmpd="sng" algn="ctr">
                <a:solidFill>
                  <a:srgbClr val="F59C00"/>
                </a:solidFill>
                <a:prstDash val="solid"/>
                <a:miter lim="800000"/>
              </a:ln>
              <a:effectLst>
                <a:innerShdw blurRad="63500" dist="50800" dir="13500000">
                  <a:srgbClr val="F59C00">
                    <a:alpha val="77000"/>
                  </a:srgbClr>
                </a:innerShdw>
              </a:effectLst>
            </p:spPr>
            <p:txBody>
              <a:bodyPr rtlCol="0" anchor="ctr"/>
              <a:lstStyle/>
              <a:p>
                <a:pPr marL="0" marR="0" lvl="0" indent="0" algn="ctr" defTabSz="121917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de-DE" sz="1400" b="0" i="0" u="none" strike="noStrike" kern="0" cap="none" spc="0" normalizeH="0" baseline="0" noProof="1">
                  <a:ln>
                    <a:noFill/>
                  </a:ln>
                  <a:solidFill>
                    <a:srgbClr val="E6EFF3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4" name="Zehneck 23">
                <a:extLst>
                  <a:ext uri="{FF2B5EF4-FFF2-40B4-BE49-F238E27FC236}">
                    <a16:creationId xmlns:a16="http://schemas.microsoft.com/office/drawing/2014/main" id="{68C6F3C7-3C32-30A6-BE81-3CE8626544C0}"/>
                  </a:ext>
                </a:extLst>
              </p:cNvPr>
              <p:cNvSpPr/>
              <p:nvPr/>
            </p:nvSpPr>
            <p:spPr>
              <a:xfrm>
                <a:off x="4476265" y="1217862"/>
                <a:ext cx="620528" cy="620529"/>
              </a:xfrm>
              <a:prstGeom prst="decagon">
                <a:avLst/>
              </a:prstGeom>
              <a:solidFill>
                <a:srgbClr val="950F53"/>
              </a:solidFill>
              <a:ln w="12700" cap="flat" cmpd="sng" algn="ctr">
                <a:solidFill>
                  <a:srgbClr val="950F53"/>
                </a:solidFill>
                <a:prstDash val="solid"/>
                <a:miter lim="800000"/>
              </a:ln>
              <a:effectLst>
                <a:innerShdw blurRad="63500" dist="50800" dir="13500000">
                  <a:srgbClr val="F59C00">
                    <a:lumMod val="20000"/>
                    <a:lumOff val="80000"/>
                    <a:alpha val="72000"/>
                  </a:srgbClr>
                </a:innerShdw>
              </a:effectLst>
            </p:spPr>
            <p:txBody>
              <a:bodyPr rtlCol="0" anchor="ctr"/>
              <a:lstStyle/>
              <a:p>
                <a:pPr marL="0" marR="0" lvl="0" indent="0" algn="ctr" defTabSz="121917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de-DE" sz="1400" b="0" i="0" u="none" strike="noStrike" kern="0" cap="none" spc="0" normalizeH="0" baseline="0" noProof="1">
                  <a:ln>
                    <a:noFill/>
                  </a:ln>
                  <a:solidFill>
                    <a:srgbClr val="E6EFF3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5" name="Building5" descr="{&quot;Key&quot;:&quot;POWER_USER_SHAPE_ICON&quot;,&quot;Value&quot;:&quot;POWER_USER_SHAPE_ICON_STYLE_1&quot;}">
                <a:extLst>
                  <a:ext uri="{FF2B5EF4-FFF2-40B4-BE49-F238E27FC236}">
                    <a16:creationId xmlns:a16="http://schemas.microsoft.com/office/drawing/2014/main" id="{6A664653-7241-E974-2E96-56949A95B55A}"/>
                  </a:ext>
                </a:extLst>
              </p:cNvPr>
              <p:cNvSpPr>
                <a:spLocks noChangeAspect="1" noEditPoints="1"/>
              </p:cNvSpPr>
              <p:nvPr>
                <p:custDataLst>
                  <p:tags r:id="rId2"/>
                </p:custDataLst>
              </p:nvPr>
            </p:nvSpPr>
            <p:spPr bwMode="auto">
              <a:xfrm>
                <a:off x="4550947" y="1301271"/>
                <a:ext cx="461320" cy="410937"/>
              </a:xfrm>
              <a:custGeom>
                <a:avLst/>
                <a:gdLst>
                  <a:gd name="T0" fmla="*/ 915 w 1250"/>
                  <a:gd name="T1" fmla="*/ 250 h 1187"/>
                  <a:gd name="T2" fmla="*/ 915 w 1250"/>
                  <a:gd name="T3" fmla="*/ 1053 h 1187"/>
                  <a:gd name="T4" fmla="*/ 848 w 1250"/>
                  <a:gd name="T5" fmla="*/ 1053 h 1187"/>
                  <a:gd name="T6" fmla="*/ 850 w 1250"/>
                  <a:gd name="T7" fmla="*/ 0 h 1187"/>
                  <a:gd name="T8" fmla="*/ 448 w 1250"/>
                  <a:gd name="T9" fmla="*/ 0 h 1187"/>
                  <a:gd name="T10" fmla="*/ 446 w 1250"/>
                  <a:gd name="T11" fmla="*/ 1053 h 1187"/>
                  <a:gd name="T12" fmla="*/ 379 w 1250"/>
                  <a:gd name="T13" fmla="*/ 1053 h 1187"/>
                  <a:gd name="T14" fmla="*/ 379 w 1250"/>
                  <a:gd name="T15" fmla="*/ 361 h 1187"/>
                  <a:gd name="T16" fmla="*/ 0 w 1250"/>
                  <a:gd name="T17" fmla="*/ 361 h 1187"/>
                  <a:gd name="T18" fmla="*/ 0 w 1250"/>
                  <a:gd name="T19" fmla="*/ 1187 h 1187"/>
                  <a:gd name="T20" fmla="*/ 1250 w 1250"/>
                  <a:gd name="T21" fmla="*/ 1187 h 1187"/>
                  <a:gd name="T22" fmla="*/ 1250 w 1250"/>
                  <a:gd name="T23" fmla="*/ 250 h 1187"/>
                  <a:gd name="T24" fmla="*/ 915 w 1250"/>
                  <a:gd name="T25" fmla="*/ 250 h 1187"/>
                  <a:gd name="T26" fmla="*/ 982 w 1250"/>
                  <a:gd name="T27" fmla="*/ 339 h 1187"/>
                  <a:gd name="T28" fmla="*/ 1183 w 1250"/>
                  <a:gd name="T29" fmla="*/ 339 h 1187"/>
                  <a:gd name="T30" fmla="*/ 1183 w 1250"/>
                  <a:gd name="T31" fmla="*/ 584 h 1187"/>
                  <a:gd name="T32" fmla="*/ 982 w 1250"/>
                  <a:gd name="T33" fmla="*/ 584 h 1187"/>
                  <a:gd name="T34" fmla="*/ 982 w 1250"/>
                  <a:gd name="T35" fmla="*/ 339 h 1187"/>
                  <a:gd name="T36" fmla="*/ 982 w 1250"/>
                  <a:gd name="T37" fmla="*/ 674 h 1187"/>
                  <a:gd name="T38" fmla="*/ 1183 w 1250"/>
                  <a:gd name="T39" fmla="*/ 674 h 1187"/>
                  <a:gd name="T40" fmla="*/ 1183 w 1250"/>
                  <a:gd name="T41" fmla="*/ 919 h 1187"/>
                  <a:gd name="T42" fmla="*/ 982 w 1250"/>
                  <a:gd name="T43" fmla="*/ 919 h 1187"/>
                  <a:gd name="T44" fmla="*/ 982 w 1250"/>
                  <a:gd name="T45" fmla="*/ 674 h 1187"/>
                  <a:gd name="T46" fmla="*/ 513 w 1250"/>
                  <a:gd name="T47" fmla="*/ 71 h 1187"/>
                  <a:gd name="T48" fmla="*/ 781 w 1250"/>
                  <a:gd name="T49" fmla="*/ 71 h 1187"/>
                  <a:gd name="T50" fmla="*/ 781 w 1250"/>
                  <a:gd name="T51" fmla="*/ 183 h 1187"/>
                  <a:gd name="T52" fmla="*/ 513 w 1250"/>
                  <a:gd name="T53" fmla="*/ 183 h 1187"/>
                  <a:gd name="T54" fmla="*/ 513 w 1250"/>
                  <a:gd name="T55" fmla="*/ 71 h 1187"/>
                  <a:gd name="T56" fmla="*/ 513 w 1250"/>
                  <a:gd name="T57" fmla="*/ 294 h 1187"/>
                  <a:gd name="T58" fmla="*/ 781 w 1250"/>
                  <a:gd name="T59" fmla="*/ 294 h 1187"/>
                  <a:gd name="T60" fmla="*/ 781 w 1250"/>
                  <a:gd name="T61" fmla="*/ 406 h 1187"/>
                  <a:gd name="T62" fmla="*/ 513 w 1250"/>
                  <a:gd name="T63" fmla="*/ 406 h 1187"/>
                  <a:gd name="T64" fmla="*/ 513 w 1250"/>
                  <a:gd name="T65" fmla="*/ 294 h 1187"/>
                  <a:gd name="T66" fmla="*/ 513 w 1250"/>
                  <a:gd name="T67" fmla="*/ 517 h 1187"/>
                  <a:gd name="T68" fmla="*/ 781 w 1250"/>
                  <a:gd name="T69" fmla="*/ 517 h 1187"/>
                  <a:gd name="T70" fmla="*/ 781 w 1250"/>
                  <a:gd name="T71" fmla="*/ 629 h 1187"/>
                  <a:gd name="T72" fmla="*/ 513 w 1250"/>
                  <a:gd name="T73" fmla="*/ 629 h 1187"/>
                  <a:gd name="T74" fmla="*/ 513 w 1250"/>
                  <a:gd name="T75" fmla="*/ 517 h 1187"/>
                  <a:gd name="T76" fmla="*/ 513 w 1250"/>
                  <a:gd name="T77" fmla="*/ 741 h 1187"/>
                  <a:gd name="T78" fmla="*/ 781 w 1250"/>
                  <a:gd name="T79" fmla="*/ 741 h 1187"/>
                  <a:gd name="T80" fmla="*/ 781 w 1250"/>
                  <a:gd name="T81" fmla="*/ 852 h 1187"/>
                  <a:gd name="T82" fmla="*/ 513 w 1250"/>
                  <a:gd name="T83" fmla="*/ 852 h 1187"/>
                  <a:gd name="T84" fmla="*/ 513 w 1250"/>
                  <a:gd name="T85" fmla="*/ 741 h 1187"/>
                  <a:gd name="T86" fmla="*/ 67 w 1250"/>
                  <a:gd name="T87" fmla="*/ 450 h 1187"/>
                  <a:gd name="T88" fmla="*/ 156 w 1250"/>
                  <a:gd name="T89" fmla="*/ 450 h 1187"/>
                  <a:gd name="T90" fmla="*/ 156 w 1250"/>
                  <a:gd name="T91" fmla="*/ 607 h 1187"/>
                  <a:gd name="T92" fmla="*/ 67 w 1250"/>
                  <a:gd name="T93" fmla="*/ 607 h 1187"/>
                  <a:gd name="T94" fmla="*/ 67 w 1250"/>
                  <a:gd name="T95" fmla="*/ 450 h 1187"/>
                  <a:gd name="T96" fmla="*/ 223 w 1250"/>
                  <a:gd name="T97" fmla="*/ 450 h 1187"/>
                  <a:gd name="T98" fmla="*/ 313 w 1250"/>
                  <a:gd name="T99" fmla="*/ 450 h 1187"/>
                  <a:gd name="T100" fmla="*/ 313 w 1250"/>
                  <a:gd name="T101" fmla="*/ 607 h 1187"/>
                  <a:gd name="T102" fmla="*/ 223 w 1250"/>
                  <a:gd name="T103" fmla="*/ 607 h 1187"/>
                  <a:gd name="T104" fmla="*/ 223 w 1250"/>
                  <a:gd name="T105" fmla="*/ 450 h 1187"/>
                  <a:gd name="T106" fmla="*/ 67 w 1250"/>
                  <a:gd name="T107" fmla="*/ 718 h 1187"/>
                  <a:gd name="T108" fmla="*/ 156 w 1250"/>
                  <a:gd name="T109" fmla="*/ 718 h 1187"/>
                  <a:gd name="T110" fmla="*/ 156 w 1250"/>
                  <a:gd name="T111" fmla="*/ 875 h 1187"/>
                  <a:gd name="T112" fmla="*/ 67 w 1250"/>
                  <a:gd name="T113" fmla="*/ 875 h 1187"/>
                  <a:gd name="T114" fmla="*/ 67 w 1250"/>
                  <a:gd name="T115" fmla="*/ 718 h 1187"/>
                  <a:gd name="T116" fmla="*/ 223 w 1250"/>
                  <a:gd name="T117" fmla="*/ 718 h 1187"/>
                  <a:gd name="T118" fmla="*/ 313 w 1250"/>
                  <a:gd name="T119" fmla="*/ 718 h 1187"/>
                  <a:gd name="T120" fmla="*/ 313 w 1250"/>
                  <a:gd name="T121" fmla="*/ 875 h 1187"/>
                  <a:gd name="T122" fmla="*/ 223 w 1250"/>
                  <a:gd name="T123" fmla="*/ 875 h 1187"/>
                  <a:gd name="T124" fmla="*/ 223 w 1250"/>
                  <a:gd name="T125" fmla="*/ 718 h 118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  <a:cxn ang="0">
                    <a:pos x="T122" y="T123"/>
                  </a:cxn>
                  <a:cxn ang="0">
                    <a:pos x="T124" y="T125"/>
                  </a:cxn>
                </a:cxnLst>
                <a:rect l="0" t="0" r="r" b="b"/>
                <a:pathLst>
                  <a:path w="1250" h="1187">
                    <a:moveTo>
                      <a:pt x="915" y="250"/>
                    </a:moveTo>
                    <a:lnTo>
                      <a:pt x="915" y="1053"/>
                    </a:lnTo>
                    <a:lnTo>
                      <a:pt x="848" y="1053"/>
                    </a:lnTo>
                    <a:lnTo>
                      <a:pt x="850" y="0"/>
                    </a:lnTo>
                    <a:lnTo>
                      <a:pt x="448" y="0"/>
                    </a:lnTo>
                    <a:lnTo>
                      <a:pt x="446" y="1053"/>
                    </a:lnTo>
                    <a:lnTo>
                      <a:pt x="379" y="1053"/>
                    </a:lnTo>
                    <a:lnTo>
                      <a:pt x="379" y="361"/>
                    </a:lnTo>
                    <a:lnTo>
                      <a:pt x="0" y="361"/>
                    </a:lnTo>
                    <a:lnTo>
                      <a:pt x="0" y="1187"/>
                    </a:lnTo>
                    <a:lnTo>
                      <a:pt x="1250" y="1187"/>
                    </a:lnTo>
                    <a:lnTo>
                      <a:pt x="1250" y="250"/>
                    </a:lnTo>
                    <a:lnTo>
                      <a:pt x="915" y="250"/>
                    </a:lnTo>
                    <a:close/>
                    <a:moveTo>
                      <a:pt x="982" y="339"/>
                    </a:moveTo>
                    <a:lnTo>
                      <a:pt x="1183" y="339"/>
                    </a:lnTo>
                    <a:lnTo>
                      <a:pt x="1183" y="584"/>
                    </a:lnTo>
                    <a:lnTo>
                      <a:pt x="982" y="584"/>
                    </a:lnTo>
                    <a:lnTo>
                      <a:pt x="982" y="339"/>
                    </a:lnTo>
                    <a:close/>
                    <a:moveTo>
                      <a:pt x="982" y="674"/>
                    </a:moveTo>
                    <a:lnTo>
                      <a:pt x="1183" y="674"/>
                    </a:lnTo>
                    <a:lnTo>
                      <a:pt x="1183" y="919"/>
                    </a:lnTo>
                    <a:lnTo>
                      <a:pt x="982" y="919"/>
                    </a:lnTo>
                    <a:lnTo>
                      <a:pt x="982" y="674"/>
                    </a:lnTo>
                    <a:close/>
                    <a:moveTo>
                      <a:pt x="513" y="71"/>
                    </a:moveTo>
                    <a:lnTo>
                      <a:pt x="781" y="71"/>
                    </a:lnTo>
                    <a:lnTo>
                      <a:pt x="781" y="183"/>
                    </a:lnTo>
                    <a:lnTo>
                      <a:pt x="513" y="183"/>
                    </a:lnTo>
                    <a:lnTo>
                      <a:pt x="513" y="71"/>
                    </a:lnTo>
                    <a:close/>
                    <a:moveTo>
                      <a:pt x="513" y="294"/>
                    </a:moveTo>
                    <a:lnTo>
                      <a:pt x="781" y="294"/>
                    </a:lnTo>
                    <a:lnTo>
                      <a:pt x="781" y="406"/>
                    </a:lnTo>
                    <a:lnTo>
                      <a:pt x="513" y="406"/>
                    </a:lnTo>
                    <a:lnTo>
                      <a:pt x="513" y="294"/>
                    </a:lnTo>
                    <a:close/>
                    <a:moveTo>
                      <a:pt x="513" y="517"/>
                    </a:moveTo>
                    <a:lnTo>
                      <a:pt x="781" y="517"/>
                    </a:lnTo>
                    <a:lnTo>
                      <a:pt x="781" y="629"/>
                    </a:lnTo>
                    <a:lnTo>
                      <a:pt x="513" y="629"/>
                    </a:lnTo>
                    <a:lnTo>
                      <a:pt x="513" y="517"/>
                    </a:lnTo>
                    <a:close/>
                    <a:moveTo>
                      <a:pt x="513" y="741"/>
                    </a:moveTo>
                    <a:lnTo>
                      <a:pt x="781" y="741"/>
                    </a:lnTo>
                    <a:lnTo>
                      <a:pt x="781" y="852"/>
                    </a:lnTo>
                    <a:lnTo>
                      <a:pt x="513" y="852"/>
                    </a:lnTo>
                    <a:lnTo>
                      <a:pt x="513" y="741"/>
                    </a:lnTo>
                    <a:close/>
                    <a:moveTo>
                      <a:pt x="67" y="450"/>
                    </a:moveTo>
                    <a:lnTo>
                      <a:pt x="156" y="450"/>
                    </a:lnTo>
                    <a:lnTo>
                      <a:pt x="156" y="607"/>
                    </a:lnTo>
                    <a:lnTo>
                      <a:pt x="67" y="607"/>
                    </a:lnTo>
                    <a:lnTo>
                      <a:pt x="67" y="450"/>
                    </a:lnTo>
                    <a:close/>
                    <a:moveTo>
                      <a:pt x="223" y="450"/>
                    </a:moveTo>
                    <a:lnTo>
                      <a:pt x="313" y="450"/>
                    </a:lnTo>
                    <a:lnTo>
                      <a:pt x="313" y="607"/>
                    </a:lnTo>
                    <a:lnTo>
                      <a:pt x="223" y="607"/>
                    </a:lnTo>
                    <a:lnTo>
                      <a:pt x="223" y="450"/>
                    </a:lnTo>
                    <a:close/>
                    <a:moveTo>
                      <a:pt x="67" y="718"/>
                    </a:moveTo>
                    <a:lnTo>
                      <a:pt x="156" y="718"/>
                    </a:lnTo>
                    <a:lnTo>
                      <a:pt x="156" y="875"/>
                    </a:lnTo>
                    <a:lnTo>
                      <a:pt x="67" y="875"/>
                    </a:lnTo>
                    <a:lnTo>
                      <a:pt x="67" y="718"/>
                    </a:lnTo>
                    <a:close/>
                    <a:moveTo>
                      <a:pt x="223" y="718"/>
                    </a:moveTo>
                    <a:lnTo>
                      <a:pt x="313" y="718"/>
                    </a:lnTo>
                    <a:lnTo>
                      <a:pt x="313" y="875"/>
                    </a:lnTo>
                    <a:lnTo>
                      <a:pt x="223" y="875"/>
                    </a:lnTo>
                    <a:lnTo>
                      <a:pt x="223" y="718"/>
                    </a:lnTo>
                    <a:close/>
                  </a:path>
                </a:pathLst>
              </a:custGeom>
              <a:solidFill>
                <a:srgbClr val="F59C00"/>
              </a:solidFill>
              <a:ln>
                <a:noFill/>
              </a:ln>
              <a:effectLst>
                <a:glow rad="76200">
                  <a:srgbClr val="F59C00">
                    <a:lumMod val="20000"/>
                    <a:lumOff val="80000"/>
                    <a:alpha val="88000"/>
                  </a:srgbClr>
                </a:glow>
              </a:effec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377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de-DE" sz="1200" b="0" i="0" u="none" strike="noStrike" kern="0" cap="none" spc="0" normalizeH="0" baseline="0" noProof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</p:grpSp>
      <p:sp>
        <p:nvSpPr>
          <p:cNvPr id="26" name="Band: nach unten gekippt 25">
            <a:extLst>
              <a:ext uri="{FF2B5EF4-FFF2-40B4-BE49-F238E27FC236}">
                <a16:creationId xmlns:a16="http://schemas.microsoft.com/office/drawing/2014/main" id="{DDF3A66A-CEAE-9B32-FAAB-E8C155A1FA8D}"/>
              </a:ext>
            </a:extLst>
          </p:cNvPr>
          <p:cNvSpPr/>
          <p:nvPr/>
        </p:nvSpPr>
        <p:spPr bwMode="auto">
          <a:xfrm>
            <a:off x="3455177" y="1295958"/>
            <a:ext cx="1728000" cy="540000"/>
          </a:xfrm>
          <a:prstGeom prst="ribbon">
            <a:avLst>
              <a:gd name="adj1" fmla="val 17116"/>
              <a:gd name="adj2" fmla="val 75000"/>
            </a:avLst>
          </a:prstGeom>
          <a:solidFill>
            <a:srgbClr val="950F53"/>
          </a:solidFill>
          <a:ln w="635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400" b="0" i="0" u="none" strike="noStrike" kern="0" cap="none" spc="0" normalizeH="0" baseline="0" noProof="1">
              <a:ln>
                <a:noFill/>
              </a:ln>
              <a:solidFill>
                <a:srgbClr val="E6EFF3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7" name="Rechteck 26">
            <a:extLst>
              <a:ext uri="{FF2B5EF4-FFF2-40B4-BE49-F238E27FC236}">
                <a16:creationId xmlns:a16="http://schemas.microsoft.com/office/drawing/2014/main" id="{62D7CC48-4E80-DBFE-BEE5-929A52932930}"/>
              </a:ext>
            </a:extLst>
          </p:cNvPr>
          <p:cNvSpPr/>
          <p:nvPr/>
        </p:nvSpPr>
        <p:spPr bwMode="auto">
          <a:xfrm>
            <a:off x="3669045" y="1406526"/>
            <a:ext cx="1333351" cy="4154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1050" b="1" i="0" u="none" strike="noStrike" kern="1200" cap="none" spc="0" normalizeH="0" baseline="0" noProof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Bahnschrift" panose="020B0502040204020203" pitchFamily="34" charset="0"/>
                <a:ea typeface="+mn-ea"/>
                <a:cs typeface="+mn-cs"/>
              </a:rPr>
              <a:t>Plus-Energie-Quartier</a:t>
            </a:r>
          </a:p>
        </p:txBody>
      </p:sp>
      <p:grpSp>
        <p:nvGrpSpPr>
          <p:cNvPr id="28" name="Gruppieren 27">
            <a:extLst>
              <a:ext uri="{FF2B5EF4-FFF2-40B4-BE49-F238E27FC236}">
                <a16:creationId xmlns:a16="http://schemas.microsoft.com/office/drawing/2014/main" id="{701166C1-631E-0DA1-B150-9A4891381108}"/>
              </a:ext>
            </a:extLst>
          </p:cNvPr>
          <p:cNvGrpSpPr/>
          <p:nvPr/>
        </p:nvGrpSpPr>
        <p:grpSpPr>
          <a:xfrm>
            <a:off x="4062877" y="963762"/>
            <a:ext cx="483327" cy="460448"/>
            <a:chOff x="640424" y="760723"/>
            <a:chExt cx="730208" cy="730206"/>
          </a:xfrm>
          <a:solidFill>
            <a:srgbClr val="1F00CC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29" name="Stern: 12 Zacken 28">
              <a:extLst>
                <a:ext uri="{FF2B5EF4-FFF2-40B4-BE49-F238E27FC236}">
                  <a16:creationId xmlns:a16="http://schemas.microsoft.com/office/drawing/2014/main" id="{E63DED58-6EC7-045B-BF32-8BE90561A927}"/>
                </a:ext>
              </a:extLst>
            </p:cNvPr>
            <p:cNvSpPr/>
            <p:nvPr/>
          </p:nvSpPr>
          <p:spPr>
            <a:xfrm>
              <a:off x="640424" y="760723"/>
              <a:ext cx="730208" cy="730206"/>
            </a:xfrm>
            <a:prstGeom prst="star12">
              <a:avLst>
                <a:gd name="adj" fmla="val 44170"/>
              </a:avLst>
            </a:prstGeom>
            <a:solidFill>
              <a:srgbClr val="950F53"/>
            </a:solidFill>
            <a:ln w="12700" cap="flat" cmpd="sng" algn="ctr">
              <a:solidFill>
                <a:srgbClr val="950F53"/>
              </a:solidFill>
              <a:prstDash val="solid"/>
              <a:miter lim="800000"/>
            </a:ln>
            <a:effectLst>
              <a:innerShdw blurRad="63500" dist="50800" dir="13500000">
                <a:srgbClr val="F59C00">
                  <a:lumMod val="20000"/>
                  <a:lumOff val="80000"/>
                  <a:alpha val="72000"/>
                </a:srgbClr>
              </a:innerShdw>
            </a:effectLst>
          </p:spPr>
          <p:txBody>
            <a:bodyPr rtlCol="0" anchor="ctr"/>
            <a:lstStyle/>
            <a:p>
              <a:pPr marL="0" marR="0" lvl="0" indent="0" algn="ctr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de-DE" sz="1400" b="0" i="0" u="none" strike="noStrike" kern="0" cap="none" spc="0" normalizeH="0" baseline="0" noProof="1">
                <a:ln>
                  <a:noFill/>
                </a:ln>
                <a:solidFill>
                  <a:srgbClr val="E6EFF3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0" name="Building5" descr="{&quot;Key&quot;:&quot;POWER_USER_SHAPE_ICON&quot;,&quot;Value&quot;:&quot;POWER_USER_SHAPE_ICON_STYLE_1&quot;}">
              <a:extLst>
                <a:ext uri="{FF2B5EF4-FFF2-40B4-BE49-F238E27FC236}">
                  <a16:creationId xmlns:a16="http://schemas.microsoft.com/office/drawing/2014/main" id="{558B2A18-2258-FCF6-2F03-0508CA50DCC7}"/>
                </a:ext>
              </a:extLst>
            </p:cNvPr>
            <p:cNvSpPr>
              <a:spLocks noChangeAspect="1" noEditPoints="1"/>
            </p:cNvSpPr>
            <p:nvPr>
              <p:custDataLst>
                <p:tags r:id="rId1"/>
              </p:custDataLst>
            </p:nvPr>
          </p:nvSpPr>
          <p:spPr bwMode="auto">
            <a:xfrm>
              <a:off x="757342" y="875488"/>
              <a:ext cx="490330" cy="436778"/>
            </a:xfrm>
            <a:custGeom>
              <a:avLst/>
              <a:gdLst>
                <a:gd name="T0" fmla="*/ 915 w 1250"/>
                <a:gd name="T1" fmla="*/ 250 h 1187"/>
                <a:gd name="T2" fmla="*/ 915 w 1250"/>
                <a:gd name="T3" fmla="*/ 1053 h 1187"/>
                <a:gd name="T4" fmla="*/ 848 w 1250"/>
                <a:gd name="T5" fmla="*/ 1053 h 1187"/>
                <a:gd name="T6" fmla="*/ 850 w 1250"/>
                <a:gd name="T7" fmla="*/ 0 h 1187"/>
                <a:gd name="T8" fmla="*/ 448 w 1250"/>
                <a:gd name="T9" fmla="*/ 0 h 1187"/>
                <a:gd name="T10" fmla="*/ 446 w 1250"/>
                <a:gd name="T11" fmla="*/ 1053 h 1187"/>
                <a:gd name="T12" fmla="*/ 379 w 1250"/>
                <a:gd name="T13" fmla="*/ 1053 h 1187"/>
                <a:gd name="T14" fmla="*/ 379 w 1250"/>
                <a:gd name="T15" fmla="*/ 361 h 1187"/>
                <a:gd name="T16" fmla="*/ 0 w 1250"/>
                <a:gd name="T17" fmla="*/ 361 h 1187"/>
                <a:gd name="T18" fmla="*/ 0 w 1250"/>
                <a:gd name="T19" fmla="*/ 1187 h 1187"/>
                <a:gd name="T20" fmla="*/ 1250 w 1250"/>
                <a:gd name="T21" fmla="*/ 1187 h 1187"/>
                <a:gd name="T22" fmla="*/ 1250 w 1250"/>
                <a:gd name="T23" fmla="*/ 250 h 1187"/>
                <a:gd name="T24" fmla="*/ 915 w 1250"/>
                <a:gd name="T25" fmla="*/ 250 h 1187"/>
                <a:gd name="T26" fmla="*/ 982 w 1250"/>
                <a:gd name="T27" fmla="*/ 339 h 1187"/>
                <a:gd name="T28" fmla="*/ 1183 w 1250"/>
                <a:gd name="T29" fmla="*/ 339 h 1187"/>
                <a:gd name="T30" fmla="*/ 1183 w 1250"/>
                <a:gd name="T31" fmla="*/ 584 h 1187"/>
                <a:gd name="T32" fmla="*/ 982 w 1250"/>
                <a:gd name="T33" fmla="*/ 584 h 1187"/>
                <a:gd name="T34" fmla="*/ 982 w 1250"/>
                <a:gd name="T35" fmla="*/ 339 h 1187"/>
                <a:gd name="T36" fmla="*/ 982 w 1250"/>
                <a:gd name="T37" fmla="*/ 674 h 1187"/>
                <a:gd name="T38" fmla="*/ 1183 w 1250"/>
                <a:gd name="T39" fmla="*/ 674 h 1187"/>
                <a:gd name="T40" fmla="*/ 1183 w 1250"/>
                <a:gd name="T41" fmla="*/ 919 h 1187"/>
                <a:gd name="T42" fmla="*/ 982 w 1250"/>
                <a:gd name="T43" fmla="*/ 919 h 1187"/>
                <a:gd name="T44" fmla="*/ 982 w 1250"/>
                <a:gd name="T45" fmla="*/ 674 h 1187"/>
                <a:gd name="T46" fmla="*/ 513 w 1250"/>
                <a:gd name="T47" fmla="*/ 71 h 1187"/>
                <a:gd name="T48" fmla="*/ 781 w 1250"/>
                <a:gd name="T49" fmla="*/ 71 h 1187"/>
                <a:gd name="T50" fmla="*/ 781 w 1250"/>
                <a:gd name="T51" fmla="*/ 183 h 1187"/>
                <a:gd name="T52" fmla="*/ 513 w 1250"/>
                <a:gd name="T53" fmla="*/ 183 h 1187"/>
                <a:gd name="T54" fmla="*/ 513 w 1250"/>
                <a:gd name="T55" fmla="*/ 71 h 1187"/>
                <a:gd name="T56" fmla="*/ 513 w 1250"/>
                <a:gd name="T57" fmla="*/ 294 h 1187"/>
                <a:gd name="T58" fmla="*/ 781 w 1250"/>
                <a:gd name="T59" fmla="*/ 294 h 1187"/>
                <a:gd name="T60" fmla="*/ 781 w 1250"/>
                <a:gd name="T61" fmla="*/ 406 h 1187"/>
                <a:gd name="T62" fmla="*/ 513 w 1250"/>
                <a:gd name="T63" fmla="*/ 406 h 1187"/>
                <a:gd name="T64" fmla="*/ 513 w 1250"/>
                <a:gd name="T65" fmla="*/ 294 h 1187"/>
                <a:gd name="T66" fmla="*/ 513 w 1250"/>
                <a:gd name="T67" fmla="*/ 517 h 1187"/>
                <a:gd name="T68" fmla="*/ 781 w 1250"/>
                <a:gd name="T69" fmla="*/ 517 h 1187"/>
                <a:gd name="T70" fmla="*/ 781 w 1250"/>
                <a:gd name="T71" fmla="*/ 629 h 1187"/>
                <a:gd name="T72" fmla="*/ 513 w 1250"/>
                <a:gd name="T73" fmla="*/ 629 h 1187"/>
                <a:gd name="T74" fmla="*/ 513 w 1250"/>
                <a:gd name="T75" fmla="*/ 517 h 1187"/>
                <a:gd name="T76" fmla="*/ 513 w 1250"/>
                <a:gd name="T77" fmla="*/ 741 h 1187"/>
                <a:gd name="T78" fmla="*/ 781 w 1250"/>
                <a:gd name="T79" fmla="*/ 741 h 1187"/>
                <a:gd name="T80" fmla="*/ 781 w 1250"/>
                <a:gd name="T81" fmla="*/ 852 h 1187"/>
                <a:gd name="T82" fmla="*/ 513 w 1250"/>
                <a:gd name="T83" fmla="*/ 852 h 1187"/>
                <a:gd name="T84" fmla="*/ 513 w 1250"/>
                <a:gd name="T85" fmla="*/ 741 h 1187"/>
                <a:gd name="T86" fmla="*/ 67 w 1250"/>
                <a:gd name="T87" fmla="*/ 450 h 1187"/>
                <a:gd name="T88" fmla="*/ 156 w 1250"/>
                <a:gd name="T89" fmla="*/ 450 h 1187"/>
                <a:gd name="T90" fmla="*/ 156 w 1250"/>
                <a:gd name="T91" fmla="*/ 607 h 1187"/>
                <a:gd name="T92" fmla="*/ 67 w 1250"/>
                <a:gd name="T93" fmla="*/ 607 h 1187"/>
                <a:gd name="T94" fmla="*/ 67 w 1250"/>
                <a:gd name="T95" fmla="*/ 450 h 1187"/>
                <a:gd name="T96" fmla="*/ 223 w 1250"/>
                <a:gd name="T97" fmla="*/ 450 h 1187"/>
                <a:gd name="T98" fmla="*/ 313 w 1250"/>
                <a:gd name="T99" fmla="*/ 450 h 1187"/>
                <a:gd name="T100" fmla="*/ 313 w 1250"/>
                <a:gd name="T101" fmla="*/ 607 h 1187"/>
                <a:gd name="T102" fmla="*/ 223 w 1250"/>
                <a:gd name="T103" fmla="*/ 607 h 1187"/>
                <a:gd name="T104" fmla="*/ 223 w 1250"/>
                <a:gd name="T105" fmla="*/ 450 h 1187"/>
                <a:gd name="T106" fmla="*/ 67 w 1250"/>
                <a:gd name="T107" fmla="*/ 718 h 1187"/>
                <a:gd name="T108" fmla="*/ 156 w 1250"/>
                <a:gd name="T109" fmla="*/ 718 h 1187"/>
                <a:gd name="T110" fmla="*/ 156 w 1250"/>
                <a:gd name="T111" fmla="*/ 875 h 1187"/>
                <a:gd name="T112" fmla="*/ 67 w 1250"/>
                <a:gd name="T113" fmla="*/ 875 h 1187"/>
                <a:gd name="T114" fmla="*/ 67 w 1250"/>
                <a:gd name="T115" fmla="*/ 718 h 1187"/>
                <a:gd name="T116" fmla="*/ 223 w 1250"/>
                <a:gd name="T117" fmla="*/ 718 h 1187"/>
                <a:gd name="T118" fmla="*/ 313 w 1250"/>
                <a:gd name="T119" fmla="*/ 718 h 1187"/>
                <a:gd name="T120" fmla="*/ 313 w 1250"/>
                <a:gd name="T121" fmla="*/ 875 h 1187"/>
                <a:gd name="T122" fmla="*/ 223 w 1250"/>
                <a:gd name="T123" fmla="*/ 875 h 1187"/>
                <a:gd name="T124" fmla="*/ 223 w 1250"/>
                <a:gd name="T125" fmla="*/ 718 h 11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1250" h="1187">
                  <a:moveTo>
                    <a:pt x="915" y="250"/>
                  </a:moveTo>
                  <a:lnTo>
                    <a:pt x="915" y="1053"/>
                  </a:lnTo>
                  <a:lnTo>
                    <a:pt x="848" y="1053"/>
                  </a:lnTo>
                  <a:lnTo>
                    <a:pt x="850" y="0"/>
                  </a:lnTo>
                  <a:lnTo>
                    <a:pt x="448" y="0"/>
                  </a:lnTo>
                  <a:lnTo>
                    <a:pt x="446" y="1053"/>
                  </a:lnTo>
                  <a:lnTo>
                    <a:pt x="379" y="1053"/>
                  </a:lnTo>
                  <a:lnTo>
                    <a:pt x="379" y="361"/>
                  </a:lnTo>
                  <a:lnTo>
                    <a:pt x="0" y="361"/>
                  </a:lnTo>
                  <a:lnTo>
                    <a:pt x="0" y="1187"/>
                  </a:lnTo>
                  <a:lnTo>
                    <a:pt x="1250" y="1187"/>
                  </a:lnTo>
                  <a:lnTo>
                    <a:pt x="1250" y="250"/>
                  </a:lnTo>
                  <a:lnTo>
                    <a:pt x="915" y="250"/>
                  </a:lnTo>
                  <a:close/>
                  <a:moveTo>
                    <a:pt x="982" y="339"/>
                  </a:moveTo>
                  <a:lnTo>
                    <a:pt x="1183" y="339"/>
                  </a:lnTo>
                  <a:lnTo>
                    <a:pt x="1183" y="584"/>
                  </a:lnTo>
                  <a:lnTo>
                    <a:pt x="982" y="584"/>
                  </a:lnTo>
                  <a:lnTo>
                    <a:pt x="982" y="339"/>
                  </a:lnTo>
                  <a:close/>
                  <a:moveTo>
                    <a:pt x="982" y="674"/>
                  </a:moveTo>
                  <a:lnTo>
                    <a:pt x="1183" y="674"/>
                  </a:lnTo>
                  <a:lnTo>
                    <a:pt x="1183" y="919"/>
                  </a:lnTo>
                  <a:lnTo>
                    <a:pt x="982" y="919"/>
                  </a:lnTo>
                  <a:lnTo>
                    <a:pt x="982" y="674"/>
                  </a:lnTo>
                  <a:close/>
                  <a:moveTo>
                    <a:pt x="513" y="71"/>
                  </a:moveTo>
                  <a:lnTo>
                    <a:pt x="781" y="71"/>
                  </a:lnTo>
                  <a:lnTo>
                    <a:pt x="781" y="183"/>
                  </a:lnTo>
                  <a:lnTo>
                    <a:pt x="513" y="183"/>
                  </a:lnTo>
                  <a:lnTo>
                    <a:pt x="513" y="71"/>
                  </a:lnTo>
                  <a:close/>
                  <a:moveTo>
                    <a:pt x="513" y="294"/>
                  </a:moveTo>
                  <a:lnTo>
                    <a:pt x="781" y="294"/>
                  </a:lnTo>
                  <a:lnTo>
                    <a:pt x="781" y="406"/>
                  </a:lnTo>
                  <a:lnTo>
                    <a:pt x="513" y="406"/>
                  </a:lnTo>
                  <a:lnTo>
                    <a:pt x="513" y="294"/>
                  </a:lnTo>
                  <a:close/>
                  <a:moveTo>
                    <a:pt x="513" y="517"/>
                  </a:moveTo>
                  <a:lnTo>
                    <a:pt x="781" y="517"/>
                  </a:lnTo>
                  <a:lnTo>
                    <a:pt x="781" y="629"/>
                  </a:lnTo>
                  <a:lnTo>
                    <a:pt x="513" y="629"/>
                  </a:lnTo>
                  <a:lnTo>
                    <a:pt x="513" y="517"/>
                  </a:lnTo>
                  <a:close/>
                  <a:moveTo>
                    <a:pt x="513" y="741"/>
                  </a:moveTo>
                  <a:lnTo>
                    <a:pt x="781" y="741"/>
                  </a:lnTo>
                  <a:lnTo>
                    <a:pt x="781" y="852"/>
                  </a:lnTo>
                  <a:lnTo>
                    <a:pt x="513" y="852"/>
                  </a:lnTo>
                  <a:lnTo>
                    <a:pt x="513" y="741"/>
                  </a:lnTo>
                  <a:close/>
                  <a:moveTo>
                    <a:pt x="67" y="450"/>
                  </a:moveTo>
                  <a:lnTo>
                    <a:pt x="156" y="450"/>
                  </a:lnTo>
                  <a:lnTo>
                    <a:pt x="156" y="607"/>
                  </a:lnTo>
                  <a:lnTo>
                    <a:pt x="67" y="607"/>
                  </a:lnTo>
                  <a:lnTo>
                    <a:pt x="67" y="450"/>
                  </a:lnTo>
                  <a:close/>
                  <a:moveTo>
                    <a:pt x="223" y="450"/>
                  </a:moveTo>
                  <a:lnTo>
                    <a:pt x="313" y="450"/>
                  </a:lnTo>
                  <a:lnTo>
                    <a:pt x="313" y="607"/>
                  </a:lnTo>
                  <a:lnTo>
                    <a:pt x="223" y="607"/>
                  </a:lnTo>
                  <a:lnTo>
                    <a:pt x="223" y="450"/>
                  </a:lnTo>
                  <a:close/>
                  <a:moveTo>
                    <a:pt x="67" y="718"/>
                  </a:moveTo>
                  <a:lnTo>
                    <a:pt x="156" y="718"/>
                  </a:lnTo>
                  <a:lnTo>
                    <a:pt x="156" y="875"/>
                  </a:lnTo>
                  <a:lnTo>
                    <a:pt x="67" y="875"/>
                  </a:lnTo>
                  <a:lnTo>
                    <a:pt x="67" y="718"/>
                  </a:lnTo>
                  <a:close/>
                  <a:moveTo>
                    <a:pt x="223" y="718"/>
                  </a:moveTo>
                  <a:lnTo>
                    <a:pt x="313" y="718"/>
                  </a:lnTo>
                  <a:lnTo>
                    <a:pt x="313" y="875"/>
                  </a:lnTo>
                  <a:lnTo>
                    <a:pt x="223" y="875"/>
                  </a:lnTo>
                  <a:lnTo>
                    <a:pt x="223" y="718"/>
                  </a:lnTo>
                  <a:close/>
                </a:path>
              </a:pathLst>
            </a:custGeom>
            <a:solidFill>
              <a:srgbClr val="950F53"/>
            </a:solidFill>
            <a:ln>
              <a:noFill/>
            </a:ln>
            <a:effectLst>
              <a:glow rad="38100">
                <a:srgbClr val="F59C00">
                  <a:lumMod val="20000"/>
                  <a:lumOff val="80000"/>
                  <a:alpha val="68000"/>
                </a:srgbClr>
              </a:glow>
            </a:effec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377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de-DE" sz="1200" b="0" i="0" u="none" strike="noStrike" kern="0" cap="none" spc="0" normalizeH="0" baseline="0" noProof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829419066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BDE93C3-0D2A-C284-C455-C190AB928E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FAQ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F00CA1D9-03B8-6B13-1028-64F6119156A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pPr>
              <a:spcAft>
                <a:spcPts val="0"/>
              </a:spcAft>
            </a:pPr>
            <a:r>
              <a:rPr lang="de-DE" b="1" dirty="0"/>
              <a:t>Sind PEQ PV Anlagen mit Netzausbau-Plänen vereinbar?</a:t>
            </a:r>
          </a:p>
          <a:p>
            <a:pPr lvl="1">
              <a:spcAft>
                <a:spcPts val="0"/>
              </a:spcAft>
            </a:pPr>
            <a:r>
              <a:rPr lang="de-DE" dirty="0"/>
              <a:t>Ja, in der Praxis fallen etwaige Mehrkosten für ggf. zusätzliche </a:t>
            </a:r>
            <a:r>
              <a:rPr lang="de-DE" dirty="0" err="1"/>
              <a:t>Traffos</a:t>
            </a:r>
            <a:r>
              <a:rPr lang="de-DE" dirty="0"/>
              <a:t> nicht ins Gewicht.</a:t>
            </a:r>
          </a:p>
          <a:p>
            <a:pPr>
              <a:spcBef>
                <a:spcPts val="1200"/>
              </a:spcBef>
              <a:spcAft>
                <a:spcPts val="0"/>
              </a:spcAft>
            </a:pPr>
            <a:r>
              <a:rPr lang="de-DE" b="1" dirty="0"/>
              <a:t>Sind PEQs auch mit Fernwärme umsetzbar?</a:t>
            </a:r>
          </a:p>
          <a:p>
            <a:pPr lvl="1">
              <a:spcAft>
                <a:spcPts val="0"/>
              </a:spcAft>
            </a:pPr>
            <a:r>
              <a:rPr lang="de-DE" dirty="0"/>
              <a:t>Bei ausreichender thermischer Qualität ja, insbesondere mit KWK. Auch mit Biomasse beheizter FW sind die PE- und THG-Zielwerte erreichbar.</a:t>
            </a:r>
          </a:p>
          <a:p>
            <a:pPr>
              <a:spcBef>
                <a:spcPts val="1200"/>
              </a:spcBef>
              <a:spcAft>
                <a:spcPts val="0"/>
              </a:spcAft>
            </a:pPr>
            <a:r>
              <a:rPr lang="de-DE" b="1" dirty="0"/>
              <a:t>Sind auch teilweise bzw. schrittweise Deklarationen möglich?</a:t>
            </a:r>
          </a:p>
          <a:p>
            <a:pPr lvl="1">
              <a:spcAft>
                <a:spcPts val="0"/>
              </a:spcAft>
            </a:pPr>
            <a:r>
              <a:rPr lang="de-DE" dirty="0"/>
              <a:t>Ja, als „auf dem Weg </a:t>
            </a:r>
            <a:r>
              <a:rPr lang="de-DE"/>
              <a:t>zum …“ </a:t>
            </a:r>
            <a:r>
              <a:rPr lang="de-DE" dirty="0"/>
              <a:t>Plusenergiequartier</a:t>
            </a:r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9AD08EB1-B1FD-8908-CD76-D728465001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AT" sz="1867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F207E3BB-9733-D44D-13C4-C79EF91E83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206269C-C24E-4E80-9A4B-E7E19BB59A67}" type="slidenum">
              <a:rPr kumimoji="0" lang="de-AT" sz="1867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37</a:t>
            </a:fld>
            <a:endParaRPr kumimoji="0" lang="de-AT" sz="1867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762979236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15B984-C409-3B01-A4D9-A4DC724CCE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109F3C8-4D5F-A4F0-4529-350F0B7888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Flexibilitätsnachweis – was muss in der Fertigstellung gegeben sein?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830A7B80-A044-76EC-ADDE-48787485329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719669" y="1900519"/>
            <a:ext cx="10638367" cy="4753184"/>
          </a:xfrm>
        </p:spPr>
        <p:txBody>
          <a:bodyPr>
            <a:normAutofit/>
          </a:bodyPr>
          <a:lstStyle/>
          <a:p>
            <a:pPr>
              <a:spcAft>
                <a:spcPts val="0"/>
              </a:spcAft>
            </a:pPr>
            <a:r>
              <a:rPr lang="de-DE" b="1" dirty="0"/>
              <a:t>Nachweis der technischen Machbarkeit energieflexibler Betriebsweise</a:t>
            </a:r>
          </a:p>
          <a:p>
            <a:pPr lvl="1">
              <a:spcAft>
                <a:spcPts val="0"/>
              </a:spcAft>
            </a:pPr>
            <a:r>
              <a:rPr lang="de-DE" dirty="0"/>
              <a:t>WP: „Smart </a:t>
            </a:r>
            <a:r>
              <a:rPr lang="de-DE" dirty="0" err="1"/>
              <a:t>Grid</a:t>
            </a:r>
            <a:r>
              <a:rPr lang="de-DE" dirty="0"/>
              <a:t> Tauglich Zertifikat“</a:t>
            </a:r>
          </a:p>
          <a:p>
            <a:pPr lvl="1">
              <a:spcAft>
                <a:spcPts val="0"/>
              </a:spcAft>
            </a:pPr>
            <a:r>
              <a:rPr lang="de-DE" dirty="0"/>
              <a:t>Bei thermischer </a:t>
            </a:r>
            <a:r>
              <a:rPr lang="de-DE" dirty="0" err="1"/>
              <a:t>Nutzerflex</a:t>
            </a:r>
            <a:r>
              <a:rPr lang="de-DE" dirty="0"/>
              <a:t>: Nachweis des Kommunikationskonzepts (Beispiel Ampel)</a:t>
            </a:r>
          </a:p>
          <a:p>
            <a:pPr>
              <a:spcAft>
                <a:spcPts val="0"/>
              </a:spcAft>
            </a:pPr>
            <a:r>
              <a:rPr lang="de-DE" b="1" dirty="0"/>
              <a:t>Absichtserklärung des flexiblen Betriebs </a:t>
            </a:r>
            <a:r>
              <a:rPr lang="de-DE" dirty="0"/>
              <a:t>mit entspr. Geschäftsmodell: </a:t>
            </a:r>
          </a:p>
          <a:p>
            <a:pPr lvl="1">
              <a:spcAft>
                <a:spcPts val="0"/>
              </a:spcAft>
            </a:pPr>
            <a:r>
              <a:rPr lang="de-DE" dirty="0"/>
              <a:t>Stundenweise Abrechnung (variable Tarife oder stundenweise CO2 Intensitäten)</a:t>
            </a:r>
          </a:p>
          <a:p>
            <a:pPr lvl="1">
              <a:spcAft>
                <a:spcPts val="0"/>
              </a:spcAft>
            </a:pPr>
            <a:r>
              <a:rPr lang="de-DE" dirty="0"/>
              <a:t>Unterscheidung auf Energie-DL-Gruppen (Heizen, Kühlen, WW, E-Mobilität)</a:t>
            </a:r>
          </a:p>
          <a:p>
            <a:pPr>
              <a:spcAft>
                <a:spcPts val="0"/>
              </a:spcAft>
            </a:pPr>
            <a:r>
              <a:rPr lang="de-DE" dirty="0"/>
              <a:t>Nutzerstrom laut Hintergrundbericht</a:t>
            </a:r>
          </a:p>
          <a:p>
            <a:pPr lvl="1">
              <a:spcAft>
                <a:spcPts val="0"/>
              </a:spcAft>
            </a:pPr>
            <a:r>
              <a:rPr lang="de-DE" dirty="0"/>
              <a:t>Bei Reduktion: </a:t>
            </a:r>
            <a:r>
              <a:rPr lang="de-DE" b="1" dirty="0"/>
              <a:t>Nachweis der (geplanter) Sensibilisierungsmaßnahmen </a:t>
            </a:r>
            <a:endParaRPr lang="de-DE" dirty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792E805A-4C8B-7B78-3A1F-AA2194E32D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06269C-C24E-4E80-9A4B-E7E19BB59A67}" type="slidenum">
              <a:rPr lang="de-AT" smtClean="0"/>
              <a:pPr/>
              <a:t>38</a:t>
            </a:fld>
            <a:endParaRPr lang="de-AT" dirty="0"/>
          </a:p>
        </p:txBody>
      </p:sp>
    </p:spTree>
    <p:extLst>
      <p:ext uri="{BB962C8B-B14F-4D97-AF65-F5344CB8AC3E}">
        <p14:creationId xmlns:p14="http://schemas.microsoft.com/office/powerpoint/2010/main" val="85026331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el 6"/>
          <p:cNvSpPr>
            <a:spLocks noGrp="1"/>
          </p:cNvSpPr>
          <p:nvPr>
            <p:ph type="title"/>
          </p:nvPr>
        </p:nvSpPr>
        <p:spPr>
          <a:xfrm>
            <a:off x="540655" y="1330496"/>
            <a:ext cx="5110518" cy="1417608"/>
          </a:xfrm>
        </p:spPr>
        <p:txBody>
          <a:bodyPr/>
          <a:lstStyle/>
          <a:p>
            <a:r>
              <a:rPr lang="de-AT" dirty="0"/>
              <a:t>Kontakt</a:t>
            </a:r>
            <a:br>
              <a:rPr lang="de-AT" dirty="0"/>
            </a:br>
            <a:br>
              <a:rPr lang="de-AT" b="1" dirty="0">
                <a:solidFill>
                  <a:schemeClr val="accent1"/>
                </a:solidFill>
              </a:rPr>
            </a:br>
            <a:endParaRPr lang="de-DE" b="1" dirty="0">
              <a:solidFill>
                <a:schemeClr val="accent1"/>
              </a:solidFill>
            </a:endParaRPr>
          </a:p>
        </p:txBody>
      </p:sp>
      <p:sp>
        <p:nvSpPr>
          <p:cNvPr id="452" name="Zylinder 451">
            <a:extLst>
              <a:ext uri="{FF2B5EF4-FFF2-40B4-BE49-F238E27FC236}">
                <a16:creationId xmlns:a16="http://schemas.microsoft.com/office/drawing/2014/main" id="{9FBEA4F1-B01B-B4DD-41FB-BE70E1ECF089}"/>
              </a:ext>
            </a:extLst>
          </p:cNvPr>
          <p:cNvSpPr/>
          <p:nvPr/>
        </p:nvSpPr>
        <p:spPr bwMode="auto">
          <a:xfrm>
            <a:off x="5651173" y="5456592"/>
            <a:ext cx="1547693" cy="1077599"/>
          </a:xfrm>
          <a:prstGeom prst="can">
            <a:avLst/>
          </a:prstGeom>
          <a:gradFill rotWithShape="1">
            <a:gsLst>
              <a:gs pos="0">
                <a:srgbClr val="F59C00">
                  <a:lumMod val="110000"/>
                  <a:satMod val="105000"/>
                  <a:tint val="67000"/>
                </a:srgbClr>
              </a:gs>
              <a:gs pos="50000">
                <a:srgbClr val="F59C00">
                  <a:lumMod val="105000"/>
                  <a:satMod val="103000"/>
                  <a:tint val="73000"/>
                </a:srgbClr>
              </a:gs>
              <a:gs pos="100000">
                <a:srgbClr val="F59C00">
                  <a:lumMod val="105000"/>
                  <a:satMod val="109000"/>
                  <a:tint val="81000"/>
                </a:srgbClr>
              </a:gs>
            </a:gsLst>
            <a:lin ang="5400000" scaled="0"/>
          </a:gradFill>
          <a:ln w="6350" cap="flat" cmpd="sng" algn="ctr">
            <a:solidFill>
              <a:srgbClr val="F59C00"/>
            </a:solidFill>
            <a:prstDash val="solid"/>
            <a:miter lim="800000"/>
          </a:ln>
          <a:effectLst/>
        </p:spPr>
        <p:txBody>
          <a:bodyPr lIns="36000" rIns="360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1400" b="1" i="0" u="none" strike="noStrike" kern="0" cap="none" spc="0" normalizeH="0" baseline="0" noProof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🛠️🏗️ Praktische Anwendbarkeit und Erreichbarkeit</a:t>
            </a:r>
            <a:endParaRPr kumimoji="0" lang="de-DE" sz="1400" b="0" i="0" u="none" strike="noStrike" kern="0" cap="none" spc="0" normalizeH="0" baseline="0" noProof="1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53" name="Zylinder 452">
            <a:extLst>
              <a:ext uri="{FF2B5EF4-FFF2-40B4-BE49-F238E27FC236}">
                <a16:creationId xmlns:a16="http://schemas.microsoft.com/office/drawing/2014/main" id="{327E06EB-E71C-134B-1CBA-433C562D9D85}"/>
              </a:ext>
            </a:extLst>
          </p:cNvPr>
          <p:cNvSpPr/>
          <p:nvPr/>
        </p:nvSpPr>
        <p:spPr bwMode="auto">
          <a:xfrm>
            <a:off x="8931897" y="5456592"/>
            <a:ext cx="1547693" cy="1077599"/>
          </a:xfrm>
          <a:prstGeom prst="can">
            <a:avLst/>
          </a:prstGeom>
          <a:gradFill rotWithShape="1">
            <a:gsLst>
              <a:gs pos="0">
                <a:srgbClr val="F59C00">
                  <a:lumMod val="110000"/>
                  <a:satMod val="105000"/>
                  <a:tint val="67000"/>
                </a:srgbClr>
              </a:gs>
              <a:gs pos="50000">
                <a:srgbClr val="F59C00">
                  <a:lumMod val="105000"/>
                  <a:satMod val="103000"/>
                  <a:tint val="73000"/>
                </a:srgbClr>
              </a:gs>
              <a:gs pos="100000">
                <a:srgbClr val="F59C00">
                  <a:lumMod val="105000"/>
                  <a:satMod val="109000"/>
                  <a:tint val="81000"/>
                </a:srgbClr>
              </a:gs>
            </a:gsLst>
            <a:lin ang="5400000" scaled="0"/>
          </a:gradFill>
          <a:ln w="6350" cap="flat" cmpd="sng" algn="ctr">
            <a:solidFill>
              <a:srgbClr val="F59C00"/>
            </a:solidFill>
            <a:prstDash val="solid"/>
            <a:miter lim="800000"/>
          </a:ln>
          <a:effectLst/>
        </p:spPr>
        <p:txBody>
          <a:bodyPr lIns="0" r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1600" b="1" i="0" u="none" strike="noStrike" kern="0" cap="none" spc="0" normalizeH="0" baseline="0" noProof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⏲️</a:t>
            </a:r>
            <a:r>
              <a:rPr kumimoji="0" lang="de-DE" sz="1200" b="1" i="0" u="none" strike="noStrike" kern="0" cap="none" spc="0" normalizeH="0" baseline="0" noProof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Hohe Zeitliche Auflösung</a:t>
            </a:r>
            <a:endParaRPr kumimoji="0" lang="de-DE" sz="1400" b="1" i="0" u="none" strike="noStrike" kern="0" cap="none" spc="0" normalizeH="0" baseline="0" noProof="1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1200" b="1" i="0" u="none" strike="noStrike" kern="0" cap="none" spc="0" normalizeH="0" baseline="0" noProof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(stündlich 2025</a:t>
            </a:r>
            <a:r>
              <a:rPr kumimoji="0" lang="de-DE" sz="12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−</a:t>
            </a:r>
            <a:r>
              <a:rPr kumimoji="0" lang="de-DE" sz="1200" b="1" i="0" u="none" strike="noStrike" kern="0" cap="none" spc="0" normalizeH="0" baseline="0" noProof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2050)</a:t>
            </a:r>
            <a:r>
              <a:rPr kumimoji="0" lang="de-DE" sz="1600" b="0" i="0" u="none" strike="noStrike" kern="0" cap="none" spc="0" normalizeH="0" baseline="0" noProof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</a:p>
        </p:txBody>
      </p:sp>
      <p:sp>
        <p:nvSpPr>
          <p:cNvPr id="454" name="Zylinder 453">
            <a:extLst>
              <a:ext uri="{FF2B5EF4-FFF2-40B4-BE49-F238E27FC236}">
                <a16:creationId xmlns:a16="http://schemas.microsoft.com/office/drawing/2014/main" id="{355508D9-49E1-B899-7EEA-CF01D2EDCC9F}"/>
              </a:ext>
            </a:extLst>
          </p:cNvPr>
          <p:cNvSpPr/>
          <p:nvPr/>
        </p:nvSpPr>
        <p:spPr bwMode="auto">
          <a:xfrm>
            <a:off x="10575700" y="5456592"/>
            <a:ext cx="1547693" cy="1077599"/>
          </a:xfrm>
          <a:prstGeom prst="can">
            <a:avLst/>
          </a:prstGeom>
          <a:gradFill rotWithShape="1">
            <a:gsLst>
              <a:gs pos="0">
                <a:srgbClr val="F59C00">
                  <a:lumMod val="110000"/>
                  <a:satMod val="105000"/>
                  <a:tint val="67000"/>
                </a:srgbClr>
              </a:gs>
              <a:gs pos="50000">
                <a:srgbClr val="F59C00">
                  <a:lumMod val="105000"/>
                  <a:satMod val="103000"/>
                  <a:tint val="73000"/>
                </a:srgbClr>
              </a:gs>
              <a:gs pos="100000">
                <a:srgbClr val="F59C00">
                  <a:lumMod val="105000"/>
                  <a:satMod val="109000"/>
                  <a:tint val="81000"/>
                </a:srgbClr>
              </a:gs>
            </a:gsLst>
            <a:lin ang="5400000" scaled="0"/>
          </a:gradFill>
          <a:ln w="6350" cap="flat" cmpd="sng" algn="ctr">
            <a:solidFill>
              <a:srgbClr val="F59C00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1100" b="1" i="0" u="none" strike="noStrike" kern="0" cap="none" spc="0" normalizeH="0" baseline="0" noProof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Zielwerte wissenschaftlich fundiert mit Pariser Klimazielen verknüpft </a:t>
            </a:r>
            <a:endParaRPr kumimoji="0" lang="de-DE" sz="1100" b="0" i="0" u="none" strike="noStrike" kern="0" cap="none" spc="0" normalizeH="0" baseline="0" noProof="1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55" name="Zylinder 454">
            <a:extLst>
              <a:ext uri="{FF2B5EF4-FFF2-40B4-BE49-F238E27FC236}">
                <a16:creationId xmlns:a16="http://schemas.microsoft.com/office/drawing/2014/main" id="{8570AE29-E21A-EE0F-3991-83988035B6FB}"/>
              </a:ext>
            </a:extLst>
          </p:cNvPr>
          <p:cNvSpPr/>
          <p:nvPr/>
        </p:nvSpPr>
        <p:spPr bwMode="auto">
          <a:xfrm>
            <a:off x="7291535" y="5456592"/>
            <a:ext cx="1547693" cy="1077599"/>
          </a:xfrm>
          <a:prstGeom prst="can">
            <a:avLst/>
          </a:prstGeom>
          <a:gradFill rotWithShape="1">
            <a:gsLst>
              <a:gs pos="0">
                <a:srgbClr val="F59C00">
                  <a:lumMod val="110000"/>
                  <a:satMod val="105000"/>
                  <a:tint val="67000"/>
                </a:srgbClr>
              </a:gs>
              <a:gs pos="50000">
                <a:srgbClr val="F59C00">
                  <a:lumMod val="105000"/>
                  <a:satMod val="103000"/>
                  <a:tint val="73000"/>
                </a:srgbClr>
              </a:gs>
              <a:gs pos="100000">
                <a:srgbClr val="F59C00">
                  <a:lumMod val="105000"/>
                  <a:satMod val="109000"/>
                  <a:tint val="81000"/>
                </a:srgbClr>
              </a:gs>
            </a:gsLst>
            <a:lin ang="5400000" scaled="0"/>
          </a:gradFill>
          <a:ln w="6350" cap="flat" cmpd="sng" algn="ctr">
            <a:solidFill>
              <a:srgbClr val="F59C00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1400" b="1" i="0" u="none" strike="noStrike" kern="0" cap="none" spc="0" normalizeH="0" baseline="0" noProof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🏙️Klar definierte Systemgrenzen</a:t>
            </a:r>
            <a:endParaRPr kumimoji="0" lang="de-DE" sz="1400" b="0" i="0" u="none" strike="noStrike" kern="0" cap="none" spc="0" normalizeH="0" baseline="0" noProof="1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56" name="Rechteck 455">
            <a:extLst>
              <a:ext uri="{FF2B5EF4-FFF2-40B4-BE49-F238E27FC236}">
                <a16:creationId xmlns:a16="http://schemas.microsoft.com/office/drawing/2014/main" id="{BFFB59A2-5105-D964-7335-D478C4F377A8}"/>
              </a:ext>
            </a:extLst>
          </p:cNvPr>
          <p:cNvSpPr/>
          <p:nvPr/>
        </p:nvSpPr>
        <p:spPr bwMode="auto">
          <a:xfrm>
            <a:off x="5997853" y="5100342"/>
            <a:ext cx="1654744" cy="425881"/>
          </a:xfrm>
          <a:prstGeom prst="rect">
            <a:avLst/>
          </a:prstGeom>
          <a:solidFill>
            <a:srgbClr val="D8D7B7"/>
          </a:solidFill>
          <a:ln w="28575" cap="flat" cmpd="sng" algn="ctr">
            <a:noFill/>
            <a:prstDash val="dash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200" b="0" i="0" u="none" strike="noStrike" kern="0" cap="none" spc="0" normalizeH="0" baseline="0" noProof="1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57" name="Building5" descr="{&quot;Key&quot;:&quot;POWER_USER_SHAPE_ICON&quot;,&quot;Value&quot;:&quot;POWER_USER_SHAPE_ICON_STYLE_1&quot;}">
            <a:extLst>
              <a:ext uri="{FF2B5EF4-FFF2-40B4-BE49-F238E27FC236}">
                <a16:creationId xmlns:a16="http://schemas.microsoft.com/office/drawing/2014/main" id="{F0ADCF4E-B237-4101-B01D-0F4DE8D07D06}"/>
              </a:ext>
            </a:extLst>
          </p:cNvPr>
          <p:cNvSpPr>
            <a:spLocks noChangeAspect="1" noEditPoints="1"/>
          </p:cNvSpPr>
          <p:nvPr>
            <p:custDataLst>
              <p:tags r:id="rId1"/>
            </p:custDataLst>
          </p:nvPr>
        </p:nvSpPr>
        <p:spPr bwMode="auto">
          <a:xfrm>
            <a:off x="6058436" y="3740888"/>
            <a:ext cx="1233099" cy="1369475"/>
          </a:xfrm>
          <a:custGeom>
            <a:avLst/>
            <a:gdLst>
              <a:gd name="T0" fmla="*/ 915 w 1250"/>
              <a:gd name="T1" fmla="*/ 250 h 1187"/>
              <a:gd name="T2" fmla="*/ 915 w 1250"/>
              <a:gd name="T3" fmla="*/ 1053 h 1187"/>
              <a:gd name="T4" fmla="*/ 848 w 1250"/>
              <a:gd name="T5" fmla="*/ 1053 h 1187"/>
              <a:gd name="T6" fmla="*/ 850 w 1250"/>
              <a:gd name="T7" fmla="*/ 0 h 1187"/>
              <a:gd name="T8" fmla="*/ 448 w 1250"/>
              <a:gd name="T9" fmla="*/ 0 h 1187"/>
              <a:gd name="T10" fmla="*/ 446 w 1250"/>
              <a:gd name="T11" fmla="*/ 1053 h 1187"/>
              <a:gd name="T12" fmla="*/ 379 w 1250"/>
              <a:gd name="T13" fmla="*/ 1053 h 1187"/>
              <a:gd name="T14" fmla="*/ 379 w 1250"/>
              <a:gd name="T15" fmla="*/ 361 h 1187"/>
              <a:gd name="T16" fmla="*/ 0 w 1250"/>
              <a:gd name="T17" fmla="*/ 361 h 1187"/>
              <a:gd name="T18" fmla="*/ 0 w 1250"/>
              <a:gd name="T19" fmla="*/ 1187 h 1187"/>
              <a:gd name="T20" fmla="*/ 1250 w 1250"/>
              <a:gd name="T21" fmla="*/ 1187 h 1187"/>
              <a:gd name="T22" fmla="*/ 1250 w 1250"/>
              <a:gd name="T23" fmla="*/ 250 h 1187"/>
              <a:gd name="T24" fmla="*/ 915 w 1250"/>
              <a:gd name="T25" fmla="*/ 250 h 1187"/>
              <a:gd name="T26" fmla="*/ 982 w 1250"/>
              <a:gd name="T27" fmla="*/ 339 h 1187"/>
              <a:gd name="T28" fmla="*/ 1183 w 1250"/>
              <a:gd name="T29" fmla="*/ 339 h 1187"/>
              <a:gd name="T30" fmla="*/ 1183 w 1250"/>
              <a:gd name="T31" fmla="*/ 584 h 1187"/>
              <a:gd name="T32" fmla="*/ 982 w 1250"/>
              <a:gd name="T33" fmla="*/ 584 h 1187"/>
              <a:gd name="T34" fmla="*/ 982 w 1250"/>
              <a:gd name="T35" fmla="*/ 339 h 1187"/>
              <a:gd name="T36" fmla="*/ 982 w 1250"/>
              <a:gd name="T37" fmla="*/ 674 h 1187"/>
              <a:gd name="T38" fmla="*/ 1183 w 1250"/>
              <a:gd name="T39" fmla="*/ 674 h 1187"/>
              <a:gd name="T40" fmla="*/ 1183 w 1250"/>
              <a:gd name="T41" fmla="*/ 919 h 1187"/>
              <a:gd name="T42" fmla="*/ 982 w 1250"/>
              <a:gd name="T43" fmla="*/ 919 h 1187"/>
              <a:gd name="T44" fmla="*/ 982 w 1250"/>
              <a:gd name="T45" fmla="*/ 674 h 1187"/>
              <a:gd name="T46" fmla="*/ 513 w 1250"/>
              <a:gd name="T47" fmla="*/ 71 h 1187"/>
              <a:gd name="T48" fmla="*/ 781 w 1250"/>
              <a:gd name="T49" fmla="*/ 71 h 1187"/>
              <a:gd name="T50" fmla="*/ 781 w 1250"/>
              <a:gd name="T51" fmla="*/ 183 h 1187"/>
              <a:gd name="T52" fmla="*/ 513 w 1250"/>
              <a:gd name="T53" fmla="*/ 183 h 1187"/>
              <a:gd name="T54" fmla="*/ 513 w 1250"/>
              <a:gd name="T55" fmla="*/ 71 h 1187"/>
              <a:gd name="T56" fmla="*/ 513 w 1250"/>
              <a:gd name="T57" fmla="*/ 294 h 1187"/>
              <a:gd name="T58" fmla="*/ 781 w 1250"/>
              <a:gd name="T59" fmla="*/ 294 h 1187"/>
              <a:gd name="T60" fmla="*/ 781 w 1250"/>
              <a:gd name="T61" fmla="*/ 406 h 1187"/>
              <a:gd name="T62" fmla="*/ 513 w 1250"/>
              <a:gd name="T63" fmla="*/ 406 h 1187"/>
              <a:gd name="T64" fmla="*/ 513 w 1250"/>
              <a:gd name="T65" fmla="*/ 294 h 1187"/>
              <a:gd name="T66" fmla="*/ 513 w 1250"/>
              <a:gd name="T67" fmla="*/ 517 h 1187"/>
              <a:gd name="T68" fmla="*/ 781 w 1250"/>
              <a:gd name="T69" fmla="*/ 517 h 1187"/>
              <a:gd name="T70" fmla="*/ 781 w 1250"/>
              <a:gd name="T71" fmla="*/ 629 h 1187"/>
              <a:gd name="T72" fmla="*/ 513 w 1250"/>
              <a:gd name="T73" fmla="*/ 629 h 1187"/>
              <a:gd name="T74" fmla="*/ 513 w 1250"/>
              <a:gd name="T75" fmla="*/ 517 h 1187"/>
              <a:gd name="T76" fmla="*/ 513 w 1250"/>
              <a:gd name="T77" fmla="*/ 741 h 1187"/>
              <a:gd name="T78" fmla="*/ 781 w 1250"/>
              <a:gd name="T79" fmla="*/ 741 h 1187"/>
              <a:gd name="T80" fmla="*/ 781 w 1250"/>
              <a:gd name="T81" fmla="*/ 852 h 1187"/>
              <a:gd name="T82" fmla="*/ 513 w 1250"/>
              <a:gd name="T83" fmla="*/ 852 h 1187"/>
              <a:gd name="T84" fmla="*/ 513 w 1250"/>
              <a:gd name="T85" fmla="*/ 741 h 1187"/>
              <a:gd name="T86" fmla="*/ 67 w 1250"/>
              <a:gd name="T87" fmla="*/ 450 h 1187"/>
              <a:gd name="T88" fmla="*/ 156 w 1250"/>
              <a:gd name="T89" fmla="*/ 450 h 1187"/>
              <a:gd name="T90" fmla="*/ 156 w 1250"/>
              <a:gd name="T91" fmla="*/ 607 h 1187"/>
              <a:gd name="T92" fmla="*/ 67 w 1250"/>
              <a:gd name="T93" fmla="*/ 607 h 1187"/>
              <a:gd name="T94" fmla="*/ 67 w 1250"/>
              <a:gd name="T95" fmla="*/ 450 h 1187"/>
              <a:gd name="T96" fmla="*/ 223 w 1250"/>
              <a:gd name="T97" fmla="*/ 450 h 1187"/>
              <a:gd name="T98" fmla="*/ 313 w 1250"/>
              <a:gd name="T99" fmla="*/ 450 h 1187"/>
              <a:gd name="T100" fmla="*/ 313 w 1250"/>
              <a:gd name="T101" fmla="*/ 607 h 1187"/>
              <a:gd name="T102" fmla="*/ 223 w 1250"/>
              <a:gd name="T103" fmla="*/ 607 h 1187"/>
              <a:gd name="T104" fmla="*/ 223 w 1250"/>
              <a:gd name="T105" fmla="*/ 450 h 1187"/>
              <a:gd name="T106" fmla="*/ 67 w 1250"/>
              <a:gd name="T107" fmla="*/ 718 h 1187"/>
              <a:gd name="T108" fmla="*/ 156 w 1250"/>
              <a:gd name="T109" fmla="*/ 718 h 1187"/>
              <a:gd name="T110" fmla="*/ 156 w 1250"/>
              <a:gd name="T111" fmla="*/ 875 h 1187"/>
              <a:gd name="T112" fmla="*/ 67 w 1250"/>
              <a:gd name="T113" fmla="*/ 875 h 1187"/>
              <a:gd name="T114" fmla="*/ 67 w 1250"/>
              <a:gd name="T115" fmla="*/ 718 h 1187"/>
              <a:gd name="T116" fmla="*/ 223 w 1250"/>
              <a:gd name="T117" fmla="*/ 718 h 1187"/>
              <a:gd name="T118" fmla="*/ 313 w 1250"/>
              <a:gd name="T119" fmla="*/ 718 h 1187"/>
              <a:gd name="T120" fmla="*/ 313 w 1250"/>
              <a:gd name="T121" fmla="*/ 875 h 1187"/>
              <a:gd name="T122" fmla="*/ 223 w 1250"/>
              <a:gd name="T123" fmla="*/ 875 h 1187"/>
              <a:gd name="T124" fmla="*/ 223 w 1250"/>
              <a:gd name="T125" fmla="*/ 718 h 118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  <a:cxn ang="0">
                <a:pos x="T124" y="T125"/>
              </a:cxn>
            </a:cxnLst>
            <a:rect l="0" t="0" r="r" b="b"/>
            <a:pathLst>
              <a:path w="1250" h="1187">
                <a:moveTo>
                  <a:pt x="915" y="250"/>
                </a:moveTo>
                <a:lnTo>
                  <a:pt x="915" y="1053"/>
                </a:lnTo>
                <a:lnTo>
                  <a:pt x="848" y="1053"/>
                </a:lnTo>
                <a:lnTo>
                  <a:pt x="850" y="0"/>
                </a:lnTo>
                <a:lnTo>
                  <a:pt x="448" y="0"/>
                </a:lnTo>
                <a:lnTo>
                  <a:pt x="446" y="1053"/>
                </a:lnTo>
                <a:lnTo>
                  <a:pt x="379" y="1053"/>
                </a:lnTo>
                <a:lnTo>
                  <a:pt x="379" y="361"/>
                </a:lnTo>
                <a:lnTo>
                  <a:pt x="0" y="361"/>
                </a:lnTo>
                <a:lnTo>
                  <a:pt x="0" y="1187"/>
                </a:lnTo>
                <a:lnTo>
                  <a:pt x="1250" y="1187"/>
                </a:lnTo>
                <a:lnTo>
                  <a:pt x="1250" y="250"/>
                </a:lnTo>
                <a:lnTo>
                  <a:pt x="915" y="250"/>
                </a:lnTo>
                <a:close/>
                <a:moveTo>
                  <a:pt x="982" y="339"/>
                </a:moveTo>
                <a:lnTo>
                  <a:pt x="1183" y="339"/>
                </a:lnTo>
                <a:lnTo>
                  <a:pt x="1183" y="584"/>
                </a:lnTo>
                <a:lnTo>
                  <a:pt x="982" y="584"/>
                </a:lnTo>
                <a:lnTo>
                  <a:pt x="982" y="339"/>
                </a:lnTo>
                <a:close/>
                <a:moveTo>
                  <a:pt x="982" y="674"/>
                </a:moveTo>
                <a:lnTo>
                  <a:pt x="1183" y="674"/>
                </a:lnTo>
                <a:lnTo>
                  <a:pt x="1183" y="919"/>
                </a:lnTo>
                <a:lnTo>
                  <a:pt x="982" y="919"/>
                </a:lnTo>
                <a:lnTo>
                  <a:pt x="982" y="674"/>
                </a:lnTo>
                <a:close/>
                <a:moveTo>
                  <a:pt x="513" y="71"/>
                </a:moveTo>
                <a:lnTo>
                  <a:pt x="781" y="71"/>
                </a:lnTo>
                <a:lnTo>
                  <a:pt x="781" y="183"/>
                </a:lnTo>
                <a:lnTo>
                  <a:pt x="513" y="183"/>
                </a:lnTo>
                <a:lnTo>
                  <a:pt x="513" y="71"/>
                </a:lnTo>
                <a:close/>
                <a:moveTo>
                  <a:pt x="513" y="294"/>
                </a:moveTo>
                <a:lnTo>
                  <a:pt x="781" y="294"/>
                </a:lnTo>
                <a:lnTo>
                  <a:pt x="781" y="406"/>
                </a:lnTo>
                <a:lnTo>
                  <a:pt x="513" y="406"/>
                </a:lnTo>
                <a:lnTo>
                  <a:pt x="513" y="294"/>
                </a:lnTo>
                <a:close/>
                <a:moveTo>
                  <a:pt x="513" y="517"/>
                </a:moveTo>
                <a:lnTo>
                  <a:pt x="781" y="517"/>
                </a:lnTo>
                <a:lnTo>
                  <a:pt x="781" y="629"/>
                </a:lnTo>
                <a:lnTo>
                  <a:pt x="513" y="629"/>
                </a:lnTo>
                <a:lnTo>
                  <a:pt x="513" y="517"/>
                </a:lnTo>
                <a:close/>
                <a:moveTo>
                  <a:pt x="513" y="741"/>
                </a:moveTo>
                <a:lnTo>
                  <a:pt x="781" y="741"/>
                </a:lnTo>
                <a:lnTo>
                  <a:pt x="781" y="852"/>
                </a:lnTo>
                <a:lnTo>
                  <a:pt x="513" y="852"/>
                </a:lnTo>
                <a:lnTo>
                  <a:pt x="513" y="741"/>
                </a:lnTo>
                <a:close/>
                <a:moveTo>
                  <a:pt x="67" y="450"/>
                </a:moveTo>
                <a:lnTo>
                  <a:pt x="156" y="450"/>
                </a:lnTo>
                <a:lnTo>
                  <a:pt x="156" y="607"/>
                </a:lnTo>
                <a:lnTo>
                  <a:pt x="67" y="607"/>
                </a:lnTo>
                <a:lnTo>
                  <a:pt x="67" y="450"/>
                </a:lnTo>
                <a:close/>
                <a:moveTo>
                  <a:pt x="223" y="450"/>
                </a:moveTo>
                <a:lnTo>
                  <a:pt x="313" y="450"/>
                </a:lnTo>
                <a:lnTo>
                  <a:pt x="313" y="607"/>
                </a:lnTo>
                <a:lnTo>
                  <a:pt x="223" y="607"/>
                </a:lnTo>
                <a:lnTo>
                  <a:pt x="223" y="450"/>
                </a:lnTo>
                <a:close/>
                <a:moveTo>
                  <a:pt x="67" y="718"/>
                </a:moveTo>
                <a:lnTo>
                  <a:pt x="156" y="718"/>
                </a:lnTo>
                <a:lnTo>
                  <a:pt x="156" y="875"/>
                </a:lnTo>
                <a:lnTo>
                  <a:pt x="67" y="875"/>
                </a:lnTo>
                <a:lnTo>
                  <a:pt x="67" y="718"/>
                </a:lnTo>
                <a:close/>
                <a:moveTo>
                  <a:pt x="223" y="718"/>
                </a:moveTo>
                <a:lnTo>
                  <a:pt x="313" y="718"/>
                </a:lnTo>
                <a:lnTo>
                  <a:pt x="313" y="875"/>
                </a:lnTo>
                <a:lnTo>
                  <a:pt x="223" y="875"/>
                </a:lnTo>
                <a:lnTo>
                  <a:pt x="223" y="718"/>
                </a:lnTo>
                <a:close/>
              </a:path>
            </a:pathLst>
          </a:custGeom>
          <a:solidFill>
            <a:srgbClr val="FFFFFF">
              <a:lumMod val="85000"/>
            </a:srgbClr>
          </a:solidFill>
          <a:ln>
            <a:noFill/>
          </a:ln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200" b="0" i="0" u="none" strike="noStrike" kern="0" cap="none" spc="0" normalizeH="0" baseline="0" noProof="1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58" name="Rechteck 457">
            <a:extLst>
              <a:ext uri="{FF2B5EF4-FFF2-40B4-BE49-F238E27FC236}">
                <a16:creationId xmlns:a16="http://schemas.microsoft.com/office/drawing/2014/main" id="{C7E1A1A6-04F4-2E9D-5FC6-488755DEC3E2}"/>
              </a:ext>
            </a:extLst>
          </p:cNvPr>
          <p:cNvSpPr/>
          <p:nvPr/>
        </p:nvSpPr>
        <p:spPr bwMode="auto">
          <a:xfrm>
            <a:off x="5963759" y="3696136"/>
            <a:ext cx="1052055" cy="5539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1000" b="0" i="0" u="none" strike="noStrike" kern="1200" cap="none" spc="0" normalizeH="0" baseline="0" noProof="1">
                <a:ln>
                  <a:noFill/>
                </a:ln>
                <a:solidFill>
                  <a:srgbClr val="5FB564"/>
                </a:solidFill>
                <a:effectLst/>
                <a:uLnTx/>
                <a:uFillTx/>
                <a:latin typeface="Bahnschrift" panose="020B0502040204020203" pitchFamily="34" charset="0"/>
                <a:ea typeface="+mn-ea"/>
                <a:cs typeface="+mn-cs"/>
              </a:rPr>
              <a:t>Gebäude-Betrieb </a:t>
            </a: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1000" b="0" i="0" u="none" strike="noStrike" kern="1200" cap="none" spc="0" normalizeH="0" baseline="0" noProof="1">
                <a:ln>
                  <a:noFill/>
                </a:ln>
                <a:solidFill>
                  <a:srgbClr val="5FB564"/>
                </a:solidFill>
                <a:effectLst/>
                <a:uLnTx/>
                <a:uFillTx/>
                <a:latin typeface="Bahnschrift" panose="020B0502040204020203" pitchFamily="34" charset="0"/>
                <a:ea typeface="+mn-ea"/>
                <a:cs typeface="+mn-cs"/>
              </a:rPr>
              <a:t>und -Nutzung</a:t>
            </a:r>
          </a:p>
        </p:txBody>
      </p:sp>
      <p:grpSp>
        <p:nvGrpSpPr>
          <p:cNvPr id="459" name="Gruppieren 458">
            <a:extLst>
              <a:ext uri="{FF2B5EF4-FFF2-40B4-BE49-F238E27FC236}">
                <a16:creationId xmlns:a16="http://schemas.microsoft.com/office/drawing/2014/main" id="{15004023-397D-A34F-3F97-463EDDC59A5C}"/>
              </a:ext>
            </a:extLst>
          </p:cNvPr>
          <p:cNvGrpSpPr/>
          <p:nvPr/>
        </p:nvGrpSpPr>
        <p:grpSpPr>
          <a:xfrm>
            <a:off x="6654710" y="4410463"/>
            <a:ext cx="298582" cy="276822"/>
            <a:chOff x="-19101" y="2381281"/>
            <a:chExt cx="699820" cy="699820"/>
          </a:xfrm>
        </p:grpSpPr>
        <p:sp>
          <p:nvSpPr>
            <p:cNvPr id="460" name="Ellipse 459">
              <a:extLst>
                <a:ext uri="{FF2B5EF4-FFF2-40B4-BE49-F238E27FC236}">
                  <a16:creationId xmlns:a16="http://schemas.microsoft.com/office/drawing/2014/main" id="{EC01D521-2CE8-2A67-65C3-DFD51D7D2C98}"/>
                </a:ext>
              </a:extLst>
            </p:cNvPr>
            <p:cNvSpPr/>
            <p:nvPr/>
          </p:nvSpPr>
          <p:spPr>
            <a:xfrm>
              <a:off x="-19101" y="2381281"/>
              <a:ext cx="699820" cy="699820"/>
            </a:xfrm>
            <a:prstGeom prst="ellipse">
              <a:avLst/>
            </a:prstGeom>
            <a:solidFill>
              <a:sysClr val="windowText" lastClr="000000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de-DE" sz="1200" b="0" i="0" u="none" strike="noStrike" kern="0" cap="none" spc="0" normalizeH="0" baseline="0" noProof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61" name="Plug" descr="{&quot;Key&quot;:&quot;POWER_USER_SHAPE_ICON&quot;,&quot;Value&quot;:&quot;POWER_USER_SHAPE_ICON_STYLE_1&quot;}">
              <a:extLst>
                <a:ext uri="{FF2B5EF4-FFF2-40B4-BE49-F238E27FC236}">
                  <a16:creationId xmlns:a16="http://schemas.microsoft.com/office/drawing/2014/main" id="{9EDB6ED6-74FB-8487-4911-B233837A9808}"/>
                </a:ext>
              </a:extLst>
            </p:cNvPr>
            <p:cNvSpPr>
              <a:spLocks noChangeAspect="1" noEditPoints="1"/>
            </p:cNvSpPr>
            <p:nvPr>
              <p:custDataLst>
                <p:tags r:id="rId64"/>
              </p:custDataLst>
            </p:nvPr>
          </p:nvSpPr>
          <p:spPr bwMode="auto">
            <a:xfrm>
              <a:off x="124100" y="2458915"/>
              <a:ext cx="393828" cy="542925"/>
            </a:xfrm>
            <a:custGeom>
              <a:avLst/>
              <a:gdLst>
                <a:gd name="T0" fmla="*/ 336 w 592"/>
                <a:gd name="T1" fmla="*/ 106 h 790"/>
                <a:gd name="T2" fmla="*/ 415 w 592"/>
                <a:gd name="T3" fmla="*/ 27 h 790"/>
                <a:gd name="T4" fmla="*/ 456 w 592"/>
                <a:gd name="T5" fmla="*/ 69 h 790"/>
                <a:gd name="T6" fmla="*/ 377 w 592"/>
                <a:gd name="T7" fmla="*/ 148 h 790"/>
                <a:gd name="T8" fmla="*/ 336 w 592"/>
                <a:gd name="T9" fmla="*/ 106 h 790"/>
                <a:gd name="T10" fmla="*/ 156 w 592"/>
                <a:gd name="T11" fmla="*/ 393 h 790"/>
                <a:gd name="T12" fmla="*/ 199 w 592"/>
                <a:gd name="T13" fmla="*/ 436 h 790"/>
                <a:gd name="T14" fmla="*/ 224 w 592"/>
                <a:gd name="T15" fmla="*/ 411 h 790"/>
                <a:gd name="T16" fmla="*/ 181 w 592"/>
                <a:gd name="T17" fmla="*/ 368 h 790"/>
                <a:gd name="T18" fmla="*/ 156 w 592"/>
                <a:gd name="T19" fmla="*/ 393 h 790"/>
                <a:gd name="T20" fmla="*/ 110 w 592"/>
                <a:gd name="T21" fmla="*/ 445 h 790"/>
                <a:gd name="T22" fmla="*/ 146 w 592"/>
                <a:gd name="T23" fmla="*/ 481 h 790"/>
                <a:gd name="T24" fmla="*/ 171 w 592"/>
                <a:gd name="T25" fmla="*/ 456 h 790"/>
                <a:gd name="T26" fmla="*/ 135 w 592"/>
                <a:gd name="T27" fmla="*/ 421 h 790"/>
                <a:gd name="T28" fmla="*/ 110 w 592"/>
                <a:gd name="T29" fmla="*/ 445 h 790"/>
                <a:gd name="T30" fmla="*/ 174 w 592"/>
                <a:gd name="T31" fmla="*/ 528 h 790"/>
                <a:gd name="T32" fmla="*/ 141 w 592"/>
                <a:gd name="T33" fmla="*/ 529 h 790"/>
                <a:gd name="T34" fmla="*/ 64 w 592"/>
                <a:gd name="T35" fmla="*/ 451 h 790"/>
                <a:gd name="T36" fmla="*/ 62 w 592"/>
                <a:gd name="T37" fmla="*/ 418 h 790"/>
                <a:gd name="T38" fmla="*/ 158 w 592"/>
                <a:gd name="T39" fmla="*/ 193 h 790"/>
                <a:gd name="T40" fmla="*/ 165 w 592"/>
                <a:gd name="T41" fmla="*/ 172 h 790"/>
                <a:gd name="T42" fmla="*/ 242 w 592"/>
                <a:gd name="T43" fmla="*/ 95 h 790"/>
                <a:gd name="T44" fmla="*/ 275 w 592"/>
                <a:gd name="T45" fmla="*/ 95 h 790"/>
                <a:gd name="T46" fmla="*/ 497 w 592"/>
                <a:gd name="T47" fmla="*/ 316 h 790"/>
                <a:gd name="T48" fmla="*/ 496 w 592"/>
                <a:gd name="T49" fmla="*/ 349 h 790"/>
                <a:gd name="T50" fmla="*/ 420 w 592"/>
                <a:gd name="T51" fmla="*/ 426 h 790"/>
                <a:gd name="T52" fmla="*/ 400 w 592"/>
                <a:gd name="T53" fmla="*/ 434 h 790"/>
                <a:gd name="T54" fmla="*/ 174 w 592"/>
                <a:gd name="T55" fmla="*/ 528 h 790"/>
                <a:gd name="T56" fmla="*/ 393 w 592"/>
                <a:gd name="T57" fmla="*/ 594 h 790"/>
                <a:gd name="T58" fmla="*/ 295 w 592"/>
                <a:gd name="T59" fmla="*/ 594 h 790"/>
                <a:gd name="T60" fmla="*/ 210 w 592"/>
                <a:gd name="T61" fmla="*/ 678 h 790"/>
                <a:gd name="T62" fmla="*/ 45 w 592"/>
                <a:gd name="T63" fmla="*/ 678 h 790"/>
                <a:gd name="T64" fmla="*/ 45 w 592"/>
                <a:gd name="T65" fmla="*/ 513 h 790"/>
                <a:gd name="T66" fmla="*/ 61 w 592"/>
                <a:gd name="T67" fmla="*/ 497 h 790"/>
                <a:gd name="T68" fmla="*/ 94 w 592"/>
                <a:gd name="T69" fmla="*/ 531 h 790"/>
                <a:gd name="T70" fmla="*/ 78 w 592"/>
                <a:gd name="T71" fmla="*/ 546 h 790"/>
                <a:gd name="T72" fmla="*/ 78 w 592"/>
                <a:gd name="T73" fmla="*/ 645 h 790"/>
                <a:gd name="T74" fmla="*/ 177 w 592"/>
                <a:gd name="T75" fmla="*/ 645 h 790"/>
                <a:gd name="T76" fmla="*/ 261 w 592"/>
                <a:gd name="T77" fmla="*/ 560 h 790"/>
                <a:gd name="T78" fmla="*/ 426 w 592"/>
                <a:gd name="T79" fmla="*/ 560 h 790"/>
                <a:gd name="T80" fmla="*/ 426 w 592"/>
                <a:gd name="T81" fmla="*/ 725 h 790"/>
                <a:gd name="T82" fmla="*/ 384 w 592"/>
                <a:gd name="T83" fmla="*/ 768 h 790"/>
                <a:gd name="T84" fmla="*/ 351 w 592"/>
                <a:gd name="T85" fmla="*/ 734 h 790"/>
                <a:gd name="T86" fmla="*/ 393 w 592"/>
                <a:gd name="T87" fmla="*/ 692 h 790"/>
                <a:gd name="T88" fmla="*/ 393 w 592"/>
                <a:gd name="T89" fmla="*/ 594 h 790"/>
                <a:gd name="T90" fmla="*/ 485 w 592"/>
                <a:gd name="T91" fmla="*/ 256 h 790"/>
                <a:gd name="T92" fmla="*/ 564 w 592"/>
                <a:gd name="T93" fmla="*/ 176 h 790"/>
                <a:gd name="T94" fmla="*/ 523 w 592"/>
                <a:gd name="T95" fmla="*/ 135 h 790"/>
                <a:gd name="T96" fmla="*/ 444 w 592"/>
                <a:gd name="T97" fmla="*/ 214 h 790"/>
                <a:gd name="T98" fmla="*/ 485 w 592"/>
                <a:gd name="T99" fmla="*/ 256 h 790"/>
                <a:gd name="T100" fmla="*/ 485 w 592"/>
                <a:gd name="T101" fmla="*/ 256 h 7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592" h="790">
                  <a:moveTo>
                    <a:pt x="336" y="106"/>
                  </a:moveTo>
                  <a:lnTo>
                    <a:pt x="415" y="27"/>
                  </a:lnTo>
                  <a:cubicBezTo>
                    <a:pt x="442" y="0"/>
                    <a:pt x="484" y="41"/>
                    <a:pt x="456" y="69"/>
                  </a:cubicBezTo>
                  <a:lnTo>
                    <a:pt x="377" y="148"/>
                  </a:lnTo>
                  <a:lnTo>
                    <a:pt x="336" y="106"/>
                  </a:lnTo>
                  <a:close/>
                  <a:moveTo>
                    <a:pt x="156" y="393"/>
                  </a:moveTo>
                  <a:lnTo>
                    <a:pt x="199" y="436"/>
                  </a:lnTo>
                  <a:cubicBezTo>
                    <a:pt x="215" y="452"/>
                    <a:pt x="240" y="428"/>
                    <a:pt x="224" y="411"/>
                  </a:cubicBezTo>
                  <a:lnTo>
                    <a:pt x="181" y="368"/>
                  </a:lnTo>
                  <a:cubicBezTo>
                    <a:pt x="164" y="351"/>
                    <a:pt x="139" y="376"/>
                    <a:pt x="156" y="393"/>
                  </a:cubicBezTo>
                  <a:close/>
                  <a:moveTo>
                    <a:pt x="110" y="445"/>
                  </a:moveTo>
                  <a:lnTo>
                    <a:pt x="146" y="481"/>
                  </a:lnTo>
                  <a:cubicBezTo>
                    <a:pt x="162" y="498"/>
                    <a:pt x="187" y="473"/>
                    <a:pt x="171" y="456"/>
                  </a:cubicBezTo>
                  <a:lnTo>
                    <a:pt x="135" y="421"/>
                  </a:lnTo>
                  <a:cubicBezTo>
                    <a:pt x="119" y="404"/>
                    <a:pt x="94" y="429"/>
                    <a:pt x="110" y="445"/>
                  </a:cubicBezTo>
                  <a:close/>
                  <a:moveTo>
                    <a:pt x="174" y="528"/>
                  </a:moveTo>
                  <a:cubicBezTo>
                    <a:pt x="165" y="537"/>
                    <a:pt x="150" y="538"/>
                    <a:pt x="141" y="529"/>
                  </a:cubicBezTo>
                  <a:lnTo>
                    <a:pt x="64" y="451"/>
                  </a:lnTo>
                  <a:cubicBezTo>
                    <a:pt x="54" y="442"/>
                    <a:pt x="53" y="428"/>
                    <a:pt x="62" y="418"/>
                  </a:cubicBezTo>
                  <a:cubicBezTo>
                    <a:pt x="121" y="355"/>
                    <a:pt x="169" y="283"/>
                    <a:pt x="158" y="193"/>
                  </a:cubicBezTo>
                  <a:cubicBezTo>
                    <a:pt x="157" y="185"/>
                    <a:pt x="159" y="178"/>
                    <a:pt x="165" y="172"/>
                  </a:cubicBezTo>
                  <a:lnTo>
                    <a:pt x="242" y="95"/>
                  </a:lnTo>
                  <a:cubicBezTo>
                    <a:pt x="251" y="86"/>
                    <a:pt x="266" y="86"/>
                    <a:pt x="275" y="95"/>
                  </a:cubicBezTo>
                  <a:lnTo>
                    <a:pt x="497" y="316"/>
                  </a:lnTo>
                  <a:cubicBezTo>
                    <a:pt x="506" y="325"/>
                    <a:pt x="506" y="340"/>
                    <a:pt x="496" y="349"/>
                  </a:cubicBezTo>
                  <a:lnTo>
                    <a:pt x="420" y="426"/>
                  </a:lnTo>
                  <a:cubicBezTo>
                    <a:pt x="415" y="431"/>
                    <a:pt x="408" y="434"/>
                    <a:pt x="400" y="434"/>
                  </a:cubicBezTo>
                  <a:cubicBezTo>
                    <a:pt x="309" y="423"/>
                    <a:pt x="238" y="469"/>
                    <a:pt x="174" y="528"/>
                  </a:cubicBezTo>
                  <a:close/>
                  <a:moveTo>
                    <a:pt x="393" y="594"/>
                  </a:moveTo>
                  <a:cubicBezTo>
                    <a:pt x="366" y="567"/>
                    <a:pt x="322" y="567"/>
                    <a:pt x="295" y="594"/>
                  </a:cubicBezTo>
                  <a:lnTo>
                    <a:pt x="210" y="678"/>
                  </a:lnTo>
                  <a:cubicBezTo>
                    <a:pt x="165" y="723"/>
                    <a:pt x="90" y="723"/>
                    <a:pt x="45" y="678"/>
                  </a:cubicBezTo>
                  <a:cubicBezTo>
                    <a:pt x="0" y="633"/>
                    <a:pt x="0" y="558"/>
                    <a:pt x="45" y="513"/>
                  </a:cubicBezTo>
                  <a:lnTo>
                    <a:pt x="61" y="497"/>
                  </a:lnTo>
                  <a:lnTo>
                    <a:pt x="94" y="531"/>
                  </a:lnTo>
                  <a:lnTo>
                    <a:pt x="78" y="546"/>
                  </a:lnTo>
                  <a:cubicBezTo>
                    <a:pt x="52" y="573"/>
                    <a:pt x="52" y="618"/>
                    <a:pt x="78" y="645"/>
                  </a:cubicBezTo>
                  <a:cubicBezTo>
                    <a:pt x="105" y="672"/>
                    <a:pt x="150" y="672"/>
                    <a:pt x="177" y="645"/>
                  </a:cubicBezTo>
                  <a:lnTo>
                    <a:pt x="261" y="560"/>
                  </a:lnTo>
                  <a:cubicBezTo>
                    <a:pt x="307" y="515"/>
                    <a:pt x="381" y="515"/>
                    <a:pt x="426" y="560"/>
                  </a:cubicBezTo>
                  <a:cubicBezTo>
                    <a:pt x="472" y="605"/>
                    <a:pt x="472" y="680"/>
                    <a:pt x="426" y="725"/>
                  </a:cubicBezTo>
                  <a:lnTo>
                    <a:pt x="384" y="768"/>
                  </a:lnTo>
                  <a:cubicBezTo>
                    <a:pt x="362" y="790"/>
                    <a:pt x="329" y="756"/>
                    <a:pt x="351" y="734"/>
                  </a:cubicBezTo>
                  <a:lnTo>
                    <a:pt x="393" y="692"/>
                  </a:lnTo>
                  <a:cubicBezTo>
                    <a:pt x="420" y="665"/>
                    <a:pt x="420" y="620"/>
                    <a:pt x="393" y="594"/>
                  </a:cubicBezTo>
                  <a:close/>
                  <a:moveTo>
                    <a:pt x="485" y="256"/>
                  </a:moveTo>
                  <a:lnTo>
                    <a:pt x="564" y="176"/>
                  </a:lnTo>
                  <a:cubicBezTo>
                    <a:pt x="592" y="149"/>
                    <a:pt x="550" y="108"/>
                    <a:pt x="523" y="135"/>
                  </a:cubicBezTo>
                  <a:lnTo>
                    <a:pt x="444" y="214"/>
                  </a:lnTo>
                  <a:lnTo>
                    <a:pt x="485" y="256"/>
                  </a:lnTo>
                  <a:lnTo>
                    <a:pt x="485" y="256"/>
                  </a:lnTo>
                  <a:close/>
                </a:path>
              </a:pathLst>
            </a:custGeom>
            <a:solidFill>
              <a:sysClr val="window" lastClr="FFFFFF"/>
            </a:solidFill>
            <a:ln>
              <a:noFill/>
            </a:ln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de-DE" sz="1200" b="0" i="0" u="none" strike="noStrike" kern="0" cap="none" spc="0" normalizeH="0" baseline="0" noProof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grpSp>
        <p:nvGrpSpPr>
          <p:cNvPr id="462" name="Gruppieren 461" descr="{&quot;Key&quot;:&quot;POWER_USER_SHAPE_ICON&quot;,&quot;Value&quot;:&quot;POWER_USER_SHAPE_ICON_STYLE_2&quot;}">
            <a:extLst>
              <a:ext uri="{FF2B5EF4-FFF2-40B4-BE49-F238E27FC236}">
                <a16:creationId xmlns:a16="http://schemas.microsoft.com/office/drawing/2014/main" id="{06238A27-40CE-6EE6-FDA4-ABA9202C3638}"/>
              </a:ext>
            </a:extLst>
          </p:cNvPr>
          <p:cNvGrpSpPr>
            <a:grpSpLocks noChangeAspect="1"/>
          </p:cNvGrpSpPr>
          <p:nvPr/>
        </p:nvGrpSpPr>
        <p:grpSpPr>
          <a:xfrm>
            <a:off x="6526970" y="4175678"/>
            <a:ext cx="295815" cy="295814"/>
            <a:chOff x="-151229" y="3030538"/>
            <a:chExt cx="762000" cy="762000"/>
          </a:xfrm>
        </p:grpSpPr>
        <p:sp>
          <p:nvSpPr>
            <p:cNvPr id="463" name="POWER_USER_SHAPE_ICON_STYLE_2">
              <a:extLst>
                <a:ext uri="{FF2B5EF4-FFF2-40B4-BE49-F238E27FC236}">
                  <a16:creationId xmlns:a16="http://schemas.microsoft.com/office/drawing/2014/main" id="{2EEFEBF2-E6E2-0839-69B6-39B0718906A8}"/>
                </a:ext>
              </a:extLst>
            </p:cNvPr>
            <p:cNvSpPr/>
            <p:nvPr/>
          </p:nvSpPr>
          <p:spPr>
            <a:xfrm>
              <a:off x="-151229" y="3030538"/>
              <a:ext cx="762000" cy="762000"/>
            </a:xfrm>
            <a:prstGeom prst="ellipse">
              <a:avLst/>
            </a:prstGeom>
            <a:solidFill>
              <a:srgbClr val="FFC000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txBody>
            <a:bodyPr rtlCol="0" anchor="ctr"/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de-DE" sz="1200" b="0" i="0" u="none" strike="noStrike" kern="0" cap="none" spc="0" normalizeH="0" baseline="0" noProof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grpSp>
          <p:nvGrpSpPr>
            <p:cNvPr id="464" name="Gruppieren 463">
              <a:extLst>
                <a:ext uri="{FF2B5EF4-FFF2-40B4-BE49-F238E27FC236}">
                  <a16:creationId xmlns:a16="http://schemas.microsoft.com/office/drawing/2014/main" id="{96D76273-909D-3F29-E686-30DA93E24508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1" y="3157538"/>
              <a:ext cx="459541" cy="508000"/>
              <a:chOff x="0" y="3157538"/>
              <a:chExt cx="491134" cy="542925"/>
            </a:xfrm>
          </p:grpSpPr>
          <p:sp>
            <p:nvSpPr>
              <p:cNvPr id="465" name="Crowdsourcing2">
                <a:extLst>
                  <a:ext uri="{FF2B5EF4-FFF2-40B4-BE49-F238E27FC236}">
                    <a16:creationId xmlns:a16="http://schemas.microsoft.com/office/drawing/2014/main" id="{BD131F82-5871-FA5D-B6D2-293B8A23BD1B}"/>
                  </a:ext>
                </a:extLst>
              </p:cNvPr>
              <p:cNvSpPr>
                <a:spLocks/>
              </p:cNvSpPr>
              <p:nvPr>
                <p:custDataLst>
                  <p:tags r:id="rId56"/>
                </p:custDataLst>
              </p:nvPr>
            </p:nvSpPr>
            <p:spPr bwMode="auto">
              <a:xfrm>
                <a:off x="192882" y="3595092"/>
                <a:ext cx="105371" cy="35719"/>
              </a:xfrm>
              <a:custGeom>
                <a:avLst/>
                <a:gdLst>
                  <a:gd name="T0" fmla="*/ 130 w 156"/>
                  <a:gd name="T1" fmla="*/ 52 h 52"/>
                  <a:gd name="T2" fmla="*/ 26 w 156"/>
                  <a:gd name="T3" fmla="*/ 52 h 52"/>
                  <a:gd name="T4" fmla="*/ 0 w 156"/>
                  <a:gd name="T5" fmla="*/ 26 h 52"/>
                  <a:gd name="T6" fmla="*/ 26 w 156"/>
                  <a:gd name="T7" fmla="*/ 0 h 52"/>
                  <a:gd name="T8" fmla="*/ 130 w 156"/>
                  <a:gd name="T9" fmla="*/ 0 h 52"/>
                  <a:gd name="T10" fmla="*/ 156 w 156"/>
                  <a:gd name="T11" fmla="*/ 26 h 52"/>
                  <a:gd name="T12" fmla="*/ 130 w 156"/>
                  <a:gd name="T13" fmla="*/ 52 h 5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56" h="52">
                    <a:moveTo>
                      <a:pt x="130" y="52"/>
                    </a:moveTo>
                    <a:lnTo>
                      <a:pt x="26" y="52"/>
                    </a:lnTo>
                    <a:cubicBezTo>
                      <a:pt x="11" y="52"/>
                      <a:pt x="0" y="40"/>
                      <a:pt x="0" y="26"/>
                    </a:cubicBezTo>
                    <a:cubicBezTo>
                      <a:pt x="0" y="12"/>
                      <a:pt x="11" y="0"/>
                      <a:pt x="26" y="0"/>
                    </a:cubicBezTo>
                    <a:lnTo>
                      <a:pt x="130" y="0"/>
                    </a:lnTo>
                    <a:cubicBezTo>
                      <a:pt x="144" y="0"/>
                      <a:pt x="156" y="12"/>
                      <a:pt x="156" y="26"/>
                    </a:cubicBezTo>
                    <a:cubicBezTo>
                      <a:pt x="156" y="40"/>
                      <a:pt x="144" y="52"/>
                      <a:pt x="130" y="52"/>
                    </a:cubicBezTo>
                    <a:close/>
                  </a:path>
                </a:pathLst>
              </a:custGeom>
              <a:solidFill>
                <a:srgbClr val="FFFFFF"/>
              </a:solidFill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68580" tIns="34290" rIns="68580" bIns="3429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6858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de-DE" sz="1200" b="0" i="0" u="none" strike="noStrike" kern="0" cap="none" spc="0" normalizeH="0" baseline="0" noProof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466" name="Crowdsourcing2">
                <a:extLst>
                  <a:ext uri="{FF2B5EF4-FFF2-40B4-BE49-F238E27FC236}">
                    <a16:creationId xmlns:a16="http://schemas.microsoft.com/office/drawing/2014/main" id="{F0F4E3A8-9E19-6A68-1AB0-52A93591B077}"/>
                  </a:ext>
                </a:extLst>
              </p:cNvPr>
              <p:cNvSpPr>
                <a:spLocks/>
              </p:cNvSpPr>
              <p:nvPr>
                <p:custDataLst>
                  <p:tags r:id="rId57"/>
                </p:custDataLst>
              </p:nvPr>
            </p:nvSpPr>
            <p:spPr bwMode="auto">
              <a:xfrm>
                <a:off x="228601" y="3157538"/>
                <a:ext cx="33932" cy="105371"/>
              </a:xfrm>
              <a:custGeom>
                <a:avLst/>
                <a:gdLst>
                  <a:gd name="T0" fmla="*/ 26 w 52"/>
                  <a:gd name="T1" fmla="*/ 156 h 156"/>
                  <a:gd name="T2" fmla="*/ 0 w 52"/>
                  <a:gd name="T3" fmla="*/ 130 h 156"/>
                  <a:gd name="T4" fmla="*/ 0 w 52"/>
                  <a:gd name="T5" fmla="*/ 26 h 156"/>
                  <a:gd name="T6" fmla="*/ 26 w 52"/>
                  <a:gd name="T7" fmla="*/ 0 h 156"/>
                  <a:gd name="T8" fmla="*/ 52 w 52"/>
                  <a:gd name="T9" fmla="*/ 26 h 156"/>
                  <a:gd name="T10" fmla="*/ 52 w 52"/>
                  <a:gd name="T11" fmla="*/ 130 h 156"/>
                  <a:gd name="T12" fmla="*/ 26 w 52"/>
                  <a:gd name="T13" fmla="*/ 156 h 15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52" h="156">
                    <a:moveTo>
                      <a:pt x="26" y="156"/>
                    </a:moveTo>
                    <a:cubicBezTo>
                      <a:pt x="12" y="156"/>
                      <a:pt x="0" y="145"/>
                      <a:pt x="0" y="130"/>
                    </a:cubicBezTo>
                    <a:lnTo>
                      <a:pt x="0" y="26"/>
                    </a:lnTo>
                    <a:cubicBezTo>
                      <a:pt x="0" y="12"/>
                      <a:pt x="12" y="0"/>
                      <a:pt x="26" y="0"/>
                    </a:cubicBezTo>
                    <a:cubicBezTo>
                      <a:pt x="40" y="0"/>
                      <a:pt x="52" y="12"/>
                      <a:pt x="52" y="26"/>
                    </a:cubicBezTo>
                    <a:lnTo>
                      <a:pt x="52" y="130"/>
                    </a:lnTo>
                    <a:cubicBezTo>
                      <a:pt x="52" y="145"/>
                      <a:pt x="40" y="156"/>
                      <a:pt x="26" y="156"/>
                    </a:cubicBezTo>
                    <a:close/>
                  </a:path>
                </a:pathLst>
              </a:custGeom>
              <a:solidFill>
                <a:srgbClr val="FFFFFF"/>
              </a:solidFill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68580" tIns="34290" rIns="68580" bIns="3429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6858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de-DE" sz="1200" b="0" i="0" u="none" strike="noStrike" kern="0" cap="none" spc="0" normalizeH="0" baseline="0" noProof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467" name="Crowdsourcing2">
                <a:extLst>
                  <a:ext uri="{FF2B5EF4-FFF2-40B4-BE49-F238E27FC236}">
                    <a16:creationId xmlns:a16="http://schemas.microsoft.com/office/drawing/2014/main" id="{F926C792-F4D5-2B99-BFEC-1260A1DCE07C}"/>
                  </a:ext>
                </a:extLst>
              </p:cNvPr>
              <p:cNvSpPr>
                <a:spLocks/>
              </p:cNvSpPr>
              <p:nvPr>
                <p:custDataLst>
                  <p:tags r:id="rId58"/>
                </p:custDataLst>
              </p:nvPr>
            </p:nvSpPr>
            <p:spPr bwMode="auto">
              <a:xfrm>
                <a:off x="0" y="3386137"/>
                <a:ext cx="105371" cy="33932"/>
              </a:xfrm>
              <a:custGeom>
                <a:avLst/>
                <a:gdLst>
                  <a:gd name="T0" fmla="*/ 131 w 157"/>
                  <a:gd name="T1" fmla="*/ 52 h 52"/>
                  <a:gd name="T2" fmla="*/ 26 w 157"/>
                  <a:gd name="T3" fmla="*/ 52 h 52"/>
                  <a:gd name="T4" fmla="*/ 0 w 157"/>
                  <a:gd name="T5" fmla="*/ 26 h 52"/>
                  <a:gd name="T6" fmla="*/ 26 w 157"/>
                  <a:gd name="T7" fmla="*/ 0 h 52"/>
                  <a:gd name="T8" fmla="*/ 131 w 157"/>
                  <a:gd name="T9" fmla="*/ 0 h 52"/>
                  <a:gd name="T10" fmla="*/ 157 w 157"/>
                  <a:gd name="T11" fmla="*/ 26 h 52"/>
                  <a:gd name="T12" fmla="*/ 131 w 157"/>
                  <a:gd name="T13" fmla="*/ 52 h 5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57" h="52">
                    <a:moveTo>
                      <a:pt x="131" y="52"/>
                    </a:moveTo>
                    <a:lnTo>
                      <a:pt x="26" y="52"/>
                    </a:lnTo>
                    <a:cubicBezTo>
                      <a:pt x="12" y="52"/>
                      <a:pt x="0" y="40"/>
                      <a:pt x="0" y="26"/>
                    </a:cubicBezTo>
                    <a:cubicBezTo>
                      <a:pt x="0" y="11"/>
                      <a:pt x="12" y="0"/>
                      <a:pt x="26" y="0"/>
                    </a:cubicBezTo>
                    <a:lnTo>
                      <a:pt x="131" y="0"/>
                    </a:lnTo>
                    <a:cubicBezTo>
                      <a:pt x="145" y="0"/>
                      <a:pt x="157" y="11"/>
                      <a:pt x="157" y="26"/>
                    </a:cubicBezTo>
                    <a:cubicBezTo>
                      <a:pt x="157" y="40"/>
                      <a:pt x="145" y="52"/>
                      <a:pt x="131" y="52"/>
                    </a:cubicBezTo>
                    <a:close/>
                  </a:path>
                </a:pathLst>
              </a:custGeom>
              <a:solidFill>
                <a:srgbClr val="FFFFFF"/>
              </a:solidFill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68580" tIns="34290" rIns="68580" bIns="3429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6858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de-DE" sz="1200" b="0" i="0" u="none" strike="noStrike" kern="0" cap="none" spc="0" normalizeH="0" baseline="0" noProof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468" name="Crowdsourcing2">
                <a:extLst>
                  <a:ext uri="{FF2B5EF4-FFF2-40B4-BE49-F238E27FC236}">
                    <a16:creationId xmlns:a16="http://schemas.microsoft.com/office/drawing/2014/main" id="{EE0F8BFB-0B99-A0FF-206F-F62532F0FFEB}"/>
                  </a:ext>
                </a:extLst>
              </p:cNvPr>
              <p:cNvSpPr>
                <a:spLocks/>
              </p:cNvSpPr>
              <p:nvPr>
                <p:custDataLst>
                  <p:tags r:id="rId59"/>
                </p:custDataLst>
              </p:nvPr>
            </p:nvSpPr>
            <p:spPr bwMode="auto">
              <a:xfrm>
                <a:off x="62508" y="3220046"/>
                <a:ext cx="87512" cy="85725"/>
              </a:xfrm>
              <a:custGeom>
                <a:avLst/>
                <a:gdLst>
                  <a:gd name="T0" fmla="*/ 103 w 131"/>
                  <a:gd name="T1" fmla="*/ 128 h 128"/>
                  <a:gd name="T2" fmla="*/ 84 w 131"/>
                  <a:gd name="T3" fmla="*/ 121 h 128"/>
                  <a:gd name="T4" fmla="*/ 11 w 131"/>
                  <a:gd name="T5" fmla="*/ 47 h 128"/>
                  <a:gd name="T6" fmla="*/ 11 w 131"/>
                  <a:gd name="T7" fmla="*/ 10 h 128"/>
                  <a:gd name="T8" fmla="*/ 47 w 131"/>
                  <a:gd name="T9" fmla="*/ 10 h 128"/>
                  <a:gd name="T10" fmla="*/ 121 w 131"/>
                  <a:gd name="T11" fmla="*/ 84 h 128"/>
                  <a:gd name="T12" fmla="*/ 121 w 131"/>
                  <a:gd name="T13" fmla="*/ 121 h 128"/>
                  <a:gd name="T14" fmla="*/ 103 w 131"/>
                  <a:gd name="T15" fmla="*/ 128 h 12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131" h="128">
                    <a:moveTo>
                      <a:pt x="103" y="128"/>
                    </a:moveTo>
                    <a:cubicBezTo>
                      <a:pt x="96" y="128"/>
                      <a:pt x="89" y="126"/>
                      <a:pt x="84" y="121"/>
                    </a:cubicBezTo>
                    <a:lnTo>
                      <a:pt x="11" y="47"/>
                    </a:lnTo>
                    <a:cubicBezTo>
                      <a:pt x="0" y="37"/>
                      <a:pt x="0" y="20"/>
                      <a:pt x="11" y="10"/>
                    </a:cubicBezTo>
                    <a:cubicBezTo>
                      <a:pt x="21" y="0"/>
                      <a:pt x="37" y="0"/>
                      <a:pt x="47" y="10"/>
                    </a:cubicBezTo>
                    <a:lnTo>
                      <a:pt x="121" y="84"/>
                    </a:lnTo>
                    <a:cubicBezTo>
                      <a:pt x="131" y="94"/>
                      <a:pt x="131" y="111"/>
                      <a:pt x="121" y="121"/>
                    </a:cubicBezTo>
                    <a:cubicBezTo>
                      <a:pt x="116" y="126"/>
                      <a:pt x="109" y="128"/>
                      <a:pt x="103" y="128"/>
                    </a:cubicBezTo>
                    <a:close/>
                  </a:path>
                </a:pathLst>
              </a:custGeom>
              <a:solidFill>
                <a:srgbClr val="FFFFFF"/>
              </a:solidFill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68580" tIns="34290" rIns="68580" bIns="3429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6858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de-DE" sz="1200" b="0" i="0" u="none" strike="noStrike" kern="0" cap="none" spc="0" normalizeH="0" baseline="0" noProof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469" name="Crowdsourcing2">
                <a:extLst>
                  <a:ext uri="{FF2B5EF4-FFF2-40B4-BE49-F238E27FC236}">
                    <a16:creationId xmlns:a16="http://schemas.microsoft.com/office/drawing/2014/main" id="{CB4098D7-29D8-C417-3881-690345511762}"/>
                  </a:ext>
                </a:extLst>
              </p:cNvPr>
              <p:cNvSpPr>
                <a:spLocks/>
              </p:cNvSpPr>
              <p:nvPr>
                <p:custDataLst>
                  <p:tags r:id="rId60"/>
                </p:custDataLst>
              </p:nvPr>
            </p:nvSpPr>
            <p:spPr bwMode="auto">
              <a:xfrm>
                <a:off x="339329" y="3220046"/>
                <a:ext cx="87512" cy="85725"/>
              </a:xfrm>
              <a:custGeom>
                <a:avLst/>
                <a:gdLst>
                  <a:gd name="T0" fmla="*/ 28 w 130"/>
                  <a:gd name="T1" fmla="*/ 128 h 128"/>
                  <a:gd name="T2" fmla="*/ 10 w 130"/>
                  <a:gd name="T3" fmla="*/ 121 h 128"/>
                  <a:gd name="T4" fmla="*/ 10 w 130"/>
                  <a:gd name="T5" fmla="*/ 84 h 128"/>
                  <a:gd name="T6" fmla="*/ 83 w 130"/>
                  <a:gd name="T7" fmla="*/ 10 h 128"/>
                  <a:gd name="T8" fmla="*/ 120 w 130"/>
                  <a:gd name="T9" fmla="*/ 10 h 128"/>
                  <a:gd name="T10" fmla="*/ 120 w 130"/>
                  <a:gd name="T11" fmla="*/ 47 h 128"/>
                  <a:gd name="T12" fmla="*/ 47 w 130"/>
                  <a:gd name="T13" fmla="*/ 121 h 128"/>
                  <a:gd name="T14" fmla="*/ 28 w 130"/>
                  <a:gd name="T15" fmla="*/ 128 h 12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130" h="128">
                    <a:moveTo>
                      <a:pt x="28" y="128"/>
                    </a:moveTo>
                    <a:cubicBezTo>
                      <a:pt x="22" y="128"/>
                      <a:pt x="15" y="126"/>
                      <a:pt x="10" y="121"/>
                    </a:cubicBezTo>
                    <a:cubicBezTo>
                      <a:pt x="0" y="111"/>
                      <a:pt x="0" y="94"/>
                      <a:pt x="10" y="84"/>
                    </a:cubicBezTo>
                    <a:lnTo>
                      <a:pt x="83" y="10"/>
                    </a:lnTo>
                    <a:cubicBezTo>
                      <a:pt x="94" y="0"/>
                      <a:pt x="110" y="0"/>
                      <a:pt x="120" y="10"/>
                    </a:cubicBezTo>
                    <a:cubicBezTo>
                      <a:pt x="130" y="20"/>
                      <a:pt x="130" y="37"/>
                      <a:pt x="120" y="47"/>
                    </a:cubicBezTo>
                    <a:lnTo>
                      <a:pt x="47" y="121"/>
                    </a:lnTo>
                    <a:cubicBezTo>
                      <a:pt x="42" y="126"/>
                      <a:pt x="35" y="128"/>
                      <a:pt x="28" y="128"/>
                    </a:cubicBezTo>
                    <a:close/>
                  </a:path>
                </a:pathLst>
              </a:custGeom>
              <a:solidFill>
                <a:srgbClr val="FFFFFF"/>
              </a:solidFill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68580" tIns="34290" rIns="68580" bIns="3429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6858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de-DE" sz="1200" b="0" i="0" u="none" strike="noStrike" kern="0" cap="none" spc="0" normalizeH="0" baseline="0" noProof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470" name="Crowdsourcing2">
                <a:extLst>
                  <a:ext uri="{FF2B5EF4-FFF2-40B4-BE49-F238E27FC236}">
                    <a16:creationId xmlns:a16="http://schemas.microsoft.com/office/drawing/2014/main" id="{41F0EE70-846F-EA52-7718-3ADB06B71B28}"/>
                  </a:ext>
                </a:extLst>
              </p:cNvPr>
              <p:cNvSpPr>
                <a:spLocks/>
              </p:cNvSpPr>
              <p:nvPr>
                <p:custDataLst>
                  <p:tags r:id="rId61"/>
                </p:custDataLst>
              </p:nvPr>
            </p:nvSpPr>
            <p:spPr bwMode="auto">
              <a:xfrm>
                <a:off x="385763" y="3386137"/>
                <a:ext cx="105371" cy="33932"/>
              </a:xfrm>
              <a:custGeom>
                <a:avLst/>
                <a:gdLst>
                  <a:gd name="T0" fmla="*/ 131 w 157"/>
                  <a:gd name="T1" fmla="*/ 52 h 52"/>
                  <a:gd name="T2" fmla="*/ 26 w 157"/>
                  <a:gd name="T3" fmla="*/ 52 h 52"/>
                  <a:gd name="T4" fmla="*/ 0 w 157"/>
                  <a:gd name="T5" fmla="*/ 26 h 52"/>
                  <a:gd name="T6" fmla="*/ 26 w 157"/>
                  <a:gd name="T7" fmla="*/ 0 h 52"/>
                  <a:gd name="T8" fmla="*/ 131 w 157"/>
                  <a:gd name="T9" fmla="*/ 0 h 52"/>
                  <a:gd name="T10" fmla="*/ 157 w 157"/>
                  <a:gd name="T11" fmla="*/ 26 h 52"/>
                  <a:gd name="T12" fmla="*/ 131 w 157"/>
                  <a:gd name="T13" fmla="*/ 52 h 5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57" h="52">
                    <a:moveTo>
                      <a:pt x="131" y="52"/>
                    </a:moveTo>
                    <a:lnTo>
                      <a:pt x="26" y="52"/>
                    </a:lnTo>
                    <a:cubicBezTo>
                      <a:pt x="12" y="52"/>
                      <a:pt x="0" y="40"/>
                      <a:pt x="0" y="26"/>
                    </a:cubicBezTo>
                    <a:cubicBezTo>
                      <a:pt x="0" y="11"/>
                      <a:pt x="12" y="0"/>
                      <a:pt x="26" y="0"/>
                    </a:cubicBezTo>
                    <a:lnTo>
                      <a:pt x="131" y="0"/>
                    </a:lnTo>
                    <a:cubicBezTo>
                      <a:pt x="145" y="0"/>
                      <a:pt x="157" y="11"/>
                      <a:pt x="157" y="26"/>
                    </a:cubicBezTo>
                    <a:cubicBezTo>
                      <a:pt x="157" y="40"/>
                      <a:pt x="145" y="52"/>
                      <a:pt x="131" y="52"/>
                    </a:cubicBezTo>
                    <a:close/>
                  </a:path>
                </a:pathLst>
              </a:custGeom>
              <a:solidFill>
                <a:srgbClr val="FFFFFF"/>
              </a:solidFill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68580" tIns="34290" rIns="68580" bIns="3429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6858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de-DE" sz="1200" b="0" i="0" u="none" strike="noStrike" kern="0" cap="none" spc="0" normalizeH="0" baseline="0" noProof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471" name="Crowdsourcing2">
                <a:extLst>
                  <a:ext uri="{FF2B5EF4-FFF2-40B4-BE49-F238E27FC236}">
                    <a16:creationId xmlns:a16="http://schemas.microsoft.com/office/drawing/2014/main" id="{9BB91911-2C6E-FE6F-F9F1-C83CE8D5A61F}"/>
                  </a:ext>
                </a:extLst>
              </p:cNvPr>
              <p:cNvSpPr>
                <a:spLocks/>
              </p:cNvSpPr>
              <p:nvPr>
                <p:custDataLst>
                  <p:tags r:id="rId62"/>
                </p:custDataLst>
              </p:nvPr>
            </p:nvSpPr>
            <p:spPr bwMode="auto">
              <a:xfrm>
                <a:off x="192882" y="3646885"/>
                <a:ext cx="105371" cy="53578"/>
              </a:xfrm>
              <a:custGeom>
                <a:avLst/>
                <a:gdLst>
                  <a:gd name="T0" fmla="*/ 130 w 156"/>
                  <a:gd name="T1" fmla="*/ 0 h 78"/>
                  <a:gd name="T2" fmla="*/ 26 w 156"/>
                  <a:gd name="T3" fmla="*/ 0 h 78"/>
                  <a:gd name="T4" fmla="*/ 0 w 156"/>
                  <a:gd name="T5" fmla="*/ 26 h 78"/>
                  <a:gd name="T6" fmla="*/ 26 w 156"/>
                  <a:gd name="T7" fmla="*/ 52 h 78"/>
                  <a:gd name="T8" fmla="*/ 39 w 156"/>
                  <a:gd name="T9" fmla="*/ 52 h 78"/>
                  <a:gd name="T10" fmla="*/ 65 w 156"/>
                  <a:gd name="T11" fmla="*/ 78 h 78"/>
                  <a:gd name="T12" fmla="*/ 91 w 156"/>
                  <a:gd name="T13" fmla="*/ 78 h 78"/>
                  <a:gd name="T14" fmla="*/ 117 w 156"/>
                  <a:gd name="T15" fmla="*/ 52 h 78"/>
                  <a:gd name="T16" fmla="*/ 130 w 156"/>
                  <a:gd name="T17" fmla="*/ 52 h 78"/>
                  <a:gd name="T18" fmla="*/ 156 w 156"/>
                  <a:gd name="T19" fmla="*/ 26 h 78"/>
                  <a:gd name="T20" fmla="*/ 130 w 156"/>
                  <a:gd name="T21" fmla="*/ 0 h 7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156" h="78">
                    <a:moveTo>
                      <a:pt x="130" y="0"/>
                    </a:moveTo>
                    <a:lnTo>
                      <a:pt x="26" y="0"/>
                    </a:lnTo>
                    <a:cubicBezTo>
                      <a:pt x="11" y="0"/>
                      <a:pt x="0" y="12"/>
                      <a:pt x="0" y="26"/>
                    </a:cubicBezTo>
                    <a:cubicBezTo>
                      <a:pt x="0" y="41"/>
                      <a:pt x="11" y="52"/>
                      <a:pt x="26" y="52"/>
                    </a:cubicBezTo>
                    <a:lnTo>
                      <a:pt x="39" y="52"/>
                    </a:lnTo>
                    <a:cubicBezTo>
                      <a:pt x="39" y="67"/>
                      <a:pt x="51" y="78"/>
                      <a:pt x="65" y="78"/>
                    </a:cubicBezTo>
                    <a:lnTo>
                      <a:pt x="91" y="78"/>
                    </a:lnTo>
                    <a:cubicBezTo>
                      <a:pt x="105" y="78"/>
                      <a:pt x="117" y="67"/>
                      <a:pt x="117" y="52"/>
                    </a:cubicBezTo>
                    <a:lnTo>
                      <a:pt x="130" y="52"/>
                    </a:lnTo>
                    <a:cubicBezTo>
                      <a:pt x="144" y="52"/>
                      <a:pt x="156" y="41"/>
                      <a:pt x="156" y="26"/>
                    </a:cubicBezTo>
                    <a:cubicBezTo>
                      <a:pt x="156" y="12"/>
                      <a:pt x="144" y="0"/>
                      <a:pt x="13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68580" tIns="34290" rIns="68580" bIns="3429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6858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de-DE" sz="1200" b="0" i="0" u="none" strike="noStrike" kern="0" cap="none" spc="0" normalizeH="0" baseline="0" noProof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472" name="Crowdsourcing2">
                <a:extLst>
                  <a:ext uri="{FF2B5EF4-FFF2-40B4-BE49-F238E27FC236}">
                    <a16:creationId xmlns:a16="http://schemas.microsoft.com/office/drawing/2014/main" id="{5348579A-6AB7-B170-0BA5-6D685E704AED}"/>
                  </a:ext>
                </a:extLst>
              </p:cNvPr>
              <p:cNvSpPr>
                <a:spLocks/>
              </p:cNvSpPr>
              <p:nvPr>
                <p:custDataLst>
                  <p:tags r:id="rId63"/>
                </p:custDataLst>
              </p:nvPr>
            </p:nvSpPr>
            <p:spPr bwMode="auto">
              <a:xfrm>
                <a:off x="123230" y="3280768"/>
                <a:ext cx="244674" cy="296465"/>
              </a:xfrm>
              <a:custGeom>
                <a:avLst/>
                <a:gdLst>
                  <a:gd name="T0" fmla="*/ 316 w 364"/>
                  <a:gd name="T1" fmla="*/ 306 h 443"/>
                  <a:gd name="T2" fmla="*/ 364 w 364"/>
                  <a:gd name="T3" fmla="*/ 183 h 443"/>
                  <a:gd name="T4" fmla="*/ 182 w 364"/>
                  <a:gd name="T5" fmla="*/ 0 h 443"/>
                  <a:gd name="T6" fmla="*/ 0 w 364"/>
                  <a:gd name="T7" fmla="*/ 183 h 443"/>
                  <a:gd name="T8" fmla="*/ 45 w 364"/>
                  <a:gd name="T9" fmla="*/ 302 h 443"/>
                  <a:gd name="T10" fmla="*/ 104 w 364"/>
                  <a:gd name="T11" fmla="*/ 417 h 443"/>
                  <a:gd name="T12" fmla="*/ 130 w 364"/>
                  <a:gd name="T13" fmla="*/ 443 h 443"/>
                  <a:gd name="T14" fmla="*/ 234 w 364"/>
                  <a:gd name="T15" fmla="*/ 443 h 443"/>
                  <a:gd name="T16" fmla="*/ 260 w 364"/>
                  <a:gd name="T17" fmla="*/ 417 h 443"/>
                  <a:gd name="T18" fmla="*/ 260 w 364"/>
                  <a:gd name="T19" fmla="*/ 416 h 443"/>
                  <a:gd name="T20" fmla="*/ 316 w 364"/>
                  <a:gd name="T21" fmla="*/ 306 h 44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364" h="443">
                    <a:moveTo>
                      <a:pt x="316" y="306"/>
                    </a:moveTo>
                    <a:cubicBezTo>
                      <a:pt x="346" y="273"/>
                      <a:pt x="364" y="230"/>
                      <a:pt x="364" y="183"/>
                    </a:cubicBezTo>
                    <a:cubicBezTo>
                      <a:pt x="364" y="82"/>
                      <a:pt x="283" y="0"/>
                      <a:pt x="182" y="0"/>
                    </a:cubicBezTo>
                    <a:cubicBezTo>
                      <a:pt x="81" y="0"/>
                      <a:pt x="0" y="82"/>
                      <a:pt x="0" y="183"/>
                    </a:cubicBezTo>
                    <a:cubicBezTo>
                      <a:pt x="0" y="229"/>
                      <a:pt x="17" y="270"/>
                      <a:pt x="45" y="302"/>
                    </a:cubicBezTo>
                    <a:cubicBezTo>
                      <a:pt x="57" y="316"/>
                      <a:pt x="104" y="372"/>
                      <a:pt x="104" y="417"/>
                    </a:cubicBezTo>
                    <a:cubicBezTo>
                      <a:pt x="104" y="431"/>
                      <a:pt x="115" y="443"/>
                      <a:pt x="130" y="443"/>
                    </a:cubicBezTo>
                    <a:lnTo>
                      <a:pt x="234" y="443"/>
                    </a:lnTo>
                    <a:cubicBezTo>
                      <a:pt x="248" y="443"/>
                      <a:pt x="260" y="431"/>
                      <a:pt x="260" y="417"/>
                    </a:cubicBezTo>
                    <a:lnTo>
                      <a:pt x="260" y="416"/>
                    </a:lnTo>
                    <a:cubicBezTo>
                      <a:pt x="261" y="373"/>
                      <a:pt x="301" y="323"/>
                      <a:pt x="316" y="306"/>
                    </a:cubicBezTo>
                    <a:close/>
                  </a:path>
                </a:pathLst>
              </a:custGeom>
              <a:solidFill>
                <a:srgbClr val="FFFFFF"/>
              </a:solidFill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68580" tIns="34290" rIns="68580" bIns="3429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6858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de-DE" sz="1200" b="0" i="0" u="none" strike="noStrike" kern="0" cap="none" spc="0" normalizeH="0" baseline="0" noProof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473" name="Gruppieren 472">
            <a:extLst>
              <a:ext uri="{FF2B5EF4-FFF2-40B4-BE49-F238E27FC236}">
                <a16:creationId xmlns:a16="http://schemas.microsoft.com/office/drawing/2014/main" id="{BBE5D1F4-9B1F-2E68-BE64-4D91C964DEF3}"/>
              </a:ext>
            </a:extLst>
          </p:cNvPr>
          <p:cNvGrpSpPr/>
          <p:nvPr/>
        </p:nvGrpSpPr>
        <p:grpSpPr>
          <a:xfrm>
            <a:off x="6188046" y="4497825"/>
            <a:ext cx="480669" cy="448955"/>
            <a:chOff x="1369937" y="4620185"/>
            <a:chExt cx="512470" cy="478658"/>
          </a:xfrm>
        </p:grpSpPr>
        <p:grpSp>
          <p:nvGrpSpPr>
            <p:cNvPr id="474" name="Gruppieren 473" descr="{&quot;Key&quot;:&quot;POWER_USER_SHAPE_ICON&quot;,&quot;Value&quot;:&quot;POWER_USER_SHAPE_ICON_STYLE_2&quot;}">
              <a:extLst>
                <a:ext uri="{FF2B5EF4-FFF2-40B4-BE49-F238E27FC236}">
                  <a16:creationId xmlns:a16="http://schemas.microsoft.com/office/drawing/2014/main" id="{91DFF78B-F7EC-CCCD-8674-705483F089BE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1498726" y="4620185"/>
              <a:ext cx="286311" cy="286311"/>
              <a:chOff x="-147119" y="3030538"/>
              <a:chExt cx="762000" cy="762000"/>
            </a:xfrm>
            <a:solidFill>
              <a:srgbClr val="000066"/>
            </a:solidFill>
          </p:grpSpPr>
          <p:sp>
            <p:nvSpPr>
              <p:cNvPr id="484" name="POWER_USER_SHAPE_ICON_STYLE_2">
                <a:extLst>
                  <a:ext uri="{FF2B5EF4-FFF2-40B4-BE49-F238E27FC236}">
                    <a16:creationId xmlns:a16="http://schemas.microsoft.com/office/drawing/2014/main" id="{54808539-3E8D-F008-33D4-284AAFB1F5FD}"/>
                  </a:ext>
                </a:extLst>
              </p:cNvPr>
              <p:cNvSpPr/>
              <p:nvPr/>
            </p:nvSpPr>
            <p:spPr>
              <a:xfrm>
                <a:off x="-147119" y="3030538"/>
                <a:ext cx="762000" cy="762000"/>
              </a:xfrm>
              <a:prstGeom prst="ellipse">
                <a:avLst/>
              </a:prstGeom>
              <a:grpFill/>
              <a:ln w="12700" cap="flat" cmpd="sng" algn="ctr">
                <a:noFill/>
                <a:prstDash val="solid"/>
                <a:miter lim="800000"/>
              </a:ln>
              <a:effectLst/>
              <a:extLst>
                <a:ext uri="{91240B29-F687-4F45-9708-019B960494DF}">
                  <a14:hiddenLine xmlns:a14="http://schemas.microsoft.com/office/drawing/2010/main" w="12700" cap="flat" cmpd="sng" algn="ctr">
                    <a:solidFill>
                      <a:schemeClr val="accent1">
                        <a:shade val="50000"/>
                      </a:schemeClr>
                    </a:solidFill>
                    <a:prstDash val="solid"/>
                    <a:miter lim="800000"/>
                  </a14:hiddenLine>
                </a:ext>
              </a:extLst>
            </p:spPr>
            <p:txBody>
              <a:bodyPr rtlCol="0" anchor="ctr"/>
              <a:lstStyle/>
              <a:p>
                <a:pPr marL="0" marR="0" lvl="0" indent="0" algn="ctr" defTabSz="6858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de-DE" sz="1200" b="0" i="0" u="none" strike="noStrike" kern="0" cap="none" spc="0" normalizeH="0" baseline="0" noProof="1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485" name="Snowflake2" descr="{&quot;Key&quot;:&quot;POWER_USER_SHAPE_ICON&quot;,&quot;Value&quot;:&quot;POWER_USER_SHAPE_ICON_STYLE_1&quot;}">
                <a:extLst>
                  <a:ext uri="{FF2B5EF4-FFF2-40B4-BE49-F238E27FC236}">
                    <a16:creationId xmlns:a16="http://schemas.microsoft.com/office/drawing/2014/main" id="{73AC1E7B-6D0C-82B1-9E78-ABF9EAF0D8E6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0" y="3157538"/>
                <a:ext cx="467762" cy="508000"/>
              </a:xfrm>
              <a:custGeom>
                <a:avLst/>
                <a:gdLst>
                  <a:gd name="T0" fmla="*/ 1278 w 1378"/>
                  <a:gd name="T1" fmla="*/ 769 h 1496"/>
                  <a:gd name="T2" fmla="*/ 852 w 1378"/>
                  <a:gd name="T3" fmla="*/ 748 h 1496"/>
                  <a:gd name="T4" fmla="*/ 1279 w 1378"/>
                  <a:gd name="T5" fmla="*/ 727 h 1496"/>
                  <a:gd name="T6" fmla="*/ 1220 w 1378"/>
                  <a:gd name="T7" fmla="*/ 535 h 1496"/>
                  <a:gd name="T8" fmla="*/ 1297 w 1378"/>
                  <a:gd name="T9" fmla="*/ 303 h 1496"/>
                  <a:gd name="T10" fmla="*/ 1139 w 1378"/>
                  <a:gd name="T11" fmla="*/ 248 h 1496"/>
                  <a:gd name="T12" fmla="*/ 1002 w 1378"/>
                  <a:gd name="T13" fmla="*/ 474 h 1496"/>
                  <a:gd name="T14" fmla="*/ 770 w 1378"/>
                  <a:gd name="T15" fmla="*/ 340 h 1496"/>
                  <a:gd name="T16" fmla="*/ 897 w 1378"/>
                  <a:gd name="T17" fmla="*/ 108 h 1496"/>
                  <a:gd name="T18" fmla="*/ 770 w 1378"/>
                  <a:gd name="T19" fmla="*/ 0 h 1496"/>
                  <a:gd name="T20" fmla="*/ 608 w 1378"/>
                  <a:gd name="T21" fmla="*/ 181 h 1496"/>
                  <a:gd name="T22" fmla="*/ 412 w 1378"/>
                  <a:gd name="T23" fmla="*/ 227 h 1496"/>
                  <a:gd name="T24" fmla="*/ 608 w 1378"/>
                  <a:gd name="T25" fmla="*/ 607 h 1496"/>
                  <a:gd name="T26" fmla="*/ 376 w 1378"/>
                  <a:gd name="T27" fmla="*/ 248 h 1496"/>
                  <a:gd name="T28" fmla="*/ 239 w 1378"/>
                  <a:gd name="T29" fmla="*/ 394 h 1496"/>
                  <a:gd name="T30" fmla="*/ 0 w 1378"/>
                  <a:gd name="T31" fmla="*/ 444 h 1496"/>
                  <a:gd name="T32" fmla="*/ 31 w 1378"/>
                  <a:gd name="T33" fmla="*/ 608 h 1496"/>
                  <a:gd name="T34" fmla="*/ 295 w 1378"/>
                  <a:gd name="T35" fmla="*/ 614 h 1496"/>
                  <a:gd name="T36" fmla="*/ 295 w 1378"/>
                  <a:gd name="T37" fmla="*/ 882 h 1496"/>
                  <a:gd name="T38" fmla="*/ 31 w 1378"/>
                  <a:gd name="T39" fmla="*/ 888 h 1496"/>
                  <a:gd name="T40" fmla="*/ 0 w 1378"/>
                  <a:gd name="T41" fmla="*/ 1052 h 1496"/>
                  <a:gd name="T42" fmla="*/ 239 w 1378"/>
                  <a:gd name="T43" fmla="*/ 1102 h 1496"/>
                  <a:gd name="T44" fmla="*/ 376 w 1378"/>
                  <a:gd name="T45" fmla="*/ 1248 h 1496"/>
                  <a:gd name="T46" fmla="*/ 608 w 1378"/>
                  <a:gd name="T47" fmla="*/ 889 h 1496"/>
                  <a:gd name="T48" fmla="*/ 412 w 1378"/>
                  <a:gd name="T49" fmla="*/ 1269 h 1496"/>
                  <a:gd name="T50" fmla="*/ 608 w 1378"/>
                  <a:gd name="T51" fmla="*/ 1315 h 1496"/>
                  <a:gd name="T52" fmla="*/ 770 w 1378"/>
                  <a:gd name="T53" fmla="*/ 1496 h 1496"/>
                  <a:gd name="T54" fmla="*/ 897 w 1378"/>
                  <a:gd name="T55" fmla="*/ 1388 h 1496"/>
                  <a:gd name="T56" fmla="*/ 770 w 1378"/>
                  <a:gd name="T57" fmla="*/ 1156 h 1496"/>
                  <a:gd name="T58" fmla="*/ 1002 w 1378"/>
                  <a:gd name="T59" fmla="*/ 1022 h 1496"/>
                  <a:gd name="T60" fmla="*/ 1139 w 1378"/>
                  <a:gd name="T61" fmla="*/ 1248 h 1496"/>
                  <a:gd name="T62" fmla="*/ 1297 w 1378"/>
                  <a:gd name="T63" fmla="*/ 1193 h 1496"/>
                  <a:gd name="T64" fmla="*/ 1220 w 1378"/>
                  <a:gd name="T65" fmla="*/ 961 h 149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</a:cxnLst>
                <a:rect l="0" t="0" r="r" b="b"/>
                <a:pathLst>
                  <a:path w="1378" h="1496">
                    <a:moveTo>
                      <a:pt x="1347" y="888"/>
                    </a:moveTo>
                    <a:lnTo>
                      <a:pt x="1278" y="769"/>
                    </a:lnTo>
                    <a:lnTo>
                      <a:pt x="1083" y="882"/>
                    </a:lnTo>
                    <a:lnTo>
                      <a:pt x="852" y="748"/>
                    </a:lnTo>
                    <a:lnTo>
                      <a:pt x="1083" y="614"/>
                    </a:lnTo>
                    <a:lnTo>
                      <a:pt x="1279" y="727"/>
                    </a:lnTo>
                    <a:lnTo>
                      <a:pt x="1347" y="608"/>
                    </a:lnTo>
                    <a:lnTo>
                      <a:pt x="1220" y="535"/>
                    </a:lnTo>
                    <a:lnTo>
                      <a:pt x="1378" y="444"/>
                    </a:lnTo>
                    <a:lnTo>
                      <a:pt x="1297" y="303"/>
                    </a:lnTo>
                    <a:lnTo>
                      <a:pt x="1139" y="394"/>
                    </a:lnTo>
                    <a:lnTo>
                      <a:pt x="1139" y="248"/>
                    </a:lnTo>
                    <a:lnTo>
                      <a:pt x="1002" y="248"/>
                    </a:lnTo>
                    <a:lnTo>
                      <a:pt x="1002" y="474"/>
                    </a:lnTo>
                    <a:lnTo>
                      <a:pt x="770" y="607"/>
                    </a:lnTo>
                    <a:lnTo>
                      <a:pt x="770" y="340"/>
                    </a:lnTo>
                    <a:lnTo>
                      <a:pt x="966" y="227"/>
                    </a:lnTo>
                    <a:lnTo>
                      <a:pt x="897" y="108"/>
                    </a:lnTo>
                    <a:lnTo>
                      <a:pt x="770" y="181"/>
                    </a:lnTo>
                    <a:lnTo>
                      <a:pt x="770" y="0"/>
                    </a:lnTo>
                    <a:lnTo>
                      <a:pt x="608" y="0"/>
                    </a:lnTo>
                    <a:lnTo>
                      <a:pt x="608" y="181"/>
                    </a:lnTo>
                    <a:lnTo>
                      <a:pt x="481" y="108"/>
                    </a:lnTo>
                    <a:lnTo>
                      <a:pt x="412" y="227"/>
                    </a:lnTo>
                    <a:lnTo>
                      <a:pt x="608" y="340"/>
                    </a:lnTo>
                    <a:lnTo>
                      <a:pt x="608" y="607"/>
                    </a:lnTo>
                    <a:lnTo>
                      <a:pt x="376" y="474"/>
                    </a:lnTo>
                    <a:lnTo>
                      <a:pt x="376" y="248"/>
                    </a:lnTo>
                    <a:lnTo>
                      <a:pt x="239" y="248"/>
                    </a:lnTo>
                    <a:lnTo>
                      <a:pt x="239" y="394"/>
                    </a:lnTo>
                    <a:lnTo>
                      <a:pt x="82" y="303"/>
                    </a:lnTo>
                    <a:lnTo>
                      <a:pt x="0" y="444"/>
                    </a:lnTo>
                    <a:lnTo>
                      <a:pt x="158" y="535"/>
                    </a:lnTo>
                    <a:lnTo>
                      <a:pt x="31" y="608"/>
                    </a:lnTo>
                    <a:lnTo>
                      <a:pt x="100" y="727"/>
                    </a:lnTo>
                    <a:lnTo>
                      <a:pt x="295" y="614"/>
                    </a:lnTo>
                    <a:lnTo>
                      <a:pt x="527" y="748"/>
                    </a:lnTo>
                    <a:lnTo>
                      <a:pt x="295" y="882"/>
                    </a:lnTo>
                    <a:lnTo>
                      <a:pt x="100" y="769"/>
                    </a:lnTo>
                    <a:lnTo>
                      <a:pt x="31" y="888"/>
                    </a:lnTo>
                    <a:lnTo>
                      <a:pt x="158" y="961"/>
                    </a:lnTo>
                    <a:lnTo>
                      <a:pt x="0" y="1052"/>
                    </a:lnTo>
                    <a:lnTo>
                      <a:pt x="82" y="1193"/>
                    </a:lnTo>
                    <a:lnTo>
                      <a:pt x="239" y="1102"/>
                    </a:lnTo>
                    <a:lnTo>
                      <a:pt x="239" y="1248"/>
                    </a:lnTo>
                    <a:lnTo>
                      <a:pt x="376" y="1248"/>
                    </a:lnTo>
                    <a:lnTo>
                      <a:pt x="376" y="1022"/>
                    </a:lnTo>
                    <a:lnTo>
                      <a:pt x="608" y="889"/>
                    </a:lnTo>
                    <a:lnTo>
                      <a:pt x="608" y="1156"/>
                    </a:lnTo>
                    <a:lnTo>
                      <a:pt x="412" y="1269"/>
                    </a:lnTo>
                    <a:lnTo>
                      <a:pt x="481" y="1388"/>
                    </a:lnTo>
                    <a:lnTo>
                      <a:pt x="608" y="1315"/>
                    </a:lnTo>
                    <a:lnTo>
                      <a:pt x="608" y="1496"/>
                    </a:lnTo>
                    <a:lnTo>
                      <a:pt x="770" y="1496"/>
                    </a:lnTo>
                    <a:lnTo>
                      <a:pt x="770" y="1315"/>
                    </a:lnTo>
                    <a:lnTo>
                      <a:pt x="897" y="1388"/>
                    </a:lnTo>
                    <a:lnTo>
                      <a:pt x="966" y="1269"/>
                    </a:lnTo>
                    <a:lnTo>
                      <a:pt x="770" y="1156"/>
                    </a:lnTo>
                    <a:lnTo>
                      <a:pt x="770" y="889"/>
                    </a:lnTo>
                    <a:lnTo>
                      <a:pt x="1002" y="1022"/>
                    </a:lnTo>
                    <a:lnTo>
                      <a:pt x="1002" y="1248"/>
                    </a:lnTo>
                    <a:lnTo>
                      <a:pt x="1139" y="1248"/>
                    </a:lnTo>
                    <a:lnTo>
                      <a:pt x="1139" y="1102"/>
                    </a:lnTo>
                    <a:lnTo>
                      <a:pt x="1297" y="1193"/>
                    </a:lnTo>
                    <a:lnTo>
                      <a:pt x="1378" y="1052"/>
                    </a:lnTo>
                    <a:lnTo>
                      <a:pt x="1220" y="961"/>
                    </a:lnTo>
                    <a:lnTo>
                      <a:pt x="1347" y="888"/>
                    </a:lnTo>
                    <a:close/>
                  </a:path>
                </a:pathLst>
              </a:custGeom>
              <a:solidFill>
                <a:sysClr val="window" lastClr="FFFFFF"/>
              </a:solidFill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68580" tIns="34290" rIns="68580" bIns="3429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6858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de-DE" sz="1200" b="0" i="0" u="none" strike="noStrike" kern="0" cap="none" spc="0" normalizeH="0" baseline="0" noProof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  <p:grpSp>
          <p:nvGrpSpPr>
            <p:cNvPr id="475" name="Gruppieren 474" descr="{&quot;Key&quot;:&quot;POWER_USER_SHAPE_ICON&quot;,&quot;Value&quot;:&quot;POWER_USER_SHAPE_ICON_STYLE_2&quot;}">
              <a:extLst>
                <a:ext uri="{FF2B5EF4-FFF2-40B4-BE49-F238E27FC236}">
                  <a16:creationId xmlns:a16="http://schemas.microsoft.com/office/drawing/2014/main" id="{7A3433DB-B868-D6A2-D88B-06631234A0E5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1369937" y="4810589"/>
              <a:ext cx="288254" cy="288254"/>
              <a:chOff x="-158376" y="3030538"/>
              <a:chExt cx="762000" cy="762000"/>
            </a:xfrm>
          </p:grpSpPr>
          <p:sp>
            <p:nvSpPr>
              <p:cNvPr id="482" name="POWER_USER_SHAPE_ICON_STYLE_2">
                <a:extLst>
                  <a:ext uri="{FF2B5EF4-FFF2-40B4-BE49-F238E27FC236}">
                    <a16:creationId xmlns:a16="http://schemas.microsoft.com/office/drawing/2014/main" id="{28CA0B0B-703B-5CAB-24B8-5F899A395C5A}"/>
                  </a:ext>
                </a:extLst>
              </p:cNvPr>
              <p:cNvSpPr/>
              <p:nvPr/>
            </p:nvSpPr>
            <p:spPr>
              <a:xfrm>
                <a:off x="-158376" y="3030538"/>
                <a:ext cx="762000" cy="762000"/>
              </a:xfrm>
              <a:prstGeom prst="ellipse">
                <a:avLst/>
              </a:prstGeom>
              <a:solidFill>
                <a:srgbClr val="FF0000"/>
              </a:solidFill>
              <a:ln w="12700" cap="flat" cmpd="sng" algn="ctr">
                <a:noFill/>
                <a:prstDash val="solid"/>
                <a:miter lim="800000"/>
              </a:ln>
              <a:effectLst/>
              <a:extLst>
                <a:ext uri="{91240B29-F687-4F45-9708-019B960494DF}">
                  <a14:hiddenLine xmlns:a14="http://schemas.microsoft.com/office/drawing/2010/main" w="12700" cap="flat" cmpd="sng" algn="ctr">
                    <a:solidFill>
                      <a:schemeClr val="accent1">
                        <a:shade val="50000"/>
                      </a:schemeClr>
                    </a:solidFill>
                    <a:prstDash val="solid"/>
                    <a:miter lim="800000"/>
                  </a14:hiddenLine>
                </a:ext>
              </a:extLst>
            </p:spPr>
            <p:txBody>
              <a:bodyPr rtlCol="0" anchor="ctr"/>
              <a:lstStyle/>
              <a:p>
                <a:pPr marL="0" marR="0" lvl="0" indent="0" algn="ctr" defTabSz="6858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de-DE" sz="1200" b="0" i="0" u="none" strike="noStrike" kern="0" cap="none" spc="0" normalizeH="0" baseline="0" noProof="1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483" name="Flame3" descr="{&quot;Key&quot;:&quot;POWER_USER_SHAPE_ICON&quot;,&quot;Value&quot;:&quot;POWER_USER_SHAPE_ICON_STYLE_1&quot;}">
                <a:extLst>
                  <a:ext uri="{FF2B5EF4-FFF2-40B4-BE49-F238E27FC236}">
                    <a16:creationId xmlns:a16="http://schemas.microsoft.com/office/drawing/2014/main" id="{0453F793-96B4-C6F3-5A66-94D352C40264}"/>
                  </a:ext>
                </a:extLst>
              </p:cNvPr>
              <p:cNvSpPr>
                <a:spLocks noChangeAspect="1"/>
              </p:cNvSpPr>
              <p:nvPr>
                <p:custDataLst>
                  <p:tags r:id="rId55"/>
                </p:custDataLst>
              </p:nvPr>
            </p:nvSpPr>
            <p:spPr bwMode="auto">
              <a:xfrm>
                <a:off x="1" y="3157538"/>
                <a:ext cx="445247" cy="508000"/>
              </a:xfrm>
              <a:custGeom>
                <a:avLst/>
                <a:gdLst>
                  <a:gd name="T0" fmla="*/ 177 w 620"/>
                  <a:gd name="T1" fmla="*/ 708 h 708"/>
                  <a:gd name="T2" fmla="*/ 133 w 620"/>
                  <a:gd name="T3" fmla="*/ 708 h 708"/>
                  <a:gd name="T4" fmla="*/ 0 w 620"/>
                  <a:gd name="T5" fmla="*/ 487 h 708"/>
                  <a:gd name="T6" fmla="*/ 89 w 620"/>
                  <a:gd name="T7" fmla="*/ 88 h 708"/>
                  <a:gd name="T8" fmla="*/ 178 w 620"/>
                  <a:gd name="T9" fmla="*/ 265 h 708"/>
                  <a:gd name="T10" fmla="*/ 310 w 620"/>
                  <a:gd name="T11" fmla="*/ 0 h 708"/>
                  <a:gd name="T12" fmla="*/ 443 w 620"/>
                  <a:gd name="T13" fmla="*/ 354 h 708"/>
                  <a:gd name="T14" fmla="*/ 532 w 620"/>
                  <a:gd name="T15" fmla="*/ 221 h 708"/>
                  <a:gd name="T16" fmla="*/ 620 w 620"/>
                  <a:gd name="T17" fmla="*/ 443 h 708"/>
                  <a:gd name="T18" fmla="*/ 487 w 620"/>
                  <a:gd name="T19" fmla="*/ 708 h 708"/>
                  <a:gd name="T20" fmla="*/ 399 w 620"/>
                  <a:gd name="T21" fmla="*/ 708 h 708"/>
                  <a:gd name="T22" fmla="*/ 443 w 620"/>
                  <a:gd name="T23" fmla="*/ 576 h 708"/>
                  <a:gd name="T24" fmla="*/ 354 w 620"/>
                  <a:gd name="T25" fmla="*/ 310 h 708"/>
                  <a:gd name="T26" fmla="*/ 266 w 620"/>
                  <a:gd name="T27" fmla="*/ 576 h 708"/>
                  <a:gd name="T28" fmla="*/ 177 w 620"/>
                  <a:gd name="T29" fmla="*/ 398 h 708"/>
                  <a:gd name="T30" fmla="*/ 133 w 620"/>
                  <a:gd name="T31" fmla="*/ 562 h 708"/>
                  <a:gd name="T32" fmla="*/ 177 w 620"/>
                  <a:gd name="T33" fmla="*/ 708 h 70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</a:cxnLst>
                <a:rect l="0" t="0" r="r" b="b"/>
                <a:pathLst>
                  <a:path w="620" h="708">
                    <a:moveTo>
                      <a:pt x="177" y="708"/>
                    </a:moveTo>
                    <a:lnTo>
                      <a:pt x="133" y="708"/>
                    </a:lnTo>
                    <a:cubicBezTo>
                      <a:pt x="44" y="664"/>
                      <a:pt x="0" y="572"/>
                      <a:pt x="0" y="487"/>
                    </a:cubicBezTo>
                    <a:cubicBezTo>
                      <a:pt x="0" y="338"/>
                      <a:pt x="89" y="221"/>
                      <a:pt x="89" y="88"/>
                    </a:cubicBezTo>
                    <a:cubicBezTo>
                      <a:pt x="155" y="110"/>
                      <a:pt x="177" y="177"/>
                      <a:pt x="178" y="265"/>
                    </a:cubicBezTo>
                    <a:cubicBezTo>
                      <a:pt x="225" y="196"/>
                      <a:pt x="310" y="114"/>
                      <a:pt x="310" y="0"/>
                    </a:cubicBezTo>
                    <a:cubicBezTo>
                      <a:pt x="384" y="55"/>
                      <a:pt x="443" y="177"/>
                      <a:pt x="443" y="354"/>
                    </a:cubicBezTo>
                    <a:cubicBezTo>
                      <a:pt x="487" y="354"/>
                      <a:pt x="532" y="310"/>
                      <a:pt x="532" y="221"/>
                    </a:cubicBezTo>
                    <a:cubicBezTo>
                      <a:pt x="576" y="265"/>
                      <a:pt x="620" y="354"/>
                      <a:pt x="620" y="443"/>
                    </a:cubicBezTo>
                    <a:cubicBezTo>
                      <a:pt x="620" y="553"/>
                      <a:pt x="576" y="642"/>
                      <a:pt x="487" y="708"/>
                    </a:cubicBezTo>
                    <a:lnTo>
                      <a:pt x="399" y="708"/>
                    </a:lnTo>
                    <a:cubicBezTo>
                      <a:pt x="426" y="669"/>
                      <a:pt x="446" y="623"/>
                      <a:pt x="443" y="576"/>
                    </a:cubicBezTo>
                    <a:cubicBezTo>
                      <a:pt x="437" y="455"/>
                      <a:pt x="354" y="443"/>
                      <a:pt x="354" y="310"/>
                    </a:cubicBezTo>
                    <a:cubicBezTo>
                      <a:pt x="309" y="354"/>
                      <a:pt x="266" y="473"/>
                      <a:pt x="266" y="576"/>
                    </a:cubicBezTo>
                    <a:cubicBezTo>
                      <a:pt x="199" y="531"/>
                      <a:pt x="177" y="443"/>
                      <a:pt x="177" y="398"/>
                    </a:cubicBezTo>
                    <a:cubicBezTo>
                      <a:pt x="142" y="460"/>
                      <a:pt x="133" y="520"/>
                      <a:pt x="133" y="562"/>
                    </a:cubicBezTo>
                    <a:cubicBezTo>
                      <a:pt x="133" y="629"/>
                      <a:pt x="161" y="684"/>
                      <a:pt x="177" y="708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vert="horz" wrap="square" lIns="68580" tIns="34290" rIns="68580" bIns="3429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6858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de-DE" sz="1200" b="0" i="0" u="none" strike="noStrike" kern="0" cap="none" spc="0" normalizeH="0" baseline="0" noProof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  <p:grpSp>
          <p:nvGrpSpPr>
            <p:cNvPr id="476" name="Gruppieren 475" descr="{&quot;Key&quot;:&quot;POWER_USER_SHAPE_ICON&quot;,&quot;Value&quot;:&quot;POWER_USER_SHAPE_ICON_STYLE_2&quot;}">
              <a:extLst>
                <a:ext uri="{FF2B5EF4-FFF2-40B4-BE49-F238E27FC236}">
                  <a16:creationId xmlns:a16="http://schemas.microsoft.com/office/drawing/2014/main" id="{4136C24C-A9CB-3F5D-EA5B-41782A212FC4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1612540" y="4824795"/>
              <a:ext cx="269867" cy="269867"/>
              <a:chOff x="-127000" y="2980451"/>
              <a:chExt cx="762000" cy="762000"/>
            </a:xfrm>
          </p:grpSpPr>
          <p:sp>
            <p:nvSpPr>
              <p:cNvPr id="477" name="POWER_USER_SHAPE_ICON_STYLE_2">
                <a:extLst>
                  <a:ext uri="{FF2B5EF4-FFF2-40B4-BE49-F238E27FC236}">
                    <a16:creationId xmlns:a16="http://schemas.microsoft.com/office/drawing/2014/main" id="{036F9F19-4D37-164C-51A8-13B0BB8559AB}"/>
                  </a:ext>
                </a:extLst>
              </p:cNvPr>
              <p:cNvSpPr/>
              <p:nvPr/>
            </p:nvSpPr>
            <p:spPr>
              <a:xfrm>
                <a:off x="-127000" y="2980451"/>
                <a:ext cx="762000" cy="762000"/>
              </a:xfrm>
              <a:prstGeom prst="ellipse">
                <a:avLst/>
              </a:prstGeom>
              <a:solidFill>
                <a:srgbClr val="FF9966"/>
              </a:solidFill>
              <a:ln w="12700" cap="flat" cmpd="sng" algn="ctr">
                <a:noFill/>
                <a:prstDash val="solid"/>
                <a:miter lim="800000"/>
              </a:ln>
              <a:effectLst/>
              <a:extLst>
                <a:ext uri="{91240B29-F687-4F45-9708-019B960494DF}">
                  <a14:hiddenLine xmlns:a14="http://schemas.microsoft.com/office/drawing/2010/main" w="12700" cap="flat" cmpd="sng" algn="ctr">
                    <a:solidFill>
                      <a:schemeClr val="accent1">
                        <a:shade val="50000"/>
                      </a:schemeClr>
                    </a:solidFill>
                    <a:prstDash val="solid"/>
                  </a14:hiddenLine>
                </a:ext>
              </a:extLst>
            </p:spPr>
            <p:txBody>
              <a:bodyPr rtlCol="0" anchor="ctr"/>
              <a:lstStyle/>
              <a:p>
                <a:pPr marL="0" marR="0" lvl="0" indent="0" algn="ctr" defTabSz="6858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de-DE" sz="1200" b="0" i="0" u="none" strike="noStrike" kern="0" cap="none" spc="0" normalizeH="0" baseline="0" noProof="1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grpSp>
            <p:nvGrpSpPr>
              <p:cNvPr id="478" name="Gruppieren 477">
                <a:extLst>
                  <a:ext uri="{FF2B5EF4-FFF2-40B4-BE49-F238E27FC236}">
                    <a16:creationId xmlns:a16="http://schemas.microsoft.com/office/drawing/2014/main" id="{4347AAD0-62DB-B153-5379-68A916DF3051}"/>
                  </a:ext>
                </a:extLst>
              </p:cNvPr>
              <p:cNvGrpSpPr>
                <a:grpSpLocks noChangeAspect="1"/>
              </p:cNvGrpSpPr>
              <p:nvPr/>
            </p:nvGrpSpPr>
            <p:grpSpPr>
              <a:xfrm>
                <a:off x="0" y="3157538"/>
                <a:ext cx="508000" cy="407826"/>
                <a:chOff x="0" y="3157538"/>
                <a:chExt cx="676283" cy="542925"/>
              </a:xfrm>
            </p:grpSpPr>
            <p:sp>
              <p:nvSpPr>
                <p:cNvPr id="479" name="Freeform 284">
                  <a:extLst>
                    <a:ext uri="{FF2B5EF4-FFF2-40B4-BE49-F238E27FC236}">
                      <a16:creationId xmlns:a16="http://schemas.microsoft.com/office/drawing/2014/main" id="{F4116A95-23E1-3B9E-DF15-B00D004BC19F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92288" y="3286273"/>
                  <a:ext cx="283995" cy="414190"/>
                </a:xfrm>
                <a:custGeom>
                  <a:avLst/>
                  <a:gdLst>
                    <a:gd name="T0" fmla="*/ 128 w 294"/>
                    <a:gd name="T1" fmla="*/ 145 h 428"/>
                    <a:gd name="T2" fmla="*/ 0 w 294"/>
                    <a:gd name="T3" fmla="*/ 320 h 428"/>
                    <a:gd name="T4" fmla="*/ 144 w 294"/>
                    <a:gd name="T5" fmla="*/ 428 h 428"/>
                    <a:gd name="T6" fmla="*/ 294 w 294"/>
                    <a:gd name="T7" fmla="*/ 278 h 428"/>
                    <a:gd name="T8" fmla="*/ 144 w 294"/>
                    <a:gd name="T9" fmla="*/ 0 h 428"/>
                    <a:gd name="T10" fmla="*/ 107 w 294"/>
                    <a:gd name="T11" fmla="*/ 37 h 428"/>
                    <a:gd name="T12" fmla="*/ 128 w 294"/>
                    <a:gd name="T13" fmla="*/ 145 h 42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294" h="428">
                      <a:moveTo>
                        <a:pt x="128" y="145"/>
                      </a:moveTo>
                      <a:cubicBezTo>
                        <a:pt x="128" y="227"/>
                        <a:pt x="74" y="296"/>
                        <a:pt x="0" y="320"/>
                      </a:cubicBezTo>
                      <a:cubicBezTo>
                        <a:pt x="18" y="382"/>
                        <a:pt x="76" y="428"/>
                        <a:pt x="144" y="428"/>
                      </a:cubicBezTo>
                      <a:cubicBezTo>
                        <a:pt x="227" y="428"/>
                        <a:pt x="294" y="361"/>
                        <a:pt x="294" y="278"/>
                      </a:cubicBezTo>
                      <a:cubicBezTo>
                        <a:pt x="294" y="145"/>
                        <a:pt x="180" y="32"/>
                        <a:pt x="144" y="0"/>
                      </a:cubicBezTo>
                      <a:cubicBezTo>
                        <a:pt x="136" y="8"/>
                        <a:pt x="122" y="21"/>
                        <a:pt x="107" y="37"/>
                      </a:cubicBezTo>
                      <a:cubicBezTo>
                        <a:pt x="120" y="71"/>
                        <a:pt x="128" y="107"/>
                        <a:pt x="128" y="145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 vert="horz" wrap="square" lIns="68580" tIns="34290" rIns="68580" bIns="3429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6858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de-DE" sz="1200" b="0" i="0" u="none" strike="noStrike" kern="0" cap="none" spc="0" normalizeH="0" baseline="0" noProof="1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480" name="Freeform 285">
                  <a:extLst>
                    <a:ext uri="{FF2B5EF4-FFF2-40B4-BE49-F238E27FC236}">
                      <a16:creationId xmlns:a16="http://schemas.microsoft.com/office/drawing/2014/main" id="{459AF1B4-D296-3044-E4B3-C6CEA8B8AB19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19506" y="3157538"/>
                  <a:ext cx="263553" cy="414190"/>
                </a:xfrm>
                <a:custGeom>
                  <a:avLst/>
                  <a:gdLst>
                    <a:gd name="T0" fmla="*/ 107 w 273"/>
                    <a:gd name="T1" fmla="*/ 411 h 428"/>
                    <a:gd name="T2" fmla="*/ 106 w 273"/>
                    <a:gd name="T3" fmla="*/ 427 h 428"/>
                    <a:gd name="T4" fmla="*/ 123 w 273"/>
                    <a:gd name="T5" fmla="*/ 428 h 428"/>
                    <a:gd name="T6" fmla="*/ 273 w 273"/>
                    <a:gd name="T7" fmla="*/ 278 h 428"/>
                    <a:gd name="T8" fmla="*/ 123 w 273"/>
                    <a:gd name="T9" fmla="*/ 0 h 428"/>
                    <a:gd name="T10" fmla="*/ 0 w 273"/>
                    <a:gd name="T11" fmla="*/ 164 h 428"/>
                    <a:gd name="T12" fmla="*/ 107 w 273"/>
                    <a:gd name="T13" fmla="*/ 411 h 42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273" h="428">
                      <a:moveTo>
                        <a:pt x="107" y="411"/>
                      </a:moveTo>
                      <a:cubicBezTo>
                        <a:pt x="107" y="417"/>
                        <a:pt x="106" y="422"/>
                        <a:pt x="106" y="427"/>
                      </a:cubicBezTo>
                      <a:cubicBezTo>
                        <a:pt x="112" y="428"/>
                        <a:pt x="117" y="428"/>
                        <a:pt x="123" y="428"/>
                      </a:cubicBezTo>
                      <a:cubicBezTo>
                        <a:pt x="206" y="428"/>
                        <a:pt x="273" y="361"/>
                        <a:pt x="273" y="278"/>
                      </a:cubicBezTo>
                      <a:cubicBezTo>
                        <a:pt x="273" y="145"/>
                        <a:pt x="159" y="32"/>
                        <a:pt x="123" y="0"/>
                      </a:cubicBezTo>
                      <a:cubicBezTo>
                        <a:pt x="99" y="22"/>
                        <a:pt x="36" y="84"/>
                        <a:pt x="0" y="164"/>
                      </a:cubicBezTo>
                      <a:cubicBezTo>
                        <a:pt x="49" y="220"/>
                        <a:pt x="107" y="309"/>
                        <a:pt x="107" y="411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 vert="horz" wrap="square" lIns="68580" tIns="34290" rIns="68580" bIns="3429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6858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de-DE" sz="1200" b="0" i="0" u="none" strike="noStrike" kern="0" cap="none" spc="0" normalizeH="0" baseline="0" noProof="1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481" name="Freeform 286">
                  <a:extLst>
                    <a:ext uri="{FF2B5EF4-FFF2-40B4-BE49-F238E27FC236}">
                      <a16:creationId xmlns:a16="http://schemas.microsoft.com/office/drawing/2014/main" id="{C1ECBA6B-0BB3-1747-A215-315FCA58B24D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0" y="3286273"/>
                  <a:ext cx="289836" cy="414190"/>
                </a:xfrm>
                <a:custGeom>
                  <a:avLst/>
                  <a:gdLst>
                    <a:gd name="T0" fmla="*/ 150 w 300"/>
                    <a:gd name="T1" fmla="*/ 428 h 428"/>
                    <a:gd name="T2" fmla="*/ 300 w 300"/>
                    <a:gd name="T3" fmla="*/ 278 h 428"/>
                    <a:gd name="T4" fmla="*/ 150 w 300"/>
                    <a:gd name="T5" fmla="*/ 0 h 428"/>
                    <a:gd name="T6" fmla="*/ 0 w 300"/>
                    <a:gd name="T7" fmla="*/ 278 h 428"/>
                    <a:gd name="T8" fmla="*/ 150 w 300"/>
                    <a:gd name="T9" fmla="*/ 428 h 42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00" h="428">
                      <a:moveTo>
                        <a:pt x="150" y="428"/>
                      </a:moveTo>
                      <a:cubicBezTo>
                        <a:pt x="233" y="428"/>
                        <a:pt x="300" y="361"/>
                        <a:pt x="300" y="278"/>
                      </a:cubicBezTo>
                      <a:cubicBezTo>
                        <a:pt x="300" y="145"/>
                        <a:pt x="186" y="32"/>
                        <a:pt x="150" y="0"/>
                      </a:cubicBezTo>
                      <a:cubicBezTo>
                        <a:pt x="115" y="32"/>
                        <a:pt x="0" y="145"/>
                        <a:pt x="0" y="278"/>
                      </a:cubicBezTo>
                      <a:cubicBezTo>
                        <a:pt x="0" y="361"/>
                        <a:pt x="68" y="428"/>
                        <a:pt x="150" y="428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 vert="horz" wrap="square" lIns="68580" tIns="34290" rIns="68580" bIns="3429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6858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de-DE" sz="1200" b="0" i="0" u="none" strike="noStrike" kern="0" cap="none" spc="0" normalizeH="0" baseline="0" noProof="1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</p:grpSp>
      </p:grpSp>
      <p:grpSp>
        <p:nvGrpSpPr>
          <p:cNvPr id="486" name="Gruppieren 485" descr="{&quot;Key&quot;:&quot;POWER_USER_SHAPE_ICON&quot;,&quot;Value&quot;:&quot;POWER_USER_SHAPE_ICON_STYLE_2&quot;}">
            <a:extLst>
              <a:ext uri="{FF2B5EF4-FFF2-40B4-BE49-F238E27FC236}">
                <a16:creationId xmlns:a16="http://schemas.microsoft.com/office/drawing/2014/main" id="{016BBEC0-9DEF-FA4C-6C98-56E890BDF31D}"/>
              </a:ext>
            </a:extLst>
          </p:cNvPr>
          <p:cNvGrpSpPr>
            <a:grpSpLocks noChangeAspect="1"/>
          </p:cNvGrpSpPr>
          <p:nvPr/>
        </p:nvGrpSpPr>
        <p:grpSpPr>
          <a:xfrm>
            <a:off x="6948215" y="3715449"/>
            <a:ext cx="332846" cy="332846"/>
            <a:chOff x="6103281" y="1370067"/>
            <a:chExt cx="762000" cy="762000"/>
          </a:xfrm>
        </p:grpSpPr>
        <p:sp>
          <p:nvSpPr>
            <p:cNvPr id="487" name="POWER_USER_SHAPE_ICON_STYLE_2">
              <a:extLst>
                <a:ext uri="{FF2B5EF4-FFF2-40B4-BE49-F238E27FC236}">
                  <a16:creationId xmlns:a16="http://schemas.microsoft.com/office/drawing/2014/main" id="{FDEDF8F4-115E-79C2-56DE-04C60543D06A}"/>
                </a:ext>
              </a:extLst>
            </p:cNvPr>
            <p:cNvSpPr/>
            <p:nvPr/>
          </p:nvSpPr>
          <p:spPr>
            <a:xfrm>
              <a:off x="6103281" y="1370067"/>
              <a:ext cx="762000" cy="762000"/>
            </a:xfrm>
            <a:prstGeom prst="ellipse">
              <a:avLst/>
            </a:prstGeom>
            <a:solidFill>
              <a:srgbClr val="00B050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txBody>
            <a:bodyPr rtlCol="0" anchor="ctr"/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de-DE" sz="1200" b="0" i="0" u="none" strike="noStrike" kern="0" cap="none" spc="0" normalizeH="0" baseline="0" noProof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88" name="Solar_panel2" descr="{&quot;Key&quot;:&quot;POWER_USER_SHAPE_ICON&quot;,&quot;Value&quot;:&quot;POWER_USER_SHAPE_ICON_STYLE_1&quot;}">
              <a:extLst>
                <a:ext uri="{FF2B5EF4-FFF2-40B4-BE49-F238E27FC236}">
                  <a16:creationId xmlns:a16="http://schemas.microsoft.com/office/drawing/2014/main" id="{87DA5014-D64B-A23E-B82C-D182D248E092}"/>
                </a:ext>
              </a:extLst>
            </p:cNvPr>
            <p:cNvSpPr>
              <a:spLocks noChangeAspect="1" noEditPoints="1"/>
            </p:cNvSpPr>
            <p:nvPr>
              <p:custDataLst>
                <p:tags r:id="rId54"/>
              </p:custDataLst>
            </p:nvPr>
          </p:nvSpPr>
          <p:spPr bwMode="auto">
            <a:xfrm>
              <a:off x="6230281" y="1509627"/>
              <a:ext cx="508000" cy="482879"/>
            </a:xfrm>
            <a:custGeom>
              <a:avLst/>
              <a:gdLst>
                <a:gd name="T0" fmla="*/ 399 w 759"/>
                <a:gd name="T1" fmla="*/ 481 h 721"/>
                <a:gd name="T2" fmla="*/ 367 w 759"/>
                <a:gd name="T3" fmla="*/ 433 h 721"/>
                <a:gd name="T4" fmla="*/ 447 w 759"/>
                <a:gd name="T5" fmla="*/ 397 h 721"/>
                <a:gd name="T6" fmla="*/ 415 w 759"/>
                <a:gd name="T7" fmla="*/ 349 h 721"/>
                <a:gd name="T8" fmla="*/ 447 w 759"/>
                <a:gd name="T9" fmla="*/ 397 h 721"/>
                <a:gd name="T10" fmla="*/ 287 w 759"/>
                <a:gd name="T11" fmla="*/ 397 h 721"/>
                <a:gd name="T12" fmla="*/ 375 w 759"/>
                <a:gd name="T13" fmla="*/ 349 h 721"/>
                <a:gd name="T14" fmla="*/ 267 w 759"/>
                <a:gd name="T15" fmla="*/ 433 h 721"/>
                <a:gd name="T16" fmla="*/ 298 w 759"/>
                <a:gd name="T17" fmla="*/ 481 h 721"/>
                <a:gd name="T18" fmla="*/ 267 w 759"/>
                <a:gd name="T19" fmla="*/ 433 h 721"/>
                <a:gd name="T20" fmla="*/ 499 w 759"/>
                <a:gd name="T21" fmla="*/ 481 h 721"/>
                <a:gd name="T22" fmla="*/ 467 w 759"/>
                <a:gd name="T23" fmla="*/ 433 h 721"/>
                <a:gd name="T24" fmla="*/ 547 w 759"/>
                <a:gd name="T25" fmla="*/ 397 h 721"/>
                <a:gd name="T26" fmla="*/ 516 w 759"/>
                <a:gd name="T27" fmla="*/ 349 h 721"/>
                <a:gd name="T28" fmla="*/ 547 w 759"/>
                <a:gd name="T29" fmla="*/ 397 h 721"/>
                <a:gd name="T30" fmla="*/ 624 w 759"/>
                <a:gd name="T31" fmla="*/ 265 h 721"/>
                <a:gd name="T32" fmla="*/ 536 w 759"/>
                <a:gd name="T33" fmla="*/ 314 h 721"/>
                <a:gd name="T34" fmla="*/ 495 w 759"/>
                <a:gd name="T35" fmla="*/ 314 h 721"/>
                <a:gd name="T36" fmla="*/ 464 w 759"/>
                <a:gd name="T37" fmla="*/ 265 h 721"/>
                <a:gd name="T38" fmla="*/ 495 w 759"/>
                <a:gd name="T39" fmla="*/ 314 h 721"/>
                <a:gd name="T40" fmla="*/ 336 w 759"/>
                <a:gd name="T41" fmla="*/ 314 h 721"/>
                <a:gd name="T42" fmla="*/ 423 w 759"/>
                <a:gd name="T43" fmla="*/ 265 h 721"/>
                <a:gd name="T44" fmla="*/ 246 w 759"/>
                <a:gd name="T45" fmla="*/ 397 h 721"/>
                <a:gd name="T46" fmla="*/ 215 w 759"/>
                <a:gd name="T47" fmla="*/ 349 h 721"/>
                <a:gd name="T48" fmla="*/ 246 w 759"/>
                <a:gd name="T49" fmla="*/ 397 h 721"/>
                <a:gd name="T50" fmla="*/ 198 w 759"/>
                <a:gd name="T51" fmla="*/ 481 h 721"/>
                <a:gd name="T52" fmla="*/ 166 w 759"/>
                <a:gd name="T53" fmla="*/ 433 h 721"/>
                <a:gd name="T54" fmla="*/ 295 w 759"/>
                <a:gd name="T55" fmla="*/ 314 h 721"/>
                <a:gd name="T56" fmla="*/ 263 w 759"/>
                <a:gd name="T57" fmla="*/ 265 h 721"/>
                <a:gd name="T58" fmla="*/ 295 w 759"/>
                <a:gd name="T59" fmla="*/ 314 h 721"/>
                <a:gd name="T60" fmla="*/ 241 w 759"/>
                <a:gd name="T61" fmla="*/ 227 h 721"/>
                <a:gd name="T62" fmla="*/ 521 w 759"/>
                <a:gd name="T63" fmla="*/ 519 h 721"/>
                <a:gd name="T64" fmla="*/ 228 w 759"/>
                <a:gd name="T65" fmla="*/ 180 h 721"/>
                <a:gd name="T66" fmla="*/ 228 w 759"/>
                <a:gd name="T67" fmla="*/ 104 h 721"/>
                <a:gd name="T68" fmla="*/ 159 w 759"/>
                <a:gd name="T69" fmla="*/ 276 h 721"/>
                <a:gd name="T70" fmla="*/ 228 w 759"/>
                <a:gd name="T71" fmla="*/ 180 h 721"/>
                <a:gd name="T72" fmla="*/ 114 w 759"/>
                <a:gd name="T73" fmla="*/ 296 h 721"/>
                <a:gd name="T74" fmla="*/ 52 w 759"/>
                <a:gd name="T75" fmla="*/ 305 h 721"/>
                <a:gd name="T76" fmla="*/ 91 w 759"/>
                <a:gd name="T77" fmla="*/ 256 h 721"/>
                <a:gd name="T78" fmla="*/ 24 w 759"/>
                <a:gd name="T79" fmla="*/ 227 h 721"/>
                <a:gd name="T80" fmla="*/ 24 w 759"/>
                <a:gd name="T81" fmla="*/ 180 h 721"/>
                <a:gd name="T82" fmla="*/ 90 w 759"/>
                <a:gd name="T83" fmla="*/ 152 h 721"/>
                <a:gd name="T84" fmla="*/ 52 w 759"/>
                <a:gd name="T85" fmla="*/ 102 h 721"/>
                <a:gd name="T86" fmla="*/ 114 w 759"/>
                <a:gd name="T87" fmla="*/ 111 h 721"/>
                <a:gd name="T88" fmla="*/ 105 w 759"/>
                <a:gd name="T89" fmla="*/ 39 h 721"/>
                <a:gd name="T90" fmla="*/ 146 w 759"/>
                <a:gd name="T91" fmla="*/ 16 h 721"/>
                <a:gd name="T92" fmla="*/ 204 w 759"/>
                <a:gd name="T93" fmla="*/ 59 h 721"/>
                <a:gd name="T94" fmla="*/ 228 w 759"/>
                <a:gd name="T95" fmla="*/ 1 h 721"/>
                <a:gd name="T96" fmla="*/ 251 w 759"/>
                <a:gd name="T97" fmla="*/ 59 h 721"/>
                <a:gd name="T98" fmla="*/ 309 w 759"/>
                <a:gd name="T99" fmla="*/ 16 h 721"/>
                <a:gd name="T100" fmla="*/ 350 w 759"/>
                <a:gd name="T101" fmla="*/ 39 h 721"/>
                <a:gd name="T102" fmla="*/ 341 w 759"/>
                <a:gd name="T103" fmla="*/ 111 h 721"/>
                <a:gd name="T104" fmla="*/ 403 w 759"/>
                <a:gd name="T105" fmla="*/ 102 h 721"/>
                <a:gd name="T106" fmla="*/ 365 w 759"/>
                <a:gd name="T107" fmla="*/ 152 h 721"/>
                <a:gd name="T108" fmla="*/ 730 w 759"/>
                <a:gd name="T109" fmla="*/ 180 h 721"/>
                <a:gd name="T110" fmla="*/ 555 w 759"/>
                <a:gd name="T111" fmla="*/ 554 h 721"/>
                <a:gd name="T112" fmla="*/ 416 w 759"/>
                <a:gd name="T113" fmla="*/ 566 h 721"/>
                <a:gd name="T114" fmla="*/ 632 w 759"/>
                <a:gd name="T115" fmla="*/ 673 h 721"/>
                <a:gd name="T116" fmla="*/ 632 w 759"/>
                <a:gd name="T117" fmla="*/ 721 h 721"/>
                <a:gd name="T118" fmla="*/ 106 w 759"/>
                <a:gd name="T119" fmla="*/ 697 h 721"/>
                <a:gd name="T120" fmla="*/ 346 w 759"/>
                <a:gd name="T121" fmla="*/ 673 h 721"/>
                <a:gd name="T122" fmla="*/ 32 w 759"/>
                <a:gd name="T123" fmla="*/ 566 h 721"/>
                <a:gd name="T124" fmla="*/ 135 w 759"/>
                <a:gd name="T125" fmla="*/ 317 h 7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759" h="721">
                  <a:moveTo>
                    <a:pt x="339" y="481"/>
                  </a:moveTo>
                  <a:lnTo>
                    <a:pt x="399" y="481"/>
                  </a:lnTo>
                  <a:lnTo>
                    <a:pt x="427" y="433"/>
                  </a:lnTo>
                  <a:lnTo>
                    <a:pt x="367" y="433"/>
                  </a:lnTo>
                  <a:lnTo>
                    <a:pt x="339" y="481"/>
                  </a:lnTo>
                  <a:close/>
                  <a:moveTo>
                    <a:pt x="447" y="397"/>
                  </a:moveTo>
                  <a:lnTo>
                    <a:pt x="475" y="349"/>
                  </a:lnTo>
                  <a:lnTo>
                    <a:pt x="415" y="349"/>
                  </a:lnTo>
                  <a:lnTo>
                    <a:pt x="387" y="397"/>
                  </a:lnTo>
                  <a:lnTo>
                    <a:pt x="447" y="397"/>
                  </a:lnTo>
                  <a:close/>
                  <a:moveTo>
                    <a:pt x="315" y="349"/>
                  </a:moveTo>
                  <a:lnTo>
                    <a:pt x="287" y="397"/>
                  </a:lnTo>
                  <a:lnTo>
                    <a:pt x="347" y="397"/>
                  </a:lnTo>
                  <a:lnTo>
                    <a:pt x="375" y="349"/>
                  </a:lnTo>
                  <a:lnTo>
                    <a:pt x="315" y="349"/>
                  </a:lnTo>
                  <a:close/>
                  <a:moveTo>
                    <a:pt x="267" y="433"/>
                  </a:moveTo>
                  <a:lnTo>
                    <a:pt x="239" y="481"/>
                  </a:lnTo>
                  <a:lnTo>
                    <a:pt x="298" y="481"/>
                  </a:lnTo>
                  <a:lnTo>
                    <a:pt x="326" y="433"/>
                  </a:lnTo>
                  <a:lnTo>
                    <a:pt x="267" y="433"/>
                  </a:lnTo>
                  <a:close/>
                  <a:moveTo>
                    <a:pt x="439" y="481"/>
                  </a:moveTo>
                  <a:lnTo>
                    <a:pt x="499" y="481"/>
                  </a:lnTo>
                  <a:lnTo>
                    <a:pt x="527" y="433"/>
                  </a:lnTo>
                  <a:lnTo>
                    <a:pt x="467" y="433"/>
                  </a:lnTo>
                  <a:lnTo>
                    <a:pt x="439" y="481"/>
                  </a:lnTo>
                  <a:close/>
                  <a:moveTo>
                    <a:pt x="547" y="397"/>
                  </a:moveTo>
                  <a:lnTo>
                    <a:pt x="575" y="349"/>
                  </a:lnTo>
                  <a:lnTo>
                    <a:pt x="516" y="349"/>
                  </a:lnTo>
                  <a:lnTo>
                    <a:pt x="488" y="397"/>
                  </a:lnTo>
                  <a:lnTo>
                    <a:pt x="547" y="397"/>
                  </a:lnTo>
                  <a:close/>
                  <a:moveTo>
                    <a:pt x="596" y="314"/>
                  </a:moveTo>
                  <a:lnTo>
                    <a:pt x="624" y="265"/>
                  </a:lnTo>
                  <a:lnTo>
                    <a:pt x="564" y="265"/>
                  </a:lnTo>
                  <a:lnTo>
                    <a:pt x="536" y="314"/>
                  </a:lnTo>
                  <a:lnTo>
                    <a:pt x="596" y="314"/>
                  </a:lnTo>
                  <a:close/>
                  <a:moveTo>
                    <a:pt x="495" y="314"/>
                  </a:moveTo>
                  <a:lnTo>
                    <a:pt x="523" y="265"/>
                  </a:lnTo>
                  <a:lnTo>
                    <a:pt x="464" y="265"/>
                  </a:lnTo>
                  <a:lnTo>
                    <a:pt x="436" y="314"/>
                  </a:lnTo>
                  <a:lnTo>
                    <a:pt x="495" y="314"/>
                  </a:lnTo>
                  <a:close/>
                  <a:moveTo>
                    <a:pt x="363" y="265"/>
                  </a:moveTo>
                  <a:lnTo>
                    <a:pt x="336" y="314"/>
                  </a:lnTo>
                  <a:lnTo>
                    <a:pt x="395" y="314"/>
                  </a:lnTo>
                  <a:lnTo>
                    <a:pt x="423" y="265"/>
                  </a:lnTo>
                  <a:lnTo>
                    <a:pt x="363" y="265"/>
                  </a:lnTo>
                  <a:close/>
                  <a:moveTo>
                    <a:pt x="246" y="397"/>
                  </a:moveTo>
                  <a:lnTo>
                    <a:pt x="274" y="349"/>
                  </a:lnTo>
                  <a:lnTo>
                    <a:pt x="215" y="349"/>
                  </a:lnTo>
                  <a:lnTo>
                    <a:pt x="187" y="397"/>
                  </a:lnTo>
                  <a:lnTo>
                    <a:pt x="246" y="397"/>
                  </a:lnTo>
                  <a:close/>
                  <a:moveTo>
                    <a:pt x="138" y="481"/>
                  </a:moveTo>
                  <a:lnTo>
                    <a:pt x="198" y="481"/>
                  </a:lnTo>
                  <a:lnTo>
                    <a:pt x="226" y="433"/>
                  </a:lnTo>
                  <a:lnTo>
                    <a:pt x="166" y="433"/>
                  </a:lnTo>
                  <a:lnTo>
                    <a:pt x="138" y="481"/>
                  </a:lnTo>
                  <a:close/>
                  <a:moveTo>
                    <a:pt x="295" y="314"/>
                  </a:moveTo>
                  <a:lnTo>
                    <a:pt x="323" y="265"/>
                  </a:lnTo>
                  <a:lnTo>
                    <a:pt x="263" y="265"/>
                  </a:lnTo>
                  <a:lnTo>
                    <a:pt x="235" y="314"/>
                  </a:lnTo>
                  <a:lnTo>
                    <a:pt x="295" y="314"/>
                  </a:lnTo>
                  <a:close/>
                  <a:moveTo>
                    <a:pt x="689" y="227"/>
                  </a:moveTo>
                  <a:lnTo>
                    <a:pt x="241" y="227"/>
                  </a:lnTo>
                  <a:lnTo>
                    <a:pt x="73" y="519"/>
                  </a:lnTo>
                  <a:lnTo>
                    <a:pt x="521" y="519"/>
                  </a:lnTo>
                  <a:lnTo>
                    <a:pt x="689" y="227"/>
                  </a:lnTo>
                  <a:close/>
                  <a:moveTo>
                    <a:pt x="228" y="180"/>
                  </a:moveTo>
                  <a:lnTo>
                    <a:pt x="324" y="180"/>
                  </a:lnTo>
                  <a:cubicBezTo>
                    <a:pt x="313" y="136"/>
                    <a:pt x="273" y="104"/>
                    <a:pt x="228" y="104"/>
                  </a:cubicBezTo>
                  <a:cubicBezTo>
                    <a:pt x="173" y="104"/>
                    <a:pt x="128" y="149"/>
                    <a:pt x="128" y="204"/>
                  </a:cubicBezTo>
                  <a:cubicBezTo>
                    <a:pt x="128" y="231"/>
                    <a:pt x="139" y="257"/>
                    <a:pt x="159" y="276"/>
                  </a:cubicBezTo>
                  <a:lnTo>
                    <a:pt x="207" y="192"/>
                  </a:lnTo>
                  <a:cubicBezTo>
                    <a:pt x="212" y="184"/>
                    <a:pt x="220" y="180"/>
                    <a:pt x="228" y="180"/>
                  </a:cubicBezTo>
                  <a:close/>
                  <a:moveTo>
                    <a:pt x="135" y="317"/>
                  </a:moveTo>
                  <a:cubicBezTo>
                    <a:pt x="127" y="311"/>
                    <a:pt x="120" y="304"/>
                    <a:pt x="114" y="296"/>
                  </a:cubicBezTo>
                  <a:lnTo>
                    <a:pt x="84" y="314"/>
                  </a:lnTo>
                  <a:cubicBezTo>
                    <a:pt x="73" y="320"/>
                    <a:pt x="59" y="316"/>
                    <a:pt x="52" y="305"/>
                  </a:cubicBezTo>
                  <a:cubicBezTo>
                    <a:pt x="46" y="294"/>
                    <a:pt x="49" y="280"/>
                    <a:pt x="61" y="273"/>
                  </a:cubicBezTo>
                  <a:lnTo>
                    <a:pt x="91" y="256"/>
                  </a:lnTo>
                  <a:cubicBezTo>
                    <a:pt x="87" y="247"/>
                    <a:pt x="85" y="237"/>
                    <a:pt x="83" y="227"/>
                  </a:cubicBezTo>
                  <a:lnTo>
                    <a:pt x="24" y="227"/>
                  </a:lnTo>
                  <a:cubicBezTo>
                    <a:pt x="11" y="227"/>
                    <a:pt x="0" y="217"/>
                    <a:pt x="0" y="204"/>
                  </a:cubicBezTo>
                  <a:cubicBezTo>
                    <a:pt x="0" y="191"/>
                    <a:pt x="11" y="180"/>
                    <a:pt x="24" y="180"/>
                  </a:cubicBezTo>
                  <a:lnTo>
                    <a:pt x="83" y="180"/>
                  </a:lnTo>
                  <a:cubicBezTo>
                    <a:pt x="84" y="170"/>
                    <a:pt x="87" y="161"/>
                    <a:pt x="90" y="152"/>
                  </a:cubicBezTo>
                  <a:lnTo>
                    <a:pt x="61" y="135"/>
                  </a:lnTo>
                  <a:cubicBezTo>
                    <a:pt x="49" y="128"/>
                    <a:pt x="46" y="114"/>
                    <a:pt x="52" y="102"/>
                  </a:cubicBezTo>
                  <a:cubicBezTo>
                    <a:pt x="59" y="91"/>
                    <a:pt x="73" y="87"/>
                    <a:pt x="84" y="94"/>
                  </a:cubicBezTo>
                  <a:lnTo>
                    <a:pt x="114" y="111"/>
                  </a:lnTo>
                  <a:cubicBezTo>
                    <a:pt x="120" y="103"/>
                    <a:pt x="127" y="96"/>
                    <a:pt x="135" y="90"/>
                  </a:cubicBezTo>
                  <a:lnTo>
                    <a:pt x="105" y="39"/>
                  </a:lnTo>
                  <a:cubicBezTo>
                    <a:pt x="99" y="28"/>
                    <a:pt x="103" y="13"/>
                    <a:pt x="114" y="7"/>
                  </a:cubicBezTo>
                  <a:cubicBezTo>
                    <a:pt x="125" y="1"/>
                    <a:pt x="140" y="4"/>
                    <a:pt x="146" y="16"/>
                  </a:cubicBezTo>
                  <a:lnTo>
                    <a:pt x="176" y="67"/>
                  </a:lnTo>
                  <a:cubicBezTo>
                    <a:pt x="185" y="63"/>
                    <a:pt x="194" y="61"/>
                    <a:pt x="204" y="59"/>
                  </a:cubicBezTo>
                  <a:lnTo>
                    <a:pt x="204" y="25"/>
                  </a:lnTo>
                  <a:cubicBezTo>
                    <a:pt x="204" y="12"/>
                    <a:pt x="215" y="1"/>
                    <a:pt x="228" y="1"/>
                  </a:cubicBezTo>
                  <a:cubicBezTo>
                    <a:pt x="241" y="1"/>
                    <a:pt x="251" y="12"/>
                    <a:pt x="251" y="25"/>
                  </a:cubicBezTo>
                  <a:lnTo>
                    <a:pt x="251" y="59"/>
                  </a:lnTo>
                  <a:cubicBezTo>
                    <a:pt x="261" y="61"/>
                    <a:pt x="271" y="63"/>
                    <a:pt x="280" y="67"/>
                  </a:cubicBezTo>
                  <a:lnTo>
                    <a:pt x="309" y="16"/>
                  </a:lnTo>
                  <a:cubicBezTo>
                    <a:pt x="316" y="4"/>
                    <a:pt x="330" y="0"/>
                    <a:pt x="341" y="7"/>
                  </a:cubicBezTo>
                  <a:cubicBezTo>
                    <a:pt x="353" y="13"/>
                    <a:pt x="356" y="28"/>
                    <a:pt x="350" y="39"/>
                  </a:cubicBezTo>
                  <a:lnTo>
                    <a:pt x="320" y="90"/>
                  </a:lnTo>
                  <a:cubicBezTo>
                    <a:pt x="328" y="96"/>
                    <a:pt x="335" y="103"/>
                    <a:pt x="341" y="111"/>
                  </a:cubicBezTo>
                  <a:lnTo>
                    <a:pt x="371" y="94"/>
                  </a:lnTo>
                  <a:cubicBezTo>
                    <a:pt x="382" y="87"/>
                    <a:pt x="397" y="91"/>
                    <a:pt x="403" y="102"/>
                  </a:cubicBezTo>
                  <a:cubicBezTo>
                    <a:pt x="410" y="114"/>
                    <a:pt x="406" y="128"/>
                    <a:pt x="395" y="135"/>
                  </a:cubicBezTo>
                  <a:lnTo>
                    <a:pt x="365" y="152"/>
                  </a:lnTo>
                  <a:cubicBezTo>
                    <a:pt x="368" y="161"/>
                    <a:pt x="371" y="170"/>
                    <a:pt x="372" y="180"/>
                  </a:cubicBezTo>
                  <a:lnTo>
                    <a:pt x="730" y="180"/>
                  </a:lnTo>
                  <a:cubicBezTo>
                    <a:pt x="749" y="180"/>
                    <a:pt x="759" y="201"/>
                    <a:pt x="750" y="217"/>
                  </a:cubicBezTo>
                  <a:lnTo>
                    <a:pt x="555" y="554"/>
                  </a:lnTo>
                  <a:cubicBezTo>
                    <a:pt x="550" y="562"/>
                    <a:pt x="542" y="566"/>
                    <a:pt x="533" y="566"/>
                  </a:cubicBezTo>
                  <a:lnTo>
                    <a:pt x="416" y="566"/>
                  </a:lnTo>
                  <a:lnTo>
                    <a:pt x="416" y="673"/>
                  </a:lnTo>
                  <a:lnTo>
                    <a:pt x="632" y="673"/>
                  </a:lnTo>
                  <a:cubicBezTo>
                    <a:pt x="645" y="673"/>
                    <a:pt x="656" y="684"/>
                    <a:pt x="656" y="697"/>
                  </a:cubicBezTo>
                  <a:cubicBezTo>
                    <a:pt x="656" y="710"/>
                    <a:pt x="645" y="721"/>
                    <a:pt x="632" y="721"/>
                  </a:cubicBezTo>
                  <a:lnTo>
                    <a:pt x="130" y="721"/>
                  </a:lnTo>
                  <a:cubicBezTo>
                    <a:pt x="117" y="721"/>
                    <a:pt x="106" y="710"/>
                    <a:pt x="106" y="697"/>
                  </a:cubicBezTo>
                  <a:cubicBezTo>
                    <a:pt x="106" y="684"/>
                    <a:pt x="117" y="673"/>
                    <a:pt x="130" y="673"/>
                  </a:cubicBezTo>
                  <a:lnTo>
                    <a:pt x="346" y="673"/>
                  </a:lnTo>
                  <a:lnTo>
                    <a:pt x="346" y="566"/>
                  </a:lnTo>
                  <a:lnTo>
                    <a:pt x="32" y="566"/>
                  </a:lnTo>
                  <a:cubicBezTo>
                    <a:pt x="14" y="566"/>
                    <a:pt x="3" y="546"/>
                    <a:pt x="12" y="531"/>
                  </a:cubicBezTo>
                  <a:lnTo>
                    <a:pt x="135" y="317"/>
                  </a:lnTo>
                  <a:lnTo>
                    <a:pt x="135" y="317"/>
                  </a:ln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de-DE" sz="1200" b="0" i="0" u="none" strike="noStrike" kern="0" cap="none" spc="0" normalizeH="0" baseline="0" noProof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489" name="Rechteck 488">
            <a:extLst>
              <a:ext uri="{FF2B5EF4-FFF2-40B4-BE49-F238E27FC236}">
                <a16:creationId xmlns:a16="http://schemas.microsoft.com/office/drawing/2014/main" id="{7D9E9663-E308-5E43-F515-A6CB0D4D40A4}"/>
              </a:ext>
            </a:extLst>
          </p:cNvPr>
          <p:cNvSpPr/>
          <p:nvPr/>
        </p:nvSpPr>
        <p:spPr bwMode="auto">
          <a:xfrm>
            <a:off x="5977958" y="3659082"/>
            <a:ext cx="1685713" cy="1877603"/>
          </a:xfrm>
          <a:prstGeom prst="rect">
            <a:avLst/>
          </a:prstGeom>
          <a:noFill/>
          <a:ln w="28575" cap="flat" cmpd="sng" algn="ctr">
            <a:solidFill>
              <a:srgbClr val="950F53"/>
            </a:solidFill>
            <a:prstDash val="sysDot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200" b="0" i="0" u="none" strike="noStrike" kern="0" cap="none" spc="0" normalizeH="0" baseline="0" noProof="1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90" name="Rechteck 489">
            <a:extLst>
              <a:ext uri="{FF2B5EF4-FFF2-40B4-BE49-F238E27FC236}">
                <a16:creationId xmlns:a16="http://schemas.microsoft.com/office/drawing/2014/main" id="{879A21BC-A2A8-E2E2-2B11-BFD936BFCB61}"/>
              </a:ext>
            </a:extLst>
          </p:cNvPr>
          <p:cNvSpPr/>
          <p:nvPr/>
        </p:nvSpPr>
        <p:spPr bwMode="auto">
          <a:xfrm>
            <a:off x="6939548" y="4042007"/>
            <a:ext cx="868590" cy="86177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1000" b="0" i="0" u="none" strike="noStrike" kern="1200" cap="none" spc="0" normalizeH="0" baseline="0" noProof="1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Bahnschrift" panose="020B0502040204020203" pitchFamily="34" charset="0"/>
                <a:ea typeface="+mn-ea"/>
                <a:cs typeface="+mn-cs"/>
              </a:rPr>
              <a:t>Lokale </a:t>
            </a: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1000" b="0" i="0" u="none" strike="noStrike" kern="1200" cap="none" spc="0" normalizeH="0" baseline="0" noProof="1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Bahnschrift" panose="020B0502040204020203" pitchFamily="34" charset="0"/>
                <a:ea typeface="+mn-ea"/>
                <a:cs typeface="+mn-cs"/>
              </a:rPr>
              <a:t>Erneuer-bare</a:t>
            </a: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1000" b="0" i="0" u="none" strike="noStrike" kern="1200" cap="none" spc="0" normalizeH="0" baseline="0" noProof="1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Bahnschrift" panose="020B0502040204020203" pitchFamily="34" charset="0"/>
                <a:ea typeface="+mn-ea"/>
                <a:cs typeface="+mn-cs"/>
              </a:rPr>
              <a:t>Energie-Quelle</a:t>
            </a:r>
          </a:p>
        </p:txBody>
      </p:sp>
      <p:sp>
        <p:nvSpPr>
          <p:cNvPr id="491" name="Rechteck 490">
            <a:extLst>
              <a:ext uri="{FF2B5EF4-FFF2-40B4-BE49-F238E27FC236}">
                <a16:creationId xmlns:a16="http://schemas.microsoft.com/office/drawing/2014/main" id="{5BD21107-B2B3-FBEC-B369-B3C30389EA4F}"/>
              </a:ext>
            </a:extLst>
          </p:cNvPr>
          <p:cNvSpPr/>
          <p:nvPr/>
        </p:nvSpPr>
        <p:spPr bwMode="auto">
          <a:xfrm>
            <a:off x="7782908" y="4533320"/>
            <a:ext cx="1845106" cy="994121"/>
          </a:xfrm>
          <a:prstGeom prst="rect">
            <a:avLst/>
          </a:prstGeom>
          <a:solidFill>
            <a:srgbClr val="D8D7B7"/>
          </a:solidFill>
          <a:ln w="28575" cap="flat" cmpd="sng" algn="ctr">
            <a:noFill/>
            <a:prstDash val="dash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200" b="0" i="0" u="none" strike="noStrike" kern="0" cap="none" spc="0" normalizeH="0" baseline="0" noProof="1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92" name="Rechteck 491">
            <a:extLst>
              <a:ext uri="{FF2B5EF4-FFF2-40B4-BE49-F238E27FC236}">
                <a16:creationId xmlns:a16="http://schemas.microsoft.com/office/drawing/2014/main" id="{31F7E531-21C0-B652-15BC-38220B261FAA}"/>
              </a:ext>
            </a:extLst>
          </p:cNvPr>
          <p:cNvSpPr/>
          <p:nvPr/>
        </p:nvSpPr>
        <p:spPr bwMode="auto">
          <a:xfrm>
            <a:off x="7769359" y="3249770"/>
            <a:ext cx="1858655" cy="2284468"/>
          </a:xfrm>
          <a:prstGeom prst="rect">
            <a:avLst/>
          </a:prstGeom>
          <a:noFill/>
          <a:ln w="28575" cap="flat" cmpd="sng" algn="ctr">
            <a:solidFill>
              <a:srgbClr val="3BACBE">
                <a:lumMod val="60000"/>
                <a:lumOff val="40000"/>
              </a:srgbClr>
            </a:solidFill>
            <a:prstDash val="sysDot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200" b="0" i="0" u="none" strike="noStrike" kern="0" cap="none" spc="0" normalizeH="0" baseline="0" noProof="1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93" name="Building5" descr="{&quot;Key&quot;:&quot;POWER_USER_SHAPE_ICON&quot;,&quot;Value&quot;:&quot;POWER_USER_SHAPE_ICON_STYLE_1&quot;}">
            <a:extLst>
              <a:ext uri="{FF2B5EF4-FFF2-40B4-BE49-F238E27FC236}">
                <a16:creationId xmlns:a16="http://schemas.microsoft.com/office/drawing/2014/main" id="{425B0F5F-0AAE-F25F-62D3-97560DC420B0}"/>
              </a:ext>
            </a:extLst>
          </p:cNvPr>
          <p:cNvSpPr>
            <a:spLocks noChangeAspect="1" noEditPoints="1"/>
          </p:cNvSpPr>
          <p:nvPr>
            <p:custDataLst>
              <p:tags r:id="rId2"/>
            </p:custDataLst>
          </p:nvPr>
        </p:nvSpPr>
        <p:spPr bwMode="auto">
          <a:xfrm>
            <a:off x="7916527" y="3310795"/>
            <a:ext cx="1233099" cy="1229321"/>
          </a:xfrm>
          <a:custGeom>
            <a:avLst/>
            <a:gdLst>
              <a:gd name="T0" fmla="*/ 915 w 1250"/>
              <a:gd name="T1" fmla="*/ 250 h 1187"/>
              <a:gd name="T2" fmla="*/ 915 w 1250"/>
              <a:gd name="T3" fmla="*/ 1053 h 1187"/>
              <a:gd name="T4" fmla="*/ 848 w 1250"/>
              <a:gd name="T5" fmla="*/ 1053 h 1187"/>
              <a:gd name="T6" fmla="*/ 850 w 1250"/>
              <a:gd name="T7" fmla="*/ 0 h 1187"/>
              <a:gd name="T8" fmla="*/ 448 w 1250"/>
              <a:gd name="T9" fmla="*/ 0 h 1187"/>
              <a:gd name="T10" fmla="*/ 446 w 1250"/>
              <a:gd name="T11" fmla="*/ 1053 h 1187"/>
              <a:gd name="T12" fmla="*/ 379 w 1250"/>
              <a:gd name="T13" fmla="*/ 1053 h 1187"/>
              <a:gd name="T14" fmla="*/ 379 w 1250"/>
              <a:gd name="T15" fmla="*/ 361 h 1187"/>
              <a:gd name="T16" fmla="*/ 0 w 1250"/>
              <a:gd name="T17" fmla="*/ 361 h 1187"/>
              <a:gd name="T18" fmla="*/ 0 w 1250"/>
              <a:gd name="T19" fmla="*/ 1187 h 1187"/>
              <a:gd name="T20" fmla="*/ 1250 w 1250"/>
              <a:gd name="T21" fmla="*/ 1187 h 1187"/>
              <a:gd name="T22" fmla="*/ 1250 w 1250"/>
              <a:gd name="T23" fmla="*/ 250 h 1187"/>
              <a:gd name="T24" fmla="*/ 915 w 1250"/>
              <a:gd name="T25" fmla="*/ 250 h 1187"/>
              <a:gd name="T26" fmla="*/ 982 w 1250"/>
              <a:gd name="T27" fmla="*/ 339 h 1187"/>
              <a:gd name="T28" fmla="*/ 1183 w 1250"/>
              <a:gd name="T29" fmla="*/ 339 h 1187"/>
              <a:gd name="T30" fmla="*/ 1183 w 1250"/>
              <a:gd name="T31" fmla="*/ 584 h 1187"/>
              <a:gd name="T32" fmla="*/ 982 w 1250"/>
              <a:gd name="T33" fmla="*/ 584 h 1187"/>
              <a:gd name="T34" fmla="*/ 982 w 1250"/>
              <a:gd name="T35" fmla="*/ 339 h 1187"/>
              <a:gd name="T36" fmla="*/ 982 w 1250"/>
              <a:gd name="T37" fmla="*/ 674 h 1187"/>
              <a:gd name="T38" fmla="*/ 1183 w 1250"/>
              <a:gd name="T39" fmla="*/ 674 h 1187"/>
              <a:gd name="T40" fmla="*/ 1183 w 1250"/>
              <a:gd name="T41" fmla="*/ 919 h 1187"/>
              <a:gd name="T42" fmla="*/ 982 w 1250"/>
              <a:gd name="T43" fmla="*/ 919 h 1187"/>
              <a:gd name="T44" fmla="*/ 982 w 1250"/>
              <a:gd name="T45" fmla="*/ 674 h 1187"/>
              <a:gd name="T46" fmla="*/ 513 w 1250"/>
              <a:gd name="T47" fmla="*/ 71 h 1187"/>
              <a:gd name="T48" fmla="*/ 781 w 1250"/>
              <a:gd name="T49" fmla="*/ 71 h 1187"/>
              <a:gd name="T50" fmla="*/ 781 w 1250"/>
              <a:gd name="T51" fmla="*/ 183 h 1187"/>
              <a:gd name="T52" fmla="*/ 513 w 1250"/>
              <a:gd name="T53" fmla="*/ 183 h 1187"/>
              <a:gd name="T54" fmla="*/ 513 w 1250"/>
              <a:gd name="T55" fmla="*/ 71 h 1187"/>
              <a:gd name="T56" fmla="*/ 513 w 1250"/>
              <a:gd name="T57" fmla="*/ 294 h 1187"/>
              <a:gd name="T58" fmla="*/ 781 w 1250"/>
              <a:gd name="T59" fmla="*/ 294 h 1187"/>
              <a:gd name="T60" fmla="*/ 781 w 1250"/>
              <a:gd name="T61" fmla="*/ 406 h 1187"/>
              <a:gd name="T62" fmla="*/ 513 w 1250"/>
              <a:gd name="T63" fmla="*/ 406 h 1187"/>
              <a:gd name="T64" fmla="*/ 513 w 1250"/>
              <a:gd name="T65" fmla="*/ 294 h 1187"/>
              <a:gd name="T66" fmla="*/ 513 w 1250"/>
              <a:gd name="T67" fmla="*/ 517 h 1187"/>
              <a:gd name="T68" fmla="*/ 781 w 1250"/>
              <a:gd name="T69" fmla="*/ 517 h 1187"/>
              <a:gd name="T70" fmla="*/ 781 w 1250"/>
              <a:gd name="T71" fmla="*/ 629 h 1187"/>
              <a:gd name="T72" fmla="*/ 513 w 1250"/>
              <a:gd name="T73" fmla="*/ 629 h 1187"/>
              <a:gd name="T74" fmla="*/ 513 w 1250"/>
              <a:gd name="T75" fmla="*/ 517 h 1187"/>
              <a:gd name="T76" fmla="*/ 513 w 1250"/>
              <a:gd name="T77" fmla="*/ 741 h 1187"/>
              <a:gd name="T78" fmla="*/ 781 w 1250"/>
              <a:gd name="T79" fmla="*/ 741 h 1187"/>
              <a:gd name="T80" fmla="*/ 781 w 1250"/>
              <a:gd name="T81" fmla="*/ 852 h 1187"/>
              <a:gd name="T82" fmla="*/ 513 w 1250"/>
              <a:gd name="T83" fmla="*/ 852 h 1187"/>
              <a:gd name="T84" fmla="*/ 513 w 1250"/>
              <a:gd name="T85" fmla="*/ 741 h 1187"/>
              <a:gd name="T86" fmla="*/ 67 w 1250"/>
              <a:gd name="T87" fmla="*/ 450 h 1187"/>
              <a:gd name="T88" fmla="*/ 156 w 1250"/>
              <a:gd name="T89" fmla="*/ 450 h 1187"/>
              <a:gd name="T90" fmla="*/ 156 w 1250"/>
              <a:gd name="T91" fmla="*/ 607 h 1187"/>
              <a:gd name="T92" fmla="*/ 67 w 1250"/>
              <a:gd name="T93" fmla="*/ 607 h 1187"/>
              <a:gd name="T94" fmla="*/ 67 w 1250"/>
              <a:gd name="T95" fmla="*/ 450 h 1187"/>
              <a:gd name="T96" fmla="*/ 223 w 1250"/>
              <a:gd name="T97" fmla="*/ 450 h 1187"/>
              <a:gd name="T98" fmla="*/ 313 w 1250"/>
              <a:gd name="T99" fmla="*/ 450 h 1187"/>
              <a:gd name="T100" fmla="*/ 313 w 1250"/>
              <a:gd name="T101" fmla="*/ 607 h 1187"/>
              <a:gd name="T102" fmla="*/ 223 w 1250"/>
              <a:gd name="T103" fmla="*/ 607 h 1187"/>
              <a:gd name="T104" fmla="*/ 223 w 1250"/>
              <a:gd name="T105" fmla="*/ 450 h 1187"/>
              <a:gd name="T106" fmla="*/ 67 w 1250"/>
              <a:gd name="T107" fmla="*/ 718 h 1187"/>
              <a:gd name="T108" fmla="*/ 156 w 1250"/>
              <a:gd name="T109" fmla="*/ 718 h 1187"/>
              <a:gd name="T110" fmla="*/ 156 w 1250"/>
              <a:gd name="T111" fmla="*/ 875 h 1187"/>
              <a:gd name="T112" fmla="*/ 67 w 1250"/>
              <a:gd name="T113" fmla="*/ 875 h 1187"/>
              <a:gd name="T114" fmla="*/ 67 w 1250"/>
              <a:gd name="T115" fmla="*/ 718 h 1187"/>
              <a:gd name="T116" fmla="*/ 223 w 1250"/>
              <a:gd name="T117" fmla="*/ 718 h 1187"/>
              <a:gd name="T118" fmla="*/ 313 w 1250"/>
              <a:gd name="T119" fmla="*/ 718 h 1187"/>
              <a:gd name="T120" fmla="*/ 313 w 1250"/>
              <a:gd name="T121" fmla="*/ 875 h 1187"/>
              <a:gd name="T122" fmla="*/ 223 w 1250"/>
              <a:gd name="T123" fmla="*/ 875 h 1187"/>
              <a:gd name="T124" fmla="*/ 223 w 1250"/>
              <a:gd name="T125" fmla="*/ 718 h 118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  <a:cxn ang="0">
                <a:pos x="T124" y="T125"/>
              </a:cxn>
            </a:cxnLst>
            <a:rect l="0" t="0" r="r" b="b"/>
            <a:pathLst>
              <a:path w="1250" h="1187">
                <a:moveTo>
                  <a:pt x="915" y="250"/>
                </a:moveTo>
                <a:lnTo>
                  <a:pt x="915" y="1053"/>
                </a:lnTo>
                <a:lnTo>
                  <a:pt x="848" y="1053"/>
                </a:lnTo>
                <a:lnTo>
                  <a:pt x="850" y="0"/>
                </a:lnTo>
                <a:lnTo>
                  <a:pt x="448" y="0"/>
                </a:lnTo>
                <a:lnTo>
                  <a:pt x="446" y="1053"/>
                </a:lnTo>
                <a:lnTo>
                  <a:pt x="379" y="1053"/>
                </a:lnTo>
                <a:lnTo>
                  <a:pt x="379" y="361"/>
                </a:lnTo>
                <a:lnTo>
                  <a:pt x="0" y="361"/>
                </a:lnTo>
                <a:lnTo>
                  <a:pt x="0" y="1187"/>
                </a:lnTo>
                <a:lnTo>
                  <a:pt x="1250" y="1187"/>
                </a:lnTo>
                <a:lnTo>
                  <a:pt x="1250" y="250"/>
                </a:lnTo>
                <a:lnTo>
                  <a:pt x="915" y="250"/>
                </a:lnTo>
                <a:close/>
                <a:moveTo>
                  <a:pt x="982" y="339"/>
                </a:moveTo>
                <a:lnTo>
                  <a:pt x="1183" y="339"/>
                </a:lnTo>
                <a:lnTo>
                  <a:pt x="1183" y="584"/>
                </a:lnTo>
                <a:lnTo>
                  <a:pt x="982" y="584"/>
                </a:lnTo>
                <a:lnTo>
                  <a:pt x="982" y="339"/>
                </a:lnTo>
                <a:close/>
                <a:moveTo>
                  <a:pt x="982" y="674"/>
                </a:moveTo>
                <a:lnTo>
                  <a:pt x="1183" y="674"/>
                </a:lnTo>
                <a:lnTo>
                  <a:pt x="1183" y="919"/>
                </a:lnTo>
                <a:lnTo>
                  <a:pt x="982" y="919"/>
                </a:lnTo>
                <a:lnTo>
                  <a:pt x="982" y="674"/>
                </a:lnTo>
                <a:close/>
                <a:moveTo>
                  <a:pt x="513" y="71"/>
                </a:moveTo>
                <a:lnTo>
                  <a:pt x="781" y="71"/>
                </a:lnTo>
                <a:lnTo>
                  <a:pt x="781" y="183"/>
                </a:lnTo>
                <a:lnTo>
                  <a:pt x="513" y="183"/>
                </a:lnTo>
                <a:lnTo>
                  <a:pt x="513" y="71"/>
                </a:lnTo>
                <a:close/>
                <a:moveTo>
                  <a:pt x="513" y="294"/>
                </a:moveTo>
                <a:lnTo>
                  <a:pt x="781" y="294"/>
                </a:lnTo>
                <a:lnTo>
                  <a:pt x="781" y="406"/>
                </a:lnTo>
                <a:lnTo>
                  <a:pt x="513" y="406"/>
                </a:lnTo>
                <a:lnTo>
                  <a:pt x="513" y="294"/>
                </a:lnTo>
                <a:close/>
                <a:moveTo>
                  <a:pt x="513" y="517"/>
                </a:moveTo>
                <a:lnTo>
                  <a:pt x="781" y="517"/>
                </a:lnTo>
                <a:lnTo>
                  <a:pt x="781" y="629"/>
                </a:lnTo>
                <a:lnTo>
                  <a:pt x="513" y="629"/>
                </a:lnTo>
                <a:lnTo>
                  <a:pt x="513" y="517"/>
                </a:lnTo>
                <a:close/>
                <a:moveTo>
                  <a:pt x="513" y="741"/>
                </a:moveTo>
                <a:lnTo>
                  <a:pt x="781" y="741"/>
                </a:lnTo>
                <a:lnTo>
                  <a:pt x="781" y="852"/>
                </a:lnTo>
                <a:lnTo>
                  <a:pt x="513" y="852"/>
                </a:lnTo>
                <a:lnTo>
                  <a:pt x="513" y="741"/>
                </a:lnTo>
                <a:close/>
                <a:moveTo>
                  <a:pt x="67" y="450"/>
                </a:moveTo>
                <a:lnTo>
                  <a:pt x="156" y="450"/>
                </a:lnTo>
                <a:lnTo>
                  <a:pt x="156" y="607"/>
                </a:lnTo>
                <a:lnTo>
                  <a:pt x="67" y="607"/>
                </a:lnTo>
                <a:lnTo>
                  <a:pt x="67" y="450"/>
                </a:lnTo>
                <a:close/>
                <a:moveTo>
                  <a:pt x="223" y="450"/>
                </a:moveTo>
                <a:lnTo>
                  <a:pt x="313" y="450"/>
                </a:lnTo>
                <a:lnTo>
                  <a:pt x="313" y="607"/>
                </a:lnTo>
                <a:lnTo>
                  <a:pt x="223" y="607"/>
                </a:lnTo>
                <a:lnTo>
                  <a:pt x="223" y="450"/>
                </a:lnTo>
                <a:close/>
                <a:moveTo>
                  <a:pt x="67" y="718"/>
                </a:moveTo>
                <a:lnTo>
                  <a:pt x="156" y="718"/>
                </a:lnTo>
                <a:lnTo>
                  <a:pt x="156" y="875"/>
                </a:lnTo>
                <a:lnTo>
                  <a:pt x="67" y="875"/>
                </a:lnTo>
                <a:lnTo>
                  <a:pt x="67" y="718"/>
                </a:lnTo>
                <a:close/>
                <a:moveTo>
                  <a:pt x="223" y="718"/>
                </a:moveTo>
                <a:lnTo>
                  <a:pt x="313" y="718"/>
                </a:lnTo>
                <a:lnTo>
                  <a:pt x="313" y="875"/>
                </a:lnTo>
                <a:lnTo>
                  <a:pt x="223" y="875"/>
                </a:lnTo>
                <a:lnTo>
                  <a:pt x="223" y="718"/>
                </a:lnTo>
                <a:close/>
              </a:path>
            </a:pathLst>
          </a:custGeom>
          <a:solidFill>
            <a:srgbClr val="FFFFFF">
              <a:lumMod val="85000"/>
            </a:srgbClr>
          </a:solidFill>
          <a:ln>
            <a:noFill/>
          </a:ln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200" b="0" i="0" u="none" strike="noStrike" kern="0" cap="none" spc="0" normalizeH="0" baseline="0" noProof="1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pSp>
        <p:nvGrpSpPr>
          <p:cNvPr id="494" name="Gruppieren 493">
            <a:extLst>
              <a:ext uri="{FF2B5EF4-FFF2-40B4-BE49-F238E27FC236}">
                <a16:creationId xmlns:a16="http://schemas.microsoft.com/office/drawing/2014/main" id="{70611EBC-5950-4A83-0250-68D58FF6CDB6}"/>
              </a:ext>
            </a:extLst>
          </p:cNvPr>
          <p:cNvGrpSpPr/>
          <p:nvPr/>
        </p:nvGrpSpPr>
        <p:grpSpPr>
          <a:xfrm>
            <a:off x="8531825" y="3850237"/>
            <a:ext cx="298582" cy="276822"/>
            <a:chOff x="-19101" y="2381281"/>
            <a:chExt cx="699820" cy="699820"/>
          </a:xfrm>
        </p:grpSpPr>
        <p:sp>
          <p:nvSpPr>
            <p:cNvPr id="495" name="Ellipse 494">
              <a:extLst>
                <a:ext uri="{FF2B5EF4-FFF2-40B4-BE49-F238E27FC236}">
                  <a16:creationId xmlns:a16="http://schemas.microsoft.com/office/drawing/2014/main" id="{3D18CD44-5618-EA8B-2C41-91B6523254A0}"/>
                </a:ext>
              </a:extLst>
            </p:cNvPr>
            <p:cNvSpPr/>
            <p:nvPr/>
          </p:nvSpPr>
          <p:spPr>
            <a:xfrm>
              <a:off x="-19101" y="2381281"/>
              <a:ext cx="699820" cy="699820"/>
            </a:xfrm>
            <a:prstGeom prst="ellipse">
              <a:avLst/>
            </a:prstGeom>
            <a:solidFill>
              <a:sysClr val="windowText" lastClr="000000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de-DE" sz="1200" b="0" i="0" u="none" strike="noStrike" kern="0" cap="none" spc="0" normalizeH="0" baseline="0" noProof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96" name="Plug" descr="{&quot;Key&quot;:&quot;POWER_USER_SHAPE_ICON&quot;,&quot;Value&quot;:&quot;POWER_USER_SHAPE_ICON_STYLE_1&quot;}">
              <a:extLst>
                <a:ext uri="{FF2B5EF4-FFF2-40B4-BE49-F238E27FC236}">
                  <a16:creationId xmlns:a16="http://schemas.microsoft.com/office/drawing/2014/main" id="{7EB9822C-3785-3EAD-D7B5-A99B3F46AC6D}"/>
                </a:ext>
              </a:extLst>
            </p:cNvPr>
            <p:cNvSpPr>
              <a:spLocks noChangeAspect="1" noEditPoints="1"/>
            </p:cNvSpPr>
            <p:nvPr>
              <p:custDataLst>
                <p:tags r:id="rId53"/>
              </p:custDataLst>
            </p:nvPr>
          </p:nvSpPr>
          <p:spPr bwMode="auto">
            <a:xfrm>
              <a:off x="124100" y="2458915"/>
              <a:ext cx="393828" cy="542925"/>
            </a:xfrm>
            <a:custGeom>
              <a:avLst/>
              <a:gdLst>
                <a:gd name="T0" fmla="*/ 336 w 592"/>
                <a:gd name="T1" fmla="*/ 106 h 790"/>
                <a:gd name="T2" fmla="*/ 415 w 592"/>
                <a:gd name="T3" fmla="*/ 27 h 790"/>
                <a:gd name="T4" fmla="*/ 456 w 592"/>
                <a:gd name="T5" fmla="*/ 69 h 790"/>
                <a:gd name="T6" fmla="*/ 377 w 592"/>
                <a:gd name="T7" fmla="*/ 148 h 790"/>
                <a:gd name="T8" fmla="*/ 336 w 592"/>
                <a:gd name="T9" fmla="*/ 106 h 790"/>
                <a:gd name="T10" fmla="*/ 156 w 592"/>
                <a:gd name="T11" fmla="*/ 393 h 790"/>
                <a:gd name="T12" fmla="*/ 199 w 592"/>
                <a:gd name="T13" fmla="*/ 436 h 790"/>
                <a:gd name="T14" fmla="*/ 224 w 592"/>
                <a:gd name="T15" fmla="*/ 411 h 790"/>
                <a:gd name="T16" fmla="*/ 181 w 592"/>
                <a:gd name="T17" fmla="*/ 368 h 790"/>
                <a:gd name="T18" fmla="*/ 156 w 592"/>
                <a:gd name="T19" fmla="*/ 393 h 790"/>
                <a:gd name="T20" fmla="*/ 110 w 592"/>
                <a:gd name="T21" fmla="*/ 445 h 790"/>
                <a:gd name="T22" fmla="*/ 146 w 592"/>
                <a:gd name="T23" fmla="*/ 481 h 790"/>
                <a:gd name="T24" fmla="*/ 171 w 592"/>
                <a:gd name="T25" fmla="*/ 456 h 790"/>
                <a:gd name="T26" fmla="*/ 135 w 592"/>
                <a:gd name="T27" fmla="*/ 421 h 790"/>
                <a:gd name="T28" fmla="*/ 110 w 592"/>
                <a:gd name="T29" fmla="*/ 445 h 790"/>
                <a:gd name="T30" fmla="*/ 174 w 592"/>
                <a:gd name="T31" fmla="*/ 528 h 790"/>
                <a:gd name="T32" fmla="*/ 141 w 592"/>
                <a:gd name="T33" fmla="*/ 529 h 790"/>
                <a:gd name="T34" fmla="*/ 64 w 592"/>
                <a:gd name="T35" fmla="*/ 451 h 790"/>
                <a:gd name="T36" fmla="*/ 62 w 592"/>
                <a:gd name="T37" fmla="*/ 418 h 790"/>
                <a:gd name="T38" fmla="*/ 158 w 592"/>
                <a:gd name="T39" fmla="*/ 193 h 790"/>
                <a:gd name="T40" fmla="*/ 165 w 592"/>
                <a:gd name="T41" fmla="*/ 172 h 790"/>
                <a:gd name="T42" fmla="*/ 242 w 592"/>
                <a:gd name="T43" fmla="*/ 95 h 790"/>
                <a:gd name="T44" fmla="*/ 275 w 592"/>
                <a:gd name="T45" fmla="*/ 95 h 790"/>
                <a:gd name="T46" fmla="*/ 497 w 592"/>
                <a:gd name="T47" fmla="*/ 316 h 790"/>
                <a:gd name="T48" fmla="*/ 496 w 592"/>
                <a:gd name="T49" fmla="*/ 349 h 790"/>
                <a:gd name="T50" fmla="*/ 420 w 592"/>
                <a:gd name="T51" fmla="*/ 426 h 790"/>
                <a:gd name="T52" fmla="*/ 400 w 592"/>
                <a:gd name="T53" fmla="*/ 434 h 790"/>
                <a:gd name="T54" fmla="*/ 174 w 592"/>
                <a:gd name="T55" fmla="*/ 528 h 790"/>
                <a:gd name="T56" fmla="*/ 393 w 592"/>
                <a:gd name="T57" fmla="*/ 594 h 790"/>
                <a:gd name="T58" fmla="*/ 295 w 592"/>
                <a:gd name="T59" fmla="*/ 594 h 790"/>
                <a:gd name="T60" fmla="*/ 210 w 592"/>
                <a:gd name="T61" fmla="*/ 678 h 790"/>
                <a:gd name="T62" fmla="*/ 45 w 592"/>
                <a:gd name="T63" fmla="*/ 678 h 790"/>
                <a:gd name="T64" fmla="*/ 45 w 592"/>
                <a:gd name="T65" fmla="*/ 513 h 790"/>
                <a:gd name="T66" fmla="*/ 61 w 592"/>
                <a:gd name="T67" fmla="*/ 497 h 790"/>
                <a:gd name="T68" fmla="*/ 94 w 592"/>
                <a:gd name="T69" fmla="*/ 531 h 790"/>
                <a:gd name="T70" fmla="*/ 78 w 592"/>
                <a:gd name="T71" fmla="*/ 546 h 790"/>
                <a:gd name="T72" fmla="*/ 78 w 592"/>
                <a:gd name="T73" fmla="*/ 645 h 790"/>
                <a:gd name="T74" fmla="*/ 177 w 592"/>
                <a:gd name="T75" fmla="*/ 645 h 790"/>
                <a:gd name="T76" fmla="*/ 261 w 592"/>
                <a:gd name="T77" fmla="*/ 560 h 790"/>
                <a:gd name="T78" fmla="*/ 426 w 592"/>
                <a:gd name="T79" fmla="*/ 560 h 790"/>
                <a:gd name="T80" fmla="*/ 426 w 592"/>
                <a:gd name="T81" fmla="*/ 725 h 790"/>
                <a:gd name="T82" fmla="*/ 384 w 592"/>
                <a:gd name="T83" fmla="*/ 768 h 790"/>
                <a:gd name="T84" fmla="*/ 351 w 592"/>
                <a:gd name="T85" fmla="*/ 734 h 790"/>
                <a:gd name="T86" fmla="*/ 393 w 592"/>
                <a:gd name="T87" fmla="*/ 692 h 790"/>
                <a:gd name="T88" fmla="*/ 393 w 592"/>
                <a:gd name="T89" fmla="*/ 594 h 790"/>
                <a:gd name="T90" fmla="*/ 485 w 592"/>
                <a:gd name="T91" fmla="*/ 256 h 790"/>
                <a:gd name="T92" fmla="*/ 564 w 592"/>
                <a:gd name="T93" fmla="*/ 176 h 790"/>
                <a:gd name="T94" fmla="*/ 523 w 592"/>
                <a:gd name="T95" fmla="*/ 135 h 790"/>
                <a:gd name="T96" fmla="*/ 444 w 592"/>
                <a:gd name="T97" fmla="*/ 214 h 790"/>
                <a:gd name="T98" fmla="*/ 485 w 592"/>
                <a:gd name="T99" fmla="*/ 256 h 790"/>
                <a:gd name="T100" fmla="*/ 485 w 592"/>
                <a:gd name="T101" fmla="*/ 256 h 7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592" h="790">
                  <a:moveTo>
                    <a:pt x="336" y="106"/>
                  </a:moveTo>
                  <a:lnTo>
                    <a:pt x="415" y="27"/>
                  </a:lnTo>
                  <a:cubicBezTo>
                    <a:pt x="442" y="0"/>
                    <a:pt x="484" y="41"/>
                    <a:pt x="456" y="69"/>
                  </a:cubicBezTo>
                  <a:lnTo>
                    <a:pt x="377" y="148"/>
                  </a:lnTo>
                  <a:lnTo>
                    <a:pt x="336" y="106"/>
                  </a:lnTo>
                  <a:close/>
                  <a:moveTo>
                    <a:pt x="156" y="393"/>
                  </a:moveTo>
                  <a:lnTo>
                    <a:pt x="199" y="436"/>
                  </a:lnTo>
                  <a:cubicBezTo>
                    <a:pt x="215" y="452"/>
                    <a:pt x="240" y="428"/>
                    <a:pt x="224" y="411"/>
                  </a:cubicBezTo>
                  <a:lnTo>
                    <a:pt x="181" y="368"/>
                  </a:lnTo>
                  <a:cubicBezTo>
                    <a:pt x="164" y="351"/>
                    <a:pt x="139" y="376"/>
                    <a:pt x="156" y="393"/>
                  </a:cubicBezTo>
                  <a:close/>
                  <a:moveTo>
                    <a:pt x="110" y="445"/>
                  </a:moveTo>
                  <a:lnTo>
                    <a:pt x="146" y="481"/>
                  </a:lnTo>
                  <a:cubicBezTo>
                    <a:pt x="162" y="498"/>
                    <a:pt x="187" y="473"/>
                    <a:pt x="171" y="456"/>
                  </a:cubicBezTo>
                  <a:lnTo>
                    <a:pt x="135" y="421"/>
                  </a:lnTo>
                  <a:cubicBezTo>
                    <a:pt x="119" y="404"/>
                    <a:pt x="94" y="429"/>
                    <a:pt x="110" y="445"/>
                  </a:cubicBezTo>
                  <a:close/>
                  <a:moveTo>
                    <a:pt x="174" y="528"/>
                  </a:moveTo>
                  <a:cubicBezTo>
                    <a:pt x="165" y="537"/>
                    <a:pt x="150" y="538"/>
                    <a:pt x="141" y="529"/>
                  </a:cubicBezTo>
                  <a:lnTo>
                    <a:pt x="64" y="451"/>
                  </a:lnTo>
                  <a:cubicBezTo>
                    <a:pt x="54" y="442"/>
                    <a:pt x="53" y="428"/>
                    <a:pt x="62" y="418"/>
                  </a:cubicBezTo>
                  <a:cubicBezTo>
                    <a:pt x="121" y="355"/>
                    <a:pt x="169" y="283"/>
                    <a:pt x="158" y="193"/>
                  </a:cubicBezTo>
                  <a:cubicBezTo>
                    <a:pt x="157" y="185"/>
                    <a:pt x="159" y="178"/>
                    <a:pt x="165" y="172"/>
                  </a:cubicBezTo>
                  <a:lnTo>
                    <a:pt x="242" y="95"/>
                  </a:lnTo>
                  <a:cubicBezTo>
                    <a:pt x="251" y="86"/>
                    <a:pt x="266" y="86"/>
                    <a:pt x="275" y="95"/>
                  </a:cubicBezTo>
                  <a:lnTo>
                    <a:pt x="497" y="316"/>
                  </a:lnTo>
                  <a:cubicBezTo>
                    <a:pt x="506" y="325"/>
                    <a:pt x="506" y="340"/>
                    <a:pt x="496" y="349"/>
                  </a:cubicBezTo>
                  <a:lnTo>
                    <a:pt x="420" y="426"/>
                  </a:lnTo>
                  <a:cubicBezTo>
                    <a:pt x="415" y="431"/>
                    <a:pt x="408" y="434"/>
                    <a:pt x="400" y="434"/>
                  </a:cubicBezTo>
                  <a:cubicBezTo>
                    <a:pt x="309" y="423"/>
                    <a:pt x="238" y="469"/>
                    <a:pt x="174" y="528"/>
                  </a:cubicBezTo>
                  <a:close/>
                  <a:moveTo>
                    <a:pt x="393" y="594"/>
                  </a:moveTo>
                  <a:cubicBezTo>
                    <a:pt x="366" y="567"/>
                    <a:pt x="322" y="567"/>
                    <a:pt x="295" y="594"/>
                  </a:cubicBezTo>
                  <a:lnTo>
                    <a:pt x="210" y="678"/>
                  </a:lnTo>
                  <a:cubicBezTo>
                    <a:pt x="165" y="723"/>
                    <a:pt x="90" y="723"/>
                    <a:pt x="45" y="678"/>
                  </a:cubicBezTo>
                  <a:cubicBezTo>
                    <a:pt x="0" y="633"/>
                    <a:pt x="0" y="558"/>
                    <a:pt x="45" y="513"/>
                  </a:cubicBezTo>
                  <a:lnTo>
                    <a:pt x="61" y="497"/>
                  </a:lnTo>
                  <a:lnTo>
                    <a:pt x="94" y="531"/>
                  </a:lnTo>
                  <a:lnTo>
                    <a:pt x="78" y="546"/>
                  </a:lnTo>
                  <a:cubicBezTo>
                    <a:pt x="52" y="573"/>
                    <a:pt x="52" y="618"/>
                    <a:pt x="78" y="645"/>
                  </a:cubicBezTo>
                  <a:cubicBezTo>
                    <a:pt x="105" y="672"/>
                    <a:pt x="150" y="672"/>
                    <a:pt x="177" y="645"/>
                  </a:cubicBezTo>
                  <a:lnTo>
                    <a:pt x="261" y="560"/>
                  </a:lnTo>
                  <a:cubicBezTo>
                    <a:pt x="307" y="515"/>
                    <a:pt x="381" y="515"/>
                    <a:pt x="426" y="560"/>
                  </a:cubicBezTo>
                  <a:cubicBezTo>
                    <a:pt x="472" y="605"/>
                    <a:pt x="472" y="680"/>
                    <a:pt x="426" y="725"/>
                  </a:cubicBezTo>
                  <a:lnTo>
                    <a:pt x="384" y="768"/>
                  </a:lnTo>
                  <a:cubicBezTo>
                    <a:pt x="362" y="790"/>
                    <a:pt x="329" y="756"/>
                    <a:pt x="351" y="734"/>
                  </a:cubicBezTo>
                  <a:lnTo>
                    <a:pt x="393" y="692"/>
                  </a:lnTo>
                  <a:cubicBezTo>
                    <a:pt x="420" y="665"/>
                    <a:pt x="420" y="620"/>
                    <a:pt x="393" y="594"/>
                  </a:cubicBezTo>
                  <a:close/>
                  <a:moveTo>
                    <a:pt x="485" y="256"/>
                  </a:moveTo>
                  <a:lnTo>
                    <a:pt x="564" y="176"/>
                  </a:lnTo>
                  <a:cubicBezTo>
                    <a:pt x="592" y="149"/>
                    <a:pt x="550" y="108"/>
                    <a:pt x="523" y="135"/>
                  </a:cubicBezTo>
                  <a:lnTo>
                    <a:pt x="444" y="214"/>
                  </a:lnTo>
                  <a:lnTo>
                    <a:pt x="485" y="256"/>
                  </a:lnTo>
                  <a:lnTo>
                    <a:pt x="485" y="256"/>
                  </a:lnTo>
                  <a:close/>
                </a:path>
              </a:pathLst>
            </a:custGeom>
            <a:solidFill>
              <a:sysClr val="window" lastClr="FFFFFF"/>
            </a:solidFill>
            <a:ln>
              <a:noFill/>
            </a:ln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de-DE" sz="1200" b="0" i="0" u="none" strike="noStrike" kern="0" cap="none" spc="0" normalizeH="0" baseline="0" noProof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grpSp>
        <p:nvGrpSpPr>
          <p:cNvPr id="497" name="Gruppieren 496" descr="{&quot;Key&quot;:&quot;POWER_USER_SHAPE_ICON&quot;,&quot;Value&quot;:&quot;POWER_USER_SHAPE_ICON_STYLE_2&quot;}">
            <a:extLst>
              <a:ext uri="{FF2B5EF4-FFF2-40B4-BE49-F238E27FC236}">
                <a16:creationId xmlns:a16="http://schemas.microsoft.com/office/drawing/2014/main" id="{D2EE8E51-1656-9FE0-59D9-221D3E5C159C}"/>
              </a:ext>
            </a:extLst>
          </p:cNvPr>
          <p:cNvGrpSpPr>
            <a:grpSpLocks noChangeAspect="1"/>
          </p:cNvGrpSpPr>
          <p:nvPr/>
        </p:nvGrpSpPr>
        <p:grpSpPr>
          <a:xfrm>
            <a:off x="8404085" y="3615452"/>
            <a:ext cx="295815" cy="295814"/>
            <a:chOff x="-151229" y="3030538"/>
            <a:chExt cx="762000" cy="762000"/>
          </a:xfrm>
        </p:grpSpPr>
        <p:sp>
          <p:nvSpPr>
            <p:cNvPr id="498" name="POWER_USER_SHAPE_ICON_STYLE_2">
              <a:extLst>
                <a:ext uri="{FF2B5EF4-FFF2-40B4-BE49-F238E27FC236}">
                  <a16:creationId xmlns:a16="http://schemas.microsoft.com/office/drawing/2014/main" id="{72602AFD-37B0-E1D1-A21C-B4D005302642}"/>
                </a:ext>
              </a:extLst>
            </p:cNvPr>
            <p:cNvSpPr/>
            <p:nvPr/>
          </p:nvSpPr>
          <p:spPr>
            <a:xfrm>
              <a:off x="-151229" y="3030538"/>
              <a:ext cx="762000" cy="762000"/>
            </a:xfrm>
            <a:prstGeom prst="ellipse">
              <a:avLst/>
            </a:prstGeom>
            <a:solidFill>
              <a:srgbClr val="FFC000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txBody>
            <a:bodyPr rtlCol="0" anchor="ctr"/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de-DE" sz="1200" b="0" i="0" u="none" strike="noStrike" kern="0" cap="none" spc="0" normalizeH="0" baseline="0" noProof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grpSp>
          <p:nvGrpSpPr>
            <p:cNvPr id="499" name="Gruppieren 498">
              <a:extLst>
                <a:ext uri="{FF2B5EF4-FFF2-40B4-BE49-F238E27FC236}">
                  <a16:creationId xmlns:a16="http://schemas.microsoft.com/office/drawing/2014/main" id="{0892CFFE-C04E-BAAA-9AC4-2D148C471A63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1" y="3157538"/>
              <a:ext cx="459541" cy="508000"/>
              <a:chOff x="0" y="3157538"/>
              <a:chExt cx="491134" cy="542925"/>
            </a:xfrm>
          </p:grpSpPr>
          <p:sp>
            <p:nvSpPr>
              <p:cNvPr id="500" name="Crowdsourcing2">
                <a:extLst>
                  <a:ext uri="{FF2B5EF4-FFF2-40B4-BE49-F238E27FC236}">
                    <a16:creationId xmlns:a16="http://schemas.microsoft.com/office/drawing/2014/main" id="{AC20B10D-C23A-CC0F-7CBE-D5028C2687AE}"/>
                  </a:ext>
                </a:extLst>
              </p:cNvPr>
              <p:cNvSpPr>
                <a:spLocks/>
              </p:cNvSpPr>
              <p:nvPr>
                <p:custDataLst>
                  <p:tags r:id="rId45"/>
                </p:custDataLst>
              </p:nvPr>
            </p:nvSpPr>
            <p:spPr bwMode="auto">
              <a:xfrm>
                <a:off x="192882" y="3595092"/>
                <a:ext cx="105371" cy="35719"/>
              </a:xfrm>
              <a:custGeom>
                <a:avLst/>
                <a:gdLst>
                  <a:gd name="T0" fmla="*/ 130 w 156"/>
                  <a:gd name="T1" fmla="*/ 52 h 52"/>
                  <a:gd name="T2" fmla="*/ 26 w 156"/>
                  <a:gd name="T3" fmla="*/ 52 h 52"/>
                  <a:gd name="T4" fmla="*/ 0 w 156"/>
                  <a:gd name="T5" fmla="*/ 26 h 52"/>
                  <a:gd name="T6" fmla="*/ 26 w 156"/>
                  <a:gd name="T7" fmla="*/ 0 h 52"/>
                  <a:gd name="T8" fmla="*/ 130 w 156"/>
                  <a:gd name="T9" fmla="*/ 0 h 52"/>
                  <a:gd name="T10" fmla="*/ 156 w 156"/>
                  <a:gd name="T11" fmla="*/ 26 h 52"/>
                  <a:gd name="T12" fmla="*/ 130 w 156"/>
                  <a:gd name="T13" fmla="*/ 52 h 5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56" h="52">
                    <a:moveTo>
                      <a:pt x="130" y="52"/>
                    </a:moveTo>
                    <a:lnTo>
                      <a:pt x="26" y="52"/>
                    </a:lnTo>
                    <a:cubicBezTo>
                      <a:pt x="11" y="52"/>
                      <a:pt x="0" y="40"/>
                      <a:pt x="0" y="26"/>
                    </a:cubicBezTo>
                    <a:cubicBezTo>
                      <a:pt x="0" y="12"/>
                      <a:pt x="11" y="0"/>
                      <a:pt x="26" y="0"/>
                    </a:cubicBezTo>
                    <a:lnTo>
                      <a:pt x="130" y="0"/>
                    </a:lnTo>
                    <a:cubicBezTo>
                      <a:pt x="144" y="0"/>
                      <a:pt x="156" y="12"/>
                      <a:pt x="156" y="26"/>
                    </a:cubicBezTo>
                    <a:cubicBezTo>
                      <a:pt x="156" y="40"/>
                      <a:pt x="144" y="52"/>
                      <a:pt x="130" y="52"/>
                    </a:cubicBezTo>
                    <a:close/>
                  </a:path>
                </a:pathLst>
              </a:custGeom>
              <a:solidFill>
                <a:srgbClr val="FFFFFF"/>
              </a:solidFill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68580" tIns="34290" rIns="68580" bIns="3429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6858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de-DE" sz="1200" b="0" i="0" u="none" strike="noStrike" kern="0" cap="none" spc="0" normalizeH="0" baseline="0" noProof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501" name="Crowdsourcing2">
                <a:extLst>
                  <a:ext uri="{FF2B5EF4-FFF2-40B4-BE49-F238E27FC236}">
                    <a16:creationId xmlns:a16="http://schemas.microsoft.com/office/drawing/2014/main" id="{46B54AF5-F5B0-3ED5-CDAE-B8CEA5F24909}"/>
                  </a:ext>
                </a:extLst>
              </p:cNvPr>
              <p:cNvSpPr>
                <a:spLocks/>
              </p:cNvSpPr>
              <p:nvPr>
                <p:custDataLst>
                  <p:tags r:id="rId46"/>
                </p:custDataLst>
              </p:nvPr>
            </p:nvSpPr>
            <p:spPr bwMode="auto">
              <a:xfrm>
                <a:off x="228601" y="3157538"/>
                <a:ext cx="33932" cy="105371"/>
              </a:xfrm>
              <a:custGeom>
                <a:avLst/>
                <a:gdLst>
                  <a:gd name="T0" fmla="*/ 26 w 52"/>
                  <a:gd name="T1" fmla="*/ 156 h 156"/>
                  <a:gd name="T2" fmla="*/ 0 w 52"/>
                  <a:gd name="T3" fmla="*/ 130 h 156"/>
                  <a:gd name="T4" fmla="*/ 0 w 52"/>
                  <a:gd name="T5" fmla="*/ 26 h 156"/>
                  <a:gd name="T6" fmla="*/ 26 w 52"/>
                  <a:gd name="T7" fmla="*/ 0 h 156"/>
                  <a:gd name="T8" fmla="*/ 52 w 52"/>
                  <a:gd name="T9" fmla="*/ 26 h 156"/>
                  <a:gd name="T10" fmla="*/ 52 w 52"/>
                  <a:gd name="T11" fmla="*/ 130 h 156"/>
                  <a:gd name="T12" fmla="*/ 26 w 52"/>
                  <a:gd name="T13" fmla="*/ 156 h 15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52" h="156">
                    <a:moveTo>
                      <a:pt x="26" y="156"/>
                    </a:moveTo>
                    <a:cubicBezTo>
                      <a:pt x="12" y="156"/>
                      <a:pt x="0" y="145"/>
                      <a:pt x="0" y="130"/>
                    </a:cubicBezTo>
                    <a:lnTo>
                      <a:pt x="0" y="26"/>
                    </a:lnTo>
                    <a:cubicBezTo>
                      <a:pt x="0" y="12"/>
                      <a:pt x="12" y="0"/>
                      <a:pt x="26" y="0"/>
                    </a:cubicBezTo>
                    <a:cubicBezTo>
                      <a:pt x="40" y="0"/>
                      <a:pt x="52" y="12"/>
                      <a:pt x="52" y="26"/>
                    </a:cubicBezTo>
                    <a:lnTo>
                      <a:pt x="52" y="130"/>
                    </a:lnTo>
                    <a:cubicBezTo>
                      <a:pt x="52" y="145"/>
                      <a:pt x="40" y="156"/>
                      <a:pt x="26" y="156"/>
                    </a:cubicBezTo>
                    <a:close/>
                  </a:path>
                </a:pathLst>
              </a:custGeom>
              <a:solidFill>
                <a:srgbClr val="FFFFFF"/>
              </a:solidFill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68580" tIns="34290" rIns="68580" bIns="3429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6858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de-DE" sz="1200" b="0" i="0" u="none" strike="noStrike" kern="0" cap="none" spc="0" normalizeH="0" baseline="0" noProof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502" name="Crowdsourcing2">
                <a:extLst>
                  <a:ext uri="{FF2B5EF4-FFF2-40B4-BE49-F238E27FC236}">
                    <a16:creationId xmlns:a16="http://schemas.microsoft.com/office/drawing/2014/main" id="{97591D7E-96C2-599F-BB0E-412DDA6020D4}"/>
                  </a:ext>
                </a:extLst>
              </p:cNvPr>
              <p:cNvSpPr>
                <a:spLocks/>
              </p:cNvSpPr>
              <p:nvPr>
                <p:custDataLst>
                  <p:tags r:id="rId47"/>
                </p:custDataLst>
              </p:nvPr>
            </p:nvSpPr>
            <p:spPr bwMode="auto">
              <a:xfrm>
                <a:off x="0" y="3386137"/>
                <a:ext cx="105371" cy="33932"/>
              </a:xfrm>
              <a:custGeom>
                <a:avLst/>
                <a:gdLst>
                  <a:gd name="T0" fmla="*/ 131 w 157"/>
                  <a:gd name="T1" fmla="*/ 52 h 52"/>
                  <a:gd name="T2" fmla="*/ 26 w 157"/>
                  <a:gd name="T3" fmla="*/ 52 h 52"/>
                  <a:gd name="T4" fmla="*/ 0 w 157"/>
                  <a:gd name="T5" fmla="*/ 26 h 52"/>
                  <a:gd name="T6" fmla="*/ 26 w 157"/>
                  <a:gd name="T7" fmla="*/ 0 h 52"/>
                  <a:gd name="T8" fmla="*/ 131 w 157"/>
                  <a:gd name="T9" fmla="*/ 0 h 52"/>
                  <a:gd name="T10" fmla="*/ 157 w 157"/>
                  <a:gd name="T11" fmla="*/ 26 h 52"/>
                  <a:gd name="T12" fmla="*/ 131 w 157"/>
                  <a:gd name="T13" fmla="*/ 52 h 5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57" h="52">
                    <a:moveTo>
                      <a:pt x="131" y="52"/>
                    </a:moveTo>
                    <a:lnTo>
                      <a:pt x="26" y="52"/>
                    </a:lnTo>
                    <a:cubicBezTo>
                      <a:pt x="12" y="52"/>
                      <a:pt x="0" y="40"/>
                      <a:pt x="0" y="26"/>
                    </a:cubicBezTo>
                    <a:cubicBezTo>
                      <a:pt x="0" y="11"/>
                      <a:pt x="12" y="0"/>
                      <a:pt x="26" y="0"/>
                    </a:cubicBezTo>
                    <a:lnTo>
                      <a:pt x="131" y="0"/>
                    </a:lnTo>
                    <a:cubicBezTo>
                      <a:pt x="145" y="0"/>
                      <a:pt x="157" y="11"/>
                      <a:pt x="157" y="26"/>
                    </a:cubicBezTo>
                    <a:cubicBezTo>
                      <a:pt x="157" y="40"/>
                      <a:pt x="145" y="52"/>
                      <a:pt x="131" y="52"/>
                    </a:cubicBezTo>
                    <a:close/>
                  </a:path>
                </a:pathLst>
              </a:custGeom>
              <a:solidFill>
                <a:srgbClr val="FFFFFF"/>
              </a:solidFill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68580" tIns="34290" rIns="68580" bIns="3429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6858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de-DE" sz="1200" b="0" i="0" u="none" strike="noStrike" kern="0" cap="none" spc="0" normalizeH="0" baseline="0" noProof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503" name="Crowdsourcing2">
                <a:extLst>
                  <a:ext uri="{FF2B5EF4-FFF2-40B4-BE49-F238E27FC236}">
                    <a16:creationId xmlns:a16="http://schemas.microsoft.com/office/drawing/2014/main" id="{8936187C-A94C-4579-401F-1E6EE0A6904A}"/>
                  </a:ext>
                </a:extLst>
              </p:cNvPr>
              <p:cNvSpPr>
                <a:spLocks/>
              </p:cNvSpPr>
              <p:nvPr>
                <p:custDataLst>
                  <p:tags r:id="rId48"/>
                </p:custDataLst>
              </p:nvPr>
            </p:nvSpPr>
            <p:spPr bwMode="auto">
              <a:xfrm>
                <a:off x="62508" y="3220046"/>
                <a:ext cx="87512" cy="85725"/>
              </a:xfrm>
              <a:custGeom>
                <a:avLst/>
                <a:gdLst>
                  <a:gd name="T0" fmla="*/ 103 w 131"/>
                  <a:gd name="T1" fmla="*/ 128 h 128"/>
                  <a:gd name="T2" fmla="*/ 84 w 131"/>
                  <a:gd name="T3" fmla="*/ 121 h 128"/>
                  <a:gd name="T4" fmla="*/ 11 w 131"/>
                  <a:gd name="T5" fmla="*/ 47 h 128"/>
                  <a:gd name="T6" fmla="*/ 11 w 131"/>
                  <a:gd name="T7" fmla="*/ 10 h 128"/>
                  <a:gd name="T8" fmla="*/ 47 w 131"/>
                  <a:gd name="T9" fmla="*/ 10 h 128"/>
                  <a:gd name="T10" fmla="*/ 121 w 131"/>
                  <a:gd name="T11" fmla="*/ 84 h 128"/>
                  <a:gd name="T12" fmla="*/ 121 w 131"/>
                  <a:gd name="T13" fmla="*/ 121 h 128"/>
                  <a:gd name="T14" fmla="*/ 103 w 131"/>
                  <a:gd name="T15" fmla="*/ 128 h 12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131" h="128">
                    <a:moveTo>
                      <a:pt x="103" y="128"/>
                    </a:moveTo>
                    <a:cubicBezTo>
                      <a:pt x="96" y="128"/>
                      <a:pt x="89" y="126"/>
                      <a:pt x="84" y="121"/>
                    </a:cubicBezTo>
                    <a:lnTo>
                      <a:pt x="11" y="47"/>
                    </a:lnTo>
                    <a:cubicBezTo>
                      <a:pt x="0" y="37"/>
                      <a:pt x="0" y="20"/>
                      <a:pt x="11" y="10"/>
                    </a:cubicBezTo>
                    <a:cubicBezTo>
                      <a:pt x="21" y="0"/>
                      <a:pt x="37" y="0"/>
                      <a:pt x="47" y="10"/>
                    </a:cubicBezTo>
                    <a:lnTo>
                      <a:pt x="121" y="84"/>
                    </a:lnTo>
                    <a:cubicBezTo>
                      <a:pt x="131" y="94"/>
                      <a:pt x="131" y="111"/>
                      <a:pt x="121" y="121"/>
                    </a:cubicBezTo>
                    <a:cubicBezTo>
                      <a:pt x="116" y="126"/>
                      <a:pt x="109" y="128"/>
                      <a:pt x="103" y="128"/>
                    </a:cubicBezTo>
                    <a:close/>
                  </a:path>
                </a:pathLst>
              </a:custGeom>
              <a:solidFill>
                <a:srgbClr val="FFFFFF"/>
              </a:solidFill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68580" tIns="34290" rIns="68580" bIns="3429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6858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de-DE" sz="1200" b="0" i="0" u="none" strike="noStrike" kern="0" cap="none" spc="0" normalizeH="0" baseline="0" noProof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504" name="Crowdsourcing2">
                <a:extLst>
                  <a:ext uri="{FF2B5EF4-FFF2-40B4-BE49-F238E27FC236}">
                    <a16:creationId xmlns:a16="http://schemas.microsoft.com/office/drawing/2014/main" id="{7FB76CC2-3DF4-1C23-9C5D-8EAD3E1EAC66}"/>
                  </a:ext>
                </a:extLst>
              </p:cNvPr>
              <p:cNvSpPr>
                <a:spLocks/>
              </p:cNvSpPr>
              <p:nvPr>
                <p:custDataLst>
                  <p:tags r:id="rId49"/>
                </p:custDataLst>
              </p:nvPr>
            </p:nvSpPr>
            <p:spPr bwMode="auto">
              <a:xfrm>
                <a:off x="339329" y="3220046"/>
                <a:ext cx="87512" cy="85725"/>
              </a:xfrm>
              <a:custGeom>
                <a:avLst/>
                <a:gdLst>
                  <a:gd name="T0" fmla="*/ 28 w 130"/>
                  <a:gd name="T1" fmla="*/ 128 h 128"/>
                  <a:gd name="T2" fmla="*/ 10 w 130"/>
                  <a:gd name="T3" fmla="*/ 121 h 128"/>
                  <a:gd name="T4" fmla="*/ 10 w 130"/>
                  <a:gd name="T5" fmla="*/ 84 h 128"/>
                  <a:gd name="T6" fmla="*/ 83 w 130"/>
                  <a:gd name="T7" fmla="*/ 10 h 128"/>
                  <a:gd name="T8" fmla="*/ 120 w 130"/>
                  <a:gd name="T9" fmla="*/ 10 h 128"/>
                  <a:gd name="T10" fmla="*/ 120 w 130"/>
                  <a:gd name="T11" fmla="*/ 47 h 128"/>
                  <a:gd name="T12" fmla="*/ 47 w 130"/>
                  <a:gd name="T13" fmla="*/ 121 h 128"/>
                  <a:gd name="T14" fmla="*/ 28 w 130"/>
                  <a:gd name="T15" fmla="*/ 128 h 12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130" h="128">
                    <a:moveTo>
                      <a:pt x="28" y="128"/>
                    </a:moveTo>
                    <a:cubicBezTo>
                      <a:pt x="22" y="128"/>
                      <a:pt x="15" y="126"/>
                      <a:pt x="10" y="121"/>
                    </a:cubicBezTo>
                    <a:cubicBezTo>
                      <a:pt x="0" y="111"/>
                      <a:pt x="0" y="94"/>
                      <a:pt x="10" y="84"/>
                    </a:cubicBezTo>
                    <a:lnTo>
                      <a:pt x="83" y="10"/>
                    </a:lnTo>
                    <a:cubicBezTo>
                      <a:pt x="94" y="0"/>
                      <a:pt x="110" y="0"/>
                      <a:pt x="120" y="10"/>
                    </a:cubicBezTo>
                    <a:cubicBezTo>
                      <a:pt x="130" y="20"/>
                      <a:pt x="130" y="37"/>
                      <a:pt x="120" y="47"/>
                    </a:cubicBezTo>
                    <a:lnTo>
                      <a:pt x="47" y="121"/>
                    </a:lnTo>
                    <a:cubicBezTo>
                      <a:pt x="42" y="126"/>
                      <a:pt x="35" y="128"/>
                      <a:pt x="28" y="128"/>
                    </a:cubicBezTo>
                    <a:close/>
                  </a:path>
                </a:pathLst>
              </a:custGeom>
              <a:solidFill>
                <a:srgbClr val="FFFFFF"/>
              </a:solidFill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68580" tIns="34290" rIns="68580" bIns="3429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6858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de-DE" sz="1200" b="0" i="0" u="none" strike="noStrike" kern="0" cap="none" spc="0" normalizeH="0" baseline="0" noProof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505" name="Crowdsourcing2">
                <a:extLst>
                  <a:ext uri="{FF2B5EF4-FFF2-40B4-BE49-F238E27FC236}">
                    <a16:creationId xmlns:a16="http://schemas.microsoft.com/office/drawing/2014/main" id="{E58AC0A0-3AB6-419F-B102-68C8F1416A25}"/>
                  </a:ext>
                </a:extLst>
              </p:cNvPr>
              <p:cNvSpPr>
                <a:spLocks/>
              </p:cNvSpPr>
              <p:nvPr>
                <p:custDataLst>
                  <p:tags r:id="rId50"/>
                </p:custDataLst>
              </p:nvPr>
            </p:nvSpPr>
            <p:spPr bwMode="auto">
              <a:xfrm>
                <a:off x="385763" y="3386137"/>
                <a:ext cx="105371" cy="33932"/>
              </a:xfrm>
              <a:custGeom>
                <a:avLst/>
                <a:gdLst>
                  <a:gd name="T0" fmla="*/ 131 w 157"/>
                  <a:gd name="T1" fmla="*/ 52 h 52"/>
                  <a:gd name="T2" fmla="*/ 26 w 157"/>
                  <a:gd name="T3" fmla="*/ 52 h 52"/>
                  <a:gd name="T4" fmla="*/ 0 w 157"/>
                  <a:gd name="T5" fmla="*/ 26 h 52"/>
                  <a:gd name="T6" fmla="*/ 26 w 157"/>
                  <a:gd name="T7" fmla="*/ 0 h 52"/>
                  <a:gd name="T8" fmla="*/ 131 w 157"/>
                  <a:gd name="T9" fmla="*/ 0 h 52"/>
                  <a:gd name="T10" fmla="*/ 157 w 157"/>
                  <a:gd name="T11" fmla="*/ 26 h 52"/>
                  <a:gd name="T12" fmla="*/ 131 w 157"/>
                  <a:gd name="T13" fmla="*/ 52 h 5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57" h="52">
                    <a:moveTo>
                      <a:pt x="131" y="52"/>
                    </a:moveTo>
                    <a:lnTo>
                      <a:pt x="26" y="52"/>
                    </a:lnTo>
                    <a:cubicBezTo>
                      <a:pt x="12" y="52"/>
                      <a:pt x="0" y="40"/>
                      <a:pt x="0" y="26"/>
                    </a:cubicBezTo>
                    <a:cubicBezTo>
                      <a:pt x="0" y="11"/>
                      <a:pt x="12" y="0"/>
                      <a:pt x="26" y="0"/>
                    </a:cubicBezTo>
                    <a:lnTo>
                      <a:pt x="131" y="0"/>
                    </a:lnTo>
                    <a:cubicBezTo>
                      <a:pt x="145" y="0"/>
                      <a:pt x="157" y="11"/>
                      <a:pt x="157" y="26"/>
                    </a:cubicBezTo>
                    <a:cubicBezTo>
                      <a:pt x="157" y="40"/>
                      <a:pt x="145" y="52"/>
                      <a:pt x="131" y="52"/>
                    </a:cubicBezTo>
                    <a:close/>
                  </a:path>
                </a:pathLst>
              </a:custGeom>
              <a:solidFill>
                <a:srgbClr val="FFFFFF"/>
              </a:solidFill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68580" tIns="34290" rIns="68580" bIns="3429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6858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de-DE" sz="1200" b="0" i="0" u="none" strike="noStrike" kern="0" cap="none" spc="0" normalizeH="0" baseline="0" noProof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506" name="Crowdsourcing2">
                <a:extLst>
                  <a:ext uri="{FF2B5EF4-FFF2-40B4-BE49-F238E27FC236}">
                    <a16:creationId xmlns:a16="http://schemas.microsoft.com/office/drawing/2014/main" id="{D9661545-3A47-ACE1-8423-7C4FC2FF150C}"/>
                  </a:ext>
                </a:extLst>
              </p:cNvPr>
              <p:cNvSpPr>
                <a:spLocks/>
              </p:cNvSpPr>
              <p:nvPr>
                <p:custDataLst>
                  <p:tags r:id="rId51"/>
                </p:custDataLst>
              </p:nvPr>
            </p:nvSpPr>
            <p:spPr bwMode="auto">
              <a:xfrm>
                <a:off x="192882" y="3646885"/>
                <a:ext cx="105371" cy="53578"/>
              </a:xfrm>
              <a:custGeom>
                <a:avLst/>
                <a:gdLst>
                  <a:gd name="T0" fmla="*/ 130 w 156"/>
                  <a:gd name="T1" fmla="*/ 0 h 78"/>
                  <a:gd name="T2" fmla="*/ 26 w 156"/>
                  <a:gd name="T3" fmla="*/ 0 h 78"/>
                  <a:gd name="T4" fmla="*/ 0 w 156"/>
                  <a:gd name="T5" fmla="*/ 26 h 78"/>
                  <a:gd name="T6" fmla="*/ 26 w 156"/>
                  <a:gd name="T7" fmla="*/ 52 h 78"/>
                  <a:gd name="T8" fmla="*/ 39 w 156"/>
                  <a:gd name="T9" fmla="*/ 52 h 78"/>
                  <a:gd name="T10" fmla="*/ 65 w 156"/>
                  <a:gd name="T11" fmla="*/ 78 h 78"/>
                  <a:gd name="T12" fmla="*/ 91 w 156"/>
                  <a:gd name="T13" fmla="*/ 78 h 78"/>
                  <a:gd name="T14" fmla="*/ 117 w 156"/>
                  <a:gd name="T15" fmla="*/ 52 h 78"/>
                  <a:gd name="T16" fmla="*/ 130 w 156"/>
                  <a:gd name="T17" fmla="*/ 52 h 78"/>
                  <a:gd name="T18" fmla="*/ 156 w 156"/>
                  <a:gd name="T19" fmla="*/ 26 h 78"/>
                  <a:gd name="T20" fmla="*/ 130 w 156"/>
                  <a:gd name="T21" fmla="*/ 0 h 7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156" h="78">
                    <a:moveTo>
                      <a:pt x="130" y="0"/>
                    </a:moveTo>
                    <a:lnTo>
                      <a:pt x="26" y="0"/>
                    </a:lnTo>
                    <a:cubicBezTo>
                      <a:pt x="11" y="0"/>
                      <a:pt x="0" y="12"/>
                      <a:pt x="0" y="26"/>
                    </a:cubicBezTo>
                    <a:cubicBezTo>
                      <a:pt x="0" y="41"/>
                      <a:pt x="11" y="52"/>
                      <a:pt x="26" y="52"/>
                    </a:cubicBezTo>
                    <a:lnTo>
                      <a:pt x="39" y="52"/>
                    </a:lnTo>
                    <a:cubicBezTo>
                      <a:pt x="39" y="67"/>
                      <a:pt x="51" y="78"/>
                      <a:pt x="65" y="78"/>
                    </a:cubicBezTo>
                    <a:lnTo>
                      <a:pt x="91" y="78"/>
                    </a:lnTo>
                    <a:cubicBezTo>
                      <a:pt x="105" y="78"/>
                      <a:pt x="117" y="67"/>
                      <a:pt x="117" y="52"/>
                    </a:cubicBezTo>
                    <a:lnTo>
                      <a:pt x="130" y="52"/>
                    </a:lnTo>
                    <a:cubicBezTo>
                      <a:pt x="144" y="52"/>
                      <a:pt x="156" y="41"/>
                      <a:pt x="156" y="26"/>
                    </a:cubicBezTo>
                    <a:cubicBezTo>
                      <a:pt x="156" y="12"/>
                      <a:pt x="144" y="0"/>
                      <a:pt x="13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68580" tIns="34290" rIns="68580" bIns="3429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6858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de-DE" sz="1200" b="0" i="0" u="none" strike="noStrike" kern="0" cap="none" spc="0" normalizeH="0" baseline="0" noProof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507" name="Crowdsourcing2">
                <a:extLst>
                  <a:ext uri="{FF2B5EF4-FFF2-40B4-BE49-F238E27FC236}">
                    <a16:creationId xmlns:a16="http://schemas.microsoft.com/office/drawing/2014/main" id="{4EBBB7A5-3925-F605-9BFB-B53C35E97347}"/>
                  </a:ext>
                </a:extLst>
              </p:cNvPr>
              <p:cNvSpPr>
                <a:spLocks/>
              </p:cNvSpPr>
              <p:nvPr>
                <p:custDataLst>
                  <p:tags r:id="rId52"/>
                </p:custDataLst>
              </p:nvPr>
            </p:nvSpPr>
            <p:spPr bwMode="auto">
              <a:xfrm>
                <a:off x="123230" y="3280768"/>
                <a:ext cx="244674" cy="296465"/>
              </a:xfrm>
              <a:custGeom>
                <a:avLst/>
                <a:gdLst>
                  <a:gd name="T0" fmla="*/ 316 w 364"/>
                  <a:gd name="T1" fmla="*/ 306 h 443"/>
                  <a:gd name="T2" fmla="*/ 364 w 364"/>
                  <a:gd name="T3" fmla="*/ 183 h 443"/>
                  <a:gd name="T4" fmla="*/ 182 w 364"/>
                  <a:gd name="T5" fmla="*/ 0 h 443"/>
                  <a:gd name="T6" fmla="*/ 0 w 364"/>
                  <a:gd name="T7" fmla="*/ 183 h 443"/>
                  <a:gd name="T8" fmla="*/ 45 w 364"/>
                  <a:gd name="T9" fmla="*/ 302 h 443"/>
                  <a:gd name="T10" fmla="*/ 104 w 364"/>
                  <a:gd name="T11" fmla="*/ 417 h 443"/>
                  <a:gd name="T12" fmla="*/ 130 w 364"/>
                  <a:gd name="T13" fmla="*/ 443 h 443"/>
                  <a:gd name="T14" fmla="*/ 234 w 364"/>
                  <a:gd name="T15" fmla="*/ 443 h 443"/>
                  <a:gd name="T16" fmla="*/ 260 w 364"/>
                  <a:gd name="T17" fmla="*/ 417 h 443"/>
                  <a:gd name="T18" fmla="*/ 260 w 364"/>
                  <a:gd name="T19" fmla="*/ 416 h 443"/>
                  <a:gd name="T20" fmla="*/ 316 w 364"/>
                  <a:gd name="T21" fmla="*/ 306 h 44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364" h="443">
                    <a:moveTo>
                      <a:pt x="316" y="306"/>
                    </a:moveTo>
                    <a:cubicBezTo>
                      <a:pt x="346" y="273"/>
                      <a:pt x="364" y="230"/>
                      <a:pt x="364" y="183"/>
                    </a:cubicBezTo>
                    <a:cubicBezTo>
                      <a:pt x="364" y="82"/>
                      <a:pt x="283" y="0"/>
                      <a:pt x="182" y="0"/>
                    </a:cubicBezTo>
                    <a:cubicBezTo>
                      <a:pt x="81" y="0"/>
                      <a:pt x="0" y="82"/>
                      <a:pt x="0" y="183"/>
                    </a:cubicBezTo>
                    <a:cubicBezTo>
                      <a:pt x="0" y="229"/>
                      <a:pt x="17" y="270"/>
                      <a:pt x="45" y="302"/>
                    </a:cubicBezTo>
                    <a:cubicBezTo>
                      <a:pt x="57" y="316"/>
                      <a:pt x="104" y="372"/>
                      <a:pt x="104" y="417"/>
                    </a:cubicBezTo>
                    <a:cubicBezTo>
                      <a:pt x="104" y="431"/>
                      <a:pt x="115" y="443"/>
                      <a:pt x="130" y="443"/>
                    </a:cubicBezTo>
                    <a:lnTo>
                      <a:pt x="234" y="443"/>
                    </a:lnTo>
                    <a:cubicBezTo>
                      <a:pt x="248" y="443"/>
                      <a:pt x="260" y="431"/>
                      <a:pt x="260" y="417"/>
                    </a:cubicBezTo>
                    <a:lnTo>
                      <a:pt x="260" y="416"/>
                    </a:lnTo>
                    <a:cubicBezTo>
                      <a:pt x="261" y="373"/>
                      <a:pt x="301" y="323"/>
                      <a:pt x="316" y="306"/>
                    </a:cubicBezTo>
                    <a:close/>
                  </a:path>
                </a:pathLst>
              </a:custGeom>
              <a:solidFill>
                <a:srgbClr val="FFFFFF"/>
              </a:solidFill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68580" tIns="34290" rIns="68580" bIns="3429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6858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de-DE" sz="1200" b="0" i="0" u="none" strike="noStrike" kern="0" cap="none" spc="0" normalizeH="0" baseline="0" noProof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508" name="Gruppieren 507">
            <a:extLst>
              <a:ext uri="{FF2B5EF4-FFF2-40B4-BE49-F238E27FC236}">
                <a16:creationId xmlns:a16="http://schemas.microsoft.com/office/drawing/2014/main" id="{75ED0A00-BFAD-2F16-FD2D-D115BD0E5BF6}"/>
              </a:ext>
            </a:extLst>
          </p:cNvPr>
          <p:cNvGrpSpPr/>
          <p:nvPr/>
        </p:nvGrpSpPr>
        <p:grpSpPr>
          <a:xfrm>
            <a:off x="7966572" y="4042007"/>
            <a:ext cx="480669" cy="448956"/>
            <a:chOff x="1369937" y="4620184"/>
            <a:chExt cx="512470" cy="478659"/>
          </a:xfrm>
        </p:grpSpPr>
        <p:grpSp>
          <p:nvGrpSpPr>
            <p:cNvPr id="509" name="Gruppieren 508" descr="{&quot;Key&quot;:&quot;POWER_USER_SHAPE_ICON&quot;,&quot;Value&quot;:&quot;POWER_USER_SHAPE_ICON_STYLE_2&quot;}">
              <a:extLst>
                <a:ext uri="{FF2B5EF4-FFF2-40B4-BE49-F238E27FC236}">
                  <a16:creationId xmlns:a16="http://schemas.microsoft.com/office/drawing/2014/main" id="{3E3E9C16-A438-3A08-A1D9-E1A8C5B213DA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1498727" y="4620184"/>
              <a:ext cx="286310" cy="286311"/>
              <a:chOff x="-147119" y="3030535"/>
              <a:chExt cx="762000" cy="762000"/>
            </a:xfrm>
            <a:solidFill>
              <a:srgbClr val="000066"/>
            </a:solidFill>
          </p:grpSpPr>
          <p:sp>
            <p:nvSpPr>
              <p:cNvPr id="517" name="POWER_USER_SHAPE_ICON_STYLE_2">
                <a:extLst>
                  <a:ext uri="{FF2B5EF4-FFF2-40B4-BE49-F238E27FC236}">
                    <a16:creationId xmlns:a16="http://schemas.microsoft.com/office/drawing/2014/main" id="{4DDD1C7A-C91F-F108-3307-C7C6E2B1E3CB}"/>
                  </a:ext>
                </a:extLst>
              </p:cNvPr>
              <p:cNvSpPr/>
              <p:nvPr/>
            </p:nvSpPr>
            <p:spPr>
              <a:xfrm>
                <a:off x="-147119" y="3030535"/>
                <a:ext cx="762000" cy="762000"/>
              </a:xfrm>
              <a:prstGeom prst="ellipse">
                <a:avLst/>
              </a:prstGeom>
              <a:grpFill/>
              <a:ln w="12700" cap="flat" cmpd="sng" algn="ctr">
                <a:noFill/>
                <a:prstDash val="solid"/>
                <a:miter lim="800000"/>
              </a:ln>
              <a:effectLst/>
              <a:extLst>
                <a:ext uri="{91240B29-F687-4F45-9708-019B960494DF}">
                  <a14:hiddenLine xmlns:a14="http://schemas.microsoft.com/office/drawing/2010/main" w="12700" cap="flat" cmpd="sng" algn="ctr">
                    <a:solidFill>
                      <a:schemeClr val="accent1">
                        <a:shade val="50000"/>
                      </a:schemeClr>
                    </a:solidFill>
                    <a:prstDash val="solid"/>
                    <a:miter lim="800000"/>
                  </a14:hiddenLine>
                </a:ext>
              </a:extLst>
            </p:spPr>
            <p:txBody>
              <a:bodyPr rtlCol="0" anchor="ctr"/>
              <a:lstStyle/>
              <a:p>
                <a:pPr marL="0" marR="0" lvl="0" indent="0" algn="ctr" defTabSz="6858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de-DE" sz="1200" b="0" i="0" u="none" strike="noStrike" kern="0" cap="none" spc="0" normalizeH="0" baseline="0" noProof="1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518" name="Snowflake2" descr="{&quot;Key&quot;:&quot;POWER_USER_SHAPE_ICON&quot;,&quot;Value&quot;:&quot;POWER_USER_SHAPE_ICON_STYLE_1&quot;}">
                <a:extLst>
                  <a:ext uri="{FF2B5EF4-FFF2-40B4-BE49-F238E27FC236}">
                    <a16:creationId xmlns:a16="http://schemas.microsoft.com/office/drawing/2014/main" id="{5E0C051F-F3A7-407F-D364-202F5F0B618E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0" y="3157538"/>
                <a:ext cx="467762" cy="508000"/>
              </a:xfrm>
              <a:custGeom>
                <a:avLst/>
                <a:gdLst>
                  <a:gd name="T0" fmla="*/ 1278 w 1378"/>
                  <a:gd name="T1" fmla="*/ 769 h 1496"/>
                  <a:gd name="T2" fmla="*/ 852 w 1378"/>
                  <a:gd name="T3" fmla="*/ 748 h 1496"/>
                  <a:gd name="T4" fmla="*/ 1279 w 1378"/>
                  <a:gd name="T5" fmla="*/ 727 h 1496"/>
                  <a:gd name="T6" fmla="*/ 1220 w 1378"/>
                  <a:gd name="T7" fmla="*/ 535 h 1496"/>
                  <a:gd name="T8" fmla="*/ 1297 w 1378"/>
                  <a:gd name="T9" fmla="*/ 303 h 1496"/>
                  <a:gd name="T10" fmla="*/ 1139 w 1378"/>
                  <a:gd name="T11" fmla="*/ 248 h 1496"/>
                  <a:gd name="T12" fmla="*/ 1002 w 1378"/>
                  <a:gd name="T13" fmla="*/ 474 h 1496"/>
                  <a:gd name="T14" fmla="*/ 770 w 1378"/>
                  <a:gd name="T15" fmla="*/ 340 h 1496"/>
                  <a:gd name="T16" fmla="*/ 897 w 1378"/>
                  <a:gd name="T17" fmla="*/ 108 h 1496"/>
                  <a:gd name="T18" fmla="*/ 770 w 1378"/>
                  <a:gd name="T19" fmla="*/ 0 h 1496"/>
                  <a:gd name="T20" fmla="*/ 608 w 1378"/>
                  <a:gd name="T21" fmla="*/ 181 h 1496"/>
                  <a:gd name="T22" fmla="*/ 412 w 1378"/>
                  <a:gd name="T23" fmla="*/ 227 h 1496"/>
                  <a:gd name="T24" fmla="*/ 608 w 1378"/>
                  <a:gd name="T25" fmla="*/ 607 h 1496"/>
                  <a:gd name="T26" fmla="*/ 376 w 1378"/>
                  <a:gd name="T27" fmla="*/ 248 h 1496"/>
                  <a:gd name="T28" fmla="*/ 239 w 1378"/>
                  <a:gd name="T29" fmla="*/ 394 h 1496"/>
                  <a:gd name="T30" fmla="*/ 0 w 1378"/>
                  <a:gd name="T31" fmla="*/ 444 h 1496"/>
                  <a:gd name="T32" fmla="*/ 31 w 1378"/>
                  <a:gd name="T33" fmla="*/ 608 h 1496"/>
                  <a:gd name="T34" fmla="*/ 295 w 1378"/>
                  <a:gd name="T35" fmla="*/ 614 h 1496"/>
                  <a:gd name="T36" fmla="*/ 295 w 1378"/>
                  <a:gd name="T37" fmla="*/ 882 h 1496"/>
                  <a:gd name="T38" fmla="*/ 31 w 1378"/>
                  <a:gd name="T39" fmla="*/ 888 h 1496"/>
                  <a:gd name="T40" fmla="*/ 0 w 1378"/>
                  <a:gd name="T41" fmla="*/ 1052 h 1496"/>
                  <a:gd name="T42" fmla="*/ 239 w 1378"/>
                  <a:gd name="T43" fmla="*/ 1102 h 1496"/>
                  <a:gd name="T44" fmla="*/ 376 w 1378"/>
                  <a:gd name="T45" fmla="*/ 1248 h 1496"/>
                  <a:gd name="T46" fmla="*/ 608 w 1378"/>
                  <a:gd name="T47" fmla="*/ 889 h 1496"/>
                  <a:gd name="T48" fmla="*/ 412 w 1378"/>
                  <a:gd name="T49" fmla="*/ 1269 h 1496"/>
                  <a:gd name="T50" fmla="*/ 608 w 1378"/>
                  <a:gd name="T51" fmla="*/ 1315 h 1496"/>
                  <a:gd name="T52" fmla="*/ 770 w 1378"/>
                  <a:gd name="T53" fmla="*/ 1496 h 1496"/>
                  <a:gd name="T54" fmla="*/ 897 w 1378"/>
                  <a:gd name="T55" fmla="*/ 1388 h 1496"/>
                  <a:gd name="T56" fmla="*/ 770 w 1378"/>
                  <a:gd name="T57" fmla="*/ 1156 h 1496"/>
                  <a:gd name="T58" fmla="*/ 1002 w 1378"/>
                  <a:gd name="T59" fmla="*/ 1022 h 1496"/>
                  <a:gd name="T60" fmla="*/ 1139 w 1378"/>
                  <a:gd name="T61" fmla="*/ 1248 h 1496"/>
                  <a:gd name="T62" fmla="*/ 1297 w 1378"/>
                  <a:gd name="T63" fmla="*/ 1193 h 1496"/>
                  <a:gd name="T64" fmla="*/ 1220 w 1378"/>
                  <a:gd name="T65" fmla="*/ 961 h 149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</a:cxnLst>
                <a:rect l="0" t="0" r="r" b="b"/>
                <a:pathLst>
                  <a:path w="1378" h="1496">
                    <a:moveTo>
                      <a:pt x="1347" y="888"/>
                    </a:moveTo>
                    <a:lnTo>
                      <a:pt x="1278" y="769"/>
                    </a:lnTo>
                    <a:lnTo>
                      <a:pt x="1083" y="882"/>
                    </a:lnTo>
                    <a:lnTo>
                      <a:pt x="852" y="748"/>
                    </a:lnTo>
                    <a:lnTo>
                      <a:pt x="1083" y="614"/>
                    </a:lnTo>
                    <a:lnTo>
                      <a:pt x="1279" y="727"/>
                    </a:lnTo>
                    <a:lnTo>
                      <a:pt x="1347" y="608"/>
                    </a:lnTo>
                    <a:lnTo>
                      <a:pt x="1220" y="535"/>
                    </a:lnTo>
                    <a:lnTo>
                      <a:pt x="1378" y="444"/>
                    </a:lnTo>
                    <a:lnTo>
                      <a:pt x="1297" y="303"/>
                    </a:lnTo>
                    <a:lnTo>
                      <a:pt x="1139" y="394"/>
                    </a:lnTo>
                    <a:lnTo>
                      <a:pt x="1139" y="248"/>
                    </a:lnTo>
                    <a:lnTo>
                      <a:pt x="1002" y="248"/>
                    </a:lnTo>
                    <a:lnTo>
                      <a:pt x="1002" y="474"/>
                    </a:lnTo>
                    <a:lnTo>
                      <a:pt x="770" y="607"/>
                    </a:lnTo>
                    <a:lnTo>
                      <a:pt x="770" y="340"/>
                    </a:lnTo>
                    <a:lnTo>
                      <a:pt x="966" y="227"/>
                    </a:lnTo>
                    <a:lnTo>
                      <a:pt x="897" y="108"/>
                    </a:lnTo>
                    <a:lnTo>
                      <a:pt x="770" y="181"/>
                    </a:lnTo>
                    <a:lnTo>
                      <a:pt x="770" y="0"/>
                    </a:lnTo>
                    <a:lnTo>
                      <a:pt x="608" y="0"/>
                    </a:lnTo>
                    <a:lnTo>
                      <a:pt x="608" y="181"/>
                    </a:lnTo>
                    <a:lnTo>
                      <a:pt x="481" y="108"/>
                    </a:lnTo>
                    <a:lnTo>
                      <a:pt x="412" y="227"/>
                    </a:lnTo>
                    <a:lnTo>
                      <a:pt x="608" y="340"/>
                    </a:lnTo>
                    <a:lnTo>
                      <a:pt x="608" y="607"/>
                    </a:lnTo>
                    <a:lnTo>
                      <a:pt x="376" y="474"/>
                    </a:lnTo>
                    <a:lnTo>
                      <a:pt x="376" y="248"/>
                    </a:lnTo>
                    <a:lnTo>
                      <a:pt x="239" y="248"/>
                    </a:lnTo>
                    <a:lnTo>
                      <a:pt x="239" y="394"/>
                    </a:lnTo>
                    <a:lnTo>
                      <a:pt x="82" y="303"/>
                    </a:lnTo>
                    <a:lnTo>
                      <a:pt x="0" y="444"/>
                    </a:lnTo>
                    <a:lnTo>
                      <a:pt x="158" y="535"/>
                    </a:lnTo>
                    <a:lnTo>
                      <a:pt x="31" y="608"/>
                    </a:lnTo>
                    <a:lnTo>
                      <a:pt x="100" y="727"/>
                    </a:lnTo>
                    <a:lnTo>
                      <a:pt x="295" y="614"/>
                    </a:lnTo>
                    <a:lnTo>
                      <a:pt x="527" y="748"/>
                    </a:lnTo>
                    <a:lnTo>
                      <a:pt x="295" y="882"/>
                    </a:lnTo>
                    <a:lnTo>
                      <a:pt x="100" y="769"/>
                    </a:lnTo>
                    <a:lnTo>
                      <a:pt x="31" y="888"/>
                    </a:lnTo>
                    <a:lnTo>
                      <a:pt x="158" y="961"/>
                    </a:lnTo>
                    <a:lnTo>
                      <a:pt x="0" y="1052"/>
                    </a:lnTo>
                    <a:lnTo>
                      <a:pt x="82" y="1193"/>
                    </a:lnTo>
                    <a:lnTo>
                      <a:pt x="239" y="1102"/>
                    </a:lnTo>
                    <a:lnTo>
                      <a:pt x="239" y="1248"/>
                    </a:lnTo>
                    <a:lnTo>
                      <a:pt x="376" y="1248"/>
                    </a:lnTo>
                    <a:lnTo>
                      <a:pt x="376" y="1022"/>
                    </a:lnTo>
                    <a:lnTo>
                      <a:pt x="608" y="889"/>
                    </a:lnTo>
                    <a:lnTo>
                      <a:pt x="608" y="1156"/>
                    </a:lnTo>
                    <a:lnTo>
                      <a:pt x="412" y="1269"/>
                    </a:lnTo>
                    <a:lnTo>
                      <a:pt x="481" y="1388"/>
                    </a:lnTo>
                    <a:lnTo>
                      <a:pt x="608" y="1315"/>
                    </a:lnTo>
                    <a:lnTo>
                      <a:pt x="608" y="1496"/>
                    </a:lnTo>
                    <a:lnTo>
                      <a:pt x="770" y="1496"/>
                    </a:lnTo>
                    <a:lnTo>
                      <a:pt x="770" y="1315"/>
                    </a:lnTo>
                    <a:lnTo>
                      <a:pt x="897" y="1388"/>
                    </a:lnTo>
                    <a:lnTo>
                      <a:pt x="966" y="1269"/>
                    </a:lnTo>
                    <a:lnTo>
                      <a:pt x="770" y="1156"/>
                    </a:lnTo>
                    <a:lnTo>
                      <a:pt x="770" y="889"/>
                    </a:lnTo>
                    <a:lnTo>
                      <a:pt x="1002" y="1022"/>
                    </a:lnTo>
                    <a:lnTo>
                      <a:pt x="1002" y="1248"/>
                    </a:lnTo>
                    <a:lnTo>
                      <a:pt x="1139" y="1248"/>
                    </a:lnTo>
                    <a:lnTo>
                      <a:pt x="1139" y="1102"/>
                    </a:lnTo>
                    <a:lnTo>
                      <a:pt x="1297" y="1193"/>
                    </a:lnTo>
                    <a:lnTo>
                      <a:pt x="1378" y="1052"/>
                    </a:lnTo>
                    <a:lnTo>
                      <a:pt x="1220" y="961"/>
                    </a:lnTo>
                    <a:lnTo>
                      <a:pt x="1347" y="888"/>
                    </a:lnTo>
                    <a:close/>
                  </a:path>
                </a:pathLst>
              </a:custGeom>
              <a:solidFill>
                <a:sysClr val="window" lastClr="FFFFFF"/>
              </a:solidFill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68580" tIns="34290" rIns="68580" bIns="3429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6858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de-DE" sz="1200" b="0" i="0" u="none" strike="noStrike" kern="0" cap="none" spc="0" normalizeH="0" baseline="0" noProof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  <p:sp>
          <p:nvSpPr>
            <p:cNvPr id="510" name="POWER_USER_SHAPE_ICON_STYLE_2">
              <a:extLst>
                <a:ext uri="{FF2B5EF4-FFF2-40B4-BE49-F238E27FC236}">
                  <a16:creationId xmlns:a16="http://schemas.microsoft.com/office/drawing/2014/main" id="{9301E82A-2533-BE66-C0B8-C5E81C3064AC}"/>
                </a:ext>
              </a:extLst>
            </p:cNvPr>
            <p:cNvSpPr/>
            <p:nvPr/>
          </p:nvSpPr>
          <p:spPr>
            <a:xfrm>
              <a:off x="1369937" y="4810590"/>
              <a:ext cx="288254" cy="288253"/>
            </a:xfrm>
            <a:prstGeom prst="ellipse">
              <a:avLst/>
            </a:prstGeom>
            <a:solidFill>
              <a:srgbClr val="FF0000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txBody>
            <a:bodyPr rtlCol="0" anchor="ctr"/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de-DE" sz="1200" b="0" i="0" u="none" strike="noStrike" kern="0" cap="none" spc="0" normalizeH="0" baseline="0" noProof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grpSp>
          <p:nvGrpSpPr>
            <p:cNvPr id="511" name="Gruppieren 510" descr="{&quot;Key&quot;:&quot;POWER_USER_SHAPE_ICON&quot;,&quot;Value&quot;:&quot;POWER_USER_SHAPE_ICON_STYLE_2&quot;}">
              <a:extLst>
                <a:ext uri="{FF2B5EF4-FFF2-40B4-BE49-F238E27FC236}">
                  <a16:creationId xmlns:a16="http://schemas.microsoft.com/office/drawing/2014/main" id="{A07E3F10-20FF-62F5-AD3E-5EDDCC66A8F4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1612540" y="4824797"/>
              <a:ext cx="269867" cy="269868"/>
              <a:chOff x="-127001" y="2980457"/>
              <a:chExt cx="762001" cy="762003"/>
            </a:xfrm>
          </p:grpSpPr>
          <p:sp>
            <p:nvSpPr>
              <p:cNvPr id="512" name="POWER_USER_SHAPE_ICON_STYLE_2">
                <a:extLst>
                  <a:ext uri="{FF2B5EF4-FFF2-40B4-BE49-F238E27FC236}">
                    <a16:creationId xmlns:a16="http://schemas.microsoft.com/office/drawing/2014/main" id="{8FE51B77-2339-22C4-6A5C-D98D5A8DBE51}"/>
                  </a:ext>
                </a:extLst>
              </p:cNvPr>
              <p:cNvSpPr/>
              <p:nvPr/>
            </p:nvSpPr>
            <p:spPr>
              <a:xfrm>
                <a:off x="-127001" y="2980457"/>
                <a:ext cx="762001" cy="762003"/>
              </a:xfrm>
              <a:prstGeom prst="ellipse">
                <a:avLst/>
              </a:prstGeom>
              <a:solidFill>
                <a:srgbClr val="FF9966"/>
              </a:solidFill>
              <a:ln w="12700" cap="flat" cmpd="sng" algn="ctr">
                <a:noFill/>
                <a:prstDash val="solid"/>
                <a:miter lim="800000"/>
              </a:ln>
              <a:effectLst/>
              <a:extLst>
                <a:ext uri="{91240B29-F687-4F45-9708-019B960494DF}">
                  <a14:hiddenLine xmlns:a14="http://schemas.microsoft.com/office/drawing/2010/main" w="12700" cap="flat" cmpd="sng" algn="ctr">
                    <a:solidFill>
                      <a:schemeClr val="accent1">
                        <a:shade val="50000"/>
                      </a:schemeClr>
                    </a:solidFill>
                    <a:prstDash val="solid"/>
                  </a14:hiddenLine>
                </a:ext>
              </a:extLst>
            </p:spPr>
            <p:txBody>
              <a:bodyPr rtlCol="0" anchor="ctr"/>
              <a:lstStyle/>
              <a:p>
                <a:pPr marL="0" marR="0" lvl="0" indent="0" algn="ctr" defTabSz="6858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de-DE" sz="1200" b="0" i="0" u="none" strike="noStrike" kern="0" cap="none" spc="0" normalizeH="0" baseline="0" noProof="1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grpSp>
            <p:nvGrpSpPr>
              <p:cNvPr id="513" name="Gruppieren 512">
                <a:extLst>
                  <a:ext uri="{FF2B5EF4-FFF2-40B4-BE49-F238E27FC236}">
                    <a16:creationId xmlns:a16="http://schemas.microsoft.com/office/drawing/2014/main" id="{019F20E1-05D4-51EB-C796-1F239CC91D6A}"/>
                  </a:ext>
                </a:extLst>
              </p:cNvPr>
              <p:cNvGrpSpPr>
                <a:grpSpLocks noChangeAspect="1"/>
              </p:cNvGrpSpPr>
              <p:nvPr/>
            </p:nvGrpSpPr>
            <p:grpSpPr>
              <a:xfrm>
                <a:off x="0" y="3157538"/>
                <a:ext cx="508000" cy="407826"/>
                <a:chOff x="0" y="3157538"/>
                <a:chExt cx="676283" cy="542925"/>
              </a:xfrm>
            </p:grpSpPr>
            <p:sp>
              <p:nvSpPr>
                <p:cNvPr id="514" name="Freeform 284">
                  <a:extLst>
                    <a:ext uri="{FF2B5EF4-FFF2-40B4-BE49-F238E27FC236}">
                      <a16:creationId xmlns:a16="http://schemas.microsoft.com/office/drawing/2014/main" id="{5D35EF9F-7C1A-A145-8F94-94616978D6F5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92288" y="3286273"/>
                  <a:ext cx="283995" cy="414190"/>
                </a:xfrm>
                <a:custGeom>
                  <a:avLst/>
                  <a:gdLst>
                    <a:gd name="T0" fmla="*/ 128 w 294"/>
                    <a:gd name="T1" fmla="*/ 145 h 428"/>
                    <a:gd name="T2" fmla="*/ 0 w 294"/>
                    <a:gd name="T3" fmla="*/ 320 h 428"/>
                    <a:gd name="T4" fmla="*/ 144 w 294"/>
                    <a:gd name="T5" fmla="*/ 428 h 428"/>
                    <a:gd name="T6" fmla="*/ 294 w 294"/>
                    <a:gd name="T7" fmla="*/ 278 h 428"/>
                    <a:gd name="T8" fmla="*/ 144 w 294"/>
                    <a:gd name="T9" fmla="*/ 0 h 428"/>
                    <a:gd name="T10" fmla="*/ 107 w 294"/>
                    <a:gd name="T11" fmla="*/ 37 h 428"/>
                    <a:gd name="T12" fmla="*/ 128 w 294"/>
                    <a:gd name="T13" fmla="*/ 145 h 42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294" h="428">
                      <a:moveTo>
                        <a:pt x="128" y="145"/>
                      </a:moveTo>
                      <a:cubicBezTo>
                        <a:pt x="128" y="227"/>
                        <a:pt x="74" y="296"/>
                        <a:pt x="0" y="320"/>
                      </a:cubicBezTo>
                      <a:cubicBezTo>
                        <a:pt x="18" y="382"/>
                        <a:pt x="76" y="428"/>
                        <a:pt x="144" y="428"/>
                      </a:cubicBezTo>
                      <a:cubicBezTo>
                        <a:pt x="227" y="428"/>
                        <a:pt x="294" y="361"/>
                        <a:pt x="294" y="278"/>
                      </a:cubicBezTo>
                      <a:cubicBezTo>
                        <a:pt x="294" y="145"/>
                        <a:pt x="180" y="32"/>
                        <a:pt x="144" y="0"/>
                      </a:cubicBezTo>
                      <a:cubicBezTo>
                        <a:pt x="136" y="8"/>
                        <a:pt x="122" y="21"/>
                        <a:pt x="107" y="37"/>
                      </a:cubicBezTo>
                      <a:cubicBezTo>
                        <a:pt x="120" y="71"/>
                        <a:pt x="128" y="107"/>
                        <a:pt x="128" y="145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 vert="horz" wrap="square" lIns="68580" tIns="34290" rIns="68580" bIns="3429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6858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de-DE" sz="1200" b="0" i="0" u="none" strike="noStrike" kern="0" cap="none" spc="0" normalizeH="0" baseline="0" noProof="1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515" name="Freeform 285">
                  <a:extLst>
                    <a:ext uri="{FF2B5EF4-FFF2-40B4-BE49-F238E27FC236}">
                      <a16:creationId xmlns:a16="http://schemas.microsoft.com/office/drawing/2014/main" id="{E37CCC85-FE2C-4A0A-6412-E3DC4E7AC51B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19506" y="3157538"/>
                  <a:ext cx="263553" cy="414190"/>
                </a:xfrm>
                <a:custGeom>
                  <a:avLst/>
                  <a:gdLst>
                    <a:gd name="T0" fmla="*/ 107 w 273"/>
                    <a:gd name="T1" fmla="*/ 411 h 428"/>
                    <a:gd name="T2" fmla="*/ 106 w 273"/>
                    <a:gd name="T3" fmla="*/ 427 h 428"/>
                    <a:gd name="T4" fmla="*/ 123 w 273"/>
                    <a:gd name="T5" fmla="*/ 428 h 428"/>
                    <a:gd name="T6" fmla="*/ 273 w 273"/>
                    <a:gd name="T7" fmla="*/ 278 h 428"/>
                    <a:gd name="T8" fmla="*/ 123 w 273"/>
                    <a:gd name="T9" fmla="*/ 0 h 428"/>
                    <a:gd name="T10" fmla="*/ 0 w 273"/>
                    <a:gd name="T11" fmla="*/ 164 h 428"/>
                    <a:gd name="T12" fmla="*/ 107 w 273"/>
                    <a:gd name="T13" fmla="*/ 411 h 42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273" h="428">
                      <a:moveTo>
                        <a:pt x="107" y="411"/>
                      </a:moveTo>
                      <a:cubicBezTo>
                        <a:pt x="107" y="417"/>
                        <a:pt x="106" y="422"/>
                        <a:pt x="106" y="427"/>
                      </a:cubicBezTo>
                      <a:cubicBezTo>
                        <a:pt x="112" y="428"/>
                        <a:pt x="117" y="428"/>
                        <a:pt x="123" y="428"/>
                      </a:cubicBezTo>
                      <a:cubicBezTo>
                        <a:pt x="206" y="428"/>
                        <a:pt x="273" y="361"/>
                        <a:pt x="273" y="278"/>
                      </a:cubicBezTo>
                      <a:cubicBezTo>
                        <a:pt x="273" y="145"/>
                        <a:pt x="159" y="32"/>
                        <a:pt x="123" y="0"/>
                      </a:cubicBezTo>
                      <a:cubicBezTo>
                        <a:pt x="99" y="22"/>
                        <a:pt x="36" y="84"/>
                        <a:pt x="0" y="164"/>
                      </a:cubicBezTo>
                      <a:cubicBezTo>
                        <a:pt x="49" y="220"/>
                        <a:pt x="107" y="309"/>
                        <a:pt x="107" y="411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 vert="horz" wrap="square" lIns="68580" tIns="34290" rIns="68580" bIns="3429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6858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de-DE" sz="1200" b="0" i="0" u="none" strike="noStrike" kern="0" cap="none" spc="0" normalizeH="0" baseline="0" noProof="1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516" name="Freeform 286">
                  <a:extLst>
                    <a:ext uri="{FF2B5EF4-FFF2-40B4-BE49-F238E27FC236}">
                      <a16:creationId xmlns:a16="http://schemas.microsoft.com/office/drawing/2014/main" id="{8C20D781-396E-0FF7-CF3F-7FD3651F2549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0" y="3286273"/>
                  <a:ext cx="289836" cy="414190"/>
                </a:xfrm>
                <a:custGeom>
                  <a:avLst/>
                  <a:gdLst>
                    <a:gd name="T0" fmla="*/ 150 w 300"/>
                    <a:gd name="T1" fmla="*/ 428 h 428"/>
                    <a:gd name="T2" fmla="*/ 300 w 300"/>
                    <a:gd name="T3" fmla="*/ 278 h 428"/>
                    <a:gd name="T4" fmla="*/ 150 w 300"/>
                    <a:gd name="T5" fmla="*/ 0 h 428"/>
                    <a:gd name="T6" fmla="*/ 0 w 300"/>
                    <a:gd name="T7" fmla="*/ 278 h 428"/>
                    <a:gd name="T8" fmla="*/ 150 w 300"/>
                    <a:gd name="T9" fmla="*/ 428 h 42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00" h="428">
                      <a:moveTo>
                        <a:pt x="150" y="428"/>
                      </a:moveTo>
                      <a:cubicBezTo>
                        <a:pt x="233" y="428"/>
                        <a:pt x="300" y="361"/>
                        <a:pt x="300" y="278"/>
                      </a:cubicBezTo>
                      <a:cubicBezTo>
                        <a:pt x="300" y="145"/>
                        <a:pt x="186" y="32"/>
                        <a:pt x="150" y="0"/>
                      </a:cubicBezTo>
                      <a:cubicBezTo>
                        <a:pt x="115" y="32"/>
                        <a:pt x="0" y="145"/>
                        <a:pt x="0" y="278"/>
                      </a:cubicBezTo>
                      <a:cubicBezTo>
                        <a:pt x="0" y="361"/>
                        <a:pt x="68" y="428"/>
                        <a:pt x="150" y="428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 vert="horz" wrap="square" lIns="68580" tIns="34290" rIns="68580" bIns="3429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6858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de-DE" sz="1200" b="0" i="0" u="none" strike="noStrike" kern="0" cap="none" spc="0" normalizeH="0" baseline="0" noProof="1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</p:grpSp>
      </p:grpSp>
      <p:grpSp>
        <p:nvGrpSpPr>
          <p:cNvPr id="519" name="Gruppieren 518" descr="{&quot;Key&quot;:&quot;POWER_USER_SHAPE_ICON&quot;,&quot;Value&quot;:&quot;POWER_USER_SHAPE_ICON_STYLE_2&quot;}">
            <a:extLst>
              <a:ext uri="{FF2B5EF4-FFF2-40B4-BE49-F238E27FC236}">
                <a16:creationId xmlns:a16="http://schemas.microsoft.com/office/drawing/2014/main" id="{8E89FC68-8D17-CBC0-E7AE-14B2E8C0F8EA}"/>
              </a:ext>
            </a:extLst>
          </p:cNvPr>
          <p:cNvGrpSpPr>
            <a:grpSpLocks noChangeAspect="1"/>
          </p:cNvGrpSpPr>
          <p:nvPr/>
        </p:nvGrpSpPr>
        <p:grpSpPr>
          <a:xfrm>
            <a:off x="8634797" y="3294921"/>
            <a:ext cx="332846" cy="332846"/>
            <a:chOff x="6103281" y="1370067"/>
            <a:chExt cx="762000" cy="762000"/>
          </a:xfrm>
        </p:grpSpPr>
        <p:sp>
          <p:nvSpPr>
            <p:cNvPr id="520" name="POWER_USER_SHAPE_ICON_STYLE_2">
              <a:extLst>
                <a:ext uri="{FF2B5EF4-FFF2-40B4-BE49-F238E27FC236}">
                  <a16:creationId xmlns:a16="http://schemas.microsoft.com/office/drawing/2014/main" id="{57181F64-13FD-A1F2-5ABB-D6A66B50AB11}"/>
                </a:ext>
              </a:extLst>
            </p:cNvPr>
            <p:cNvSpPr/>
            <p:nvPr/>
          </p:nvSpPr>
          <p:spPr>
            <a:xfrm>
              <a:off x="6103281" y="1370067"/>
              <a:ext cx="762000" cy="762000"/>
            </a:xfrm>
            <a:prstGeom prst="ellipse">
              <a:avLst/>
            </a:prstGeom>
            <a:solidFill>
              <a:srgbClr val="00B050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txBody>
            <a:bodyPr rtlCol="0" anchor="ctr"/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de-DE" sz="1200" b="0" i="0" u="none" strike="noStrike" kern="0" cap="none" spc="0" normalizeH="0" baseline="0" noProof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21" name="Solar_panel2" descr="{&quot;Key&quot;:&quot;POWER_USER_SHAPE_ICON&quot;,&quot;Value&quot;:&quot;POWER_USER_SHAPE_ICON_STYLE_1&quot;}">
              <a:extLst>
                <a:ext uri="{FF2B5EF4-FFF2-40B4-BE49-F238E27FC236}">
                  <a16:creationId xmlns:a16="http://schemas.microsoft.com/office/drawing/2014/main" id="{4B430C1C-E3F5-B84E-5F0B-C6A3E3CBE394}"/>
                </a:ext>
              </a:extLst>
            </p:cNvPr>
            <p:cNvSpPr>
              <a:spLocks noChangeAspect="1" noEditPoints="1"/>
            </p:cNvSpPr>
            <p:nvPr>
              <p:custDataLst>
                <p:tags r:id="rId44"/>
              </p:custDataLst>
            </p:nvPr>
          </p:nvSpPr>
          <p:spPr bwMode="auto">
            <a:xfrm>
              <a:off x="6230281" y="1509627"/>
              <a:ext cx="508000" cy="482879"/>
            </a:xfrm>
            <a:custGeom>
              <a:avLst/>
              <a:gdLst>
                <a:gd name="T0" fmla="*/ 399 w 759"/>
                <a:gd name="T1" fmla="*/ 481 h 721"/>
                <a:gd name="T2" fmla="*/ 367 w 759"/>
                <a:gd name="T3" fmla="*/ 433 h 721"/>
                <a:gd name="T4" fmla="*/ 447 w 759"/>
                <a:gd name="T5" fmla="*/ 397 h 721"/>
                <a:gd name="T6" fmla="*/ 415 w 759"/>
                <a:gd name="T7" fmla="*/ 349 h 721"/>
                <a:gd name="T8" fmla="*/ 447 w 759"/>
                <a:gd name="T9" fmla="*/ 397 h 721"/>
                <a:gd name="T10" fmla="*/ 287 w 759"/>
                <a:gd name="T11" fmla="*/ 397 h 721"/>
                <a:gd name="T12" fmla="*/ 375 w 759"/>
                <a:gd name="T13" fmla="*/ 349 h 721"/>
                <a:gd name="T14" fmla="*/ 267 w 759"/>
                <a:gd name="T15" fmla="*/ 433 h 721"/>
                <a:gd name="T16" fmla="*/ 298 w 759"/>
                <a:gd name="T17" fmla="*/ 481 h 721"/>
                <a:gd name="T18" fmla="*/ 267 w 759"/>
                <a:gd name="T19" fmla="*/ 433 h 721"/>
                <a:gd name="T20" fmla="*/ 499 w 759"/>
                <a:gd name="T21" fmla="*/ 481 h 721"/>
                <a:gd name="T22" fmla="*/ 467 w 759"/>
                <a:gd name="T23" fmla="*/ 433 h 721"/>
                <a:gd name="T24" fmla="*/ 547 w 759"/>
                <a:gd name="T25" fmla="*/ 397 h 721"/>
                <a:gd name="T26" fmla="*/ 516 w 759"/>
                <a:gd name="T27" fmla="*/ 349 h 721"/>
                <a:gd name="T28" fmla="*/ 547 w 759"/>
                <a:gd name="T29" fmla="*/ 397 h 721"/>
                <a:gd name="T30" fmla="*/ 624 w 759"/>
                <a:gd name="T31" fmla="*/ 265 h 721"/>
                <a:gd name="T32" fmla="*/ 536 w 759"/>
                <a:gd name="T33" fmla="*/ 314 h 721"/>
                <a:gd name="T34" fmla="*/ 495 w 759"/>
                <a:gd name="T35" fmla="*/ 314 h 721"/>
                <a:gd name="T36" fmla="*/ 464 w 759"/>
                <a:gd name="T37" fmla="*/ 265 h 721"/>
                <a:gd name="T38" fmla="*/ 495 w 759"/>
                <a:gd name="T39" fmla="*/ 314 h 721"/>
                <a:gd name="T40" fmla="*/ 336 w 759"/>
                <a:gd name="T41" fmla="*/ 314 h 721"/>
                <a:gd name="T42" fmla="*/ 423 w 759"/>
                <a:gd name="T43" fmla="*/ 265 h 721"/>
                <a:gd name="T44" fmla="*/ 246 w 759"/>
                <a:gd name="T45" fmla="*/ 397 h 721"/>
                <a:gd name="T46" fmla="*/ 215 w 759"/>
                <a:gd name="T47" fmla="*/ 349 h 721"/>
                <a:gd name="T48" fmla="*/ 246 w 759"/>
                <a:gd name="T49" fmla="*/ 397 h 721"/>
                <a:gd name="T50" fmla="*/ 198 w 759"/>
                <a:gd name="T51" fmla="*/ 481 h 721"/>
                <a:gd name="T52" fmla="*/ 166 w 759"/>
                <a:gd name="T53" fmla="*/ 433 h 721"/>
                <a:gd name="T54" fmla="*/ 295 w 759"/>
                <a:gd name="T55" fmla="*/ 314 h 721"/>
                <a:gd name="T56" fmla="*/ 263 w 759"/>
                <a:gd name="T57" fmla="*/ 265 h 721"/>
                <a:gd name="T58" fmla="*/ 295 w 759"/>
                <a:gd name="T59" fmla="*/ 314 h 721"/>
                <a:gd name="T60" fmla="*/ 241 w 759"/>
                <a:gd name="T61" fmla="*/ 227 h 721"/>
                <a:gd name="T62" fmla="*/ 521 w 759"/>
                <a:gd name="T63" fmla="*/ 519 h 721"/>
                <a:gd name="T64" fmla="*/ 228 w 759"/>
                <a:gd name="T65" fmla="*/ 180 h 721"/>
                <a:gd name="T66" fmla="*/ 228 w 759"/>
                <a:gd name="T67" fmla="*/ 104 h 721"/>
                <a:gd name="T68" fmla="*/ 159 w 759"/>
                <a:gd name="T69" fmla="*/ 276 h 721"/>
                <a:gd name="T70" fmla="*/ 228 w 759"/>
                <a:gd name="T71" fmla="*/ 180 h 721"/>
                <a:gd name="T72" fmla="*/ 114 w 759"/>
                <a:gd name="T73" fmla="*/ 296 h 721"/>
                <a:gd name="T74" fmla="*/ 52 w 759"/>
                <a:gd name="T75" fmla="*/ 305 h 721"/>
                <a:gd name="T76" fmla="*/ 91 w 759"/>
                <a:gd name="T77" fmla="*/ 256 h 721"/>
                <a:gd name="T78" fmla="*/ 24 w 759"/>
                <a:gd name="T79" fmla="*/ 227 h 721"/>
                <a:gd name="T80" fmla="*/ 24 w 759"/>
                <a:gd name="T81" fmla="*/ 180 h 721"/>
                <a:gd name="T82" fmla="*/ 90 w 759"/>
                <a:gd name="T83" fmla="*/ 152 h 721"/>
                <a:gd name="T84" fmla="*/ 52 w 759"/>
                <a:gd name="T85" fmla="*/ 102 h 721"/>
                <a:gd name="T86" fmla="*/ 114 w 759"/>
                <a:gd name="T87" fmla="*/ 111 h 721"/>
                <a:gd name="T88" fmla="*/ 105 w 759"/>
                <a:gd name="T89" fmla="*/ 39 h 721"/>
                <a:gd name="T90" fmla="*/ 146 w 759"/>
                <a:gd name="T91" fmla="*/ 16 h 721"/>
                <a:gd name="T92" fmla="*/ 204 w 759"/>
                <a:gd name="T93" fmla="*/ 59 h 721"/>
                <a:gd name="T94" fmla="*/ 228 w 759"/>
                <a:gd name="T95" fmla="*/ 1 h 721"/>
                <a:gd name="T96" fmla="*/ 251 w 759"/>
                <a:gd name="T97" fmla="*/ 59 h 721"/>
                <a:gd name="T98" fmla="*/ 309 w 759"/>
                <a:gd name="T99" fmla="*/ 16 h 721"/>
                <a:gd name="T100" fmla="*/ 350 w 759"/>
                <a:gd name="T101" fmla="*/ 39 h 721"/>
                <a:gd name="T102" fmla="*/ 341 w 759"/>
                <a:gd name="T103" fmla="*/ 111 h 721"/>
                <a:gd name="T104" fmla="*/ 403 w 759"/>
                <a:gd name="T105" fmla="*/ 102 h 721"/>
                <a:gd name="T106" fmla="*/ 365 w 759"/>
                <a:gd name="T107" fmla="*/ 152 h 721"/>
                <a:gd name="T108" fmla="*/ 730 w 759"/>
                <a:gd name="T109" fmla="*/ 180 h 721"/>
                <a:gd name="T110" fmla="*/ 555 w 759"/>
                <a:gd name="T111" fmla="*/ 554 h 721"/>
                <a:gd name="T112" fmla="*/ 416 w 759"/>
                <a:gd name="T113" fmla="*/ 566 h 721"/>
                <a:gd name="T114" fmla="*/ 632 w 759"/>
                <a:gd name="T115" fmla="*/ 673 h 721"/>
                <a:gd name="T116" fmla="*/ 632 w 759"/>
                <a:gd name="T117" fmla="*/ 721 h 721"/>
                <a:gd name="T118" fmla="*/ 106 w 759"/>
                <a:gd name="T119" fmla="*/ 697 h 721"/>
                <a:gd name="T120" fmla="*/ 346 w 759"/>
                <a:gd name="T121" fmla="*/ 673 h 721"/>
                <a:gd name="T122" fmla="*/ 32 w 759"/>
                <a:gd name="T123" fmla="*/ 566 h 721"/>
                <a:gd name="T124" fmla="*/ 135 w 759"/>
                <a:gd name="T125" fmla="*/ 317 h 7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759" h="721">
                  <a:moveTo>
                    <a:pt x="339" y="481"/>
                  </a:moveTo>
                  <a:lnTo>
                    <a:pt x="399" y="481"/>
                  </a:lnTo>
                  <a:lnTo>
                    <a:pt x="427" y="433"/>
                  </a:lnTo>
                  <a:lnTo>
                    <a:pt x="367" y="433"/>
                  </a:lnTo>
                  <a:lnTo>
                    <a:pt x="339" y="481"/>
                  </a:lnTo>
                  <a:close/>
                  <a:moveTo>
                    <a:pt x="447" y="397"/>
                  </a:moveTo>
                  <a:lnTo>
                    <a:pt x="475" y="349"/>
                  </a:lnTo>
                  <a:lnTo>
                    <a:pt x="415" y="349"/>
                  </a:lnTo>
                  <a:lnTo>
                    <a:pt x="387" y="397"/>
                  </a:lnTo>
                  <a:lnTo>
                    <a:pt x="447" y="397"/>
                  </a:lnTo>
                  <a:close/>
                  <a:moveTo>
                    <a:pt x="315" y="349"/>
                  </a:moveTo>
                  <a:lnTo>
                    <a:pt x="287" y="397"/>
                  </a:lnTo>
                  <a:lnTo>
                    <a:pt x="347" y="397"/>
                  </a:lnTo>
                  <a:lnTo>
                    <a:pt x="375" y="349"/>
                  </a:lnTo>
                  <a:lnTo>
                    <a:pt x="315" y="349"/>
                  </a:lnTo>
                  <a:close/>
                  <a:moveTo>
                    <a:pt x="267" y="433"/>
                  </a:moveTo>
                  <a:lnTo>
                    <a:pt x="239" y="481"/>
                  </a:lnTo>
                  <a:lnTo>
                    <a:pt x="298" y="481"/>
                  </a:lnTo>
                  <a:lnTo>
                    <a:pt x="326" y="433"/>
                  </a:lnTo>
                  <a:lnTo>
                    <a:pt x="267" y="433"/>
                  </a:lnTo>
                  <a:close/>
                  <a:moveTo>
                    <a:pt x="439" y="481"/>
                  </a:moveTo>
                  <a:lnTo>
                    <a:pt x="499" y="481"/>
                  </a:lnTo>
                  <a:lnTo>
                    <a:pt x="527" y="433"/>
                  </a:lnTo>
                  <a:lnTo>
                    <a:pt x="467" y="433"/>
                  </a:lnTo>
                  <a:lnTo>
                    <a:pt x="439" y="481"/>
                  </a:lnTo>
                  <a:close/>
                  <a:moveTo>
                    <a:pt x="547" y="397"/>
                  </a:moveTo>
                  <a:lnTo>
                    <a:pt x="575" y="349"/>
                  </a:lnTo>
                  <a:lnTo>
                    <a:pt x="516" y="349"/>
                  </a:lnTo>
                  <a:lnTo>
                    <a:pt x="488" y="397"/>
                  </a:lnTo>
                  <a:lnTo>
                    <a:pt x="547" y="397"/>
                  </a:lnTo>
                  <a:close/>
                  <a:moveTo>
                    <a:pt x="596" y="314"/>
                  </a:moveTo>
                  <a:lnTo>
                    <a:pt x="624" y="265"/>
                  </a:lnTo>
                  <a:lnTo>
                    <a:pt x="564" y="265"/>
                  </a:lnTo>
                  <a:lnTo>
                    <a:pt x="536" y="314"/>
                  </a:lnTo>
                  <a:lnTo>
                    <a:pt x="596" y="314"/>
                  </a:lnTo>
                  <a:close/>
                  <a:moveTo>
                    <a:pt x="495" y="314"/>
                  </a:moveTo>
                  <a:lnTo>
                    <a:pt x="523" y="265"/>
                  </a:lnTo>
                  <a:lnTo>
                    <a:pt x="464" y="265"/>
                  </a:lnTo>
                  <a:lnTo>
                    <a:pt x="436" y="314"/>
                  </a:lnTo>
                  <a:lnTo>
                    <a:pt x="495" y="314"/>
                  </a:lnTo>
                  <a:close/>
                  <a:moveTo>
                    <a:pt x="363" y="265"/>
                  </a:moveTo>
                  <a:lnTo>
                    <a:pt x="336" y="314"/>
                  </a:lnTo>
                  <a:lnTo>
                    <a:pt x="395" y="314"/>
                  </a:lnTo>
                  <a:lnTo>
                    <a:pt x="423" y="265"/>
                  </a:lnTo>
                  <a:lnTo>
                    <a:pt x="363" y="265"/>
                  </a:lnTo>
                  <a:close/>
                  <a:moveTo>
                    <a:pt x="246" y="397"/>
                  </a:moveTo>
                  <a:lnTo>
                    <a:pt x="274" y="349"/>
                  </a:lnTo>
                  <a:lnTo>
                    <a:pt x="215" y="349"/>
                  </a:lnTo>
                  <a:lnTo>
                    <a:pt x="187" y="397"/>
                  </a:lnTo>
                  <a:lnTo>
                    <a:pt x="246" y="397"/>
                  </a:lnTo>
                  <a:close/>
                  <a:moveTo>
                    <a:pt x="138" y="481"/>
                  </a:moveTo>
                  <a:lnTo>
                    <a:pt x="198" y="481"/>
                  </a:lnTo>
                  <a:lnTo>
                    <a:pt x="226" y="433"/>
                  </a:lnTo>
                  <a:lnTo>
                    <a:pt x="166" y="433"/>
                  </a:lnTo>
                  <a:lnTo>
                    <a:pt x="138" y="481"/>
                  </a:lnTo>
                  <a:close/>
                  <a:moveTo>
                    <a:pt x="295" y="314"/>
                  </a:moveTo>
                  <a:lnTo>
                    <a:pt x="323" y="265"/>
                  </a:lnTo>
                  <a:lnTo>
                    <a:pt x="263" y="265"/>
                  </a:lnTo>
                  <a:lnTo>
                    <a:pt x="235" y="314"/>
                  </a:lnTo>
                  <a:lnTo>
                    <a:pt x="295" y="314"/>
                  </a:lnTo>
                  <a:close/>
                  <a:moveTo>
                    <a:pt x="689" y="227"/>
                  </a:moveTo>
                  <a:lnTo>
                    <a:pt x="241" y="227"/>
                  </a:lnTo>
                  <a:lnTo>
                    <a:pt x="73" y="519"/>
                  </a:lnTo>
                  <a:lnTo>
                    <a:pt x="521" y="519"/>
                  </a:lnTo>
                  <a:lnTo>
                    <a:pt x="689" y="227"/>
                  </a:lnTo>
                  <a:close/>
                  <a:moveTo>
                    <a:pt x="228" y="180"/>
                  </a:moveTo>
                  <a:lnTo>
                    <a:pt x="324" y="180"/>
                  </a:lnTo>
                  <a:cubicBezTo>
                    <a:pt x="313" y="136"/>
                    <a:pt x="273" y="104"/>
                    <a:pt x="228" y="104"/>
                  </a:cubicBezTo>
                  <a:cubicBezTo>
                    <a:pt x="173" y="104"/>
                    <a:pt x="128" y="149"/>
                    <a:pt x="128" y="204"/>
                  </a:cubicBezTo>
                  <a:cubicBezTo>
                    <a:pt x="128" y="231"/>
                    <a:pt x="139" y="257"/>
                    <a:pt x="159" y="276"/>
                  </a:cubicBezTo>
                  <a:lnTo>
                    <a:pt x="207" y="192"/>
                  </a:lnTo>
                  <a:cubicBezTo>
                    <a:pt x="212" y="184"/>
                    <a:pt x="220" y="180"/>
                    <a:pt x="228" y="180"/>
                  </a:cubicBezTo>
                  <a:close/>
                  <a:moveTo>
                    <a:pt x="135" y="317"/>
                  </a:moveTo>
                  <a:cubicBezTo>
                    <a:pt x="127" y="311"/>
                    <a:pt x="120" y="304"/>
                    <a:pt x="114" y="296"/>
                  </a:cubicBezTo>
                  <a:lnTo>
                    <a:pt x="84" y="314"/>
                  </a:lnTo>
                  <a:cubicBezTo>
                    <a:pt x="73" y="320"/>
                    <a:pt x="59" y="316"/>
                    <a:pt x="52" y="305"/>
                  </a:cubicBezTo>
                  <a:cubicBezTo>
                    <a:pt x="46" y="294"/>
                    <a:pt x="49" y="280"/>
                    <a:pt x="61" y="273"/>
                  </a:cubicBezTo>
                  <a:lnTo>
                    <a:pt x="91" y="256"/>
                  </a:lnTo>
                  <a:cubicBezTo>
                    <a:pt x="87" y="247"/>
                    <a:pt x="85" y="237"/>
                    <a:pt x="83" y="227"/>
                  </a:cubicBezTo>
                  <a:lnTo>
                    <a:pt x="24" y="227"/>
                  </a:lnTo>
                  <a:cubicBezTo>
                    <a:pt x="11" y="227"/>
                    <a:pt x="0" y="217"/>
                    <a:pt x="0" y="204"/>
                  </a:cubicBezTo>
                  <a:cubicBezTo>
                    <a:pt x="0" y="191"/>
                    <a:pt x="11" y="180"/>
                    <a:pt x="24" y="180"/>
                  </a:cubicBezTo>
                  <a:lnTo>
                    <a:pt x="83" y="180"/>
                  </a:lnTo>
                  <a:cubicBezTo>
                    <a:pt x="84" y="170"/>
                    <a:pt x="87" y="161"/>
                    <a:pt x="90" y="152"/>
                  </a:cubicBezTo>
                  <a:lnTo>
                    <a:pt x="61" y="135"/>
                  </a:lnTo>
                  <a:cubicBezTo>
                    <a:pt x="49" y="128"/>
                    <a:pt x="46" y="114"/>
                    <a:pt x="52" y="102"/>
                  </a:cubicBezTo>
                  <a:cubicBezTo>
                    <a:pt x="59" y="91"/>
                    <a:pt x="73" y="87"/>
                    <a:pt x="84" y="94"/>
                  </a:cubicBezTo>
                  <a:lnTo>
                    <a:pt x="114" y="111"/>
                  </a:lnTo>
                  <a:cubicBezTo>
                    <a:pt x="120" y="103"/>
                    <a:pt x="127" y="96"/>
                    <a:pt x="135" y="90"/>
                  </a:cubicBezTo>
                  <a:lnTo>
                    <a:pt x="105" y="39"/>
                  </a:lnTo>
                  <a:cubicBezTo>
                    <a:pt x="99" y="28"/>
                    <a:pt x="103" y="13"/>
                    <a:pt x="114" y="7"/>
                  </a:cubicBezTo>
                  <a:cubicBezTo>
                    <a:pt x="125" y="1"/>
                    <a:pt x="140" y="4"/>
                    <a:pt x="146" y="16"/>
                  </a:cubicBezTo>
                  <a:lnTo>
                    <a:pt x="176" y="67"/>
                  </a:lnTo>
                  <a:cubicBezTo>
                    <a:pt x="185" y="63"/>
                    <a:pt x="194" y="61"/>
                    <a:pt x="204" y="59"/>
                  </a:cubicBezTo>
                  <a:lnTo>
                    <a:pt x="204" y="25"/>
                  </a:lnTo>
                  <a:cubicBezTo>
                    <a:pt x="204" y="12"/>
                    <a:pt x="215" y="1"/>
                    <a:pt x="228" y="1"/>
                  </a:cubicBezTo>
                  <a:cubicBezTo>
                    <a:pt x="241" y="1"/>
                    <a:pt x="251" y="12"/>
                    <a:pt x="251" y="25"/>
                  </a:cubicBezTo>
                  <a:lnTo>
                    <a:pt x="251" y="59"/>
                  </a:lnTo>
                  <a:cubicBezTo>
                    <a:pt x="261" y="61"/>
                    <a:pt x="271" y="63"/>
                    <a:pt x="280" y="67"/>
                  </a:cubicBezTo>
                  <a:lnTo>
                    <a:pt x="309" y="16"/>
                  </a:lnTo>
                  <a:cubicBezTo>
                    <a:pt x="316" y="4"/>
                    <a:pt x="330" y="0"/>
                    <a:pt x="341" y="7"/>
                  </a:cubicBezTo>
                  <a:cubicBezTo>
                    <a:pt x="353" y="13"/>
                    <a:pt x="356" y="28"/>
                    <a:pt x="350" y="39"/>
                  </a:cubicBezTo>
                  <a:lnTo>
                    <a:pt x="320" y="90"/>
                  </a:lnTo>
                  <a:cubicBezTo>
                    <a:pt x="328" y="96"/>
                    <a:pt x="335" y="103"/>
                    <a:pt x="341" y="111"/>
                  </a:cubicBezTo>
                  <a:lnTo>
                    <a:pt x="371" y="94"/>
                  </a:lnTo>
                  <a:cubicBezTo>
                    <a:pt x="382" y="87"/>
                    <a:pt x="397" y="91"/>
                    <a:pt x="403" y="102"/>
                  </a:cubicBezTo>
                  <a:cubicBezTo>
                    <a:pt x="410" y="114"/>
                    <a:pt x="406" y="128"/>
                    <a:pt x="395" y="135"/>
                  </a:cubicBezTo>
                  <a:lnTo>
                    <a:pt x="365" y="152"/>
                  </a:lnTo>
                  <a:cubicBezTo>
                    <a:pt x="368" y="161"/>
                    <a:pt x="371" y="170"/>
                    <a:pt x="372" y="180"/>
                  </a:cubicBezTo>
                  <a:lnTo>
                    <a:pt x="730" y="180"/>
                  </a:lnTo>
                  <a:cubicBezTo>
                    <a:pt x="749" y="180"/>
                    <a:pt x="759" y="201"/>
                    <a:pt x="750" y="217"/>
                  </a:cubicBezTo>
                  <a:lnTo>
                    <a:pt x="555" y="554"/>
                  </a:lnTo>
                  <a:cubicBezTo>
                    <a:pt x="550" y="562"/>
                    <a:pt x="542" y="566"/>
                    <a:pt x="533" y="566"/>
                  </a:cubicBezTo>
                  <a:lnTo>
                    <a:pt x="416" y="566"/>
                  </a:lnTo>
                  <a:lnTo>
                    <a:pt x="416" y="673"/>
                  </a:lnTo>
                  <a:lnTo>
                    <a:pt x="632" y="673"/>
                  </a:lnTo>
                  <a:cubicBezTo>
                    <a:pt x="645" y="673"/>
                    <a:pt x="656" y="684"/>
                    <a:pt x="656" y="697"/>
                  </a:cubicBezTo>
                  <a:cubicBezTo>
                    <a:pt x="656" y="710"/>
                    <a:pt x="645" y="721"/>
                    <a:pt x="632" y="721"/>
                  </a:cubicBezTo>
                  <a:lnTo>
                    <a:pt x="130" y="721"/>
                  </a:lnTo>
                  <a:cubicBezTo>
                    <a:pt x="117" y="721"/>
                    <a:pt x="106" y="710"/>
                    <a:pt x="106" y="697"/>
                  </a:cubicBezTo>
                  <a:cubicBezTo>
                    <a:pt x="106" y="684"/>
                    <a:pt x="117" y="673"/>
                    <a:pt x="130" y="673"/>
                  </a:cubicBezTo>
                  <a:lnTo>
                    <a:pt x="346" y="673"/>
                  </a:lnTo>
                  <a:lnTo>
                    <a:pt x="346" y="566"/>
                  </a:lnTo>
                  <a:lnTo>
                    <a:pt x="32" y="566"/>
                  </a:lnTo>
                  <a:cubicBezTo>
                    <a:pt x="14" y="566"/>
                    <a:pt x="3" y="546"/>
                    <a:pt x="12" y="531"/>
                  </a:cubicBezTo>
                  <a:lnTo>
                    <a:pt x="135" y="317"/>
                  </a:lnTo>
                  <a:lnTo>
                    <a:pt x="135" y="317"/>
                  </a:ln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de-DE" sz="1200" b="0" i="0" u="none" strike="noStrike" kern="0" cap="none" spc="0" normalizeH="0" baseline="0" noProof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grpSp>
        <p:nvGrpSpPr>
          <p:cNvPr id="522" name="Gruppieren 521" descr="{&quot;Key&quot;:&quot;POWER_USER_SHAPE_ICON&quot;,&quot;Value&quot;:&quot;POWER_USER_SHAPE_ICON_STYLE_2&quot;}">
            <a:extLst>
              <a:ext uri="{FF2B5EF4-FFF2-40B4-BE49-F238E27FC236}">
                <a16:creationId xmlns:a16="http://schemas.microsoft.com/office/drawing/2014/main" id="{53A352FC-82DF-BCFE-1E80-8DD1D9B801A0}"/>
              </a:ext>
            </a:extLst>
          </p:cNvPr>
          <p:cNvGrpSpPr>
            <a:grpSpLocks noChangeAspect="1"/>
          </p:cNvGrpSpPr>
          <p:nvPr/>
        </p:nvGrpSpPr>
        <p:grpSpPr>
          <a:xfrm>
            <a:off x="8732409" y="4687461"/>
            <a:ext cx="365272" cy="365272"/>
            <a:chOff x="462870" y="3616571"/>
            <a:chExt cx="762001" cy="762000"/>
          </a:xfrm>
        </p:grpSpPr>
        <p:sp>
          <p:nvSpPr>
            <p:cNvPr id="523" name="POWER_USER_SHAPE_ICON_STYLE_2">
              <a:extLst>
                <a:ext uri="{FF2B5EF4-FFF2-40B4-BE49-F238E27FC236}">
                  <a16:creationId xmlns:a16="http://schemas.microsoft.com/office/drawing/2014/main" id="{03ED2270-B8EC-F9C3-2DC6-93701E592822}"/>
                </a:ext>
              </a:extLst>
            </p:cNvPr>
            <p:cNvSpPr/>
            <p:nvPr/>
          </p:nvSpPr>
          <p:spPr>
            <a:xfrm>
              <a:off x="462870" y="3616571"/>
              <a:ext cx="762001" cy="762000"/>
            </a:xfrm>
            <a:prstGeom prst="ellipse">
              <a:avLst/>
            </a:prstGeom>
            <a:solidFill>
              <a:srgbClr val="FFC000">
                <a:lumMod val="50000"/>
              </a:srgbClr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txBody>
            <a:bodyPr rtlCol="0" anchor="ctr"/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de-DE" sz="1600" b="0" i="0" u="none" strike="noStrike" kern="0" cap="none" spc="0" normalizeH="0" baseline="0" noProof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24" name="Freeform 63">
              <a:extLst>
                <a:ext uri="{FF2B5EF4-FFF2-40B4-BE49-F238E27FC236}">
                  <a16:creationId xmlns:a16="http://schemas.microsoft.com/office/drawing/2014/main" id="{0FDEF737-B35D-CF89-1801-3C999CAD106A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89873" y="3874198"/>
              <a:ext cx="508000" cy="311858"/>
            </a:xfrm>
            <a:custGeom>
              <a:avLst/>
              <a:gdLst>
                <a:gd name="T0" fmla="*/ 966 w 1289"/>
                <a:gd name="T1" fmla="*/ 420 h 792"/>
                <a:gd name="T2" fmla="*/ 951 w 1289"/>
                <a:gd name="T3" fmla="*/ 283 h 792"/>
                <a:gd name="T4" fmla="*/ 1059 w 1289"/>
                <a:gd name="T5" fmla="*/ 266 h 792"/>
                <a:gd name="T6" fmla="*/ 1170 w 1289"/>
                <a:gd name="T7" fmla="*/ 398 h 792"/>
                <a:gd name="T8" fmla="*/ 1076 w 1289"/>
                <a:gd name="T9" fmla="*/ 731 h 792"/>
                <a:gd name="T10" fmla="*/ 1076 w 1289"/>
                <a:gd name="T11" fmla="*/ 586 h 792"/>
                <a:gd name="T12" fmla="*/ 1076 w 1289"/>
                <a:gd name="T13" fmla="*/ 731 h 792"/>
                <a:gd name="T14" fmla="*/ 502 w 1289"/>
                <a:gd name="T15" fmla="*/ 492 h 792"/>
                <a:gd name="T16" fmla="*/ 64 w 1289"/>
                <a:gd name="T17" fmla="*/ 328 h 792"/>
                <a:gd name="T18" fmla="*/ 532 w 1289"/>
                <a:gd name="T19" fmla="*/ 64 h 792"/>
                <a:gd name="T20" fmla="*/ 774 w 1289"/>
                <a:gd name="T21" fmla="*/ 160 h 792"/>
                <a:gd name="T22" fmla="*/ 554 w 1289"/>
                <a:gd name="T23" fmla="*/ 731 h 792"/>
                <a:gd name="T24" fmla="*/ 554 w 1289"/>
                <a:gd name="T25" fmla="*/ 586 h 792"/>
                <a:gd name="T26" fmla="*/ 554 w 1289"/>
                <a:gd name="T27" fmla="*/ 731 h 792"/>
                <a:gd name="T28" fmla="*/ 221 w 1289"/>
                <a:gd name="T29" fmla="*/ 659 h 792"/>
                <a:gd name="T30" fmla="*/ 366 w 1289"/>
                <a:gd name="T31" fmla="*/ 659 h 792"/>
                <a:gd name="T32" fmla="*/ 1270 w 1289"/>
                <a:gd name="T33" fmla="*/ 520 h 792"/>
                <a:gd name="T34" fmla="*/ 1256 w 1289"/>
                <a:gd name="T35" fmla="*/ 442 h 792"/>
                <a:gd name="T36" fmla="*/ 1125 w 1289"/>
                <a:gd name="T37" fmla="*/ 234 h 792"/>
                <a:gd name="T38" fmla="*/ 941 w 1289"/>
                <a:gd name="T39" fmla="*/ 207 h 792"/>
                <a:gd name="T40" fmla="*/ 882 w 1289"/>
                <a:gd name="T41" fmla="*/ 124 h 792"/>
                <a:gd name="T42" fmla="*/ 824 w 1289"/>
                <a:gd name="T43" fmla="*/ 387 h 792"/>
                <a:gd name="T44" fmla="*/ 808 w 1289"/>
                <a:gd name="T45" fmla="*/ 107 h 792"/>
                <a:gd name="T46" fmla="*/ 525 w 1289"/>
                <a:gd name="T47" fmla="*/ 3 h 792"/>
                <a:gd name="T48" fmla="*/ 22 w 1289"/>
                <a:gd name="T49" fmla="*/ 110 h 792"/>
                <a:gd name="T50" fmla="*/ 32 w 1289"/>
                <a:gd name="T51" fmla="*/ 382 h 792"/>
                <a:gd name="T52" fmla="*/ 95 w 1289"/>
                <a:gd name="T53" fmla="*/ 642 h 792"/>
                <a:gd name="T54" fmla="*/ 160 w 1289"/>
                <a:gd name="T55" fmla="*/ 661 h 792"/>
                <a:gd name="T56" fmla="*/ 424 w 1289"/>
                <a:gd name="T57" fmla="*/ 690 h 792"/>
                <a:gd name="T58" fmla="*/ 687 w 1289"/>
                <a:gd name="T59" fmla="*/ 661 h 792"/>
                <a:gd name="T60" fmla="*/ 1076 w 1289"/>
                <a:gd name="T61" fmla="*/ 792 h 792"/>
                <a:gd name="T62" fmla="*/ 1270 w 1289"/>
                <a:gd name="T63" fmla="*/ 661 h 792"/>
                <a:gd name="T64" fmla="*/ 1289 w 1289"/>
                <a:gd name="T65" fmla="*/ 539 h 7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1289" h="792">
                  <a:moveTo>
                    <a:pt x="1161" y="420"/>
                  </a:moveTo>
                  <a:lnTo>
                    <a:pt x="966" y="420"/>
                  </a:lnTo>
                  <a:cubicBezTo>
                    <a:pt x="958" y="420"/>
                    <a:pt x="951" y="412"/>
                    <a:pt x="951" y="404"/>
                  </a:cubicBezTo>
                  <a:lnTo>
                    <a:pt x="951" y="283"/>
                  </a:lnTo>
                  <a:cubicBezTo>
                    <a:pt x="951" y="274"/>
                    <a:pt x="958" y="267"/>
                    <a:pt x="966" y="267"/>
                  </a:cubicBezTo>
                  <a:lnTo>
                    <a:pt x="1059" y="266"/>
                  </a:lnTo>
                  <a:cubicBezTo>
                    <a:pt x="1067" y="266"/>
                    <a:pt x="1078" y="271"/>
                    <a:pt x="1083" y="277"/>
                  </a:cubicBezTo>
                  <a:lnTo>
                    <a:pt x="1170" y="398"/>
                  </a:lnTo>
                  <a:cubicBezTo>
                    <a:pt x="1175" y="404"/>
                    <a:pt x="1169" y="420"/>
                    <a:pt x="1161" y="420"/>
                  </a:cubicBezTo>
                  <a:close/>
                  <a:moveTo>
                    <a:pt x="1076" y="731"/>
                  </a:moveTo>
                  <a:cubicBezTo>
                    <a:pt x="1036" y="731"/>
                    <a:pt x="1004" y="699"/>
                    <a:pt x="1004" y="659"/>
                  </a:cubicBezTo>
                  <a:cubicBezTo>
                    <a:pt x="1004" y="619"/>
                    <a:pt x="1036" y="586"/>
                    <a:pt x="1076" y="586"/>
                  </a:cubicBezTo>
                  <a:cubicBezTo>
                    <a:pt x="1116" y="586"/>
                    <a:pt x="1148" y="619"/>
                    <a:pt x="1148" y="659"/>
                  </a:cubicBezTo>
                  <a:cubicBezTo>
                    <a:pt x="1148" y="699"/>
                    <a:pt x="1116" y="731"/>
                    <a:pt x="1076" y="731"/>
                  </a:cubicBezTo>
                  <a:close/>
                  <a:moveTo>
                    <a:pt x="748" y="473"/>
                  </a:moveTo>
                  <a:lnTo>
                    <a:pt x="502" y="492"/>
                  </a:lnTo>
                  <a:cubicBezTo>
                    <a:pt x="496" y="492"/>
                    <a:pt x="491" y="492"/>
                    <a:pt x="490" y="492"/>
                  </a:cubicBezTo>
                  <a:lnTo>
                    <a:pt x="64" y="328"/>
                  </a:lnTo>
                  <a:lnTo>
                    <a:pt x="83" y="125"/>
                  </a:lnTo>
                  <a:lnTo>
                    <a:pt x="532" y="64"/>
                  </a:lnTo>
                  <a:cubicBezTo>
                    <a:pt x="537" y="63"/>
                    <a:pt x="543" y="65"/>
                    <a:pt x="543" y="65"/>
                  </a:cubicBezTo>
                  <a:lnTo>
                    <a:pt x="774" y="160"/>
                  </a:lnTo>
                  <a:cubicBezTo>
                    <a:pt x="774" y="192"/>
                    <a:pt x="774" y="358"/>
                    <a:pt x="748" y="473"/>
                  </a:cubicBezTo>
                  <a:close/>
                  <a:moveTo>
                    <a:pt x="554" y="731"/>
                  </a:moveTo>
                  <a:cubicBezTo>
                    <a:pt x="514" y="731"/>
                    <a:pt x="481" y="699"/>
                    <a:pt x="481" y="659"/>
                  </a:cubicBezTo>
                  <a:cubicBezTo>
                    <a:pt x="481" y="619"/>
                    <a:pt x="514" y="586"/>
                    <a:pt x="554" y="586"/>
                  </a:cubicBezTo>
                  <a:cubicBezTo>
                    <a:pt x="593" y="586"/>
                    <a:pt x="626" y="619"/>
                    <a:pt x="626" y="659"/>
                  </a:cubicBezTo>
                  <a:cubicBezTo>
                    <a:pt x="626" y="699"/>
                    <a:pt x="593" y="731"/>
                    <a:pt x="554" y="731"/>
                  </a:cubicBezTo>
                  <a:close/>
                  <a:moveTo>
                    <a:pt x="294" y="731"/>
                  </a:moveTo>
                  <a:cubicBezTo>
                    <a:pt x="254" y="731"/>
                    <a:pt x="221" y="699"/>
                    <a:pt x="221" y="659"/>
                  </a:cubicBezTo>
                  <a:cubicBezTo>
                    <a:pt x="221" y="619"/>
                    <a:pt x="254" y="586"/>
                    <a:pt x="294" y="586"/>
                  </a:cubicBezTo>
                  <a:cubicBezTo>
                    <a:pt x="334" y="586"/>
                    <a:pt x="366" y="619"/>
                    <a:pt x="366" y="659"/>
                  </a:cubicBezTo>
                  <a:cubicBezTo>
                    <a:pt x="366" y="699"/>
                    <a:pt x="334" y="731"/>
                    <a:pt x="294" y="731"/>
                  </a:cubicBezTo>
                  <a:close/>
                  <a:moveTo>
                    <a:pt x="1270" y="520"/>
                  </a:moveTo>
                  <a:lnTo>
                    <a:pt x="1256" y="520"/>
                  </a:lnTo>
                  <a:lnTo>
                    <a:pt x="1256" y="442"/>
                  </a:lnTo>
                  <a:cubicBezTo>
                    <a:pt x="1256" y="422"/>
                    <a:pt x="1246" y="405"/>
                    <a:pt x="1234" y="390"/>
                  </a:cubicBezTo>
                  <a:lnTo>
                    <a:pt x="1125" y="234"/>
                  </a:lnTo>
                  <a:cubicBezTo>
                    <a:pt x="1113" y="219"/>
                    <a:pt x="1098" y="207"/>
                    <a:pt x="1080" y="207"/>
                  </a:cubicBezTo>
                  <a:lnTo>
                    <a:pt x="941" y="207"/>
                  </a:lnTo>
                  <a:lnTo>
                    <a:pt x="941" y="124"/>
                  </a:lnTo>
                  <a:lnTo>
                    <a:pt x="882" y="124"/>
                  </a:lnTo>
                  <a:lnTo>
                    <a:pt x="882" y="387"/>
                  </a:lnTo>
                  <a:lnTo>
                    <a:pt x="824" y="387"/>
                  </a:lnTo>
                  <a:cubicBezTo>
                    <a:pt x="837" y="278"/>
                    <a:pt x="835" y="168"/>
                    <a:pt x="835" y="154"/>
                  </a:cubicBezTo>
                  <a:cubicBezTo>
                    <a:pt x="836" y="135"/>
                    <a:pt x="825" y="116"/>
                    <a:pt x="808" y="107"/>
                  </a:cubicBezTo>
                  <a:lnTo>
                    <a:pt x="566" y="8"/>
                  </a:lnTo>
                  <a:cubicBezTo>
                    <a:pt x="554" y="2"/>
                    <a:pt x="538" y="0"/>
                    <a:pt x="525" y="3"/>
                  </a:cubicBezTo>
                  <a:lnTo>
                    <a:pt x="60" y="67"/>
                  </a:lnTo>
                  <a:cubicBezTo>
                    <a:pt x="40" y="71"/>
                    <a:pt x="24" y="89"/>
                    <a:pt x="22" y="110"/>
                  </a:cubicBezTo>
                  <a:lnTo>
                    <a:pt x="2" y="331"/>
                  </a:lnTo>
                  <a:cubicBezTo>
                    <a:pt x="0" y="352"/>
                    <a:pt x="12" y="373"/>
                    <a:pt x="32" y="382"/>
                  </a:cubicBezTo>
                  <a:lnTo>
                    <a:pt x="95" y="406"/>
                  </a:lnTo>
                  <a:lnTo>
                    <a:pt x="95" y="642"/>
                  </a:lnTo>
                  <a:cubicBezTo>
                    <a:pt x="95" y="652"/>
                    <a:pt x="103" y="661"/>
                    <a:pt x="113" y="661"/>
                  </a:cubicBezTo>
                  <a:lnTo>
                    <a:pt x="160" y="661"/>
                  </a:lnTo>
                  <a:cubicBezTo>
                    <a:pt x="161" y="734"/>
                    <a:pt x="221" y="792"/>
                    <a:pt x="294" y="792"/>
                  </a:cubicBezTo>
                  <a:cubicBezTo>
                    <a:pt x="357" y="792"/>
                    <a:pt x="409" y="749"/>
                    <a:pt x="424" y="690"/>
                  </a:cubicBezTo>
                  <a:cubicBezTo>
                    <a:pt x="438" y="749"/>
                    <a:pt x="491" y="792"/>
                    <a:pt x="554" y="792"/>
                  </a:cubicBezTo>
                  <a:cubicBezTo>
                    <a:pt x="627" y="792"/>
                    <a:pt x="686" y="734"/>
                    <a:pt x="687" y="661"/>
                  </a:cubicBezTo>
                  <a:lnTo>
                    <a:pt x="942" y="661"/>
                  </a:lnTo>
                  <a:cubicBezTo>
                    <a:pt x="944" y="734"/>
                    <a:pt x="1003" y="792"/>
                    <a:pt x="1076" y="792"/>
                  </a:cubicBezTo>
                  <a:cubicBezTo>
                    <a:pt x="1149" y="792"/>
                    <a:pt x="1209" y="734"/>
                    <a:pt x="1210" y="661"/>
                  </a:cubicBezTo>
                  <a:lnTo>
                    <a:pt x="1270" y="661"/>
                  </a:lnTo>
                  <a:cubicBezTo>
                    <a:pt x="1281" y="661"/>
                    <a:pt x="1289" y="652"/>
                    <a:pt x="1289" y="642"/>
                  </a:cubicBezTo>
                  <a:lnTo>
                    <a:pt x="1289" y="539"/>
                  </a:lnTo>
                  <a:cubicBezTo>
                    <a:pt x="1289" y="529"/>
                    <a:pt x="1281" y="520"/>
                    <a:pt x="1270" y="520"/>
                  </a:cubicBezTo>
                </a:path>
              </a:pathLst>
            </a:custGeom>
            <a:solidFill>
              <a:srgbClr val="FFFFFF"/>
            </a:solidFill>
            <a:ln w="9525">
              <a:noFill/>
              <a:round/>
              <a:headEnd/>
              <a:tailEnd/>
            </a:ln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de-DE" sz="1600" b="0" i="0" u="none" strike="noStrike" kern="0" cap="none" spc="0" normalizeH="0" baseline="0" noProof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grpSp>
        <p:nvGrpSpPr>
          <p:cNvPr id="525" name="Gruppieren 524" descr="{&quot;Key&quot;:&quot;POWER_USER_SHAPE_ICON&quot;,&quot;Value&quot;:&quot;POWER_USER_SHAPE_ICON_STYLE_2&quot;}">
            <a:extLst>
              <a:ext uri="{FF2B5EF4-FFF2-40B4-BE49-F238E27FC236}">
                <a16:creationId xmlns:a16="http://schemas.microsoft.com/office/drawing/2014/main" id="{A6001913-F5AD-E70D-2B24-60DBB5B177D6}"/>
              </a:ext>
            </a:extLst>
          </p:cNvPr>
          <p:cNvGrpSpPr>
            <a:grpSpLocks noChangeAspect="1"/>
          </p:cNvGrpSpPr>
          <p:nvPr/>
        </p:nvGrpSpPr>
        <p:grpSpPr>
          <a:xfrm>
            <a:off x="9021826" y="4558260"/>
            <a:ext cx="329602" cy="329602"/>
            <a:chOff x="6665358" y="1041710"/>
            <a:chExt cx="762000" cy="762000"/>
          </a:xfrm>
        </p:grpSpPr>
        <p:sp>
          <p:nvSpPr>
            <p:cNvPr id="526" name="Solar_panel2" descr="{&quot;Key&quot;:&quot;POWER_USER_SHAPE_ICON&quot;,&quot;Value&quot;:&quot;POWER_USER_SHAPE_ICON_STYLE_1&quot;}">
              <a:extLst>
                <a:ext uri="{FF2B5EF4-FFF2-40B4-BE49-F238E27FC236}">
                  <a16:creationId xmlns:a16="http://schemas.microsoft.com/office/drawing/2014/main" id="{329D0F6E-9DF3-6C99-7ADA-D5833AE8DDD0}"/>
                </a:ext>
              </a:extLst>
            </p:cNvPr>
            <p:cNvSpPr>
              <a:spLocks noChangeAspect="1" noEditPoints="1"/>
            </p:cNvSpPr>
            <p:nvPr>
              <p:custDataLst>
                <p:tags r:id="rId43"/>
              </p:custDataLst>
            </p:nvPr>
          </p:nvSpPr>
          <p:spPr bwMode="auto">
            <a:xfrm>
              <a:off x="6792354" y="1217351"/>
              <a:ext cx="508001" cy="482877"/>
            </a:xfrm>
            <a:custGeom>
              <a:avLst/>
              <a:gdLst>
                <a:gd name="T0" fmla="*/ 399 w 759"/>
                <a:gd name="T1" fmla="*/ 481 h 721"/>
                <a:gd name="T2" fmla="*/ 367 w 759"/>
                <a:gd name="T3" fmla="*/ 433 h 721"/>
                <a:gd name="T4" fmla="*/ 447 w 759"/>
                <a:gd name="T5" fmla="*/ 397 h 721"/>
                <a:gd name="T6" fmla="*/ 415 w 759"/>
                <a:gd name="T7" fmla="*/ 349 h 721"/>
                <a:gd name="T8" fmla="*/ 447 w 759"/>
                <a:gd name="T9" fmla="*/ 397 h 721"/>
                <a:gd name="T10" fmla="*/ 287 w 759"/>
                <a:gd name="T11" fmla="*/ 397 h 721"/>
                <a:gd name="T12" fmla="*/ 375 w 759"/>
                <a:gd name="T13" fmla="*/ 349 h 721"/>
                <a:gd name="T14" fmla="*/ 267 w 759"/>
                <a:gd name="T15" fmla="*/ 433 h 721"/>
                <a:gd name="T16" fmla="*/ 298 w 759"/>
                <a:gd name="T17" fmla="*/ 481 h 721"/>
                <a:gd name="T18" fmla="*/ 267 w 759"/>
                <a:gd name="T19" fmla="*/ 433 h 721"/>
                <a:gd name="T20" fmla="*/ 499 w 759"/>
                <a:gd name="T21" fmla="*/ 481 h 721"/>
                <a:gd name="T22" fmla="*/ 467 w 759"/>
                <a:gd name="T23" fmla="*/ 433 h 721"/>
                <a:gd name="T24" fmla="*/ 547 w 759"/>
                <a:gd name="T25" fmla="*/ 397 h 721"/>
                <a:gd name="T26" fmla="*/ 516 w 759"/>
                <a:gd name="T27" fmla="*/ 349 h 721"/>
                <a:gd name="T28" fmla="*/ 547 w 759"/>
                <a:gd name="T29" fmla="*/ 397 h 721"/>
                <a:gd name="T30" fmla="*/ 624 w 759"/>
                <a:gd name="T31" fmla="*/ 265 h 721"/>
                <a:gd name="T32" fmla="*/ 536 w 759"/>
                <a:gd name="T33" fmla="*/ 314 h 721"/>
                <a:gd name="T34" fmla="*/ 495 w 759"/>
                <a:gd name="T35" fmla="*/ 314 h 721"/>
                <a:gd name="T36" fmla="*/ 464 w 759"/>
                <a:gd name="T37" fmla="*/ 265 h 721"/>
                <a:gd name="T38" fmla="*/ 495 w 759"/>
                <a:gd name="T39" fmla="*/ 314 h 721"/>
                <a:gd name="T40" fmla="*/ 336 w 759"/>
                <a:gd name="T41" fmla="*/ 314 h 721"/>
                <a:gd name="T42" fmla="*/ 423 w 759"/>
                <a:gd name="T43" fmla="*/ 265 h 721"/>
                <a:gd name="T44" fmla="*/ 246 w 759"/>
                <a:gd name="T45" fmla="*/ 397 h 721"/>
                <a:gd name="T46" fmla="*/ 215 w 759"/>
                <a:gd name="T47" fmla="*/ 349 h 721"/>
                <a:gd name="T48" fmla="*/ 246 w 759"/>
                <a:gd name="T49" fmla="*/ 397 h 721"/>
                <a:gd name="T50" fmla="*/ 198 w 759"/>
                <a:gd name="T51" fmla="*/ 481 h 721"/>
                <a:gd name="T52" fmla="*/ 166 w 759"/>
                <a:gd name="T53" fmla="*/ 433 h 721"/>
                <a:gd name="T54" fmla="*/ 295 w 759"/>
                <a:gd name="T55" fmla="*/ 314 h 721"/>
                <a:gd name="T56" fmla="*/ 263 w 759"/>
                <a:gd name="T57" fmla="*/ 265 h 721"/>
                <a:gd name="T58" fmla="*/ 295 w 759"/>
                <a:gd name="T59" fmla="*/ 314 h 721"/>
                <a:gd name="T60" fmla="*/ 241 w 759"/>
                <a:gd name="T61" fmla="*/ 227 h 721"/>
                <a:gd name="T62" fmla="*/ 521 w 759"/>
                <a:gd name="T63" fmla="*/ 519 h 721"/>
                <a:gd name="T64" fmla="*/ 228 w 759"/>
                <a:gd name="T65" fmla="*/ 180 h 721"/>
                <a:gd name="T66" fmla="*/ 228 w 759"/>
                <a:gd name="T67" fmla="*/ 104 h 721"/>
                <a:gd name="T68" fmla="*/ 159 w 759"/>
                <a:gd name="T69" fmla="*/ 276 h 721"/>
                <a:gd name="T70" fmla="*/ 228 w 759"/>
                <a:gd name="T71" fmla="*/ 180 h 721"/>
                <a:gd name="T72" fmla="*/ 114 w 759"/>
                <a:gd name="T73" fmla="*/ 296 h 721"/>
                <a:gd name="T74" fmla="*/ 52 w 759"/>
                <a:gd name="T75" fmla="*/ 305 h 721"/>
                <a:gd name="T76" fmla="*/ 91 w 759"/>
                <a:gd name="T77" fmla="*/ 256 h 721"/>
                <a:gd name="T78" fmla="*/ 24 w 759"/>
                <a:gd name="T79" fmla="*/ 227 h 721"/>
                <a:gd name="T80" fmla="*/ 24 w 759"/>
                <a:gd name="T81" fmla="*/ 180 h 721"/>
                <a:gd name="T82" fmla="*/ 90 w 759"/>
                <a:gd name="T83" fmla="*/ 152 h 721"/>
                <a:gd name="T84" fmla="*/ 52 w 759"/>
                <a:gd name="T85" fmla="*/ 102 h 721"/>
                <a:gd name="T86" fmla="*/ 114 w 759"/>
                <a:gd name="T87" fmla="*/ 111 h 721"/>
                <a:gd name="T88" fmla="*/ 105 w 759"/>
                <a:gd name="T89" fmla="*/ 39 h 721"/>
                <a:gd name="T90" fmla="*/ 146 w 759"/>
                <a:gd name="T91" fmla="*/ 16 h 721"/>
                <a:gd name="T92" fmla="*/ 204 w 759"/>
                <a:gd name="T93" fmla="*/ 59 h 721"/>
                <a:gd name="T94" fmla="*/ 228 w 759"/>
                <a:gd name="T95" fmla="*/ 1 h 721"/>
                <a:gd name="T96" fmla="*/ 251 w 759"/>
                <a:gd name="T97" fmla="*/ 59 h 721"/>
                <a:gd name="T98" fmla="*/ 309 w 759"/>
                <a:gd name="T99" fmla="*/ 16 h 721"/>
                <a:gd name="T100" fmla="*/ 350 w 759"/>
                <a:gd name="T101" fmla="*/ 39 h 721"/>
                <a:gd name="T102" fmla="*/ 341 w 759"/>
                <a:gd name="T103" fmla="*/ 111 h 721"/>
                <a:gd name="T104" fmla="*/ 403 w 759"/>
                <a:gd name="T105" fmla="*/ 102 h 721"/>
                <a:gd name="T106" fmla="*/ 365 w 759"/>
                <a:gd name="T107" fmla="*/ 152 h 721"/>
                <a:gd name="T108" fmla="*/ 730 w 759"/>
                <a:gd name="T109" fmla="*/ 180 h 721"/>
                <a:gd name="T110" fmla="*/ 555 w 759"/>
                <a:gd name="T111" fmla="*/ 554 h 721"/>
                <a:gd name="T112" fmla="*/ 416 w 759"/>
                <a:gd name="T113" fmla="*/ 566 h 721"/>
                <a:gd name="T114" fmla="*/ 632 w 759"/>
                <a:gd name="T115" fmla="*/ 673 h 721"/>
                <a:gd name="T116" fmla="*/ 632 w 759"/>
                <a:gd name="T117" fmla="*/ 721 h 721"/>
                <a:gd name="T118" fmla="*/ 106 w 759"/>
                <a:gd name="T119" fmla="*/ 697 h 721"/>
                <a:gd name="T120" fmla="*/ 346 w 759"/>
                <a:gd name="T121" fmla="*/ 673 h 721"/>
                <a:gd name="T122" fmla="*/ 32 w 759"/>
                <a:gd name="T123" fmla="*/ 566 h 721"/>
                <a:gd name="T124" fmla="*/ 135 w 759"/>
                <a:gd name="T125" fmla="*/ 317 h 7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759" h="721">
                  <a:moveTo>
                    <a:pt x="339" y="481"/>
                  </a:moveTo>
                  <a:lnTo>
                    <a:pt x="399" y="481"/>
                  </a:lnTo>
                  <a:lnTo>
                    <a:pt x="427" y="433"/>
                  </a:lnTo>
                  <a:lnTo>
                    <a:pt x="367" y="433"/>
                  </a:lnTo>
                  <a:lnTo>
                    <a:pt x="339" y="481"/>
                  </a:lnTo>
                  <a:close/>
                  <a:moveTo>
                    <a:pt x="447" y="397"/>
                  </a:moveTo>
                  <a:lnTo>
                    <a:pt x="475" y="349"/>
                  </a:lnTo>
                  <a:lnTo>
                    <a:pt x="415" y="349"/>
                  </a:lnTo>
                  <a:lnTo>
                    <a:pt x="387" y="397"/>
                  </a:lnTo>
                  <a:lnTo>
                    <a:pt x="447" y="397"/>
                  </a:lnTo>
                  <a:close/>
                  <a:moveTo>
                    <a:pt x="315" y="349"/>
                  </a:moveTo>
                  <a:lnTo>
                    <a:pt x="287" y="397"/>
                  </a:lnTo>
                  <a:lnTo>
                    <a:pt x="347" y="397"/>
                  </a:lnTo>
                  <a:lnTo>
                    <a:pt x="375" y="349"/>
                  </a:lnTo>
                  <a:lnTo>
                    <a:pt x="315" y="349"/>
                  </a:lnTo>
                  <a:close/>
                  <a:moveTo>
                    <a:pt x="267" y="433"/>
                  </a:moveTo>
                  <a:lnTo>
                    <a:pt x="239" y="481"/>
                  </a:lnTo>
                  <a:lnTo>
                    <a:pt x="298" y="481"/>
                  </a:lnTo>
                  <a:lnTo>
                    <a:pt x="326" y="433"/>
                  </a:lnTo>
                  <a:lnTo>
                    <a:pt x="267" y="433"/>
                  </a:lnTo>
                  <a:close/>
                  <a:moveTo>
                    <a:pt x="439" y="481"/>
                  </a:moveTo>
                  <a:lnTo>
                    <a:pt x="499" y="481"/>
                  </a:lnTo>
                  <a:lnTo>
                    <a:pt x="527" y="433"/>
                  </a:lnTo>
                  <a:lnTo>
                    <a:pt x="467" y="433"/>
                  </a:lnTo>
                  <a:lnTo>
                    <a:pt x="439" y="481"/>
                  </a:lnTo>
                  <a:close/>
                  <a:moveTo>
                    <a:pt x="547" y="397"/>
                  </a:moveTo>
                  <a:lnTo>
                    <a:pt x="575" y="349"/>
                  </a:lnTo>
                  <a:lnTo>
                    <a:pt x="516" y="349"/>
                  </a:lnTo>
                  <a:lnTo>
                    <a:pt x="488" y="397"/>
                  </a:lnTo>
                  <a:lnTo>
                    <a:pt x="547" y="397"/>
                  </a:lnTo>
                  <a:close/>
                  <a:moveTo>
                    <a:pt x="596" y="314"/>
                  </a:moveTo>
                  <a:lnTo>
                    <a:pt x="624" y="265"/>
                  </a:lnTo>
                  <a:lnTo>
                    <a:pt x="564" y="265"/>
                  </a:lnTo>
                  <a:lnTo>
                    <a:pt x="536" y="314"/>
                  </a:lnTo>
                  <a:lnTo>
                    <a:pt x="596" y="314"/>
                  </a:lnTo>
                  <a:close/>
                  <a:moveTo>
                    <a:pt x="495" y="314"/>
                  </a:moveTo>
                  <a:lnTo>
                    <a:pt x="523" y="265"/>
                  </a:lnTo>
                  <a:lnTo>
                    <a:pt x="464" y="265"/>
                  </a:lnTo>
                  <a:lnTo>
                    <a:pt x="436" y="314"/>
                  </a:lnTo>
                  <a:lnTo>
                    <a:pt x="495" y="314"/>
                  </a:lnTo>
                  <a:close/>
                  <a:moveTo>
                    <a:pt x="363" y="265"/>
                  </a:moveTo>
                  <a:lnTo>
                    <a:pt x="336" y="314"/>
                  </a:lnTo>
                  <a:lnTo>
                    <a:pt x="395" y="314"/>
                  </a:lnTo>
                  <a:lnTo>
                    <a:pt x="423" y="265"/>
                  </a:lnTo>
                  <a:lnTo>
                    <a:pt x="363" y="265"/>
                  </a:lnTo>
                  <a:close/>
                  <a:moveTo>
                    <a:pt x="246" y="397"/>
                  </a:moveTo>
                  <a:lnTo>
                    <a:pt x="274" y="349"/>
                  </a:lnTo>
                  <a:lnTo>
                    <a:pt x="215" y="349"/>
                  </a:lnTo>
                  <a:lnTo>
                    <a:pt x="187" y="397"/>
                  </a:lnTo>
                  <a:lnTo>
                    <a:pt x="246" y="397"/>
                  </a:lnTo>
                  <a:close/>
                  <a:moveTo>
                    <a:pt x="138" y="481"/>
                  </a:moveTo>
                  <a:lnTo>
                    <a:pt x="198" y="481"/>
                  </a:lnTo>
                  <a:lnTo>
                    <a:pt x="226" y="433"/>
                  </a:lnTo>
                  <a:lnTo>
                    <a:pt x="166" y="433"/>
                  </a:lnTo>
                  <a:lnTo>
                    <a:pt x="138" y="481"/>
                  </a:lnTo>
                  <a:close/>
                  <a:moveTo>
                    <a:pt x="295" y="314"/>
                  </a:moveTo>
                  <a:lnTo>
                    <a:pt x="323" y="265"/>
                  </a:lnTo>
                  <a:lnTo>
                    <a:pt x="263" y="265"/>
                  </a:lnTo>
                  <a:lnTo>
                    <a:pt x="235" y="314"/>
                  </a:lnTo>
                  <a:lnTo>
                    <a:pt x="295" y="314"/>
                  </a:lnTo>
                  <a:close/>
                  <a:moveTo>
                    <a:pt x="689" y="227"/>
                  </a:moveTo>
                  <a:lnTo>
                    <a:pt x="241" y="227"/>
                  </a:lnTo>
                  <a:lnTo>
                    <a:pt x="73" y="519"/>
                  </a:lnTo>
                  <a:lnTo>
                    <a:pt x="521" y="519"/>
                  </a:lnTo>
                  <a:lnTo>
                    <a:pt x="689" y="227"/>
                  </a:lnTo>
                  <a:close/>
                  <a:moveTo>
                    <a:pt x="228" y="180"/>
                  </a:moveTo>
                  <a:lnTo>
                    <a:pt x="324" y="180"/>
                  </a:lnTo>
                  <a:cubicBezTo>
                    <a:pt x="313" y="136"/>
                    <a:pt x="273" y="104"/>
                    <a:pt x="228" y="104"/>
                  </a:cubicBezTo>
                  <a:cubicBezTo>
                    <a:pt x="173" y="104"/>
                    <a:pt x="128" y="149"/>
                    <a:pt x="128" y="204"/>
                  </a:cubicBezTo>
                  <a:cubicBezTo>
                    <a:pt x="128" y="231"/>
                    <a:pt x="139" y="257"/>
                    <a:pt x="159" y="276"/>
                  </a:cubicBezTo>
                  <a:lnTo>
                    <a:pt x="207" y="192"/>
                  </a:lnTo>
                  <a:cubicBezTo>
                    <a:pt x="212" y="184"/>
                    <a:pt x="220" y="180"/>
                    <a:pt x="228" y="180"/>
                  </a:cubicBezTo>
                  <a:close/>
                  <a:moveTo>
                    <a:pt x="135" y="317"/>
                  </a:moveTo>
                  <a:cubicBezTo>
                    <a:pt x="127" y="311"/>
                    <a:pt x="120" y="304"/>
                    <a:pt x="114" y="296"/>
                  </a:cubicBezTo>
                  <a:lnTo>
                    <a:pt x="84" y="314"/>
                  </a:lnTo>
                  <a:cubicBezTo>
                    <a:pt x="73" y="320"/>
                    <a:pt x="59" y="316"/>
                    <a:pt x="52" y="305"/>
                  </a:cubicBezTo>
                  <a:cubicBezTo>
                    <a:pt x="46" y="294"/>
                    <a:pt x="49" y="280"/>
                    <a:pt x="61" y="273"/>
                  </a:cubicBezTo>
                  <a:lnTo>
                    <a:pt x="91" y="256"/>
                  </a:lnTo>
                  <a:cubicBezTo>
                    <a:pt x="87" y="247"/>
                    <a:pt x="85" y="237"/>
                    <a:pt x="83" y="227"/>
                  </a:cubicBezTo>
                  <a:lnTo>
                    <a:pt x="24" y="227"/>
                  </a:lnTo>
                  <a:cubicBezTo>
                    <a:pt x="11" y="227"/>
                    <a:pt x="0" y="217"/>
                    <a:pt x="0" y="204"/>
                  </a:cubicBezTo>
                  <a:cubicBezTo>
                    <a:pt x="0" y="191"/>
                    <a:pt x="11" y="180"/>
                    <a:pt x="24" y="180"/>
                  </a:cubicBezTo>
                  <a:lnTo>
                    <a:pt x="83" y="180"/>
                  </a:lnTo>
                  <a:cubicBezTo>
                    <a:pt x="84" y="170"/>
                    <a:pt x="87" y="161"/>
                    <a:pt x="90" y="152"/>
                  </a:cubicBezTo>
                  <a:lnTo>
                    <a:pt x="61" y="135"/>
                  </a:lnTo>
                  <a:cubicBezTo>
                    <a:pt x="49" y="128"/>
                    <a:pt x="46" y="114"/>
                    <a:pt x="52" y="102"/>
                  </a:cubicBezTo>
                  <a:cubicBezTo>
                    <a:pt x="59" y="91"/>
                    <a:pt x="73" y="87"/>
                    <a:pt x="84" y="94"/>
                  </a:cubicBezTo>
                  <a:lnTo>
                    <a:pt x="114" y="111"/>
                  </a:lnTo>
                  <a:cubicBezTo>
                    <a:pt x="120" y="103"/>
                    <a:pt x="127" y="96"/>
                    <a:pt x="135" y="90"/>
                  </a:cubicBezTo>
                  <a:lnTo>
                    <a:pt x="105" y="39"/>
                  </a:lnTo>
                  <a:cubicBezTo>
                    <a:pt x="99" y="28"/>
                    <a:pt x="103" y="13"/>
                    <a:pt x="114" y="7"/>
                  </a:cubicBezTo>
                  <a:cubicBezTo>
                    <a:pt x="125" y="1"/>
                    <a:pt x="140" y="4"/>
                    <a:pt x="146" y="16"/>
                  </a:cubicBezTo>
                  <a:lnTo>
                    <a:pt x="176" y="67"/>
                  </a:lnTo>
                  <a:cubicBezTo>
                    <a:pt x="185" y="63"/>
                    <a:pt x="194" y="61"/>
                    <a:pt x="204" y="59"/>
                  </a:cubicBezTo>
                  <a:lnTo>
                    <a:pt x="204" y="25"/>
                  </a:lnTo>
                  <a:cubicBezTo>
                    <a:pt x="204" y="12"/>
                    <a:pt x="215" y="1"/>
                    <a:pt x="228" y="1"/>
                  </a:cubicBezTo>
                  <a:cubicBezTo>
                    <a:pt x="241" y="1"/>
                    <a:pt x="251" y="12"/>
                    <a:pt x="251" y="25"/>
                  </a:cubicBezTo>
                  <a:lnTo>
                    <a:pt x="251" y="59"/>
                  </a:lnTo>
                  <a:cubicBezTo>
                    <a:pt x="261" y="61"/>
                    <a:pt x="271" y="63"/>
                    <a:pt x="280" y="67"/>
                  </a:cubicBezTo>
                  <a:lnTo>
                    <a:pt x="309" y="16"/>
                  </a:lnTo>
                  <a:cubicBezTo>
                    <a:pt x="316" y="4"/>
                    <a:pt x="330" y="0"/>
                    <a:pt x="341" y="7"/>
                  </a:cubicBezTo>
                  <a:cubicBezTo>
                    <a:pt x="353" y="13"/>
                    <a:pt x="356" y="28"/>
                    <a:pt x="350" y="39"/>
                  </a:cubicBezTo>
                  <a:lnTo>
                    <a:pt x="320" y="90"/>
                  </a:lnTo>
                  <a:cubicBezTo>
                    <a:pt x="328" y="96"/>
                    <a:pt x="335" y="103"/>
                    <a:pt x="341" y="111"/>
                  </a:cubicBezTo>
                  <a:lnTo>
                    <a:pt x="371" y="94"/>
                  </a:lnTo>
                  <a:cubicBezTo>
                    <a:pt x="382" y="87"/>
                    <a:pt x="397" y="91"/>
                    <a:pt x="403" y="102"/>
                  </a:cubicBezTo>
                  <a:cubicBezTo>
                    <a:pt x="410" y="114"/>
                    <a:pt x="406" y="128"/>
                    <a:pt x="395" y="135"/>
                  </a:cubicBezTo>
                  <a:lnTo>
                    <a:pt x="365" y="152"/>
                  </a:lnTo>
                  <a:cubicBezTo>
                    <a:pt x="368" y="161"/>
                    <a:pt x="371" y="170"/>
                    <a:pt x="372" y="180"/>
                  </a:cubicBezTo>
                  <a:lnTo>
                    <a:pt x="730" y="180"/>
                  </a:lnTo>
                  <a:cubicBezTo>
                    <a:pt x="749" y="180"/>
                    <a:pt x="759" y="201"/>
                    <a:pt x="750" y="217"/>
                  </a:cubicBezTo>
                  <a:lnTo>
                    <a:pt x="555" y="554"/>
                  </a:lnTo>
                  <a:cubicBezTo>
                    <a:pt x="550" y="562"/>
                    <a:pt x="542" y="566"/>
                    <a:pt x="533" y="566"/>
                  </a:cubicBezTo>
                  <a:lnTo>
                    <a:pt x="416" y="566"/>
                  </a:lnTo>
                  <a:lnTo>
                    <a:pt x="416" y="673"/>
                  </a:lnTo>
                  <a:lnTo>
                    <a:pt x="632" y="673"/>
                  </a:lnTo>
                  <a:cubicBezTo>
                    <a:pt x="645" y="673"/>
                    <a:pt x="656" y="684"/>
                    <a:pt x="656" y="697"/>
                  </a:cubicBezTo>
                  <a:cubicBezTo>
                    <a:pt x="656" y="710"/>
                    <a:pt x="645" y="721"/>
                    <a:pt x="632" y="721"/>
                  </a:cubicBezTo>
                  <a:lnTo>
                    <a:pt x="130" y="721"/>
                  </a:lnTo>
                  <a:cubicBezTo>
                    <a:pt x="117" y="721"/>
                    <a:pt x="106" y="710"/>
                    <a:pt x="106" y="697"/>
                  </a:cubicBezTo>
                  <a:cubicBezTo>
                    <a:pt x="106" y="684"/>
                    <a:pt x="117" y="673"/>
                    <a:pt x="130" y="673"/>
                  </a:cubicBezTo>
                  <a:lnTo>
                    <a:pt x="346" y="673"/>
                  </a:lnTo>
                  <a:lnTo>
                    <a:pt x="346" y="566"/>
                  </a:lnTo>
                  <a:lnTo>
                    <a:pt x="32" y="566"/>
                  </a:lnTo>
                  <a:cubicBezTo>
                    <a:pt x="14" y="566"/>
                    <a:pt x="3" y="546"/>
                    <a:pt x="12" y="531"/>
                  </a:cubicBezTo>
                  <a:lnTo>
                    <a:pt x="135" y="317"/>
                  </a:lnTo>
                  <a:lnTo>
                    <a:pt x="135" y="317"/>
                  </a:ln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de-DE" sz="1600" b="0" i="0" u="none" strike="noStrike" kern="0" cap="none" spc="0" normalizeH="0" baseline="0" noProof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27" name="POWER_USER_SHAPE_ICON_STYLE_2">
              <a:extLst>
                <a:ext uri="{FF2B5EF4-FFF2-40B4-BE49-F238E27FC236}">
                  <a16:creationId xmlns:a16="http://schemas.microsoft.com/office/drawing/2014/main" id="{7AD9E4F0-0E84-8B4D-81E5-32FC9FDD600C}"/>
                </a:ext>
              </a:extLst>
            </p:cNvPr>
            <p:cNvSpPr/>
            <p:nvPr/>
          </p:nvSpPr>
          <p:spPr>
            <a:xfrm>
              <a:off x="6665358" y="1041710"/>
              <a:ext cx="762000" cy="762000"/>
            </a:xfrm>
            <a:prstGeom prst="ellipse">
              <a:avLst/>
            </a:prstGeom>
            <a:solidFill>
              <a:srgbClr val="7F6000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txBody>
            <a:bodyPr rtlCol="0" anchor="ctr"/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de-DE" sz="1600" b="0" i="0" u="none" strike="noStrike" kern="0" cap="none" spc="0" normalizeH="0" baseline="0" noProof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grpSp>
        <p:nvGrpSpPr>
          <p:cNvPr id="528" name="Gruppieren 527" descr="{&quot;Key&quot;:&quot;POWER_USER_SHAPE_ICON&quot;,&quot;Value&quot;:&quot;POWER_USER_SHAPE_ICON_STYLE_2&quot;}">
            <a:extLst>
              <a:ext uri="{FF2B5EF4-FFF2-40B4-BE49-F238E27FC236}">
                <a16:creationId xmlns:a16="http://schemas.microsoft.com/office/drawing/2014/main" id="{62E4AD75-ED23-60E1-2A7A-A4908492C916}"/>
              </a:ext>
            </a:extLst>
          </p:cNvPr>
          <p:cNvGrpSpPr>
            <a:grpSpLocks noChangeAspect="1"/>
          </p:cNvGrpSpPr>
          <p:nvPr/>
        </p:nvGrpSpPr>
        <p:grpSpPr>
          <a:xfrm>
            <a:off x="9162077" y="4777047"/>
            <a:ext cx="333258" cy="333258"/>
            <a:chOff x="1765816" y="2747710"/>
            <a:chExt cx="762000" cy="762000"/>
          </a:xfrm>
        </p:grpSpPr>
        <p:sp>
          <p:nvSpPr>
            <p:cNvPr id="529" name="POWER_USER_SHAPE_ICON_STYLE_2">
              <a:extLst>
                <a:ext uri="{FF2B5EF4-FFF2-40B4-BE49-F238E27FC236}">
                  <a16:creationId xmlns:a16="http://schemas.microsoft.com/office/drawing/2014/main" id="{D1CDE31D-CF27-A519-C0C5-B31B37A3A448}"/>
                </a:ext>
              </a:extLst>
            </p:cNvPr>
            <p:cNvSpPr/>
            <p:nvPr/>
          </p:nvSpPr>
          <p:spPr>
            <a:xfrm>
              <a:off x="1765816" y="2747710"/>
              <a:ext cx="762000" cy="762000"/>
            </a:xfrm>
            <a:prstGeom prst="ellipse">
              <a:avLst/>
            </a:prstGeom>
            <a:solidFill>
              <a:srgbClr val="7F6000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txBody>
            <a:bodyPr rtlCol="0" anchor="ctr"/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de-DE" sz="1600" b="0" i="0" u="none" strike="noStrike" kern="0" cap="none" spc="0" normalizeH="0" baseline="0" noProof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30" name="Gas4" descr="{&quot;Key&quot;:&quot;POWER_USER_SHAPE_ICON&quot;,&quot;Value&quot;:&quot;POWER_USER_SHAPE_ICON_STYLE_1&quot;}">
              <a:extLst>
                <a:ext uri="{FF2B5EF4-FFF2-40B4-BE49-F238E27FC236}">
                  <a16:creationId xmlns:a16="http://schemas.microsoft.com/office/drawing/2014/main" id="{7E30DDC5-7184-0A68-E3CE-14BBDD9C9DAC}"/>
                </a:ext>
              </a:extLst>
            </p:cNvPr>
            <p:cNvSpPr>
              <a:spLocks noChangeAspect="1" noEditPoints="1"/>
            </p:cNvSpPr>
            <p:nvPr>
              <p:custDataLst>
                <p:tags r:id="rId42"/>
              </p:custDataLst>
            </p:nvPr>
          </p:nvSpPr>
          <p:spPr bwMode="auto">
            <a:xfrm>
              <a:off x="1918761" y="2910392"/>
              <a:ext cx="456108" cy="507999"/>
            </a:xfrm>
            <a:custGeom>
              <a:avLst/>
              <a:gdLst>
                <a:gd name="T0" fmla="*/ 198 w 696"/>
                <a:gd name="T1" fmla="*/ 308 h 774"/>
                <a:gd name="T2" fmla="*/ 272 w 696"/>
                <a:gd name="T3" fmla="*/ 298 h 774"/>
                <a:gd name="T4" fmla="*/ 287 w 696"/>
                <a:gd name="T5" fmla="*/ 240 h 774"/>
                <a:gd name="T6" fmla="*/ 152 w 696"/>
                <a:gd name="T7" fmla="*/ 197 h 774"/>
                <a:gd name="T8" fmla="*/ 110 w 696"/>
                <a:gd name="T9" fmla="*/ 376 h 774"/>
                <a:gd name="T10" fmla="*/ 319 w 696"/>
                <a:gd name="T11" fmla="*/ 419 h 774"/>
                <a:gd name="T12" fmla="*/ 362 w 696"/>
                <a:gd name="T13" fmla="*/ 239 h 774"/>
                <a:gd name="T14" fmla="*/ 152 w 696"/>
                <a:gd name="T15" fmla="*/ 197 h 774"/>
                <a:gd name="T16" fmla="*/ 424 w 696"/>
                <a:gd name="T17" fmla="*/ 680 h 774"/>
                <a:gd name="T18" fmla="*/ 47 w 696"/>
                <a:gd name="T19" fmla="*/ 727 h 774"/>
                <a:gd name="T20" fmla="*/ 622 w 696"/>
                <a:gd name="T21" fmla="*/ 289 h 774"/>
                <a:gd name="T22" fmla="*/ 582 w 696"/>
                <a:gd name="T23" fmla="*/ 238 h 774"/>
                <a:gd name="T24" fmla="*/ 622 w 696"/>
                <a:gd name="T25" fmla="*/ 289 h 774"/>
                <a:gd name="T26" fmla="*/ 696 w 696"/>
                <a:gd name="T27" fmla="*/ 200 h 774"/>
                <a:gd name="T28" fmla="*/ 645 w 696"/>
                <a:gd name="T29" fmla="*/ 115 h 774"/>
                <a:gd name="T30" fmla="*/ 587 w 696"/>
                <a:gd name="T31" fmla="*/ 66 h 774"/>
                <a:gd name="T32" fmla="*/ 498 w 696"/>
                <a:gd name="T33" fmla="*/ 0 h 774"/>
                <a:gd name="T34" fmla="*/ 529 w 696"/>
                <a:gd name="T35" fmla="*/ 73 h 774"/>
                <a:gd name="T36" fmla="*/ 576 w 696"/>
                <a:gd name="T37" fmla="*/ 142 h 774"/>
                <a:gd name="T38" fmla="*/ 546 w 696"/>
                <a:gd name="T39" fmla="*/ 179 h 774"/>
                <a:gd name="T40" fmla="*/ 555 w 696"/>
                <a:gd name="T41" fmla="*/ 292 h 774"/>
                <a:gd name="T42" fmla="*/ 622 w 696"/>
                <a:gd name="T43" fmla="*/ 570 h 774"/>
                <a:gd name="T44" fmla="*/ 556 w 696"/>
                <a:gd name="T45" fmla="*/ 570 h 774"/>
                <a:gd name="T46" fmla="*/ 460 w 696"/>
                <a:gd name="T47" fmla="*/ 303 h 774"/>
                <a:gd name="T48" fmla="*/ 508 w 696"/>
                <a:gd name="T49" fmla="*/ 399 h 774"/>
                <a:gd name="T50" fmla="*/ 589 w 696"/>
                <a:gd name="T51" fmla="*/ 650 h 774"/>
                <a:gd name="T52" fmla="*/ 669 w 696"/>
                <a:gd name="T53" fmla="*/ 234 h 774"/>
                <a:gd name="T54" fmla="*/ 153 w 696"/>
                <a:gd name="T55" fmla="*/ 92 h 774"/>
                <a:gd name="T56" fmla="*/ 424 w 696"/>
                <a:gd name="T57" fmla="*/ 197 h 774"/>
                <a:gd name="T58" fmla="*/ 448 w 696"/>
                <a:gd name="T59" fmla="*/ 633 h 774"/>
                <a:gd name="T60" fmla="*/ 472 w 696"/>
                <a:gd name="T61" fmla="*/ 751 h 774"/>
                <a:gd name="T62" fmla="*/ 24 w 696"/>
                <a:gd name="T63" fmla="*/ 774 h 774"/>
                <a:gd name="T64" fmla="*/ 0 w 696"/>
                <a:gd name="T65" fmla="*/ 656 h 774"/>
                <a:gd name="T66" fmla="*/ 47 w 696"/>
                <a:gd name="T67" fmla="*/ 633 h 774"/>
                <a:gd name="T68" fmla="*/ 153 w 696"/>
                <a:gd name="T69" fmla="*/ 92 h 7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696" h="774">
                  <a:moveTo>
                    <a:pt x="245" y="271"/>
                  </a:moveTo>
                  <a:cubicBezTo>
                    <a:pt x="222" y="265"/>
                    <a:pt x="198" y="283"/>
                    <a:pt x="198" y="308"/>
                  </a:cubicBezTo>
                  <a:cubicBezTo>
                    <a:pt x="198" y="328"/>
                    <a:pt x="215" y="345"/>
                    <a:pt x="236" y="345"/>
                  </a:cubicBezTo>
                  <a:cubicBezTo>
                    <a:pt x="261" y="345"/>
                    <a:pt x="278" y="322"/>
                    <a:pt x="272" y="298"/>
                  </a:cubicBezTo>
                  <a:lnTo>
                    <a:pt x="303" y="256"/>
                  </a:lnTo>
                  <a:cubicBezTo>
                    <a:pt x="312" y="244"/>
                    <a:pt x="300" y="232"/>
                    <a:pt x="287" y="240"/>
                  </a:cubicBezTo>
                  <a:lnTo>
                    <a:pt x="245" y="271"/>
                  </a:lnTo>
                  <a:close/>
                  <a:moveTo>
                    <a:pt x="152" y="197"/>
                  </a:moveTo>
                  <a:cubicBezTo>
                    <a:pt x="129" y="197"/>
                    <a:pt x="110" y="216"/>
                    <a:pt x="110" y="239"/>
                  </a:cubicBezTo>
                  <a:lnTo>
                    <a:pt x="110" y="376"/>
                  </a:lnTo>
                  <a:cubicBezTo>
                    <a:pt x="110" y="400"/>
                    <a:pt x="129" y="419"/>
                    <a:pt x="152" y="419"/>
                  </a:cubicBezTo>
                  <a:lnTo>
                    <a:pt x="319" y="419"/>
                  </a:lnTo>
                  <a:cubicBezTo>
                    <a:pt x="343" y="419"/>
                    <a:pt x="362" y="400"/>
                    <a:pt x="362" y="376"/>
                  </a:cubicBezTo>
                  <a:lnTo>
                    <a:pt x="362" y="239"/>
                  </a:lnTo>
                  <a:cubicBezTo>
                    <a:pt x="362" y="216"/>
                    <a:pt x="343" y="197"/>
                    <a:pt x="319" y="197"/>
                  </a:cubicBezTo>
                  <a:lnTo>
                    <a:pt x="152" y="197"/>
                  </a:lnTo>
                  <a:close/>
                  <a:moveTo>
                    <a:pt x="424" y="727"/>
                  </a:moveTo>
                  <a:lnTo>
                    <a:pt x="424" y="680"/>
                  </a:lnTo>
                  <a:lnTo>
                    <a:pt x="47" y="680"/>
                  </a:lnTo>
                  <a:lnTo>
                    <a:pt x="47" y="727"/>
                  </a:lnTo>
                  <a:lnTo>
                    <a:pt x="424" y="727"/>
                  </a:lnTo>
                  <a:close/>
                  <a:moveTo>
                    <a:pt x="622" y="289"/>
                  </a:moveTo>
                  <a:lnTo>
                    <a:pt x="582" y="266"/>
                  </a:lnTo>
                  <a:lnTo>
                    <a:pt x="582" y="238"/>
                  </a:lnTo>
                  <a:lnTo>
                    <a:pt x="622" y="238"/>
                  </a:lnTo>
                  <a:lnTo>
                    <a:pt x="622" y="289"/>
                  </a:lnTo>
                  <a:close/>
                  <a:moveTo>
                    <a:pt x="690" y="212"/>
                  </a:moveTo>
                  <a:cubicBezTo>
                    <a:pt x="693" y="209"/>
                    <a:pt x="696" y="205"/>
                    <a:pt x="696" y="200"/>
                  </a:cubicBezTo>
                  <a:lnTo>
                    <a:pt x="696" y="166"/>
                  </a:lnTo>
                  <a:cubicBezTo>
                    <a:pt x="696" y="138"/>
                    <a:pt x="673" y="115"/>
                    <a:pt x="645" y="115"/>
                  </a:cubicBezTo>
                  <a:lnTo>
                    <a:pt x="615" y="115"/>
                  </a:lnTo>
                  <a:cubicBezTo>
                    <a:pt x="607" y="101"/>
                    <a:pt x="587" y="67"/>
                    <a:pt x="587" y="66"/>
                  </a:cubicBezTo>
                  <a:cubicBezTo>
                    <a:pt x="578" y="50"/>
                    <a:pt x="569" y="41"/>
                    <a:pt x="553" y="32"/>
                  </a:cubicBezTo>
                  <a:lnTo>
                    <a:pt x="498" y="0"/>
                  </a:lnTo>
                  <a:lnTo>
                    <a:pt x="475" y="41"/>
                  </a:lnTo>
                  <a:lnTo>
                    <a:pt x="529" y="73"/>
                  </a:lnTo>
                  <a:cubicBezTo>
                    <a:pt x="538" y="78"/>
                    <a:pt x="541" y="81"/>
                    <a:pt x="547" y="90"/>
                  </a:cubicBezTo>
                  <a:lnTo>
                    <a:pt x="576" y="142"/>
                  </a:lnTo>
                  <a:lnTo>
                    <a:pt x="552" y="166"/>
                  </a:lnTo>
                  <a:cubicBezTo>
                    <a:pt x="549" y="169"/>
                    <a:pt x="546" y="174"/>
                    <a:pt x="546" y="179"/>
                  </a:cubicBezTo>
                  <a:lnTo>
                    <a:pt x="547" y="276"/>
                  </a:lnTo>
                  <a:cubicBezTo>
                    <a:pt x="547" y="282"/>
                    <a:pt x="550" y="288"/>
                    <a:pt x="555" y="292"/>
                  </a:cubicBezTo>
                  <a:lnTo>
                    <a:pt x="622" y="330"/>
                  </a:lnTo>
                  <a:lnTo>
                    <a:pt x="622" y="570"/>
                  </a:lnTo>
                  <a:cubicBezTo>
                    <a:pt x="622" y="588"/>
                    <a:pt x="607" y="603"/>
                    <a:pt x="589" y="603"/>
                  </a:cubicBezTo>
                  <a:cubicBezTo>
                    <a:pt x="570" y="603"/>
                    <a:pt x="556" y="588"/>
                    <a:pt x="556" y="570"/>
                  </a:cubicBezTo>
                  <a:lnTo>
                    <a:pt x="556" y="399"/>
                  </a:lnTo>
                  <a:cubicBezTo>
                    <a:pt x="556" y="346"/>
                    <a:pt x="512" y="303"/>
                    <a:pt x="460" y="303"/>
                  </a:cubicBezTo>
                  <a:lnTo>
                    <a:pt x="460" y="350"/>
                  </a:lnTo>
                  <a:cubicBezTo>
                    <a:pt x="486" y="350"/>
                    <a:pt x="508" y="372"/>
                    <a:pt x="508" y="399"/>
                  </a:cubicBezTo>
                  <a:lnTo>
                    <a:pt x="508" y="570"/>
                  </a:lnTo>
                  <a:cubicBezTo>
                    <a:pt x="508" y="614"/>
                    <a:pt x="544" y="650"/>
                    <a:pt x="589" y="650"/>
                  </a:cubicBezTo>
                  <a:cubicBezTo>
                    <a:pt x="633" y="650"/>
                    <a:pt x="669" y="614"/>
                    <a:pt x="669" y="570"/>
                  </a:cubicBezTo>
                  <a:lnTo>
                    <a:pt x="669" y="234"/>
                  </a:lnTo>
                  <a:lnTo>
                    <a:pt x="690" y="212"/>
                  </a:lnTo>
                  <a:close/>
                  <a:moveTo>
                    <a:pt x="153" y="92"/>
                  </a:moveTo>
                  <a:lnTo>
                    <a:pt x="319" y="92"/>
                  </a:lnTo>
                  <a:cubicBezTo>
                    <a:pt x="379" y="92"/>
                    <a:pt x="424" y="137"/>
                    <a:pt x="424" y="197"/>
                  </a:cubicBezTo>
                  <a:lnTo>
                    <a:pt x="424" y="633"/>
                  </a:lnTo>
                  <a:lnTo>
                    <a:pt x="448" y="633"/>
                  </a:lnTo>
                  <a:cubicBezTo>
                    <a:pt x="461" y="633"/>
                    <a:pt x="472" y="643"/>
                    <a:pt x="472" y="656"/>
                  </a:cubicBezTo>
                  <a:lnTo>
                    <a:pt x="472" y="751"/>
                  </a:lnTo>
                  <a:cubicBezTo>
                    <a:pt x="472" y="764"/>
                    <a:pt x="461" y="774"/>
                    <a:pt x="448" y="774"/>
                  </a:cubicBezTo>
                  <a:lnTo>
                    <a:pt x="24" y="774"/>
                  </a:lnTo>
                  <a:cubicBezTo>
                    <a:pt x="11" y="774"/>
                    <a:pt x="0" y="764"/>
                    <a:pt x="0" y="751"/>
                  </a:cubicBezTo>
                  <a:lnTo>
                    <a:pt x="0" y="656"/>
                  </a:lnTo>
                  <a:cubicBezTo>
                    <a:pt x="0" y="643"/>
                    <a:pt x="11" y="633"/>
                    <a:pt x="24" y="633"/>
                  </a:cubicBezTo>
                  <a:lnTo>
                    <a:pt x="47" y="633"/>
                  </a:lnTo>
                  <a:lnTo>
                    <a:pt x="47" y="197"/>
                  </a:lnTo>
                  <a:cubicBezTo>
                    <a:pt x="47" y="137"/>
                    <a:pt x="93" y="92"/>
                    <a:pt x="153" y="92"/>
                  </a:cubicBezTo>
                  <a:lnTo>
                    <a:pt x="153" y="92"/>
                  </a:ln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de-DE" sz="1600" b="0" i="0" u="none" strike="noStrike" kern="0" cap="none" spc="0" normalizeH="0" baseline="0" noProof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531" name="Rechteck 530">
            <a:extLst>
              <a:ext uri="{FF2B5EF4-FFF2-40B4-BE49-F238E27FC236}">
                <a16:creationId xmlns:a16="http://schemas.microsoft.com/office/drawing/2014/main" id="{125B4DB9-2702-8237-9FD7-7D72C39D0D8D}"/>
              </a:ext>
            </a:extLst>
          </p:cNvPr>
          <p:cNvSpPr/>
          <p:nvPr/>
        </p:nvSpPr>
        <p:spPr bwMode="auto">
          <a:xfrm>
            <a:off x="7819909" y="4520993"/>
            <a:ext cx="952221" cy="5539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1000" b="0" i="0" u="none" strike="noStrike" kern="1200" cap="none" spc="0" normalizeH="0" baseline="0" noProof="1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Bahnschrift" panose="020B0502040204020203" pitchFamily="34" charset="0"/>
                <a:ea typeface="+mn-ea"/>
                <a:cs typeface="+mn-cs"/>
              </a:rPr>
              <a:t>Graue Energie Errichtung</a:t>
            </a:r>
          </a:p>
        </p:txBody>
      </p:sp>
      <p:grpSp>
        <p:nvGrpSpPr>
          <p:cNvPr id="532" name="Gruppieren 531" descr="{&quot;Key&quot;:&quot;POWER_USER_SHAPE_ICON&quot;,&quot;Value&quot;:&quot;POWER_USER_SHAPE_ICON_STYLE_2&quot;}">
            <a:extLst>
              <a:ext uri="{FF2B5EF4-FFF2-40B4-BE49-F238E27FC236}">
                <a16:creationId xmlns:a16="http://schemas.microsoft.com/office/drawing/2014/main" id="{378AB06E-7331-1ECE-D436-192AC437BBE7}"/>
              </a:ext>
            </a:extLst>
          </p:cNvPr>
          <p:cNvGrpSpPr>
            <a:grpSpLocks noChangeAspect="1"/>
          </p:cNvGrpSpPr>
          <p:nvPr/>
        </p:nvGrpSpPr>
        <p:grpSpPr>
          <a:xfrm>
            <a:off x="8792566" y="4362553"/>
            <a:ext cx="283747" cy="283747"/>
            <a:chOff x="-127000" y="2976049"/>
            <a:chExt cx="762000" cy="762000"/>
          </a:xfrm>
        </p:grpSpPr>
        <p:sp>
          <p:nvSpPr>
            <p:cNvPr id="533" name="POWER_USER_SHAPE_ICON_STYLE_2">
              <a:extLst>
                <a:ext uri="{FF2B5EF4-FFF2-40B4-BE49-F238E27FC236}">
                  <a16:creationId xmlns:a16="http://schemas.microsoft.com/office/drawing/2014/main" id="{7D6F6519-ACD5-13FB-3CDC-866B1788A145}"/>
                </a:ext>
              </a:extLst>
            </p:cNvPr>
            <p:cNvSpPr/>
            <p:nvPr/>
          </p:nvSpPr>
          <p:spPr>
            <a:xfrm>
              <a:off x="-127000" y="2976049"/>
              <a:ext cx="762000" cy="762000"/>
            </a:xfrm>
            <a:prstGeom prst="ellipse">
              <a:avLst/>
            </a:prstGeom>
            <a:solidFill>
              <a:srgbClr val="FFFFFF">
                <a:lumMod val="65000"/>
              </a:srgbClr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txBody>
            <a:bodyPr rtlCol="0" anchor="ctr"/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de-DE" sz="1200" b="0" i="0" u="none" strike="noStrike" kern="0" cap="none" spc="0" normalizeH="0" baseline="0" noProof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34" name="Scooter" descr="{&quot;Key&quot;:&quot;POWER_USER_SHAPE_ICON&quot;,&quot;Value&quot;:&quot;POWER_USER_SHAPE_ICON_STYLE_1&quot;}">
              <a:extLst>
                <a:ext uri="{FF2B5EF4-FFF2-40B4-BE49-F238E27FC236}">
                  <a16:creationId xmlns:a16="http://schemas.microsoft.com/office/drawing/2014/main" id="{E1160D8D-24C0-4890-085A-7CDB569B4BFD}"/>
                </a:ext>
              </a:extLst>
            </p:cNvPr>
            <p:cNvSpPr>
              <a:spLocks noChangeAspect="1" noEditPoints="1"/>
            </p:cNvSpPr>
            <p:nvPr>
              <p:custDataLst>
                <p:tags r:id="rId41"/>
              </p:custDataLst>
            </p:nvPr>
          </p:nvSpPr>
          <p:spPr bwMode="auto">
            <a:xfrm>
              <a:off x="0" y="3157538"/>
              <a:ext cx="508000" cy="399021"/>
            </a:xfrm>
            <a:custGeom>
              <a:avLst/>
              <a:gdLst>
                <a:gd name="T0" fmla="*/ 602 w 829"/>
                <a:gd name="T1" fmla="*/ 522 h 650"/>
                <a:gd name="T2" fmla="*/ 649 w 829"/>
                <a:gd name="T3" fmla="*/ 462 h 650"/>
                <a:gd name="T4" fmla="*/ 726 w 829"/>
                <a:gd name="T5" fmla="*/ 522 h 650"/>
                <a:gd name="T6" fmla="*/ 397 w 829"/>
                <a:gd name="T7" fmla="*/ 484 h 650"/>
                <a:gd name="T8" fmla="*/ 281 w 829"/>
                <a:gd name="T9" fmla="*/ 367 h 650"/>
                <a:gd name="T10" fmla="*/ 406 w 829"/>
                <a:gd name="T11" fmla="*/ 484 h 650"/>
                <a:gd name="T12" fmla="*/ 200 w 829"/>
                <a:gd name="T13" fmla="*/ 584 h 650"/>
                <a:gd name="T14" fmla="*/ 255 w 829"/>
                <a:gd name="T15" fmla="*/ 550 h 650"/>
                <a:gd name="T16" fmla="*/ 688 w 829"/>
                <a:gd name="T17" fmla="*/ 345 h 650"/>
                <a:gd name="T18" fmla="*/ 417 w 829"/>
                <a:gd name="T19" fmla="*/ 0 h 650"/>
                <a:gd name="T20" fmla="*/ 332 w 829"/>
                <a:gd name="T21" fmla="*/ 34 h 650"/>
                <a:gd name="T22" fmla="*/ 407 w 829"/>
                <a:gd name="T23" fmla="*/ 67 h 650"/>
                <a:gd name="T24" fmla="*/ 528 w 829"/>
                <a:gd name="T25" fmla="*/ 430 h 650"/>
                <a:gd name="T26" fmla="*/ 398 w 829"/>
                <a:gd name="T27" fmla="*/ 274 h 650"/>
                <a:gd name="T28" fmla="*/ 64 w 829"/>
                <a:gd name="T29" fmla="*/ 307 h 650"/>
                <a:gd name="T30" fmla="*/ 139 w 829"/>
                <a:gd name="T31" fmla="*/ 341 h 650"/>
                <a:gd name="T32" fmla="*/ 1 w 829"/>
                <a:gd name="T33" fmla="*/ 511 h 650"/>
                <a:gd name="T34" fmla="*/ 0 w 829"/>
                <a:gd name="T35" fmla="*/ 518 h 650"/>
                <a:gd name="T36" fmla="*/ 1 w 829"/>
                <a:gd name="T37" fmla="*/ 526 h 650"/>
                <a:gd name="T38" fmla="*/ 5 w 829"/>
                <a:gd name="T39" fmla="*/ 533 h 650"/>
                <a:gd name="T40" fmla="*/ 6 w 829"/>
                <a:gd name="T41" fmla="*/ 536 h 650"/>
                <a:gd name="T42" fmla="*/ 9 w 829"/>
                <a:gd name="T43" fmla="*/ 540 h 650"/>
                <a:gd name="T44" fmla="*/ 16 w 829"/>
                <a:gd name="T45" fmla="*/ 545 h 650"/>
                <a:gd name="T46" fmla="*/ 23 w 829"/>
                <a:gd name="T47" fmla="*/ 548 h 650"/>
                <a:gd name="T48" fmla="*/ 33 w 829"/>
                <a:gd name="T49" fmla="*/ 550 h 650"/>
                <a:gd name="T50" fmla="*/ 200 w 829"/>
                <a:gd name="T51" fmla="*/ 650 h 650"/>
                <a:gd name="T52" fmla="*/ 440 w 829"/>
                <a:gd name="T53" fmla="*/ 550 h 650"/>
                <a:gd name="T54" fmla="*/ 440 w 829"/>
                <a:gd name="T55" fmla="*/ 550 h 650"/>
                <a:gd name="T56" fmla="*/ 506 w 829"/>
                <a:gd name="T57" fmla="*/ 550 h 650"/>
                <a:gd name="T58" fmla="*/ 537 w 829"/>
                <a:gd name="T59" fmla="*/ 536 h 650"/>
                <a:gd name="T60" fmla="*/ 793 w 829"/>
                <a:gd name="T61" fmla="*/ 522 h 650"/>
                <a:gd name="T62" fmla="*/ 800 w 829"/>
                <a:gd name="T63" fmla="*/ 516 h 650"/>
                <a:gd name="T64" fmla="*/ 688 w 829"/>
                <a:gd name="T65" fmla="*/ 345 h 6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829" h="650">
                  <a:moveTo>
                    <a:pt x="664" y="584"/>
                  </a:moveTo>
                  <a:cubicBezTo>
                    <a:pt x="630" y="584"/>
                    <a:pt x="602" y="556"/>
                    <a:pt x="602" y="522"/>
                  </a:cubicBezTo>
                  <a:cubicBezTo>
                    <a:pt x="602" y="508"/>
                    <a:pt x="607" y="495"/>
                    <a:pt x="615" y="484"/>
                  </a:cubicBezTo>
                  <a:lnTo>
                    <a:pt x="649" y="462"/>
                  </a:lnTo>
                  <a:cubicBezTo>
                    <a:pt x="654" y="461"/>
                    <a:pt x="659" y="460"/>
                    <a:pt x="664" y="460"/>
                  </a:cubicBezTo>
                  <a:cubicBezTo>
                    <a:pt x="698" y="460"/>
                    <a:pt x="726" y="488"/>
                    <a:pt x="726" y="522"/>
                  </a:cubicBezTo>
                  <a:cubicBezTo>
                    <a:pt x="726" y="556"/>
                    <a:pt x="698" y="584"/>
                    <a:pt x="664" y="584"/>
                  </a:cubicBezTo>
                  <a:close/>
                  <a:moveTo>
                    <a:pt x="397" y="484"/>
                  </a:moveTo>
                  <a:lnTo>
                    <a:pt x="90" y="484"/>
                  </a:lnTo>
                  <a:cubicBezTo>
                    <a:pt x="122" y="436"/>
                    <a:pt x="185" y="367"/>
                    <a:pt x="281" y="367"/>
                  </a:cubicBezTo>
                  <a:cubicBezTo>
                    <a:pt x="320" y="367"/>
                    <a:pt x="350" y="378"/>
                    <a:pt x="371" y="400"/>
                  </a:cubicBezTo>
                  <a:cubicBezTo>
                    <a:pt x="394" y="425"/>
                    <a:pt x="402" y="459"/>
                    <a:pt x="406" y="484"/>
                  </a:cubicBezTo>
                  <a:lnTo>
                    <a:pt x="397" y="484"/>
                  </a:lnTo>
                  <a:close/>
                  <a:moveTo>
                    <a:pt x="200" y="584"/>
                  </a:moveTo>
                  <a:cubicBezTo>
                    <a:pt x="176" y="584"/>
                    <a:pt x="156" y="570"/>
                    <a:pt x="145" y="550"/>
                  </a:cubicBezTo>
                  <a:lnTo>
                    <a:pt x="255" y="550"/>
                  </a:lnTo>
                  <a:cubicBezTo>
                    <a:pt x="244" y="570"/>
                    <a:pt x="224" y="584"/>
                    <a:pt x="200" y="584"/>
                  </a:cubicBezTo>
                  <a:close/>
                  <a:moveTo>
                    <a:pt x="688" y="345"/>
                  </a:moveTo>
                  <a:cubicBezTo>
                    <a:pt x="692" y="276"/>
                    <a:pt x="664" y="143"/>
                    <a:pt x="434" y="5"/>
                  </a:cubicBezTo>
                  <a:cubicBezTo>
                    <a:pt x="429" y="2"/>
                    <a:pt x="423" y="0"/>
                    <a:pt x="417" y="0"/>
                  </a:cubicBezTo>
                  <a:lnTo>
                    <a:pt x="365" y="0"/>
                  </a:lnTo>
                  <a:cubicBezTo>
                    <a:pt x="346" y="0"/>
                    <a:pt x="332" y="15"/>
                    <a:pt x="332" y="34"/>
                  </a:cubicBezTo>
                  <a:cubicBezTo>
                    <a:pt x="332" y="52"/>
                    <a:pt x="346" y="67"/>
                    <a:pt x="365" y="67"/>
                  </a:cubicBezTo>
                  <a:lnTo>
                    <a:pt x="407" y="67"/>
                  </a:lnTo>
                  <a:cubicBezTo>
                    <a:pt x="591" y="179"/>
                    <a:pt x="637" y="293"/>
                    <a:pt x="618" y="362"/>
                  </a:cubicBezTo>
                  <a:cubicBezTo>
                    <a:pt x="606" y="403"/>
                    <a:pt x="571" y="430"/>
                    <a:pt x="528" y="430"/>
                  </a:cubicBezTo>
                  <a:cubicBezTo>
                    <a:pt x="441" y="430"/>
                    <a:pt x="431" y="310"/>
                    <a:pt x="431" y="305"/>
                  </a:cubicBezTo>
                  <a:cubicBezTo>
                    <a:pt x="430" y="288"/>
                    <a:pt x="415" y="274"/>
                    <a:pt x="398" y="274"/>
                  </a:cubicBezTo>
                  <a:lnTo>
                    <a:pt x="98" y="274"/>
                  </a:lnTo>
                  <a:cubicBezTo>
                    <a:pt x="79" y="274"/>
                    <a:pt x="64" y="289"/>
                    <a:pt x="64" y="307"/>
                  </a:cubicBezTo>
                  <a:cubicBezTo>
                    <a:pt x="64" y="326"/>
                    <a:pt x="79" y="341"/>
                    <a:pt x="98" y="341"/>
                  </a:cubicBezTo>
                  <a:lnTo>
                    <a:pt x="139" y="341"/>
                  </a:lnTo>
                  <a:cubicBezTo>
                    <a:pt x="56" y="380"/>
                    <a:pt x="14" y="460"/>
                    <a:pt x="1" y="509"/>
                  </a:cubicBezTo>
                  <a:cubicBezTo>
                    <a:pt x="1" y="509"/>
                    <a:pt x="1" y="510"/>
                    <a:pt x="1" y="511"/>
                  </a:cubicBezTo>
                  <a:cubicBezTo>
                    <a:pt x="1" y="512"/>
                    <a:pt x="0" y="513"/>
                    <a:pt x="0" y="514"/>
                  </a:cubicBezTo>
                  <a:cubicBezTo>
                    <a:pt x="0" y="516"/>
                    <a:pt x="0" y="517"/>
                    <a:pt x="0" y="518"/>
                  </a:cubicBezTo>
                  <a:cubicBezTo>
                    <a:pt x="0" y="520"/>
                    <a:pt x="0" y="521"/>
                    <a:pt x="1" y="522"/>
                  </a:cubicBezTo>
                  <a:cubicBezTo>
                    <a:pt x="1" y="523"/>
                    <a:pt x="1" y="525"/>
                    <a:pt x="1" y="526"/>
                  </a:cubicBezTo>
                  <a:cubicBezTo>
                    <a:pt x="2" y="527"/>
                    <a:pt x="2" y="528"/>
                    <a:pt x="3" y="529"/>
                  </a:cubicBezTo>
                  <a:cubicBezTo>
                    <a:pt x="3" y="531"/>
                    <a:pt x="4" y="532"/>
                    <a:pt x="5" y="533"/>
                  </a:cubicBezTo>
                  <a:cubicBezTo>
                    <a:pt x="5" y="534"/>
                    <a:pt x="5" y="535"/>
                    <a:pt x="6" y="536"/>
                  </a:cubicBezTo>
                  <a:cubicBezTo>
                    <a:pt x="6" y="536"/>
                    <a:pt x="6" y="536"/>
                    <a:pt x="6" y="536"/>
                  </a:cubicBezTo>
                  <a:cubicBezTo>
                    <a:pt x="7" y="537"/>
                    <a:pt x="7" y="537"/>
                    <a:pt x="7" y="537"/>
                  </a:cubicBezTo>
                  <a:cubicBezTo>
                    <a:pt x="8" y="538"/>
                    <a:pt x="9" y="539"/>
                    <a:pt x="9" y="540"/>
                  </a:cubicBezTo>
                  <a:cubicBezTo>
                    <a:pt x="10" y="541"/>
                    <a:pt x="11" y="541"/>
                    <a:pt x="12" y="542"/>
                  </a:cubicBezTo>
                  <a:cubicBezTo>
                    <a:pt x="13" y="543"/>
                    <a:pt x="14" y="544"/>
                    <a:pt x="16" y="545"/>
                  </a:cubicBezTo>
                  <a:cubicBezTo>
                    <a:pt x="16" y="545"/>
                    <a:pt x="17" y="546"/>
                    <a:pt x="18" y="547"/>
                  </a:cubicBezTo>
                  <a:cubicBezTo>
                    <a:pt x="20" y="547"/>
                    <a:pt x="21" y="548"/>
                    <a:pt x="23" y="548"/>
                  </a:cubicBezTo>
                  <a:cubicBezTo>
                    <a:pt x="24" y="549"/>
                    <a:pt x="25" y="549"/>
                    <a:pt x="25" y="549"/>
                  </a:cubicBezTo>
                  <a:cubicBezTo>
                    <a:pt x="28" y="550"/>
                    <a:pt x="31" y="550"/>
                    <a:pt x="33" y="550"/>
                  </a:cubicBezTo>
                  <a:lnTo>
                    <a:pt x="75" y="550"/>
                  </a:lnTo>
                  <a:cubicBezTo>
                    <a:pt x="88" y="608"/>
                    <a:pt x="139" y="650"/>
                    <a:pt x="200" y="650"/>
                  </a:cubicBezTo>
                  <a:cubicBezTo>
                    <a:pt x="261" y="650"/>
                    <a:pt x="312" y="608"/>
                    <a:pt x="325" y="550"/>
                  </a:cubicBezTo>
                  <a:lnTo>
                    <a:pt x="440" y="550"/>
                  </a:lnTo>
                  <a:lnTo>
                    <a:pt x="440" y="550"/>
                  </a:lnTo>
                  <a:lnTo>
                    <a:pt x="440" y="550"/>
                  </a:lnTo>
                  <a:lnTo>
                    <a:pt x="441" y="550"/>
                  </a:lnTo>
                  <a:lnTo>
                    <a:pt x="506" y="550"/>
                  </a:lnTo>
                  <a:cubicBezTo>
                    <a:pt x="512" y="550"/>
                    <a:pt x="519" y="548"/>
                    <a:pt x="524" y="545"/>
                  </a:cubicBezTo>
                  <a:lnTo>
                    <a:pt x="537" y="536"/>
                  </a:lnTo>
                  <a:cubicBezTo>
                    <a:pt x="544" y="601"/>
                    <a:pt x="598" y="650"/>
                    <a:pt x="664" y="650"/>
                  </a:cubicBezTo>
                  <a:cubicBezTo>
                    <a:pt x="735" y="650"/>
                    <a:pt x="793" y="593"/>
                    <a:pt x="793" y="522"/>
                  </a:cubicBezTo>
                  <a:cubicBezTo>
                    <a:pt x="793" y="520"/>
                    <a:pt x="793" y="519"/>
                    <a:pt x="793" y="517"/>
                  </a:cubicBezTo>
                  <a:cubicBezTo>
                    <a:pt x="795" y="517"/>
                    <a:pt x="798" y="517"/>
                    <a:pt x="800" y="516"/>
                  </a:cubicBezTo>
                  <a:cubicBezTo>
                    <a:pt x="818" y="511"/>
                    <a:pt x="829" y="493"/>
                    <a:pt x="824" y="475"/>
                  </a:cubicBezTo>
                  <a:cubicBezTo>
                    <a:pt x="801" y="388"/>
                    <a:pt x="728" y="356"/>
                    <a:pt x="688" y="345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de-DE" sz="1200" b="0" i="0" u="none" strike="noStrike" kern="0" cap="none" spc="0" normalizeH="0" baseline="0" noProof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grpSp>
        <p:nvGrpSpPr>
          <p:cNvPr id="535" name="Gruppieren 534" descr="{&quot;Key&quot;:&quot;POWER_USER_SHAPE_ICON&quot;,&quot;Value&quot;:&quot;POWER_USER_SHAPE_ICON_STYLE_2&quot;}">
            <a:extLst>
              <a:ext uri="{FF2B5EF4-FFF2-40B4-BE49-F238E27FC236}">
                <a16:creationId xmlns:a16="http://schemas.microsoft.com/office/drawing/2014/main" id="{EE0BDAF5-D710-800D-BF0B-F459E2F4724F}"/>
              </a:ext>
            </a:extLst>
          </p:cNvPr>
          <p:cNvGrpSpPr>
            <a:grpSpLocks noChangeAspect="1"/>
          </p:cNvGrpSpPr>
          <p:nvPr/>
        </p:nvGrpSpPr>
        <p:grpSpPr>
          <a:xfrm>
            <a:off x="9267006" y="4361350"/>
            <a:ext cx="306630" cy="306630"/>
            <a:chOff x="-127000" y="2990387"/>
            <a:chExt cx="762000" cy="762000"/>
          </a:xfrm>
        </p:grpSpPr>
        <p:sp>
          <p:nvSpPr>
            <p:cNvPr id="536" name="POWER_USER_SHAPE_ICON_STYLE_2">
              <a:extLst>
                <a:ext uri="{FF2B5EF4-FFF2-40B4-BE49-F238E27FC236}">
                  <a16:creationId xmlns:a16="http://schemas.microsoft.com/office/drawing/2014/main" id="{3D7295DE-74B4-34C9-9D41-C1EB823EC376}"/>
                </a:ext>
              </a:extLst>
            </p:cNvPr>
            <p:cNvSpPr/>
            <p:nvPr/>
          </p:nvSpPr>
          <p:spPr>
            <a:xfrm>
              <a:off x="-127000" y="2990387"/>
              <a:ext cx="762000" cy="762000"/>
            </a:xfrm>
            <a:prstGeom prst="ellipse">
              <a:avLst/>
            </a:prstGeom>
            <a:solidFill>
              <a:sysClr val="windowText" lastClr="000000">
                <a:lumMod val="50000"/>
                <a:lumOff val="50000"/>
              </a:sysClr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txBody>
            <a:bodyPr rtlCol="0" anchor="ctr"/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de-DE" sz="1200" b="0" i="0" u="none" strike="noStrike" kern="0" cap="none" spc="0" normalizeH="0" baseline="0" noProof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37" name="Car7" descr="{&quot;Key&quot;:&quot;POWER_USER_SHAPE_ICON&quot;,&quot;Value&quot;:&quot;POWER_USER_SHAPE_ICON_STYLE_1&quot;}">
              <a:extLst>
                <a:ext uri="{FF2B5EF4-FFF2-40B4-BE49-F238E27FC236}">
                  <a16:creationId xmlns:a16="http://schemas.microsoft.com/office/drawing/2014/main" id="{FAFF16E2-E88A-146C-1851-305372D6B8EC}"/>
                </a:ext>
              </a:extLst>
            </p:cNvPr>
            <p:cNvSpPr>
              <a:spLocks noChangeAspect="1" noEditPoints="1"/>
            </p:cNvSpPr>
            <p:nvPr>
              <p:custDataLst>
                <p:tags r:id="rId40"/>
              </p:custDataLst>
            </p:nvPr>
          </p:nvSpPr>
          <p:spPr bwMode="auto">
            <a:xfrm>
              <a:off x="0" y="3157538"/>
              <a:ext cx="508000" cy="427698"/>
            </a:xfrm>
            <a:custGeom>
              <a:avLst/>
              <a:gdLst>
                <a:gd name="T0" fmla="*/ 616 w 733"/>
                <a:gd name="T1" fmla="*/ 466 h 616"/>
                <a:gd name="T2" fmla="*/ 566 w 733"/>
                <a:gd name="T3" fmla="*/ 416 h 616"/>
                <a:gd name="T4" fmla="*/ 616 w 733"/>
                <a:gd name="T5" fmla="*/ 366 h 616"/>
                <a:gd name="T6" fmla="*/ 666 w 733"/>
                <a:gd name="T7" fmla="*/ 416 h 616"/>
                <a:gd name="T8" fmla="*/ 616 w 733"/>
                <a:gd name="T9" fmla="*/ 466 h 616"/>
                <a:gd name="T10" fmla="*/ 134 w 733"/>
                <a:gd name="T11" fmla="*/ 266 h 616"/>
                <a:gd name="T12" fmla="*/ 165 w 733"/>
                <a:gd name="T13" fmla="*/ 107 h 616"/>
                <a:gd name="T14" fmla="*/ 200 w 733"/>
                <a:gd name="T15" fmla="*/ 66 h 616"/>
                <a:gd name="T16" fmla="*/ 533 w 733"/>
                <a:gd name="T17" fmla="*/ 66 h 616"/>
                <a:gd name="T18" fmla="*/ 567 w 733"/>
                <a:gd name="T19" fmla="*/ 107 h 616"/>
                <a:gd name="T20" fmla="*/ 599 w 733"/>
                <a:gd name="T21" fmla="*/ 266 h 616"/>
                <a:gd name="T22" fmla="*/ 134 w 733"/>
                <a:gd name="T23" fmla="*/ 266 h 616"/>
                <a:gd name="T24" fmla="*/ 116 w 733"/>
                <a:gd name="T25" fmla="*/ 466 h 616"/>
                <a:gd name="T26" fmla="*/ 66 w 733"/>
                <a:gd name="T27" fmla="*/ 416 h 616"/>
                <a:gd name="T28" fmla="*/ 116 w 733"/>
                <a:gd name="T29" fmla="*/ 366 h 616"/>
                <a:gd name="T30" fmla="*/ 166 w 733"/>
                <a:gd name="T31" fmla="*/ 416 h 616"/>
                <a:gd name="T32" fmla="*/ 116 w 733"/>
                <a:gd name="T33" fmla="*/ 466 h 616"/>
                <a:gd name="T34" fmla="*/ 666 w 733"/>
                <a:gd name="T35" fmla="*/ 272 h 616"/>
                <a:gd name="T36" fmla="*/ 666 w 733"/>
                <a:gd name="T37" fmla="*/ 266 h 616"/>
                <a:gd name="T38" fmla="*/ 632 w 733"/>
                <a:gd name="T39" fmla="*/ 93 h 616"/>
                <a:gd name="T40" fmla="*/ 632 w 733"/>
                <a:gd name="T41" fmla="*/ 91 h 616"/>
                <a:gd name="T42" fmla="*/ 533 w 733"/>
                <a:gd name="T43" fmla="*/ 0 h 616"/>
                <a:gd name="T44" fmla="*/ 200 w 733"/>
                <a:gd name="T45" fmla="*/ 0 h 616"/>
                <a:gd name="T46" fmla="*/ 101 w 733"/>
                <a:gd name="T47" fmla="*/ 91 h 616"/>
                <a:gd name="T48" fmla="*/ 67 w 733"/>
                <a:gd name="T49" fmla="*/ 260 h 616"/>
                <a:gd name="T50" fmla="*/ 66 w 733"/>
                <a:gd name="T51" fmla="*/ 266 h 616"/>
                <a:gd name="T52" fmla="*/ 67 w 733"/>
                <a:gd name="T53" fmla="*/ 272 h 616"/>
                <a:gd name="T54" fmla="*/ 0 w 733"/>
                <a:gd name="T55" fmla="*/ 366 h 616"/>
                <a:gd name="T56" fmla="*/ 0 w 733"/>
                <a:gd name="T57" fmla="*/ 450 h 616"/>
                <a:gd name="T58" fmla="*/ 66 w 733"/>
                <a:gd name="T59" fmla="*/ 544 h 616"/>
                <a:gd name="T60" fmla="*/ 66 w 733"/>
                <a:gd name="T61" fmla="*/ 583 h 616"/>
                <a:gd name="T62" fmla="*/ 100 w 733"/>
                <a:gd name="T63" fmla="*/ 616 h 616"/>
                <a:gd name="T64" fmla="*/ 133 w 733"/>
                <a:gd name="T65" fmla="*/ 616 h 616"/>
                <a:gd name="T66" fmla="*/ 166 w 733"/>
                <a:gd name="T67" fmla="*/ 583 h 616"/>
                <a:gd name="T68" fmla="*/ 166 w 733"/>
                <a:gd name="T69" fmla="*/ 550 h 616"/>
                <a:gd name="T70" fmla="*/ 566 w 733"/>
                <a:gd name="T71" fmla="*/ 550 h 616"/>
                <a:gd name="T72" fmla="*/ 566 w 733"/>
                <a:gd name="T73" fmla="*/ 583 h 616"/>
                <a:gd name="T74" fmla="*/ 600 w 733"/>
                <a:gd name="T75" fmla="*/ 616 h 616"/>
                <a:gd name="T76" fmla="*/ 633 w 733"/>
                <a:gd name="T77" fmla="*/ 616 h 616"/>
                <a:gd name="T78" fmla="*/ 666 w 733"/>
                <a:gd name="T79" fmla="*/ 583 h 616"/>
                <a:gd name="T80" fmla="*/ 666 w 733"/>
                <a:gd name="T81" fmla="*/ 544 h 616"/>
                <a:gd name="T82" fmla="*/ 733 w 733"/>
                <a:gd name="T83" fmla="*/ 450 h 616"/>
                <a:gd name="T84" fmla="*/ 733 w 733"/>
                <a:gd name="T85" fmla="*/ 366 h 616"/>
                <a:gd name="T86" fmla="*/ 666 w 733"/>
                <a:gd name="T87" fmla="*/ 272 h 6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733" h="616">
                  <a:moveTo>
                    <a:pt x="616" y="466"/>
                  </a:moveTo>
                  <a:cubicBezTo>
                    <a:pt x="589" y="466"/>
                    <a:pt x="566" y="444"/>
                    <a:pt x="566" y="416"/>
                  </a:cubicBezTo>
                  <a:cubicBezTo>
                    <a:pt x="566" y="389"/>
                    <a:pt x="589" y="366"/>
                    <a:pt x="616" y="366"/>
                  </a:cubicBezTo>
                  <a:cubicBezTo>
                    <a:pt x="644" y="366"/>
                    <a:pt x="666" y="389"/>
                    <a:pt x="666" y="416"/>
                  </a:cubicBezTo>
                  <a:cubicBezTo>
                    <a:pt x="666" y="444"/>
                    <a:pt x="644" y="466"/>
                    <a:pt x="616" y="466"/>
                  </a:cubicBezTo>
                  <a:close/>
                  <a:moveTo>
                    <a:pt x="134" y="266"/>
                  </a:moveTo>
                  <a:lnTo>
                    <a:pt x="165" y="107"/>
                  </a:lnTo>
                  <a:cubicBezTo>
                    <a:pt x="169" y="94"/>
                    <a:pt x="179" y="66"/>
                    <a:pt x="200" y="66"/>
                  </a:cubicBezTo>
                  <a:lnTo>
                    <a:pt x="533" y="66"/>
                  </a:lnTo>
                  <a:cubicBezTo>
                    <a:pt x="553" y="66"/>
                    <a:pt x="564" y="94"/>
                    <a:pt x="567" y="107"/>
                  </a:cubicBezTo>
                  <a:lnTo>
                    <a:pt x="599" y="266"/>
                  </a:lnTo>
                  <a:lnTo>
                    <a:pt x="134" y="266"/>
                  </a:lnTo>
                  <a:close/>
                  <a:moveTo>
                    <a:pt x="116" y="466"/>
                  </a:moveTo>
                  <a:cubicBezTo>
                    <a:pt x="89" y="466"/>
                    <a:pt x="66" y="444"/>
                    <a:pt x="66" y="416"/>
                  </a:cubicBezTo>
                  <a:cubicBezTo>
                    <a:pt x="66" y="389"/>
                    <a:pt x="89" y="366"/>
                    <a:pt x="116" y="366"/>
                  </a:cubicBezTo>
                  <a:cubicBezTo>
                    <a:pt x="144" y="366"/>
                    <a:pt x="166" y="389"/>
                    <a:pt x="166" y="416"/>
                  </a:cubicBezTo>
                  <a:cubicBezTo>
                    <a:pt x="166" y="444"/>
                    <a:pt x="144" y="466"/>
                    <a:pt x="116" y="466"/>
                  </a:cubicBezTo>
                  <a:close/>
                  <a:moveTo>
                    <a:pt x="666" y="272"/>
                  </a:moveTo>
                  <a:cubicBezTo>
                    <a:pt x="666" y="270"/>
                    <a:pt x="666" y="268"/>
                    <a:pt x="666" y="266"/>
                  </a:cubicBezTo>
                  <a:lnTo>
                    <a:pt x="632" y="93"/>
                  </a:lnTo>
                  <a:lnTo>
                    <a:pt x="632" y="91"/>
                  </a:lnTo>
                  <a:cubicBezTo>
                    <a:pt x="616" y="34"/>
                    <a:pt x="579" y="0"/>
                    <a:pt x="533" y="0"/>
                  </a:cubicBezTo>
                  <a:lnTo>
                    <a:pt x="200" y="0"/>
                  </a:lnTo>
                  <a:cubicBezTo>
                    <a:pt x="153" y="0"/>
                    <a:pt x="116" y="34"/>
                    <a:pt x="101" y="91"/>
                  </a:cubicBezTo>
                  <a:lnTo>
                    <a:pt x="67" y="260"/>
                  </a:lnTo>
                  <a:lnTo>
                    <a:pt x="66" y="266"/>
                  </a:lnTo>
                  <a:cubicBezTo>
                    <a:pt x="66" y="268"/>
                    <a:pt x="67" y="270"/>
                    <a:pt x="67" y="272"/>
                  </a:cubicBezTo>
                  <a:cubicBezTo>
                    <a:pt x="28" y="286"/>
                    <a:pt x="0" y="323"/>
                    <a:pt x="0" y="366"/>
                  </a:cubicBezTo>
                  <a:lnTo>
                    <a:pt x="0" y="450"/>
                  </a:lnTo>
                  <a:cubicBezTo>
                    <a:pt x="0" y="493"/>
                    <a:pt x="28" y="530"/>
                    <a:pt x="66" y="544"/>
                  </a:cubicBezTo>
                  <a:lnTo>
                    <a:pt x="66" y="583"/>
                  </a:lnTo>
                  <a:cubicBezTo>
                    <a:pt x="66" y="601"/>
                    <a:pt x="81" y="616"/>
                    <a:pt x="100" y="616"/>
                  </a:cubicBezTo>
                  <a:lnTo>
                    <a:pt x="133" y="616"/>
                  </a:lnTo>
                  <a:cubicBezTo>
                    <a:pt x="151" y="616"/>
                    <a:pt x="166" y="601"/>
                    <a:pt x="166" y="583"/>
                  </a:cubicBezTo>
                  <a:lnTo>
                    <a:pt x="166" y="550"/>
                  </a:lnTo>
                  <a:lnTo>
                    <a:pt x="566" y="550"/>
                  </a:lnTo>
                  <a:lnTo>
                    <a:pt x="566" y="583"/>
                  </a:lnTo>
                  <a:cubicBezTo>
                    <a:pt x="566" y="601"/>
                    <a:pt x="581" y="616"/>
                    <a:pt x="600" y="616"/>
                  </a:cubicBezTo>
                  <a:lnTo>
                    <a:pt x="633" y="616"/>
                  </a:lnTo>
                  <a:cubicBezTo>
                    <a:pt x="651" y="616"/>
                    <a:pt x="666" y="601"/>
                    <a:pt x="666" y="583"/>
                  </a:cubicBezTo>
                  <a:lnTo>
                    <a:pt x="666" y="544"/>
                  </a:lnTo>
                  <a:cubicBezTo>
                    <a:pt x="705" y="530"/>
                    <a:pt x="733" y="493"/>
                    <a:pt x="733" y="450"/>
                  </a:cubicBezTo>
                  <a:lnTo>
                    <a:pt x="733" y="366"/>
                  </a:lnTo>
                  <a:cubicBezTo>
                    <a:pt x="733" y="323"/>
                    <a:pt x="705" y="286"/>
                    <a:pt x="666" y="272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de-DE" sz="1200" b="0" i="0" u="none" strike="noStrike" kern="0" cap="none" spc="0" normalizeH="0" baseline="0" noProof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grpSp>
        <p:nvGrpSpPr>
          <p:cNvPr id="538" name="Gruppieren 537" descr="{&quot;Key&quot;:&quot;POWER_USER_SHAPE_ICON&quot;,&quot;Value&quot;:&quot;POWER_USER_SHAPE_ICON_STYLE_2&quot;}">
            <a:extLst>
              <a:ext uri="{FF2B5EF4-FFF2-40B4-BE49-F238E27FC236}">
                <a16:creationId xmlns:a16="http://schemas.microsoft.com/office/drawing/2014/main" id="{E93D3E95-620E-5515-66F9-DCD89522257B}"/>
              </a:ext>
            </a:extLst>
          </p:cNvPr>
          <p:cNvGrpSpPr>
            <a:grpSpLocks noChangeAspect="1"/>
          </p:cNvGrpSpPr>
          <p:nvPr/>
        </p:nvGrpSpPr>
        <p:grpSpPr>
          <a:xfrm>
            <a:off x="8994667" y="4220780"/>
            <a:ext cx="349283" cy="349282"/>
            <a:chOff x="288345" y="3340831"/>
            <a:chExt cx="762000" cy="762000"/>
          </a:xfrm>
        </p:grpSpPr>
        <p:sp>
          <p:nvSpPr>
            <p:cNvPr id="539" name="POWER_USER_SHAPE_ICON_STYLE_2">
              <a:extLst>
                <a:ext uri="{FF2B5EF4-FFF2-40B4-BE49-F238E27FC236}">
                  <a16:creationId xmlns:a16="http://schemas.microsoft.com/office/drawing/2014/main" id="{D998D666-D4AB-5DE5-4369-4D0F9D9A6616}"/>
                </a:ext>
              </a:extLst>
            </p:cNvPr>
            <p:cNvSpPr/>
            <p:nvPr/>
          </p:nvSpPr>
          <p:spPr>
            <a:xfrm>
              <a:off x="288345" y="3340831"/>
              <a:ext cx="762000" cy="762000"/>
            </a:xfrm>
            <a:prstGeom prst="ellipse">
              <a:avLst/>
            </a:prstGeom>
            <a:solidFill>
              <a:srgbClr val="0070C0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txBody>
            <a:bodyPr rtlCol="0" anchor="ctr"/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de-DE" sz="1200" b="0" i="0" u="none" strike="noStrike" kern="0" cap="none" spc="0" normalizeH="0" baseline="0" noProof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40" name="Electric_Car" descr="{&quot;Key&quot;:&quot;POWER_USER_SHAPE_ICON&quot;,&quot;Value&quot;:&quot;POWER_USER_SHAPE_ICON_STYLE_1&quot;}">
              <a:extLst>
                <a:ext uri="{FF2B5EF4-FFF2-40B4-BE49-F238E27FC236}">
                  <a16:creationId xmlns:a16="http://schemas.microsoft.com/office/drawing/2014/main" id="{0E55AF14-6EDF-D6CC-3B7F-7D768FEF4C78}"/>
                </a:ext>
              </a:extLst>
            </p:cNvPr>
            <p:cNvSpPr>
              <a:spLocks noChangeAspect="1" noEditPoints="1"/>
            </p:cNvSpPr>
            <p:nvPr>
              <p:custDataLst>
                <p:tags r:id="rId39"/>
              </p:custDataLst>
            </p:nvPr>
          </p:nvSpPr>
          <p:spPr bwMode="auto">
            <a:xfrm>
              <a:off x="415345" y="3593005"/>
              <a:ext cx="508000" cy="257651"/>
            </a:xfrm>
            <a:custGeom>
              <a:avLst/>
              <a:gdLst>
                <a:gd name="T0" fmla="*/ 1124 w 1250"/>
                <a:gd name="T1" fmla="*/ 55 h 632"/>
                <a:gd name="T2" fmla="*/ 957 w 1250"/>
                <a:gd name="T3" fmla="*/ 0 h 632"/>
                <a:gd name="T4" fmla="*/ 726 w 1250"/>
                <a:gd name="T5" fmla="*/ 0 h 632"/>
                <a:gd name="T6" fmla="*/ 584 w 1250"/>
                <a:gd name="T7" fmla="*/ 210 h 632"/>
                <a:gd name="T8" fmla="*/ 494 w 1250"/>
                <a:gd name="T9" fmla="*/ 280 h 632"/>
                <a:gd name="T10" fmla="*/ 477 w 1250"/>
                <a:gd name="T11" fmla="*/ 150 h 632"/>
                <a:gd name="T12" fmla="*/ 408 w 1250"/>
                <a:gd name="T13" fmla="*/ 81 h 632"/>
                <a:gd name="T14" fmla="*/ 339 w 1250"/>
                <a:gd name="T15" fmla="*/ 306 h 632"/>
                <a:gd name="T16" fmla="*/ 339 w 1250"/>
                <a:gd name="T17" fmla="*/ 463 h 632"/>
                <a:gd name="T18" fmla="*/ 308 w 1250"/>
                <a:gd name="T19" fmla="*/ 475 h 632"/>
                <a:gd name="T20" fmla="*/ 304 w 1250"/>
                <a:gd name="T21" fmla="*/ 349 h 632"/>
                <a:gd name="T22" fmla="*/ 204 w 1250"/>
                <a:gd name="T23" fmla="*/ 280 h 632"/>
                <a:gd name="T24" fmla="*/ 80 w 1250"/>
                <a:gd name="T25" fmla="*/ 211 h 632"/>
                <a:gd name="T26" fmla="*/ 17 w 1250"/>
                <a:gd name="T27" fmla="*/ 246 h 632"/>
                <a:gd name="T28" fmla="*/ 0 w 1250"/>
                <a:gd name="T29" fmla="*/ 263 h 632"/>
                <a:gd name="T30" fmla="*/ 17 w 1250"/>
                <a:gd name="T31" fmla="*/ 280 h 632"/>
                <a:gd name="T32" fmla="*/ 80 w 1250"/>
                <a:gd name="T33" fmla="*/ 332 h 632"/>
                <a:gd name="T34" fmla="*/ 17 w 1250"/>
                <a:gd name="T35" fmla="*/ 332 h 632"/>
                <a:gd name="T36" fmla="*/ 17 w 1250"/>
                <a:gd name="T37" fmla="*/ 367 h 632"/>
                <a:gd name="T38" fmla="*/ 80 w 1250"/>
                <a:gd name="T39" fmla="*/ 367 h 632"/>
                <a:gd name="T40" fmla="*/ 112 w 1250"/>
                <a:gd name="T41" fmla="*/ 402 h 632"/>
                <a:gd name="T42" fmla="*/ 235 w 1250"/>
                <a:gd name="T43" fmla="*/ 332 h 632"/>
                <a:gd name="T44" fmla="*/ 252 w 1250"/>
                <a:gd name="T45" fmla="*/ 462 h 632"/>
                <a:gd name="T46" fmla="*/ 321 w 1250"/>
                <a:gd name="T47" fmla="*/ 531 h 632"/>
                <a:gd name="T48" fmla="*/ 391 w 1250"/>
                <a:gd name="T49" fmla="*/ 306 h 632"/>
                <a:gd name="T50" fmla="*/ 391 w 1250"/>
                <a:gd name="T51" fmla="*/ 149 h 632"/>
                <a:gd name="T52" fmla="*/ 421 w 1250"/>
                <a:gd name="T53" fmla="*/ 137 h 632"/>
                <a:gd name="T54" fmla="*/ 425 w 1250"/>
                <a:gd name="T55" fmla="*/ 263 h 632"/>
                <a:gd name="T56" fmla="*/ 518 w 1250"/>
                <a:gd name="T57" fmla="*/ 332 h 632"/>
                <a:gd name="T58" fmla="*/ 577 w 1250"/>
                <a:gd name="T59" fmla="*/ 491 h 632"/>
                <a:gd name="T60" fmla="*/ 686 w 1250"/>
                <a:gd name="T61" fmla="*/ 554 h 632"/>
                <a:gd name="T62" fmla="*/ 884 w 1250"/>
                <a:gd name="T63" fmla="*/ 491 h 632"/>
                <a:gd name="T64" fmla="*/ 1081 w 1250"/>
                <a:gd name="T65" fmla="*/ 554 h 632"/>
                <a:gd name="T66" fmla="*/ 1191 w 1250"/>
                <a:gd name="T67" fmla="*/ 491 h 632"/>
                <a:gd name="T68" fmla="*/ 1250 w 1250"/>
                <a:gd name="T69" fmla="*/ 294 h 632"/>
                <a:gd name="T70" fmla="*/ 633 w 1250"/>
                <a:gd name="T71" fmla="*/ 372 h 632"/>
                <a:gd name="T72" fmla="*/ 633 w 1250"/>
                <a:gd name="T73" fmla="*/ 268 h 632"/>
                <a:gd name="T74" fmla="*/ 633 w 1250"/>
                <a:gd name="T75" fmla="*/ 372 h 632"/>
                <a:gd name="T76" fmla="*/ 884 w 1250"/>
                <a:gd name="T77" fmla="*/ 209 h 632"/>
                <a:gd name="T78" fmla="*/ 692 w 1250"/>
                <a:gd name="T79" fmla="*/ 87 h 632"/>
                <a:gd name="T80" fmla="*/ 884 w 1250"/>
                <a:gd name="T81" fmla="*/ 57 h 632"/>
                <a:gd name="T82" fmla="*/ 1043 w 1250"/>
                <a:gd name="T83" fmla="*/ 57 h 632"/>
                <a:gd name="T84" fmla="*/ 1122 w 1250"/>
                <a:gd name="T85" fmla="*/ 209 h 632"/>
                <a:gd name="T86" fmla="*/ 1135 w 1250"/>
                <a:gd name="T87" fmla="*/ 372 h 632"/>
                <a:gd name="T88" fmla="*/ 1135 w 1250"/>
                <a:gd name="T89" fmla="*/ 268 h 632"/>
                <a:gd name="T90" fmla="*/ 1135 w 1250"/>
                <a:gd name="T91" fmla="*/ 372 h 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1250" h="632">
                  <a:moveTo>
                    <a:pt x="1184" y="210"/>
                  </a:moveTo>
                  <a:lnTo>
                    <a:pt x="1124" y="55"/>
                  </a:lnTo>
                  <a:cubicBezTo>
                    <a:pt x="1112" y="25"/>
                    <a:pt x="1088" y="0"/>
                    <a:pt x="1042" y="0"/>
                  </a:cubicBezTo>
                  <a:lnTo>
                    <a:pt x="957" y="0"/>
                  </a:lnTo>
                  <a:lnTo>
                    <a:pt x="812" y="0"/>
                  </a:lnTo>
                  <a:lnTo>
                    <a:pt x="726" y="0"/>
                  </a:lnTo>
                  <a:cubicBezTo>
                    <a:pt x="680" y="0"/>
                    <a:pt x="656" y="25"/>
                    <a:pt x="644" y="55"/>
                  </a:cubicBezTo>
                  <a:lnTo>
                    <a:pt x="584" y="210"/>
                  </a:lnTo>
                  <a:cubicBezTo>
                    <a:pt x="563" y="213"/>
                    <a:pt x="526" y="236"/>
                    <a:pt x="520" y="280"/>
                  </a:cubicBezTo>
                  <a:lnTo>
                    <a:pt x="494" y="280"/>
                  </a:lnTo>
                  <a:cubicBezTo>
                    <a:pt x="484" y="280"/>
                    <a:pt x="477" y="267"/>
                    <a:pt x="477" y="263"/>
                  </a:cubicBezTo>
                  <a:lnTo>
                    <a:pt x="477" y="150"/>
                  </a:lnTo>
                  <a:cubicBezTo>
                    <a:pt x="477" y="131"/>
                    <a:pt x="471" y="113"/>
                    <a:pt x="458" y="101"/>
                  </a:cubicBezTo>
                  <a:cubicBezTo>
                    <a:pt x="446" y="88"/>
                    <a:pt x="428" y="81"/>
                    <a:pt x="408" y="81"/>
                  </a:cubicBezTo>
                  <a:cubicBezTo>
                    <a:pt x="368" y="81"/>
                    <a:pt x="339" y="110"/>
                    <a:pt x="339" y="149"/>
                  </a:cubicBezTo>
                  <a:lnTo>
                    <a:pt x="339" y="306"/>
                  </a:lnTo>
                  <a:lnTo>
                    <a:pt x="339" y="306"/>
                  </a:lnTo>
                  <a:lnTo>
                    <a:pt x="339" y="463"/>
                  </a:lnTo>
                  <a:cubicBezTo>
                    <a:pt x="339" y="474"/>
                    <a:pt x="333" y="479"/>
                    <a:pt x="321" y="479"/>
                  </a:cubicBezTo>
                  <a:cubicBezTo>
                    <a:pt x="317" y="479"/>
                    <a:pt x="312" y="479"/>
                    <a:pt x="308" y="475"/>
                  </a:cubicBezTo>
                  <a:cubicBezTo>
                    <a:pt x="305" y="472"/>
                    <a:pt x="304" y="467"/>
                    <a:pt x="304" y="463"/>
                  </a:cubicBezTo>
                  <a:lnTo>
                    <a:pt x="304" y="349"/>
                  </a:lnTo>
                  <a:cubicBezTo>
                    <a:pt x="304" y="317"/>
                    <a:pt x="275" y="280"/>
                    <a:pt x="235" y="280"/>
                  </a:cubicBezTo>
                  <a:lnTo>
                    <a:pt x="204" y="280"/>
                  </a:lnTo>
                  <a:cubicBezTo>
                    <a:pt x="193" y="240"/>
                    <a:pt x="156" y="211"/>
                    <a:pt x="112" y="211"/>
                  </a:cubicBezTo>
                  <a:lnTo>
                    <a:pt x="80" y="211"/>
                  </a:lnTo>
                  <a:lnTo>
                    <a:pt x="80" y="246"/>
                  </a:lnTo>
                  <a:lnTo>
                    <a:pt x="17" y="246"/>
                  </a:lnTo>
                  <a:lnTo>
                    <a:pt x="17" y="246"/>
                  </a:lnTo>
                  <a:cubicBezTo>
                    <a:pt x="8" y="246"/>
                    <a:pt x="0" y="253"/>
                    <a:pt x="0" y="263"/>
                  </a:cubicBezTo>
                  <a:cubicBezTo>
                    <a:pt x="0" y="272"/>
                    <a:pt x="8" y="280"/>
                    <a:pt x="17" y="280"/>
                  </a:cubicBezTo>
                  <a:lnTo>
                    <a:pt x="17" y="280"/>
                  </a:lnTo>
                  <a:lnTo>
                    <a:pt x="80" y="280"/>
                  </a:lnTo>
                  <a:lnTo>
                    <a:pt x="80" y="332"/>
                  </a:lnTo>
                  <a:lnTo>
                    <a:pt x="17" y="332"/>
                  </a:lnTo>
                  <a:lnTo>
                    <a:pt x="17" y="332"/>
                  </a:lnTo>
                  <a:cubicBezTo>
                    <a:pt x="8" y="332"/>
                    <a:pt x="0" y="340"/>
                    <a:pt x="0" y="350"/>
                  </a:cubicBezTo>
                  <a:cubicBezTo>
                    <a:pt x="0" y="359"/>
                    <a:pt x="8" y="367"/>
                    <a:pt x="17" y="367"/>
                  </a:cubicBezTo>
                  <a:lnTo>
                    <a:pt x="17" y="367"/>
                  </a:lnTo>
                  <a:lnTo>
                    <a:pt x="80" y="367"/>
                  </a:lnTo>
                  <a:lnTo>
                    <a:pt x="80" y="402"/>
                  </a:lnTo>
                  <a:lnTo>
                    <a:pt x="112" y="402"/>
                  </a:lnTo>
                  <a:cubicBezTo>
                    <a:pt x="156" y="402"/>
                    <a:pt x="193" y="372"/>
                    <a:pt x="204" y="332"/>
                  </a:cubicBezTo>
                  <a:lnTo>
                    <a:pt x="235" y="332"/>
                  </a:lnTo>
                  <a:cubicBezTo>
                    <a:pt x="245" y="332"/>
                    <a:pt x="252" y="345"/>
                    <a:pt x="252" y="349"/>
                  </a:cubicBezTo>
                  <a:lnTo>
                    <a:pt x="252" y="462"/>
                  </a:lnTo>
                  <a:cubicBezTo>
                    <a:pt x="252" y="481"/>
                    <a:pt x="258" y="499"/>
                    <a:pt x="271" y="511"/>
                  </a:cubicBezTo>
                  <a:cubicBezTo>
                    <a:pt x="283" y="524"/>
                    <a:pt x="301" y="531"/>
                    <a:pt x="321" y="531"/>
                  </a:cubicBezTo>
                  <a:cubicBezTo>
                    <a:pt x="361" y="531"/>
                    <a:pt x="391" y="502"/>
                    <a:pt x="391" y="463"/>
                  </a:cubicBezTo>
                  <a:lnTo>
                    <a:pt x="391" y="306"/>
                  </a:lnTo>
                  <a:lnTo>
                    <a:pt x="391" y="306"/>
                  </a:lnTo>
                  <a:lnTo>
                    <a:pt x="391" y="149"/>
                  </a:lnTo>
                  <a:cubicBezTo>
                    <a:pt x="391" y="138"/>
                    <a:pt x="396" y="133"/>
                    <a:pt x="408" y="133"/>
                  </a:cubicBezTo>
                  <a:cubicBezTo>
                    <a:pt x="412" y="133"/>
                    <a:pt x="418" y="133"/>
                    <a:pt x="421" y="137"/>
                  </a:cubicBezTo>
                  <a:cubicBezTo>
                    <a:pt x="424" y="140"/>
                    <a:pt x="425" y="145"/>
                    <a:pt x="425" y="149"/>
                  </a:cubicBezTo>
                  <a:lnTo>
                    <a:pt x="425" y="263"/>
                  </a:lnTo>
                  <a:cubicBezTo>
                    <a:pt x="425" y="295"/>
                    <a:pt x="454" y="332"/>
                    <a:pt x="494" y="332"/>
                  </a:cubicBezTo>
                  <a:lnTo>
                    <a:pt x="518" y="332"/>
                  </a:lnTo>
                  <a:lnTo>
                    <a:pt x="518" y="491"/>
                  </a:lnTo>
                  <a:lnTo>
                    <a:pt x="577" y="491"/>
                  </a:lnTo>
                  <a:lnTo>
                    <a:pt x="577" y="554"/>
                  </a:lnTo>
                  <a:cubicBezTo>
                    <a:pt x="577" y="632"/>
                    <a:pt x="687" y="631"/>
                    <a:pt x="686" y="554"/>
                  </a:cubicBezTo>
                  <a:lnTo>
                    <a:pt x="686" y="491"/>
                  </a:lnTo>
                  <a:lnTo>
                    <a:pt x="884" y="491"/>
                  </a:lnTo>
                  <a:lnTo>
                    <a:pt x="1081" y="491"/>
                  </a:lnTo>
                  <a:lnTo>
                    <a:pt x="1081" y="554"/>
                  </a:lnTo>
                  <a:cubicBezTo>
                    <a:pt x="1082" y="631"/>
                    <a:pt x="1191" y="632"/>
                    <a:pt x="1191" y="554"/>
                  </a:cubicBezTo>
                  <a:lnTo>
                    <a:pt x="1191" y="491"/>
                  </a:lnTo>
                  <a:lnTo>
                    <a:pt x="1250" y="491"/>
                  </a:lnTo>
                  <a:lnTo>
                    <a:pt x="1250" y="294"/>
                  </a:lnTo>
                  <a:cubicBezTo>
                    <a:pt x="1250" y="241"/>
                    <a:pt x="1208" y="213"/>
                    <a:pt x="1184" y="210"/>
                  </a:cubicBezTo>
                  <a:close/>
                  <a:moveTo>
                    <a:pt x="633" y="372"/>
                  </a:moveTo>
                  <a:cubicBezTo>
                    <a:pt x="605" y="372"/>
                    <a:pt x="583" y="349"/>
                    <a:pt x="583" y="320"/>
                  </a:cubicBezTo>
                  <a:cubicBezTo>
                    <a:pt x="583" y="291"/>
                    <a:pt x="605" y="268"/>
                    <a:pt x="633" y="268"/>
                  </a:cubicBezTo>
                  <a:cubicBezTo>
                    <a:pt x="661" y="268"/>
                    <a:pt x="684" y="291"/>
                    <a:pt x="684" y="320"/>
                  </a:cubicBezTo>
                  <a:cubicBezTo>
                    <a:pt x="684" y="349"/>
                    <a:pt x="661" y="372"/>
                    <a:pt x="633" y="372"/>
                  </a:cubicBezTo>
                  <a:close/>
                  <a:moveTo>
                    <a:pt x="884" y="209"/>
                  </a:moveTo>
                  <a:lnTo>
                    <a:pt x="884" y="209"/>
                  </a:lnTo>
                  <a:lnTo>
                    <a:pt x="647" y="209"/>
                  </a:lnTo>
                  <a:lnTo>
                    <a:pt x="692" y="87"/>
                  </a:lnTo>
                  <a:cubicBezTo>
                    <a:pt x="697" y="69"/>
                    <a:pt x="706" y="57"/>
                    <a:pt x="726" y="57"/>
                  </a:cubicBezTo>
                  <a:lnTo>
                    <a:pt x="884" y="57"/>
                  </a:lnTo>
                  <a:lnTo>
                    <a:pt x="884" y="57"/>
                  </a:lnTo>
                  <a:lnTo>
                    <a:pt x="1043" y="57"/>
                  </a:lnTo>
                  <a:cubicBezTo>
                    <a:pt x="1062" y="57"/>
                    <a:pt x="1071" y="69"/>
                    <a:pt x="1076" y="87"/>
                  </a:cubicBezTo>
                  <a:lnTo>
                    <a:pt x="1122" y="209"/>
                  </a:lnTo>
                  <a:lnTo>
                    <a:pt x="884" y="209"/>
                  </a:lnTo>
                  <a:close/>
                  <a:moveTo>
                    <a:pt x="1135" y="372"/>
                  </a:moveTo>
                  <a:cubicBezTo>
                    <a:pt x="1107" y="372"/>
                    <a:pt x="1084" y="349"/>
                    <a:pt x="1084" y="320"/>
                  </a:cubicBezTo>
                  <a:cubicBezTo>
                    <a:pt x="1084" y="291"/>
                    <a:pt x="1107" y="268"/>
                    <a:pt x="1135" y="268"/>
                  </a:cubicBezTo>
                  <a:cubicBezTo>
                    <a:pt x="1163" y="268"/>
                    <a:pt x="1185" y="291"/>
                    <a:pt x="1186" y="320"/>
                  </a:cubicBezTo>
                  <a:cubicBezTo>
                    <a:pt x="1185" y="349"/>
                    <a:pt x="1163" y="372"/>
                    <a:pt x="1135" y="372"/>
                  </a:cubicBezTo>
                  <a:close/>
                </a:path>
              </a:pathLst>
            </a:custGeom>
            <a:solidFill>
              <a:srgbClr val="FFFFFF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de-DE" sz="1200" b="0" i="0" u="none" strike="noStrike" kern="0" cap="none" spc="0" normalizeH="0" baseline="0" noProof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grpSp>
        <p:nvGrpSpPr>
          <p:cNvPr id="541" name="Gruppieren 540">
            <a:extLst>
              <a:ext uri="{FF2B5EF4-FFF2-40B4-BE49-F238E27FC236}">
                <a16:creationId xmlns:a16="http://schemas.microsoft.com/office/drawing/2014/main" id="{F07A31C1-54C7-2B0B-E046-CEA6EE58AB56}"/>
              </a:ext>
            </a:extLst>
          </p:cNvPr>
          <p:cNvGrpSpPr/>
          <p:nvPr/>
        </p:nvGrpSpPr>
        <p:grpSpPr>
          <a:xfrm>
            <a:off x="8844742" y="5024684"/>
            <a:ext cx="309876" cy="426836"/>
            <a:chOff x="9081827" y="4010639"/>
            <a:chExt cx="442175" cy="609070"/>
          </a:xfrm>
        </p:grpSpPr>
        <p:grpSp>
          <p:nvGrpSpPr>
            <p:cNvPr id="542" name="Gruppieren 541">
              <a:extLst>
                <a:ext uri="{FF2B5EF4-FFF2-40B4-BE49-F238E27FC236}">
                  <a16:creationId xmlns:a16="http://schemas.microsoft.com/office/drawing/2014/main" id="{4B0EA681-89AF-7ABF-0854-2962F5AF9DAC}"/>
                </a:ext>
              </a:extLst>
            </p:cNvPr>
            <p:cNvGrpSpPr/>
            <p:nvPr/>
          </p:nvGrpSpPr>
          <p:grpSpPr>
            <a:xfrm>
              <a:off x="9081827" y="4040069"/>
              <a:ext cx="442175" cy="579640"/>
              <a:chOff x="0" y="3078492"/>
              <a:chExt cx="545343" cy="621971"/>
            </a:xfrm>
          </p:grpSpPr>
          <p:grpSp>
            <p:nvGrpSpPr>
              <p:cNvPr id="548" name="Gruppieren 547">
                <a:extLst>
                  <a:ext uri="{FF2B5EF4-FFF2-40B4-BE49-F238E27FC236}">
                    <a16:creationId xmlns:a16="http://schemas.microsoft.com/office/drawing/2014/main" id="{ECA0BA02-9BF5-4606-BD00-B9FF91AC4D7C}"/>
                  </a:ext>
                </a:extLst>
              </p:cNvPr>
              <p:cNvGrpSpPr/>
              <p:nvPr>
                <p:custDataLst>
                  <p:tags r:id="rId38"/>
                </p:custDataLst>
              </p:nvPr>
            </p:nvGrpSpPr>
            <p:grpSpPr>
              <a:xfrm>
                <a:off x="0" y="3157538"/>
                <a:ext cx="545343" cy="542925"/>
                <a:chOff x="0" y="3157538"/>
                <a:chExt cx="545343" cy="542925"/>
              </a:xfrm>
              <a:solidFill>
                <a:srgbClr val="9954CC"/>
              </a:solidFill>
            </p:grpSpPr>
            <p:sp>
              <p:nvSpPr>
                <p:cNvPr id="550" name="Freeform 203">
                  <a:extLst>
                    <a:ext uri="{FF2B5EF4-FFF2-40B4-BE49-F238E27FC236}">
                      <a16:creationId xmlns:a16="http://schemas.microsoft.com/office/drawing/2014/main" id="{A5EF27BF-5ADB-AF9D-2E14-F37B111C187F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81015" y="3392120"/>
                  <a:ext cx="464328" cy="222490"/>
                </a:xfrm>
                <a:custGeom>
                  <a:avLst/>
                  <a:gdLst>
                    <a:gd name="T0" fmla="*/ 776 w 800"/>
                    <a:gd name="T1" fmla="*/ 20 h 382"/>
                    <a:gd name="T2" fmla="*/ 636 w 800"/>
                    <a:gd name="T3" fmla="*/ 80 h 382"/>
                    <a:gd name="T4" fmla="*/ 624 w 800"/>
                    <a:gd name="T5" fmla="*/ 108 h 382"/>
                    <a:gd name="T6" fmla="*/ 537 w 800"/>
                    <a:gd name="T7" fmla="*/ 166 h 382"/>
                    <a:gd name="T8" fmla="*/ 485 w 800"/>
                    <a:gd name="T9" fmla="*/ 126 h 382"/>
                    <a:gd name="T10" fmla="*/ 360 w 800"/>
                    <a:gd name="T11" fmla="*/ 122 h 382"/>
                    <a:gd name="T12" fmla="*/ 332 w 800"/>
                    <a:gd name="T13" fmla="*/ 108 h 382"/>
                    <a:gd name="T14" fmla="*/ 91 w 800"/>
                    <a:gd name="T15" fmla="*/ 118 h 382"/>
                    <a:gd name="T16" fmla="*/ 0 w 800"/>
                    <a:gd name="T17" fmla="*/ 209 h 382"/>
                    <a:gd name="T18" fmla="*/ 173 w 800"/>
                    <a:gd name="T19" fmla="*/ 382 h 382"/>
                    <a:gd name="T20" fmla="*/ 201 w 800"/>
                    <a:gd name="T21" fmla="*/ 354 h 382"/>
                    <a:gd name="T22" fmla="*/ 495 w 800"/>
                    <a:gd name="T23" fmla="*/ 354 h 382"/>
                    <a:gd name="T24" fmla="*/ 557 w 800"/>
                    <a:gd name="T25" fmla="*/ 332 h 382"/>
                    <a:gd name="T26" fmla="*/ 633 w 800"/>
                    <a:gd name="T27" fmla="*/ 267 h 382"/>
                    <a:gd name="T28" fmla="*/ 723 w 800"/>
                    <a:gd name="T29" fmla="*/ 165 h 382"/>
                    <a:gd name="T30" fmla="*/ 790 w 800"/>
                    <a:gd name="T31" fmla="*/ 61 h 382"/>
                    <a:gd name="T32" fmla="*/ 776 w 800"/>
                    <a:gd name="T33" fmla="*/ 20 h 38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</a:cxnLst>
                  <a:rect l="0" t="0" r="r" b="b"/>
                  <a:pathLst>
                    <a:path w="800" h="382">
                      <a:moveTo>
                        <a:pt x="776" y="20"/>
                      </a:moveTo>
                      <a:cubicBezTo>
                        <a:pt x="720" y="0"/>
                        <a:pt x="660" y="27"/>
                        <a:pt x="636" y="80"/>
                      </a:cubicBezTo>
                      <a:lnTo>
                        <a:pt x="624" y="108"/>
                      </a:lnTo>
                      <a:lnTo>
                        <a:pt x="537" y="166"/>
                      </a:lnTo>
                      <a:cubicBezTo>
                        <a:pt x="530" y="143"/>
                        <a:pt x="510" y="126"/>
                        <a:pt x="485" y="126"/>
                      </a:cubicBezTo>
                      <a:lnTo>
                        <a:pt x="360" y="122"/>
                      </a:lnTo>
                      <a:cubicBezTo>
                        <a:pt x="349" y="122"/>
                        <a:pt x="337" y="113"/>
                        <a:pt x="332" y="108"/>
                      </a:cubicBezTo>
                      <a:cubicBezTo>
                        <a:pt x="278" y="54"/>
                        <a:pt x="160" y="49"/>
                        <a:pt x="91" y="118"/>
                      </a:cubicBezTo>
                      <a:lnTo>
                        <a:pt x="0" y="209"/>
                      </a:lnTo>
                      <a:lnTo>
                        <a:pt x="173" y="382"/>
                      </a:lnTo>
                      <a:lnTo>
                        <a:pt x="201" y="354"/>
                      </a:lnTo>
                      <a:lnTo>
                        <a:pt x="495" y="354"/>
                      </a:lnTo>
                      <a:cubicBezTo>
                        <a:pt x="517" y="354"/>
                        <a:pt x="539" y="346"/>
                        <a:pt x="557" y="332"/>
                      </a:cubicBezTo>
                      <a:lnTo>
                        <a:pt x="633" y="267"/>
                      </a:lnTo>
                      <a:cubicBezTo>
                        <a:pt x="668" y="238"/>
                        <a:pt x="698" y="203"/>
                        <a:pt x="723" y="165"/>
                      </a:cubicBezTo>
                      <a:lnTo>
                        <a:pt x="790" y="61"/>
                      </a:lnTo>
                      <a:cubicBezTo>
                        <a:pt x="800" y="46"/>
                        <a:pt x="793" y="25"/>
                        <a:pt x="776" y="20"/>
                      </a:cubicBezTo>
                    </a:path>
                  </a:pathLst>
                </a:custGeom>
                <a:solidFill>
                  <a:srgbClr val="ED7D31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 vert="horz" wrap="square" lIns="68580" tIns="34290" rIns="68580" bIns="3429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6858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de-DE" sz="1350" b="0" i="0" u="none" strike="noStrike" kern="0" cap="none" spc="0" normalizeH="0" baseline="0" noProof="1">
                    <a:ln>
                      <a:noFill/>
                    </a:ln>
                    <a:solidFill>
                      <a:srgbClr val="ED7D31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551" name="Freeform 204">
                  <a:extLst>
                    <a:ext uri="{FF2B5EF4-FFF2-40B4-BE49-F238E27FC236}">
                      <a16:creationId xmlns:a16="http://schemas.microsoft.com/office/drawing/2014/main" id="{CE2139CC-70DF-931C-9EE0-2D85CA5666E8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0" y="3514248"/>
                  <a:ext cx="187424" cy="186215"/>
                </a:xfrm>
                <a:custGeom>
                  <a:avLst/>
                  <a:gdLst>
                    <a:gd name="T0" fmla="*/ 232 w 322"/>
                    <a:gd name="T1" fmla="*/ 206 h 322"/>
                    <a:gd name="T2" fmla="*/ 256 w 322"/>
                    <a:gd name="T3" fmla="*/ 230 h 322"/>
                    <a:gd name="T4" fmla="*/ 232 w 322"/>
                    <a:gd name="T5" fmla="*/ 253 h 322"/>
                    <a:gd name="T6" fmla="*/ 209 w 322"/>
                    <a:gd name="T7" fmla="*/ 230 h 322"/>
                    <a:gd name="T8" fmla="*/ 232 w 322"/>
                    <a:gd name="T9" fmla="*/ 206 h 322"/>
                    <a:gd name="T10" fmla="*/ 0 w 322"/>
                    <a:gd name="T11" fmla="*/ 92 h 322"/>
                    <a:gd name="T12" fmla="*/ 230 w 322"/>
                    <a:gd name="T13" fmla="*/ 322 h 322"/>
                    <a:gd name="T14" fmla="*/ 322 w 322"/>
                    <a:gd name="T15" fmla="*/ 230 h 322"/>
                    <a:gd name="T16" fmla="*/ 93 w 322"/>
                    <a:gd name="T17" fmla="*/ 0 h 322"/>
                    <a:gd name="T18" fmla="*/ 0 w 322"/>
                    <a:gd name="T19" fmla="*/ 92 h 32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322" h="322">
                      <a:moveTo>
                        <a:pt x="232" y="206"/>
                      </a:moveTo>
                      <a:lnTo>
                        <a:pt x="256" y="230"/>
                      </a:lnTo>
                      <a:lnTo>
                        <a:pt x="232" y="253"/>
                      </a:lnTo>
                      <a:lnTo>
                        <a:pt x="209" y="230"/>
                      </a:lnTo>
                      <a:lnTo>
                        <a:pt x="232" y="206"/>
                      </a:lnTo>
                      <a:close/>
                      <a:moveTo>
                        <a:pt x="0" y="92"/>
                      </a:moveTo>
                      <a:lnTo>
                        <a:pt x="230" y="322"/>
                      </a:lnTo>
                      <a:lnTo>
                        <a:pt x="322" y="230"/>
                      </a:lnTo>
                      <a:lnTo>
                        <a:pt x="93" y="0"/>
                      </a:lnTo>
                      <a:lnTo>
                        <a:pt x="0" y="92"/>
                      </a:lnTo>
                      <a:close/>
                    </a:path>
                  </a:pathLst>
                </a:custGeom>
                <a:solidFill>
                  <a:srgbClr val="ED7D31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 vert="horz" wrap="square" lIns="68580" tIns="34290" rIns="68580" bIns="3429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6858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de-DE" sz="1350" b="0" i="0" u="none" strike="noStrike" kern="0" cap="none" spc="0" normalizeH="0" baseline="0" noProof="1">
                    <a:ln>
                      <a:noFill/>
                    </a:ln>
                    <a:solidFill>
                      <a:srgbClr val="ED7D31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552" name="Freeform 206">
                  <a:extLst>
                    <a:ext uri="{FF2B5EF4-FFF2-40B4-BE49-F238E27FC236}">
                      <a16:creationId xmlns:a16="http://schemas.microsoft.com/office/drawing/2014/main" id="{C55FD71A-872F-B541-8F2E-763C7FB77D58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192260" y="3157538"/>
                  <a:ext cx="257557" cy="303506"/>
                </a:xfrm>
                <a:custGeom>
                  <a:avLst/>
                  <a:gdLst>
                    <a:gd name="T0" fmla="*/ 222 w 444"/>
                    <a:gd name="T1" fmla="*/ 355 h 524"/>
                    <a:gd name="T2" fmla="*/ 159 w 444"/>
                    <a:gd name="T3" fmla="*/ 299 h 524"/>
                    <a:gd name="T4" fmla="*/ 204 w 444"/>
                    <a:gd name="T5" fmla="*/ 246 h 524"/>
                    <a:gd name="T6" fmla="*/ 204 w 444"/>
                    <a:gd name="T7" fmla="*/ 229 h 524"/>
                    <a:gd name="T8" fmla="*/ 240 w 444"/>
                    <a:gd name="T9" fmla="*/ 229 h 524"/>
                    <a:gd name="T10" fmla="*/ 240 w 444"/>
                    <a:gd name="T11" fmla="*/ 246 h 524"/>
                    <a:gd name="T12" fmla="*/ 285 w 444"/>
                    <a:gd name="T13" fmla="*/ 299 h 524"/>
                    <a:gd name="T14" fmla="*/ 249 w 444"/>
                    <a:gd name="T15" fmla="*/ 299 h 524"/>
                    <a:gd name="T16" fmla="*/ 222 w 444"/>
                    <a:gd name="T17" fmla="*/ 280 h 524"/>
                    <a:gd name="T18" fmla="*/ 195 w 444"/>
                    <a:gd name="T19" fmla="*/ 299 h 524"/>
                    <a:gd name="T20" fmla="*/ 222 w 444"/>
                    <a:gd name="T21" fmla="*/ 319 h 524"/>
                    <a:gd name="T22" fmla="*/ 285 w 444"/>
                    <a:gd name="T23" fmla="*/ 375 h 524"/>
                    <a:gd name="T24" fmla="*/ 240 w 444"/>
                    <a:gd name="T25" fmla="*/ 428 h 524"/>
                    <a:gd name="T26" fmla="*/ 240 w 444"/>
                    <a:gd name="T27" fmla="*/ 446 h 524"/>
                    <a:gd name="T28" fmla="*/ 204 w 444"/>
                    <a:gd name="T29" fmla="*/ 446 h 524"/>
                    <a:gd name="T30" fmla="*/ 204 w 444"/>
                    <a:gd name="T31" fmla="*/ 428 h 524"/>
                    <a:gd name="T32" fmla="*/ 159 w 444"/>
                    <a:gd name="T33" fmla="*/ 375 h 524"/>
                    <a:gd name="T34" fmla="*/ 195 w 444"/>
                    <a:gd name="T35" fmla="*/ 375 h 524"/>
                    <a:gd name="T36" fmla="*/ 222 w 444"/>
                    <a:gd name="T37" fmla="*/ 394 h 524"/>
                    <a:gd name="T38" fmla="*/ 249 w 444"/>
                    <a:gd name="T39" fmla="*/ 375 h 524"/>
                    <a:gd name="T40" fmla="*/ 222 w 444"/>
                    <a:gd name="T41" fmla="*/ 355 h 524"/>
                    <a:gd name="T42" fmla="*/ 165 w 444"/>
                    <a:gd name="T43" fmla="*/ 489 h 524"/>
                    <a:gd name="T44" fmla="*/ 172 w 444"/>
                    <a:gd name="T45" fmla="*/ 494 h 524"/>
                    <a:gd name="T46" fmla="*/ 296 w 444"/>
                    <a:gd name="T47" fmla="*/ 497 h 524"/>
                    <a:gd name="T48" fmla="*/ 357 w 444"/>
                    <a:gd name="T49" fmla="*/ 524 h 524"/>
                    <a:gd name="T50" fmla="*/ 407 w 444"/>
                    <a:gd name="T51" fmla="*/ 491 h 524"/>
                    <a:gd name="T52" fmla="*/ 415 w 444"/>
                    <a:gd name="T53" fmla="*/ 472 h 524"/>
                    <a:gd name="T54" fmla="*/ 444 w 444"/>
                    <a:gd name="T55" fmla="*/ 430 h 524"/>
                    <a:gd name="T56" fmla="*/ 444 w 444"/>
                    <a:gd name="T57" fmla="*/ 430 h 524"/>
                    <a:gd name="T58" fmla="*/ 444 w 444"/>
                    <a:gd name="T59" fmla="*/ 428 h 524"/>
                    <a:gd name="T60" fmla="*/ 286 w 444"/>
                    <a:gd name="T61" fmla="*/ 162 h 524"/>
                    <a:gd name="T62" fmla="*/ 286 w 444"/>
                    <a:gd name="T63" fmla="*/ 104 h 524"/>
                    <a:gd name="T64" fmla="*/ 310 w 444"/>
                    <a:gd name="T65" fmla="*/ 30 h 524"/>
                    <a:gd name="T66" fmla="*/ 293 w 444"/>
                    <a:gd name="T67" fmla="*/ 0 h 524"/>
                    <a:gd name="T68" fmla="*/ 293 w 444"/>
                    <a:gd name="T69" fmla="*/ 0 h 524"/>
                    <a:gd name="T70" fmla="*/ 274 w 444"/>
                    <a:gd name="T71" fmla="*/ 5 h 524"/>
                    <a:gd name="T72" fmla="*/ 265 w 444"/>
                    <a:gd name="T73" fmla="*/ 5 h 524"/>
                    <a:gd name="T74" fmla="*/ 246 w 444"/>
                    <a:gd name="T75" fmla="*/ 0 h 524"/>
                    <a:gd name="T76" fmla="*/ 227 w 444"/>
                    <a:gd name="T77" fmla="*/ 5 h 524"/>
                    <a:gd name="T78" fmla="*/ 217 w 444"/>
                    <a:gd name="T79" fmla="*/ 5 h 524"/>
                    <a:gd name="T80" fmla="*/ 198 w 444"/>
                    <a:gd name="T81" fmla="*/ 0 h 524"/>
                    <a:gd name="T82" fmla="*/ 179 w 444"/>
                    <a:gd name="T83" fmla="*/ 5 h 524"/>
                    <a:gd name="T84" fmla="*/ 170 w 444"/>
                    <a:gd name="T85" fmla="*/ 5 h 524"/>
                    <a:gd name="T86" fmla="*/ 151 w 444"/>
                    <a:gd name="T87" fmla="*/ 0 h 524"/>
                    <a:gd name="T88" fmla="*/ 151 w 444"/>
                    <a:gd name="T89" fmla="*/ 0 h 524"/>
                    <a:gd name="T90" fmla="*/ 134 w 444"/>
                    <a:gd name="T91" fmla="*/ 30 h 524"/>
                    <a:gd name="T92" fmla="*/ 158 w 444"/>
                    <a:gd name="T93" fmla="*/ 104 h 524"/>
                    <a:gd name="T94" fmla="*/ 158 w 444"/>
                    <a:gd name="T95" fmla="*/ 162 h 524"/>
                    <a:gd name="T96" fmla="*/ 0 w 444"/>
                    <a:gd name="T97" fmla="*/ 428 h 524"/>
                    <a:gd name="T98" fmla="*/ 0 w 444"/>
                    <a:gd name="T99" fmla="*/ 441 h 524"/>
                    <a:gd name="T100" fmla="*/ 30 w 444"/>
                    <a:gd name="T101" fmla="*/ 438 h 524"/>
                    <a:gd name="T102" fmla="*/ 165 w 444"/>
                    <a:gd name="T103" fmla="*/ 489 h 52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</a:cxnLst>
                  <a:rect l="0" t="0" r="r" b="b"/>
                  <a:pathLst>
                    <a:path w="444" h="524">
                      <a:moveTo>
                        <a:pt x="222" y="355"/>
                      </a:moveTo>
                      <a:cubicBezTo>
                        <a:pt x="178" y="355"/>
                        <a:pt x="159" y="327"/>
                        <a:pt x="159" y="299"/>
                      </a:cubicBezTo>
                      <a:cubicBezTo>
                        <a:pt x="159" y="274"/>
                        <a:pt x="178" y="253"/>
                        <a:pt x="204" y="246"/>
                      </a:cubicBezTo>
                      <a:lnTo>
                        <a:pt x="204" y="229"/>
                      </a:lnTo>
                      <a:lnTo>
                        <a:pt x="240" y="229"/>
                      </a:lnTo>
                      <a:lnTo>
                        <a:pt x="240" y="246"/>
                      </a:lnTo>
                      <a:cubicBezTo>
                        <a:pt x="266" y="253"/>
                        <a:pt x="285" y="274"/>
                        <a:pt x="285" y="299"/>
                      </a:cubicBezTo>
                      <a:lnTo>
                        <a:pt x="249" y="299"/>
                      </a:lnTo>
                      <a:cubicBezTo>
                        <a:pt x="249" y="289"/>
                        <a:pt x="236" y="280"/>
                        <a:pt x="222" y="280"/>
                      </a:cubicBezTo>
                      <a:cubicBezTo>
                        <a:pt x="208" y="280"/>
                        <a:pt x="195" y="289"/>
                        <a:pt x="195" y="299"/>
                      </a:cubicBezTo>
                      <a:cubicBezTo>
                        <a:pt x="195" y="316"/>
                        <a:pt x="212" y="319"/>
                        <a:pt x="222" y="319"/>
                      </a:cubicBezTo>
                      <a:cubicBezTo>
                        <a:pt x="259" y="319"/>
                        <a:pt x="285" y="342"/>
                        <a:pt x="285" y="375"/>
                      </a:cubicBezTo>
                      <a:cubicBezTo>
                        <a:pt x="285" y="400"/>
                        <a:pt x="266" y="421"/>
                        <a:pt x="240" y="428"/>
                      </a:cubicBezTo>
                      <a:lnTo>
                        <a:pt x="240" y="446"/>
                      </a:lnTo>
                      <a:lnTo>
                        <a:pt x="204" y="446"/>
                      </a:lnTo>
                      <a:lnTo>
                        <a:pt x="204" y="428"/>
                      </a:lnTo>
                      <a:cubicBezTo>
                        <a:pt x="178" y="421"/>
                        <a:pt x="159" y="400"/>
                        <a:pt x="159" y="375"/>
                      </a:cubicBezTo>
                      <a:lnTo>
                        <a:pt x="195" y="375"/>
                      </a:lnTo>
                      <a:cubicBezTo>
                        <a:pt x="195" y="385"/>
                        <a:pt x="208" y="394"/>
                        <a:pt x="222" y="394"/>
                      </a:cubicBezTo>
                      <a:cubicBezTo>
                        <a:pt x="236" y="394"/>
                        <a:pt x="249" y="385"/>
                        <a:pt x="249" y="375"/>
                      </a:cubicBezTo>
                      <a:cubicBezTo>
                        <a:pt x="249" y="363"/>
                        <a:pt x="239" y="355"/>
                        <a:pt x="222" y="355"/>
                      </a:cubicBezTo>
                      <a:close/>
                      <a:moveTo>
                        <a:pt x="165" y="489"/>
                      </a:moveTo>
                      <a:cubicBezTo>
                        <a:pt x="167" y="491"/>
                        <a:pt x="171" y="493"/>
                        <a:pt x="172" y="494"/>
                      </a:cubicBezTo>
                      <a:lnTo>
                        <a:pt x="296" y="497"/>
                      </a:lnTo>
                      <a:cubicBezTo>
                        <a:pt x="320" y="498"/>
                        <a:pt x="341" y="508"/>
                        <a:pt x="357" y="524"/>
                      </a:cubicBezTo>
                      <a:lnTo>
                        <a:pt x="407" y="491"/>
                      </a:lnTo>
                      <a:lnTo>
                        <a:pt x="415" y="472"/>
                      </a:lnTo>
                      <a:cubicBezTo>
                        <a:pt x="422" y="456"/>
                        <a:pt x="432" y="442"/>
                        <a:pt x="444" y="430"/>
                      </a:cubicBezTo>
                      <a:cubicBezTo>
                        <a:pt x="444" y="430"/>
                        <a:pt x="444" y="430"/>
                        <a:pt x="444" y="430"/>
                      </a:cubicBezTo>
                      <a:lnTo>
                        <a:pt x="444" y="428"/>
                      </a:lnTo>
                      <a:cubicBezTo>
                        <a:pt x="444" y="309"/>
                        <a:pt x="388" y="206"/>
                        <a:pt x="286" y="162"/>
                      </a:cubicBezTo>
                      <a:lnTo>
                        <a:pt x="286" y="104"/>
                      </a:lnTo>
                      <a:lnTo>
                        <a:pt x="310" y="30"/>
                      </a:lnTo>
                      <a:cubicBezTo>
                        <a:pt x="315" y="16"/>
                        <a:pt x="307" y="0"/>
                        <a:pt x="293" y="0"/>
                      </a:cubicBezTo>
                      <a:cubicBezTo>
                        <a:pt x="293" y="0"/>
                        <a:pt x="293" y="0"/>
                        <a:pt x="293" y="0"/>
                      </a:cubicBezTo>
                      <a:cubicBezTo>
                        <a:pt x="285" y="0"/>
                        <a:pt x="278" y="2"/>
                        <a:pt x="274" y="5"/>
                      </a:cubicBezTo>
                      <a:cubicBezTo>
                        <a:pt x="271" y="6"/>
                        <a:pt x="268" y="6"/>
                        <a:pt x="265" y="5"/>
                      </a:cubicBezTo>
                      <a:cubicBezTo>
                        <a:pt x="260" y="2"/>
                        <a:pt x="253" y="0"/>
                        <a:pt x="246" y="0"/>
                      </a:cubicBezTo>
                      <a:cubicBezTo>
                        <a:pt x="238" y="0"/>
                        <a:pt x="231" y="2"/>
                        <a:pt x="227" y="5"/>
                      </a:cubicBezTo>
                      <a:cubicBezTo>
                        <a:pt x="224" y="6"/>
                        <a:pt x="220" y="6"/>
                        <a:pt x="217" y="5"/>
                      </a:cubicBezTo>
                      <a:cubicBezTo>
                        <a:pt x="213" y="2"/>
                        <a:pt x="206" y="0"/>
                        <a:pt x="198" y="0"/>
                      </a:cubicBezTo>
                      <a:cubicBezTo>
                        <a:pt x="191" y="0"/>
                        <a:pt x="184" y="2"/>
                        <a:pt x="179" y="5"/>
                      </a:cubicBezTo>
                      <a:cubicBezTo>
                        <a:pt x="176" y="6"/>
                        <a:pt x="173" y="6"/>
                        <a:pt x="170" y="5"/>
                      </a:cubicBezTo>
                      <a:cubicBezTo>
                        <a:pt x="166" y="2"/>
                        <a:pt x="159" y="0"/>
                        <a:pt x="151" y="0"/>
                      </a:cubicBezTo>
                      <a:cubicBezTo>
                        <a:pt x="151" y="0"/>
                        <a:pt x="151" y="0"/>
                        <a:pt x="151" y="0"/>
                      </a:cubicBezTo>
                      <a:cubicBezTo>
                        <a:pt x="138" y="0"/>
                        <a:pt x="129" y="16"/>
                        <a:pt x="134" y="30"/>
                      </a:cubicBezTo>
                      <a:lnTo>
                        <a:pt x="158" y="104"/>
                      </a:lnTo>
                      <a:lnTo>
                        <a:pt x="158" y="162"/>
                      </a:lnTo>
                      <a:cubicBezTo>
                        <a:pt x="56" y="206"/>
                        <a:pt x="0" y="309"/>
                        <a:pt x="0" y="428"/>
                      </a:cubicBezTo>
                      <a:lnTo>
                        <a:pt x="0" y="441"/>
                      </a:lnTo>
                      <a:cubicBezTo>
                        <a:pt x="10" y="439"/>
                        <a:pt x="20" y="438"/>
                        <a:pt x="30" y="438"/>
                      </a:cubicBezTo>
                      <a:cubicBezTo>
                        <a:pt x="84" y="438"/>
                        <a:pt x="133" y="457"/>
                        <a:pt x="165" y="489"/>
                      </a:cubicBezTo>
                    </a:path>
                  </a:pathLst>
                </a:custGeom>
                <a:grpFill/>
                <a:ln w="9525">
                  <a:noFill/>
                  <a:round/>
                  <a:headEnd/>
                  <a:tailEnd/>
                </a:ln>
              </p:spPr>
              <p:txBody>
                <a:bodyPr vert="horz" wrap="square" lIns="68580" tIns="34290" rIns="68580" bIns="3429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6858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de-DE" sz="1350" b="0" i="0" u="none" strike="noStrike" kern="0" cap="none" spc="0" normalizeH="0" baseline="0" noProof="1">
                    <a:ln>
                      <a:noFill/>
                    </a:ln>
                    <a:solidFill>
                      <a:srgbClr val="ED7D31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  <p:sp>
            <p:nvSpPr>
              <p:cNvPr id="549" name="Freihandform 291">
                <a:extLst>
                  <a:ext uri="{FF2B5EF4-FFF2-40B4-BE49-F238E27FC236}">
                    <a16:creationId xmlns:a16="http://schemas.microsoft.com/office/drawing/2014/main" id="{64766CA2-8175-24EB-F5FA-CFEAD58BDAA4}"/>
                  </a:ext>
                </a:extLst>
              </p:cNvPr>
              <p:cNvSpPr/>
              <p:nvPr/>
            </p:nvSpPr>
            <p:spPr>
              <a:xfrm>
                <a:off x="132106" y="3078492"/>
                <a:ext cx="320330" cy="382046"/>
              </a:xfrm>
              <a:custGeom>
                <a:avLst/>
                <a:gdLst>
                  <a:gd name="connsiteX0" fmla="*/ 206030 w 320330"/>
                  <a:gd name="connsiteY0" fmla="*/ 33802 h 382046"/>
                  <a:gd name="connsiteX1" fmla="*/ 206030 w 320330"/>
                  <a:gd name="connsiteY1" fmla="*/ 33802 h 382046"/>
                  <a:gd name="connsiteX2" fmla="*/ 153642 w 320330"/>
                  <a:gd name="connsiteY2" fmla="*/ 36184 h 382046"/>
                  <a:gd name="connsiteX3" fmla="*/ 132211 w 320330"/>
                  <a:gd name="connsiteY3" fmla="*/ 48090 h 382046"/>
                  <a:gd name="connsiteX4" fmla="*/ 113161 w 320330"/>
                  <a:gd name="connsiteY4" fmla="*/ 59996 h 382046"/>
                  <a:gd name="connsiteX5" fmla="*/ 98874 w 320330"/>
                  <a:gd name="connsiteY5" fmla="*/ 74284 h 382046"/>
                  <a:gd name="connsiteX6" fmla="*/ 82205 w 320330"/>
                  <a:gd name="connsiteY6" fmla="*/ 86190 h 382046"/>
                  <a:gd name="connsiteX7" fmla="*/ 67917 w 320330"/>
                  <a:gd name="connsiteY7" fmla="*/ 105240 h 382046"/>
                  <a:gd name="connsiteX8" fmla="*/ 60774 w 320330"/>
                  <a:gd name="connsiteY8" fmla="*/ 112384 h 382046"/>
                  <a:gd name="connsiteX9" fmla="*/ 48867 w 320330"/>
                  <a:gd name="connsiteY9" fmla="*/ 131434 h 382046"/>
                  <a:gd name="connsiteX10" fmla="*/ 39342 w 320330"/>
                  <a:gd name="connsiteY10" fmla="*/ 155246 h 382046"/>
                  <a:gd name="connsiteX11" fmla="*/ 25055 w 320330"/>
                  <a:gd name="connsiteY11" fmla="*/ 176677 h 382046"/>
                  <a:gd name="connsiteX12" fmla="*/ 15530 w 320330"/>
                  <a:gd name="connsiteY12" fmla="*/ 195727 h 382046"/>
                  <a:gd name="connsiteX13" fmla="*/ 6005 w 320330"/>
                  <a:gd name="connsiteY13" fmla="*/ 207634 h 382046"/>
                  <a:gd name="connsiteX14" fmla="*/ 3624 w 320330"/>
                  <a:gd name="connsiteY14" fmla="*/ 214777 h 382046"/>
                  <a:gd name="connsiteX15" fmla="*/ 6005 w 320330"/>
                  <a:gd name="connsiteY15" fmla="*/ 262402 h 382046"/>
                  <a:gd name="connsiteX16" fmla="*/ 22674 w 320330"/>
                  <a:gd name="connsiteY16" fmla="*/ 279071 h 382046"/>
                  <a:gd name="connsiteX17" fmla="*/ 29817 w 320330"/>
                  <a:gd name="connsiteY17" fmla="*/ 286215 h 382046"/>
                  <a:gd name="connsiteX18" fmla="*/ 36961 w 320330"/>
                  <a:gd name="connsiteY18" fmla="*/ 300502 h 382046"/>
                  <a:gd name="connsiteX19" fmla="*/ 44105 w 320330"/>
                  <a:gd name="connsiteY19" fmla="*/ 305265 h 382046"/>
                  <a:gd name="connsiteX20" fmla="*/ 48867 w 320330"/>
                  <a:gd name="connsiteY20" fmla="*/ 321934 h 382046"/>
                  <a:gd name="connsiteX21" fmla="*/ 58392 w 320330"/>
                  <a:gd name="connsiteY21" fmla="*/ 326696 h 382046"/>
                  <a:gd name="connsiteX22" fmla="*/ 72680 w 320330"/>
                  <a:gd name="connsiteY22" fmla="*/ 336221 h 382046"/>
                  <a:gd name="connsiteX23" fmla="*/ 91730 w 320330"/>
                  <a:gd name="connsiteY23" fmla="*/ 340984 h 382046"/>
                  <a:gd name="connsiteX24" fmla="*/ 101255 w 320330"/>
                  <a:gd name="connsiteY24" fmla="*/ 343365 h 382046"/>
                  <a:gd name="connsiteX25" fmla="*/ 129830 w 320330"/>
                  <a:gd name="connsiteY25" fmla="*/ 348127 h 382046"/>
                  <a:gd name="connsiteX26" fmla="*/ 136974 w 320330"/>
                  <a:gd name="connsiteY26" fmla="*/ 350509 h 382046"/>
                  <a:gd name="connsiteX27" fmla="*/ 153642 w 320330"/>
                  <a:gd name="connsiteY27" fmla="*/ 357652 h 382046"/>
                  <a:gd name="connsiteX28" fmla="*/ 170311 w 320330"/>
                  <a:gd name="connsiteY28" fmla="*/ 362415 h 382046"/>
                  <a:gd name="connsiteX29" fmla="*/ 184599 w 320330"/>
                  <a:gd name="connsiteY29" fmla="*/ 369559 h 382046"/>
                  <a:gd name="connsiteX30" fmla="*/ 225080 w 320330"/>
                  <a:gd name="connsiteY30" fmla="*/ 376702 h 382046"/>
                  <a:gd name="connsiteX31" fmla="*/ 232224 w 320330"/>
                  <a:gd name="connsiteY31" fmla="*/ 379084 h 382046"/>
                  <a:gd name="connsiteX32" fmla="*/ 291755 w 320330"/>
                  <a:gd name="connsiteY32" fmla="*/ 379084 h 382046"/>
                  <a:gd name="connsiteX33" fmla="*/ 298899 w 320330"/>
                  <a:gd name="connsiteY33" fmla="*/ 371940 h 382046"/>
                  <a:gd name="connsiteX34" fmla="*/ 308424 w 320330"/>
                  <a:gd name="connsiteY34" fmla="*/ 357652 h 382046"/>
                  <a:gd name="connsiteX35" fmla="*/ 310805 w 320330"/>
                  <a:gd name="connsiteY35" fmla="*/ 348127 h 382046"/>
                  <a:gd name="connsiteX36" fmla="*/ 317949 w 320330"/>
                  <a:gd name="connsiteY36" fmla="*/ 338602 h 382046"/>
                  <a:gd name="connsiteX37" fmla="*/ 320330 w 320330"/>
                  <a:gd name="connsiteY37" fmla="*/ 324315 h 382046"/>
                  <a:gd name="connsiteX38" fmla="*/ 317949 w 320330"/>
                  <a:gd name="connsiteY38" fmla="*/ 243352 h 382046"/>
                  <a:gd name="connsiteX39" fmla="*/ 315567 w 320330"/>
                  <a:gd name="connsiteY39" fmla="*/ 231446 h 382046"/>
                  <a:gd name="connsiteX40" fmla="*/ 308424 w 320330"/>
                  <a:gd name="connsiteY40" fmla="*/ 193346 h 382046"/>
                  <a:gd name="connsiteX41" fmla="*/ 303661 w 320330"/>
                  <a:gd name="connsiteY41" fmla="*/ 186202 h 382046"/>
                  <a:gd name="connsiteX42" fmla="*/ 294136 w 320330"/>
                  <a:gd name="connsiteY42" fmla="*/ 164771 h 382046"/>
                  <a:gd name="connsiteX43" fmla="*/ 289374 w 320330"/>
                  <a:gd name="connsiteY43" fmla="*/ 152865 h 382046"/>
                  <a:gd name="connsiteX44" fmla="*/ 275086 w 320330"/>
                  <a:gd name="connsiteY44" fmla="*/ 121909 h 382046"/>
                  <a:gd name="connsiteX45" fmla="*/ 265561 w 320330"/>
                  <a:gd name="connsiteY45" fmla="*/ 95715 h 382046"/>
                  <a:gd name="connsiteX46" fmla="*/ 263180 w 320330"/>
                  <a:gd name="connsiteY46" fmla="*/ 86190 h 382046"/>
                  <a:gd name="connsiteX47" fmla="*/ 253655 w 320330"/>
                  <a:gd name="connsiteY47" fmla="*/ 71902 h 382046"/>
                  <a:gd name="connsiteX48" fmla="*/ 246511 w 320330"/>
                  <a:gd name="connsiteY48" fmla="*/ 50471 h 382046"/>
                  <a:gd name="connsiteX49" fmla="*/ 239367 w 320330"/>
                  <a:gd name="connsiteY49" fmla="*/ 38565 h 382046"/>
                  <a:gd name="connsiteX50" fmla="*/ 232224 w 320330"/>
                  <a:gd name="connsiteY50" fmla="*/ 17134 h 382046"/>
                  <a:gd name="connsiteX51" fmla="*/ 227461 w 320330"/>
                  <a:gd name="connsiteY51" fmla="*/ 9990 h 382046"/>
                  <a:gd name="connsiteX52" fmla="*/ 225080 w 320330"/>
                  <a:gd name="connsiteY52" fmla="*/ 465 h 382046"/>
                  <a:gd name="connsiteX53" fmla="*/ 206030 w 320330"/>
                  <a:gd name="connsiteY53" fmla="*/ 33802 h 38204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</a:cxnLst>
                <a:rect l="l" t="t" r="r" b="b"/>
                <a:pathLst>
                  <a:path w="320330" h="382046">
                    <a:moveTo>
                      <a:pt x="206030" y="33802"/>
                    </a:moveTo>
                    <a:lnTo>
                      <a:pt x="206030" y="33802"/>
                    </a:lnTo>
                    <a:cubicBezTo>
                      <a:pt x="188567" y="34596"/>
                      <a:pt x="171067" y="34790"/>
                      <a:pt x="153642" y="36184"/>
                    </a:cubicBezTo>
                    <a:cubicBezTo>
                      <a:pt x="146592" y="36748"/>
                      <a:pt x="135990" y="45445"/>
                      <a:pt x="132211" y="48090"/>
                    </a:cubicBezTo>
                    <a:cubicBezTo>
                      <a:pt x="116754" y="58910"/>
                      <a:pt x="129002" y="52077"/>
                      <a:pt x="113161" y="59996"/>
                    </a:cubicBezTo>
                    <a:cubicBezTo>
                      <a:pt x="101942" y="76827"/>
                      <a:pt x="116590" y="56569"/>
                      <a:pt x="98874" y="74284"/>
                    </a:cubicBezTo>
                    <a:cubicBezTo>
                      <a:pt x="85796" y="87361"/>
                      <a:pt x="105646" y="76813"/>
                      <a:pt x="82205" y="86190"/>
                    </a:cubicBezTo>
                    <a:cubicBezTo>
                      <a:pt x="77442" y="92540"/>
                      <a:pt x="73529" y="99627"/>
                      <a:pt x="67917" y="105240"/>
                    </a:cubicBezTo>
                    <a:cubicBezTo>
                      <a:pt x="65536" y="107621"/>
                      <a:pt x="62930" y="109797"/>
                      <a:pt x="60774" y="112384"/>
                    </a:cubicBezTo>
                    <a:cubicBezTo>
                      <a:pt x="58288" y="115367"/>
                      <a:pt x="49647" y="130030"/>
                      <a:pt x="48867" y="131434"/>
                    </a:cubicBezTo>
                    <a:cubicBezTo>
                      <a:pt x="40892" y="145789"/>
                      <a:pt x="46596" y="137111"/>
                      <a:pt x="39342" y="155246"/>
                    </a:cubicBezTo>
                    <a:cubicBezTo>
                      <a:pt x="35120" y="165801"/>
                      <a:pt x="32771" y="167033"/>
                      <a:pt x="25055" y="176677"/>
                    </a:cubicBezTo>
                    <a:cubicBezTo>
                      <a:pt x="20321" y="195616"/>
                      <a:pt x="26324" y="176837"/>
                      <a:pt x="15530" y="195727"/>
                    </a:cubicBezTo>
                    <a:cubicBezTo>
                      <a:pt x="8451" y="208115"/>
                      <a:pt x="19562" y="198595"/>
                      <a:pt x="6005" y="207634"/>
                    </a:cubicBezTo>
                    <a:cubicBezTo>
                      <a:pt x="5211" y="210015"/>
                      <a:pt x="4314" y="212364"/>
                      <a:pt x="3624" y="214777"/>
                    </a:cubicBezTo>
                    <a:cubicBezTo>
                      <a:pt x="-1127" y="231404"/>
                      <a:pt x="-2042" y="241839"/>
                      <a:pt x="6005" y="262402"/>
                    </a:cubicBezTo>
                    <a:cubicBezTo>
                      <a:pt x="8868" y="269720"/>
                      <a:pt x="17118" y="273515"/>
                      <a:pt x="22674" y="279071"/>
                    </a:cubicBezTo>
                    <a:lnTo>
                      <a:pt x="29817" y="286215"/>
                    </a:lnTo>
                    <a:cubicBezTo>
                      <a:pt x="31754" y="292024"/>
                      <a:pt x="32346" y="295887"/>
                      <a:pt x="36961" y="300502"/>
                    </a:cubicBezTo>
                    <a:cubicBezTo>
                      <a:pt x="38985" y="302526"/>
                      <a:pt x="41724" y="303677"/>
                      <a:pt x="44105" y="305265"/>
                    </a:cubicBezTo>
                    <a:cubicBezTo>
                      <a:pt x="45692" y="310821"/>
                      <a:pt x="45662" y="317126"/>
                      <a:pt x="48867" y="321934"/>
                    </a:cubicBezTo>
                    <a:cubicBezTo>
                      <a:pt x="50836" y="324888"/>
                      <a:pt x="55348" y="324870"/>
                      <a:pt x="58392" y="326696"/>
                    </a:cubicBezTo>
                    <a:cubicBezTo>
                      <a:pt x="63300" y="329641"/>
                      <a:pt x="67250" y="334411"/>
                      <a:pt x="72680" y="336221"/>
                    </a:cubicBezTo>
                    <a:cubicBezTo>
                      <a:pt x="85444" y="340475"/>
                      <a:pt x="74493" y="337153"/>
                      <a:pt x="91730" y="340984"/>
                    </a:cubicBezTo>
                    <a:cubicBezTo>
                      <a:pt x="94925" y="341694"/>
                      <a:pt x="98038" y="342762"/>
                      <a:pt x="101255" y="343365"/>
                    </a:cubicBezTo>
                    <a:cubicBezTo>
                      <a:pt x="110746" y="345144"/>
                      <a:pt x="129830" y="348127"/>
                      <a:pt x="129830" y="348127"/>
                    </a:cubicBezTo>
                    <a:cubicBezTo>
                      <a:pt x="132211" y="348921"/>
                      <a:pt x="134667" y="349520"/>
                      <a:pt x="136974" y="350509"/>
                    </a:cubicBezTo>
                    <a:cubicBezTo>
                      <a:pt x="149673" y="355952"/>
                      <a:pt x="142474" y="354461"/>
                      <a:pt x="153642" y="357652"/>
                    </a:cubicBezTo>
                    <a:cubicBezTo>
                      <a:pt x="157197" y="358668"/>
                      <a:pt x="166508" y="360514"/>
                      <a:pt x="170311" y="362415"/>
                    </a:cubicBezTo>
                    <a:cubicBezTo>
                      <a:pt x="184224" y="369371"/>
                      <a:pt x="170634" y="365569"/>
                      <a:pt x="184599" y="369559"/>
                    </a:cubicBezTo>
                    <a:cubicBezTo>
                      <a:pt x="197794" y="373329"/>
                      <a:pt x="211538" y="374768"/>
                      <a:pt x="225080" y="376702"/>
                    </a:cubicBezTo>
                    <a:cubicBezTo>
                      <a:pt x="227461" y="377496"/>
                      <a:pt x="229789" y="378475"/>
                      <a:pt x="232224" y="379084"/>
                    </a:cubicBezTo>
                    <a:cubicBezTo>
                      <a:pt x="255131" y="384811"/>
                      <a:pt x="258097" y="380767"/>
                      <a:pt x="291755" y="379084"/>
                    </a:cubicBezTo>
                    <a:cubicBezTo>
                      <a:pt x="294136" y="376703"/>
                      <a:pt x="297031" y="374742"/>
                      <a:pt x="298899" y="371940"/>
                    </a:cubicBezTo>
                    <a:cubicBezTo>
                      <a:pt x="312684" y="351262"/>
                      <a:pt x="285634" y="380442"/>
                      <a:pt x="308424" y="357652"/>
                    </a:cubicBezTo>
                    <a:cubicBezTo>
                      <a:pt x="309218" y="354477"/>
                      <a:pt x="309341" y="351054"/>
                      <a:pt x="310805" y="348127"/>
                    </a:cubicBezTo>
                    <a:cubicBezTo>
                      <a:pt x="312580" y="344577"/>
                      <a:pt x="316475" y="342287"/>
                      <a:pt x="317949" y="338602"/>
                    </a:cubicBezTo>
                    <a:cubicBezTo>
                      <a:pt x="319742" y="334119"/>
                      <a:pt x="319536" y="329077"/>
                      <a:pt x="320330" y="324315"/>
                    </a:cubicBezTo>
                    <a:cubicBezTo>
                      <a:pt x="319536" y="297327"/>
                      <a:pt x="319332" y="270316"/>
                      <a:pt x="317949" y="243352"/>
                    </a:cubicBezTo>
                    <a:cubicBezTo>
                      <a:pt x="317742" y="239310"/>
                      <a:pt x="316182" y="235446"/>
                      <a:pt x="315567" y="231446"/>
                    </a:cubicBezTo>
                    <a:cubicBezTo>
                      <a:pt x="314503" y="224530"/>
                      <a:pt x="312561" y="199551"/>
                      <a:pt x="308424" y="193346"/>
                    </a:cubicBezTo>
                    <a:lnTo>
                      <a:pt x="303661" y="186202"/>
                    </a:lnTo>
                    <a:cubicBezTo>
                      <a:pt x="298622" y="171084"/>
                      <a:pt x="304470" y="187506"/>
                      <a:pt x="294136" y="164771"/>
                    </a:cubicBezTo>
                    <a:cubicBezTo>
                      <a:pt x="292367" y="160880"/>
                      <a:pt x="291165" y="156746"/>
                      <a:pt x="289374" y="152865"/>
                    </a:cubicBezTo>
                    <a:cubicBezTo>
                      <a:pt x="272211" y="115677"/>
                      <a:pt x="285934" y="149025"/>
                      <a:pt x="275086" y="121909"/>
                    </a:cubicBezTo>
                    <a:cubicBezTo>
                      <a:pt x="270300" y="97974"/>
                      <a:pt x="276306" y="122576"/>
                      <a:pt x="265561" y="95715"/>
                    </a:cubicBezTo>
                    <a:cubicBezTo>
                      <a:pt x="264346" y="92676"/>
                      <a:pt x="264644" y="89117"/>
                      <a:pt x="263180" y="86190"/>
                    </a:cubicBezTo>
                    <a:cubicBezTo>
                      <a:pt x="260620" y="81070"/>
                      <a:pt x="256396" y="76927"/>
                      <a:pt x="253655" y="71902"/>
                    </a:cubicBezTo>
                    <a:cubicBezTo>
                      <a:pt x="238486" y="44093"/>
                      <a:pt x="256965" y="73992"/>
                      <a:pt x="246511" y="50471"/>
                    </a:cubicBezTo>
                    <a:cubicBezTo>
                      <a:pt x="244631" y="46242"/>
                      <a:pt x="241437" y="42705"/>
                      <a:pt x="239367" y="38565"/>
                    </a:cubicBezTo>
                    <a:cubicBezTo>
                      <a:pt x="220034" y="-102"/>
                      <a:pt x="245868" y="48969"/>
                      <a:pt x="232224" y="17134"/>
                    </a:cubicBezTo>
                    <a:cubicBezTo>
                      <a:pt x="231097" y="14503"/>
                      <a:pt x="229049" y="12371"/>
                      <a:pt x="227461" y="9990"/>
                    </a:cubicBezTo>
                    <a:cubicBezTo>
                      <a:pt x="226667" y="6815"/>
                      <a:pt x="226369" y="3473"/>
                      <a:pt x="225080" y="465"/>
                    </a:cubicBezTo>
                    <a:cubicBezTo>
                      <a:pt x="223061" y="-4247"/>
                      <a:pt x="209205" y="28246"/>
                      <a:pt x="206030" y="33802"/>
                    </a:cubicBezTo>
                    <a:close/>
                  </a:path>
                </a:pathLst>
              </a:custGeom>
              <a:solidFill>
                <a:sysClr val="window" lastClr="FFFFFF"/>
              </a:solidFill>
              <a:ln w="12700" cap="flat" cmpd="sng" algn="ctr">
                <a:solidFill>
                  <a:sysClr val="window" lastClr="FFFFFF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6858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de-DE" sz="1350" b="0" i="0" u="none" strike="noStrike" kern="0" cap="none" spc="0" normalizeH="0" baseline="0" noProof="1">
                  <a:ln>
                    <a:noFill/>
                  </a:ln>
                  <a:solidFill>
                    <a:srgbClr val="ED7D31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  <p:grpSp>
          <p:nvGrpSpPr>
            <p:cNvPr id="543" name="Gruppieren 542" descr="{&quot;Key&quot;:&quot;POWER_USER_SHAPE_ICON&quot;,&quot;Value&quot;:&quot;POWER_USER_SHAPE_ICON_STYLE_2&quot;}">
              <a:extLst>
                <a:ext uri="{FF2B5EF4-FFF2-40B4-BE49-F238E27FC236}">
                  <a16:creationId xmlns:a16="http://schemas.microsoft.com/office/drawing/2014/main" id="{6167188D-A9C5-518B-43D3-93564B165264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9158430" y="4010639"/>
              <a:ext cx="349906" cy="349906"/>
              <a:chOff x="-127600" y="3030538"/>
              <a:chExt cx="762000" cy="762000"/>
            </a:xfrm>
          </p:grpSpPr>
          <p:sp>
            <p:nvSpPr>
              <p:cNvPr id="544" name="POWER_USER_SHAPE_ICON_STYLE_2">
                <a:extLst>
                  <a:ext uri="{FF2B5EF4-FFF2-40B4-BE49-F238E27FC236}">
                    <a16:creationId xmlns:a16="http://schemas.microsoft.com/office/drawing/2014/main" id="{CCC0B7F7-E7C8-3CC7-3AAF-07F63E6E6009}"/>
                  </a:ext>
                </a:extLst>
              </p:cNvPr>
              <p:cNvSpPr/>
              <p:nvPr/>
            </p:nvSpPr>
            <p:spPr>
              <a:xfrm>
                <a:off x="-127600" y="3030538"/>
                <a:ext cx="762000" cy="762000"/>
              </a:xfrm>
              <a:prstGeom prst="ellipse">
                <a:avLst/>
              </a:prstGeom>
              <a:noFill/>
              <a:ln w="38100" cap="flat" cmpd="sng" algn="ctr">
                <a:solidFill>
                  <a:srgbClr val="ED7D31"/>
                </a:solidFill>
                <a:prstDash val="sysDot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6858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de-DE" sz="1350" b="0" i="0" u="none" strike="noStrike" kern="0" cap="none" spc="0" normalizeH="0" baseline="0" noProof="1">
                  <a:ln>
                    <a:noFill/>
                  </a:ln>
                  <a:solidFill>
                    <a:srgbClr val="ED7D31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grpSp>
            <p:nvGrpSpPr>
              <p:cNvPr id="545" name="Gruppieren 544">
                <a:extLst>
                  <a:ext uri="{FF2B5EF4-FFF2-40B4-BE49-F238E27FC236}">
                    <a16:creationId xmlns:a16="http://schemas.microsoft.com/office/drawing/2014/main" id="{B95BC88D-1133-F538-39B1-B4F70B6F97FC}"/>
                  </a:ext>
                </a:extLst>
              </p:cNvPr>
              <p:cNvGrpSpPr>
                <a:grpSpLocks noChangeAspect="1"/>
              </p:cNvGrpSpPr>
              <p:nvPr/>
            </p:nvGrpSpPr>
            <p:grpSpPr>
              <a:xfrm>
                <a:off x="0" y="3157538"/>
                <a:ext cx="506799" cy="508000"/>
                <a:chOff x="0" y="3157538"/>
                <a:chExt cx="541641" cy="542925"/>
              </a:xfrm>
            </p:grpSpPr>
            <p:sp>
              <p:nvSpPr>
                <p:cNvPr id="546" name="Earth">
                  <a:extLst>
                    <a:ext uri="{FF2B5EF4-FFF2-40B4-BE49-F238E27FC236}">
                      <a16:creationId xmlns:a16="http://schemas.microsoft.com/office/drawing/2014/main" id="{5183A93D-B244-12DE-8E4B-CF8FD591D474}"/>
                    </a:ext>
                  </a:extLst>
                </p:cNvPr>
                <p:cNvSpPr>
                  <a:spLocks/>
                </p:cNvSpPr>
                <p:nvPr>
                  <p:custDataLst>
                    <p:tags r:id="rId36"/>
                  </p:custDataLst>
                </p:nvPr>
              </p:nvSpPr>
              <p:spPr bwMode="auto">
                <a:xfrm>
                  <a:off x="383769" y="3536174"/>
                  <a:ext cx="50057" cy="75727"/>
                </a:xfrm>
                <a:custGeom>
                  <a:avLst/>
                  <a:gdLst>
                    <a:gd name="T0" fmla="*/ 98 w 104"/>
                    <a:gd name="T1" fmla="*/ 1 h 155"/>
                    <a:gd name="T2" fmla="*/ 95 w 104"/>
                    <a:gd name="T3" fmla="*/ 44 h 155"/>
                    <a:gd name="T4" fmla="*/ 50 w 104"/>
                    <a:gd name="T5" fmla="*/ 128 h 155"/>
                    <a:gd name="T6" fmla="*/ 20 w 104"/>
                    <a:gd name="T7" fmla="*/ 109 h 155"/>
                    <a:gd name="T8" fmla="*/ 35 w 104"/>
                    <a:gd name="T9" fmla="*/ 60 h 155"/>
                    <a:gd name="T10" fmla="*/ 82 w 104"/>
                    <a:gd name="T11" fmla="*/ 21 h 155"/>
                    <a:gd name="T12" fmla="*/ 98 w 104"/>
                    <a:gd name="T13" fmla="*/ 1 h 15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104" h="155">
                      <a:moveTo>
                        <a:pt x="98" y="1"/>
                      </a:moveTo>
                      <a:cubicBezTo>
                        <a:pt x="102" y="2"/>
                        <a:pt x="104" y="26"/>
                        <a:pt x="95" y="44"/>
                      </a:cubicBezTo>
                      <a:cubicBezTo>
                        <a:pt x="86" y="61"/>
                        <a:pt x="56" y="118"/>
                        <a:pt x="50" y="128"/>
                      </a:cubicBezTo>
                      <a:cubicBezTo>
                        <a:pt x="35" y="155"/>
                        <a:pt x="0" y="145"/>
                        <a:pt x="20" y="109"/>
                      </a:cubicBezTo>
                      <a:cubicBezTo>
                        <a:pt x="39" y="75"/>
                        <a:pt x="28" y="74"/>
                        <a:pt x="35" y="60"/>
                      </a:cubicBezTo>
                      <a:cubicBezTo>
                        <a:pt x="42" y="47"/>
                        <a:pt x="65" y="54"/>
                        <a:pt x="82" y="21"/>
                      </a:cubicBezTo>
                      <a:cubicBezTo>
                        <a:pt x="93" y="1"/>
                        <a:pt x="94" y="0"/>
                        <a:pt x="98" y="1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 w="0">
                  <a:solidFill>
                    <a:srgbClr val="ED7D31"/>
                  </a:solidFill>
                  <a:prstDash val="solid"/>
                  <a:round/>
                  <a:headEnd/>
                  <a:tailEnd/>
                </a:ln>
              </p:spPr>
              <p:txBody>
                <a:bodyPr vert="horz" wrap="square" lIns="68580" tIns="34290" rIns="68580" bIns="3429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6858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de-DE" sz="1350" b="0" i="0" u="none" strike="noStrike" kern="0" cap="none" spc="0" normalizeH="0" baseline="0" noProof="1">
                    <a:ln>
                      <a:noFill/>
                    </a:ln>
                    <a:solidFill>
                      <a:srgbClr val="ED7D31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547" name="Earth">
                  <a:extLst>
                    <a:ext uri="{FF2B5EF4-FFF2-40B4-BE49-F238E27FC236}">
                      <a16:creationId xmlns:a16="http://schemas.microsoft.com/office/drawing/2014/main" id="{4714FD5B-6F69-DCA6-29AE-19363346400A}"/>
                    </a:ext>
                  </a:extLst>
                </p:cNvPr>
                <p:cNvSpPr>
                  <a:spLocks noEditPoints="1"/>
                </p:cNvSpPr>
                <p:nvPr>
                  <p:custDataLst>
                    <p:tags r:id="rId37"/>
                  </p:custDataLst>
                </p:nvPr>
              </p:nvSpPr>
              <p:spPr bwMode="auto">
                <a:xfrm>
                  <a:off x="0" y="3157538"/>
                  <a:ext cx="541641" cy="542925"/>
                </a:xfrm>
                <a:custGeom>
                  <a:avLst/>
                  <a:gdLst>
                    <a:gd name="T0" fmla="*/ 562 w 1125"/>
                    <a:gd name="T1" fmla="*/ 1125 h 1125"/>
                    <a:gd name="T2" fmla="*/ 562 w 1125"/>
                    <a:gd name="T3" fmla="*/ 0 h 1125"/>
                    <a:gd name="T4" fmla="*/ 1100 w 1125"/>
                    <a:gd name="T5" fmla="*/ 501 h 1125"/>
                    <a:gd name="T6" fmla="*/ 1034 w 1125"/>
                    <a:gd name="T7" fmla="*/ 367 h 1125"/>
                    <a:gd name="T8" fmla="*/ 960 w 1125"/>
                    <a:gd name="T9" fmla="*/ 325 h 1125"/>
                    <a:gd name="T10" fmla="*/ 904 w 1125"/>
                    <a:gd name="T11" fmla="*/ 311 h 1125"/>
                    <a:gd name="T12" fmla="*/ 837 w 1125"/>
                    <a:gd name="T13" fmla="*/ 279 h 1125"/>
                    <a:gd name="T14" fmla="*/ 903 w 1125"/>
                    <a:gd name="T15" fmla="*/ 343 h 1125"/>
                    <a:gd name="T16" fmla="*/ 949 w 1125"/>
                    <a:gd name="T17" fmla="*/ 395 h 1125"/>
                    <a:gd name="T18" fmla="*/ 820 w 1125"/>
                    <a:gd name="T19" fmla="*/ 456 h 1125"/>
                    <a:gd name="T20" fmla="*/ 709 w 1125"/>
                    <a:gd name="T21" fmla="*/ 335 h 1125"/>
                    <a:gd name="T22" fmla="*/ 890 w 1125"/>
                    <a:gd name="T23" fmla="*/ 502 h 1125"/>
                    <a:gd name="T24" fmla="*/ 834 w 1125"/>
                    <a:gd name="T25" fmla="*/ 650 h 1125"/>
                    <a:gd name="T26" fmla="*/ 768 w 1125"/>
                    <a:gd name="T27" fmla="*/ 859 h 1125"/>
                    <a:gd name="T28" fmla="*/ 687 w 1125"/>
                    <a:gd name="T29" fmla="*/ 973 h 1125"/>
                    <a:gd name="T30" fmla="*/ 496 w 1125"/>
                    <a:gd name="T31" fmla="*/ 950 h 1125"/>
                    <a:gd name="T32" fmla="*/ 435 w 1125"/>
                    <a:gd name="T33" fmla="*/ 725 h 1125"/>
                    <a:gd name="T34" fmla="*/ 378 w 1125"/>
                    <a:gd name="T35" fmla="*/ 602 h 1125"/>
                    <a:gd name="T36" fmla="*/ 184 w 1125"/>
                    <a:gd name="T37" fmla="*/ 579 h 1125"/>
                    <a:gd name="T38" fmla="*/ 175 w 1125"/>
                    <a:gd name="T39" fmla="*/ 358 h 1125"/>
                    <a:gd name="T40" fmla="*/ 271 w 1125"/>
                    <a:gd name="T41" fmla="*/ 256 h 1125"/>
                    <a:gd name="T42" fmla="*/ 284 w 1125"/>
                    <a:gd name="T43" fmla="*/ 190 h 1125"/>
                    <a:gd name="T44" fmla="*/ 361 w 1125"/>
                    <a:gd name="T45" fmla="*/ 150 h 1125"/>
                    <a:gd name="T46" fmla="*/ 366 w 1125"/>
                    <a:gd name="T47" fmla="*/ 74 h 1125"/>
                    <a:gd name="T48" fmla="*/ 412 w 1125"/>
                    <a:gd name="T49" fmla="*/ 89 h 1125"/>
                    <a:gd name="T50" fmla="*/ 456 w 1125"/>
                    <a:gd name="T51" fmla="*/ 51 h 1125"/>
                    <a:gd name="T52" fmla="*/ 20 w 1125"/>
                    <a:gd name="T53" fmla="*/ 562 h 1125"/>
                    <a:gd name="T54" fmla="*/ 1104 w 1125"/>
                    <a:gd name="T55" fmla="*/ 562 h 1125"/>
                    <a:gd name="T56" fmla="*/ 528 w 1125"/>
                    <a:gd name="T57" fmla="*/ 47 h 1125"/>
                    <a:gd name="T58" fmla="*/ 515 w 1125"/>
                    <a:gd name="T59" fmla="*/ 77 h 1125"/>
                    <a:gd name="T60" fmla="*/ 550 w 1125"/>
                    <a:gd name="T61" fmla="*/ 38 h 1125"/>
                    <a:gd name="T62" fmla="*/ 528 w 1125"/>
                    <a:gd name="T63" fmla="*/ 47 h 1125"/>
                    <a:gd name="T64" fmla="*/ 783 w 1125"/>
                    <a:gd name="T65" fmla="*/ 159 h 1125"/>
                    <a:gd name="T66" fmla="*/ 842 w 1125"/>
                    <a:gd name="T67" fmla="*/ 210 h 1125"/>
                    <a:gd name="T68" fmla="*/ 790 w 1125"/>
                    <a:gd name="T69" fmla="*/ 125 h 1125"/>
                    <a:gd name="T70" fmla="*/ 618 w 1125"/>
                    <a:gd name="T71" fmla="*/ 143 h 1125"/>
                    <a:gd name="T72" fmla="*/ 690 w 1125"/>
                    <a:gd name="T73" fmla="*/ 168 h 1125"/>
                    <a:gd name="T74" fmla="*/ 677 w 1125"/>
                    <a:gd name="T75" fmla="*/ 134 h 1125"/>
                    <a:gd name="T76" fmla="*/ 305 w 1125"/>
                    <a:gd name="T77" fmla="*/ 233 h 1125"/>
                    <a:gd name="T78" fmla="*/ 380 w 1125"/>
                    <a:gd name="T79" fmla="*/ 218 h 1125"/>
                    <a:gd name="T80" fmla="*/ 440 w 1125"/>
                    <a:gd name="T81" fmla="*/ 241 h 1125"/>
                    <a:gd name="T82" fmla="*/ 490 w 1125"/>
                    <a:gd name="T83" fmla="*/ 269 h 1125"/>
                    <a:gd name="T84" fmla="*/ 542 w 1125"/>
                    <a:gd name="T85" fmla="*/ 262 h 1125"/>
                    <a:gd name="T86" fmla="*/ 646 w 1125"/>
                    <a:gd name="T87" fmla="*/ 271 h 1125"/>
                    <a:gd name="T88" fmla="*/ 666 w 1125"/>
                    <a:gd name="T89" fmla="*/ 216 h 1125"/>
                    <a:gd name="T90" fmla="*/ 581 w 1125"/>
                    <a:gd name="T91" fmla="*/ 173 h 1125"/>
                    <a:gd name="T92" fmla="*/ 544 w 1125"/>
                    <a:gd name="T93" fmla="*/ 193 h 1125"/>
                    <a:gd name="T94" fmla="*/ 493 w 1125"/>
                    <a:gd name="T95" fmla="*/ 145 h 1125"/>
                    <a:gd name="T96" fmla="*/ 492 w 1125"/>
                    <a:gd name="T97" fmla="*/ 164 h 1125"/>
                    <a:gd name="T98" fmla="*/ 492 w 1125"/>
                    <a:gd name="T99" fmla="*/ 216 h 1125"/>
                    <a:gd name="T100" fmla="*/ 493 w 1125"/>
                    <a:gd name="T101" fmla="*/ 197 h 1125"/>
                    <a:gd name="T102" fmla="*/ 429 w 1125"/>
                    <a:gd name="T103" fmla="*/ 156 h 1125"/>
                    <a:gd name="T104" fmla="*/ 347 w 1125"/>
                    <a:gd name="T105" fmla="*/ 207 h 112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</a:cxnLst>
                  <a:rect l="0" t="0" r="r" b="b"/>
                  <a:pathLst>
                    <a:path w="1125" h="1125">
                      <a:moveTo>
                        <a:pt x="1125" y="562"/>
                      </a:moveTo>
                      <a:cubicBezTo>
                        <a:pt x="1125" y="873"/>
                        <a:pt x="873" y="1125"/>
                        <a:pt x="562" y="1125"/>
                      </a:cubicBezTo>
                      <a:cubicBezTo>
                        <a:pt x="251" y="1125"/>
                        <a:pt x="0" y="873"/>
                        <a:pt x="0" y="562"/>
                      </a:cubicBezTo>
                      <a:cubicBezTo>
                        <a:pt x="0" y="251"/>
                        <a:pt x="251" y="0"/>
                        <a:pt x="562" y="0"/>
                      </a:cubicBezTo>
                      <a:cubicBezTo>
                        <a:pt x="873" y="0"/>
                        <a:pt x="1125" y="251"/>
                        <a:pt x="1125" y="562"/>
                      </a:cubicBezTo>
                      <a:close/>
                      <a:moveTo>
                        <a:pt x="1100" y="501"/>
                      </a:moveTo>
                      <a:cubicBezTo>
                        <a:pt x="1082" y="503"/>
                        <a:pt x="1065" y="441"/>
                        <a:pt x="1059" y="424"/>
                      </a:cubicBezTo>
                      <a:cubicBezTo>
                        <a:pt x="1054" y="405"/>
                        <a:pt x="1041" y="362"/>
                        <a:pt x="1034" y="367"/>
                      </a:cubicBezTo>
                      <a:cubicBezTo>
                        <a:pt x="1027" y="371"/>
                        <a:pt x="1013" y="358"/>
                        <a:pt x="1003" y="342"/>
                      </a:cubicBezTo>
                      <a:cubicBezTo>
                        <a:pt x="992" y="326"/>
                        <a:pt x="975" y="322"/>
                        <a:pt x="960" y="325"/>
                      </a:cubicBezTo>
                      <a:cubicBezTo>
                        <a:pt x="946" y="328"/>
                        <a:pt x="927" y="324"/>
                        <a:pt x="924" y="318"/>
                      </a:cubicBezTo>
                      <a:cubicBezTo>
                        <a:pt x="920" y="312"/>
                        <a:pt x="917" y="305"/>
                        <a:pt x="904" y="311"/>
                      </a:cubicBezTo>
                      <a:cubicBezTo>
                        <a:pt x="891" y="317"/>
                        <a:pt x="885" y="314"/>
                        <a:pt x="871" y="299"/>
                      </a:cubicBezTo>
                      <a:cubicBezTo>
                        <a:pt x="857" y="283"/>
                        <a:pt x="845" y="275"/>
                        <a:pt x="837" y="279"/>
                      </a:cubicBezTo>
                      <a:cubicBezTo>
                        <a:pt x="829" y="284"/>
                        <a:pt x="840" y="296"/>
                        <a:pt x="856" y="314"/>
                      </a:cubicBezTo>
                      <a:cubicBezTo>
                        <a:pt x="873" y="332"/>
                        <a:pt x="891" y="352"/>
                        <a:pt x="903" y="343"/>
                      </a:cubicBezTo>
                      <a:cubicBezTo>
                        <a:pt x="915" y="334"/>
                        <a:pt x="923" y="336"/>
                        <a:pt x="932" y="343"/>
                      </a:cubicBezTo>
                      <a:cubicBezTo>
                        <a:pt x="941" y="350"/>
                        <a:pt x="957" y="356"/>
                        <a:pt x="949" y="395"/>
                      </a:cubicBezTo>
                      <a:cubicBezTo>
                        <a:pt x="940" y="434"/>
                        <a:pt x="883" y="458"/>
                        <a:pt x="858" y="476"/>
                      </a:cubicBezTo>
                      <a:cubicBezTo>
                        <a:pt x="832" y="494"/>
                        <a:pt x="828" y="482"/>
                        <a:pt x="820" y="456"/>
                      </a:cubicBezTo>
                      <a:cubicBezTo>
                        <a:pt x="813" y="430"/>
                        <a:pt x="744" y="347"/>
                        <a:pt x="724" y="320"/>
                      </a:cubicBezTo>
                      <a:cubicBezTo>
                        <a:pt x="704" y="292"/>
                        <a:pt x="693" y="304"/>
                        <a:pt x="709" y="335"/>
                      </a:cubicBezTo>
                      <a:cubicBezTo>
                        <a:pt x="726" y="366"/>
                        <a:pt x="797" y="463"/>
                        <a:pt x="823" y="497"/>
                      </a:cubicBezTo>
                      <a:cubicBezTo>
                        <a:pt x="849" y="532"/>
                        <a:pt x="865" y="511"/>
                        <a:pt x="890" y="502"/>
                      </a:cubicBezTo>
                      <a:cubicBezTo>
                        <a:pt x="916" y="492"/>
                        <a:pt x="914" y="486"/>
                        <a:pt x="907" y="532"/>
                      </a:cubicBezTo>
                      <a:cubicBezTo>
                        <a:pt x="900" y="578"/>
                        <a:pt x="864" y="619"/>
                        <a:pt x="834" y="650"/>
                      </a:cubicBezTo>
                      <a:cubicBezTo>
                        <a:pt x="805" y="681"/>
                        <a:pt x="785" y="738"/>
                        <a:pt x="796" y="778"/>
                      </a:cubicBezTo>
                      <a:cubicBezTo>
                        <a:pt x="806" y="817"/>
                        <a:pt x="789" y="847"/>
                        <a:pt x="768" y="859"/>
                      </a:cubicBezTo>
                      <a:cubicBezTo>
                        <a:pt x="747" y="871"/>
                        <a:pt x="729" y="887"/>
                        <a:pt x="730" y="912"/>
                      </a:cubicBezTo>
                      <a:cubicBezTo>
                        <a:pt x="730" y="936"/>
                        <a:pt x="709" y="945"/>
                        <a:pt x="687" y="973"/>
                      </a:cubicBezTo>
                      <a:cubicBezTo>
                        <a:pt x="665" y="1001"/>
                        <a:pt x="641" y="1013"/>
                        <a:pt x="594" y="1021"/>
                      </a:cubicBezTo>
                      <a:cubicBezTo>
                        <a:pt x="547" y="1030"/>
                        <a:pt x="515" y="985"/>
                        <a:pt x="496" y="950"/>
                      </a:cubicBezTo>
                      <a:cubicBezTo>
                        <a:pt x="477" y="915"/>
                        <a:pt x="444" y="868"/>
                        <a:pt x="460" y="837"/>
                      </a:cubicBezTo>
                      <a:cubicBezTo>
                        <a:pt x="476" y="806"/>
                        <a:pt x="453" y="746"/>
                        <a:pt x="435" y="725"/>
                      </a:cubicBezTo>
                      <a:cubicBezTo>
                        <a:pt x="418" y="703"/>
                        <a:pt x="400" y="687"/>
                        <a:pt x="408" y="657"/>
                      </a:cubicBezTo>
                      <a:cubicBezTo>
                        <a:pt x="416" y="627"/>
                        <a:pt x="398" y="614"/>
                        <a:pt x="378" y="602"/>
                      </a:cubicBezTo>
                      <a:cubicBezTo>
                        <a:pt x="358" y="589"/>
                        <a:pt x="309" y="592"/>
                        <a:pt x="279" y="599"/>
                      </a:cubicBezTo>
                      <a:cubicBezTo>
                        <a:pt x="249" y="605"/>
                        <a:pt x="195" y="591"/>
                        <a:pt x="184" y="579"/>
                      </a:cubicBezTo>
                      <a:cubicBezTo>
                        <a:pt x="174" y="566"/>
                        <a:pt x="140" y="512"/>
                        <a:pt x="138" y="493"/>
                      </a:cubicBezTo>
                      <a:cubicBezTo>
                        <a:pt x="137" y="475"/>
                        <a:pt x="158" y="381"/>
                        <a:pt x="175" y="358"/>
                      </a:cubicBezTo>
                      <a:cubicBezTo>
                        <a:pt x="191" y="336"/>
                        <a:pt x="234" y="304"/>
                        <a:pt x="237" y="295"/>
                      </a:cubicBezTo>
                      <a:cubicBezTo>
                        <a:pt x="240" y="286"/>
                        <a:pt x="247" y="270"/>
                        <a:pt x="271" y="256"/>
                      </a:cubicBezTo>
                      <a:cubicBezTo>
                        <a:pt x="295" y="243"/>
                        <a:pt x="289" y="222"/>
                        <a:pt x="280" y="222"/>
                      </a:cubicBezTo>
                      <a:cubicBezTo>
                        <a:pt x="271" y="221"/>
                        <a:pt x="277" y="210"/>
                        <a:pt x="284" y="190"/>
                      </a:cubicBezTo>
                      <a:cubicBezTo>
                        <a:pt x="291" y="169"/>
                        <a:pt x="310" y="161"/>
                        <a:pt x="315" y="162"/>
                      </a:cubicBezTo>
                      <a:cubicBezTo>
                        <a:pt x="319" y="164"/>
                        <a:pt x="352" y="165"/>
                        <a:pt x="361" y="150"/>
                      </a:cubicBezTo>
                      <a:cubicBezTo>
                        <a:pt x="370" y="136"/>
                        <a:pt x="341" y="109"/>
                        <a:pt x="337" y="103"/>
                      </a:cubicBezTo>
                      <a:cubicBezTo>
                        <a:pt x="332" y="96"/>
                        <a:pt x="358" y="79"/>
                        <a:pt x="366" y="74"/>
                      </a:cubicBezTo>
                      <a:cubicBezTo>
                        <a:pt x="374" y="69"/>
                        <a:pt x="405" y="55"/>
                        <a:pt x="411" y="56"/>
                      </a:cubicBezTo>
                      <a:cubicBezTo>
                        <a:pt x="417" y="58"/>
                        <a:pt x="401" y="79"/>
                        <a:pt x="412" y="89"/>
                      </a:cubicBezTo>
                      <a:cubicBezTo>
                        <a:pt x="424" y="99"/>
                        <a:pt x="440" y="80"/>
                        <a:pt x="452" y="81"/>
                      </a:cubicBezTo>
                      <a:cubicBezTo>
                        <a:pt x="464" y="81"/>
                        <a:pt x="460" y="57"/>
                        <a:pt x="456" y="51"/>
                      </a:cubicBezTo>
                      <a:cubicBezTo>
                        <a:pt x="454" y="47"/>
                        <a:pt x="469" y="35"/>
                        <a:pt x="484" y="26"/>
                      </a:cubicBezTo>
                      <a:cubicBezTo>
                        <a:pt x="222" y="64"/>
                        <a:pt x="20" y="289"/>
                        <a:pt x="20" y="562"/>
                      </a:cubicBezTo>
                      <a:cubicBezTo>
                        <a:pt x="20" y="861"/>
                        <a:pt x="263" y="1104"/>
                        <a:pt x="562" y="1104"/>
                      </a:cubicBezTo>
                      <a:cubicBezTo>
                        <a:pt x="861" y="1104"/>
                        <a:pt x="1104" y="861"/>
                        <a:pt x="1104" y="562"/>
                      </a:cubicBezTo>
                      <a:cubicBezTo>
                        <a:pt x="1104" y="541"/>
                        <a:pt x="1103" y="521"/>
                        <a:pt x="1100" y="501"/>
                      </a:cubicBezTo>
                      <a:close/>
                      <a:moveTo>
                        <a:pt x="528" y="47"/>
                      </a:moveTo>
                      <a:cubicBezTo>
                        <a:pt x="516" y="59"/>
                        <a:pt x="510" y="65"/>
                        <a:pt x="502" y="67"/>
                      </a:cubicBezTo>
                      <a:cubicBezTo>
                        <a:pt x="494" y="70"/>
                        <a:pt x="490" y="79"/>
                        <a:pt x="515" y="77"/>
                      </a:cubicBezTo>
                      <a:cubicBezTo>
                        <a:pt x="539" y="74"/>
                        <a:pt x="540" y="70"/>
                        <a:pt x="551" y="60"/>
                      </a:cubicBezTo>
                      <a:cubicBezTo>
                        <a:pt x="563" y="51"/>
                        <a:pt x="557" y="43"/>
                        <a:pt x="550" y="38"/>
                      </a:cubicBezTo>
                      <a:cubicBezTo>
                        <a:pt x="543" y="33"/>
                        <a:pt x="539" y="29"/>
                        <a:pt x="531" y="34"/>
                      </a:cubicBezTo>
                      <a:cubicBezTo>
                        <a:pt x="523" y="39"/>
                        <a:pt x="535" y="40"/>
                        <a:pt x="528" y="47"/>
                      </a:cubicBezTo>
                      <a:close/>
                      <a:moveTo>
                        <a:pt x="768" y="128"/>
                      </a:moveTo>
                      <a:cubicBezTo>
                        <a:pt x="759" y="135"/>
                        <a:pt x="769" y="145"/>
                        <a:pt x="783" y="159"/>
                      </a:cubicBezTo>
                      <a:cubicBezTo>
                        <a:pt x="798" y="172"/>
                        <a:pt x="801" y="195"/>
                        <a:pt x="809" y="200"/>
                      </a:cubicBezTo>
                      <a:cubicBezTo>
                        <a:pt x="817" y="205"/>
                        <a:pt x="829" y="213"/>
                        <a:pt x="842" y="210"/>
                      </a:cubicBezTo>
                      <a:cubicBezTo>
                        <a:pt x="855" y="207"/>
                        <a:pt x="815" y="162"/>
                        <a:pt x="798" y="150"/>
                      </a:cubicBezTo>
                      <a:cubicBezTo>
                        <a:pt x="782" y="137"/>
                        <a:pt x="797" y="129"/>
                        <a:pt x="790" y="125"/>
                      </a:cubicBezTo>
                      <a:cubicBezTo>
                        <a:pt x="784" y="121"/>
                        <a:pt x="776" y="121"/>
                        <a:pt x="768" y="128"/>
                      </a:cubicBezTo>
                      <a:close/>
                      <a:moveTo>
                        <a:pt x="618" y="143"/>
                      </a:moveTo>
                      <a:cubicBezTo>
                        <a:pt x="596" y="167"/>
                        <a:pt x="633" y="174"/>
                        <a:pt x="645" y="169"/>
                      </a:cubicBezTo>
                      <a:cubicBezTo>
                        <a:pt x="656" y="164"/>
                        <a:pt x="674" y="164"/>
                        <a:pt x="690" y="168"/>
                      </a:cubicBezTo>
                      <a:cubicBezTo>
                        <a:pt x="706" y="171"/>
                        <a:pt x="725" y="178"/>
                        <a:pt x="730" y="166"/>
                      </a:cubicBezTo>
                      <a:cubicBezTo>
                        <a:pt x="736" y="154"/>
                        <a:pt x="692" y="139"/>
                        <a:pt x="677" y="134"/>
                      </a:cubicBezTo>
                      <a:cubicBezTo>
                        <a:pt x="660" y="128"/>
                        <a:pt x="640" y="119"/>
                        <a:pt x="618" y="143"/>
                      </a:cubicBezTo>
                      <a:close/>
                      <a:moveTo>
                        <a:pt x="305" y="233"/>
                      </a:moveTo>
                      <a:cubicBezTo>
                        <a:pt x="305" y="240"/>
                        <a:pt x="314" y="241"/>
                        <a:pt x="323" y="239"/>
                      </a:cubicBezTo>
                      <a:cubicBezTo>
                        <a:pt x="333" y="237"/>
                        <a:pt x="355" y="220"/>
                        <a:pt x="380" y="218"/>
                      </a:cubicBezTo>
                      <a:cubicBezTo>
                        <a:pt x="406" y="216"/>
                        <a:pt x="437" y="208"/>
                        <a:pt x="444" y="220"/>
                      </a:cubicBezTo>
                      <a:cubicBezTo>
                        <a:pt x="452" y="233"/>
                        <a:pt x="448" y="236"/>
                        <a:pt x="440" y="241"/>
                      </a:cubicBezTo>
                      <a:cubicBezTo>
                        <a:pt x="432" y="245"/>
                        <a:pt x="441" y="254"/>
                        <a:pt x="459" y="258"/>
                      </a:cubicBezTo>
                      <a:cubicBezTo>
                        <a:pt x="477" y="262"/>
                        <a:pt x="486" y="258"/>
                        <a:pt x="490" y="269"/>
                      </a:cubicBezTo>
                      <a:cubicBezTo>
                        <a:pt x="494" y="279"/>
                        <a:pt x="509" y="279"/>
                        <a:pt x="518" y="279"/>
                      </a:cubicBezTo>
                      <a:cubicBezTo>
                        <a:pt x="528" y="279"/>
                        <a:pt x="536" y="268"/>
                        <a:pt x="542" y="262"/>
                      </a:cubicBezTo>
                      <a:cubicBezTo>
                        <a:pt x="547" y="256"/>
                        <a:pt x="556" y="251"/>
                        <a:pt x="575" y="259"/>
                      </a:cubicBezTo>
                      <a:cubicBezTo>
                        <a:pt x="594" y="267"/>
                        <a:pt x="633" y="277"/>
                        <a:pt x="646" y="271"/>
                      </a:cubicBezTo>
                      <a:cubicBezTo>
                        <a:pt x="660" y="265"/>
                        <a:pt x="693" y="278"/>
                        <a:pt x="698" y="251"/>
                      </a:cubicBezTo>
                      <a:cubicBezTo>
                        <a:pt x="703" y="225"/>
                        <a:pt x="682" y="216"/>
                        <a:pt x="666" y="216"/>
                      </a:cubicBezTo>
                      <a:cubicBezTo>
                        <a:pt x="649" y="215"/>
                        <a:pt x="619" y="215"/>
                        <a:pt x="608" y="200"/>
                      </a:cubicBezTo>
                      <a:cubicBezTo>
                        <a:pt x="598" y="185"/>
                        <a:pt x="591" y="170"/>
                        <a:pt x="581" y="173"/>
                      </a:cubicBezTo>
                      <a:cubicBezTo>
                        <a:pt x="571" y="177"/>
                        <a:pt x="585" y="200"/>
                        <a:pt x="575" y="207"/>
                      </a:cubicBezTo>
                      <a:cubicBezTo>
                        <a:pt x="565" y="214"/>
                        <a:pt x="552" y="209"/>
                        <a:pt x="544" y="193"/>
                      </a:cubicBezTo>
                      <a:cubicBezTo>
                        <a:pt x="537" y="178"/>
                        <a:pt x="533" y="161"/>
                        <a:pt x="519" y="157"/>
                      </a:cubicBezTo>
                      <a:cubicBezTo>
                        <a:pt x="505" y="152"/>
                        <a:pt x="497" y="151"/>
                        <a:pt x="493" y="145"/>
                      </a:cubicBezTo>
                      <a:cubicBezTo>
                        <a:pt x="488" y="139"/>
                        <a:pt x="481" y="133"/>
                        <a:pt x="476" y="138"/>
                      </a:cubicBezTo>
                      <a:cubicBezTo>
                        <a:pt x="471" y="143"/>
                        <a:pt x="482" y="157"/>
                        <a:pt x="492" y="164"/>
                      </a:cubicBezTo>
                      <a:cubicBezTo>
                        <a:pt x="502" y="170"/>
                        <a:pt x="518" y="177"/>
                        <a:pt x="512" y="186"/>
                      </a:cubicBezTo>
                      <a:cubicBezTo>
                        <a:pt x="505" y="195"/>
                        <a:pt x="496" y="212"/>
                        <a:pt x="492" y="216"/>
                      </a:cubicBezTo>
                      <a:cubicBezTo>
                        <a:pt x="488" y="220"/>
                        <a:pt x="464" y="212"/>
                        <a:pt x="466" y="205"/>
                      </a:cubicBezTo>
                      <a:cubicBezTo>
                        <a:pt x="468" y="198"/>
                        <a:pt x="489" y="206"/>
                        <a:pt x="493" y="197"/>
                      </a:cubicBezTo>
                      <a:cubicBezTo>
                        <a:pt x="496" y="189"/>
                        <a:pt x="488" y="180"/>
                        <a:pt x="472" y="171"/>
                      </a:cubicBezTo>
                      <a:cubicBezTo>
                        <a:pt x="456" y="162"/>
                        <a:pt x="443" y="147"/>
                        <a:pt x="429" y="156"/>
                      </a:cubicBezTo>
                      <a:cubicBezTo>
                        <a:pt x="415" y="164"/>
                        <a:pt x="406" y="153"/>
                        <a:pt x="388" y="167"/>
                      </a:cubicBezTo>
                      <a:cubicBezTo>
                        <a:pt x="370" y="181"/>
                        <a:pt x="357" y="197"/>
                        <a:pt x="347" y="207"/>
                      </a:cubicBezTo>
                      <a:cubicBezTo>
                        <a:pt x="331" y="228"/>
                        <a:pt x="304" y="220"/>
                        <a:pt x="305" y="233"/>
                      </a:cubicBezTo>
                      <a:close/>
                    </a:path>
                  </a:pathLst>
                </a:custGeom>
                <a:solidFill>
                  <a:srgbClr val="ED7D31"/>
                </a:solidFill>
                <a:ln w="0">
                  <a:solidFill>
                    <a:srgbClr val="ED7D31"/>
                  </a:solidFill>
                  <a:prstDash val="solid"/>
                  <a:round/>
                  <a:headEnd/>
                  <a:tailEnd/>
                </a:ln>
              </p:spPr>
              <p:txBody>
                <a:bodyPr vert="horz" wrap="square" lIns="68580" tIns="34290" rIns="68580" bIns="3429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6858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de-DE" sz="1350" b="0" i="0" u="none" strike="noStrike" kern="0" cap="none" spc="0" normalizeH="0" baseline="0" noProof="1">
                    <a:ln>
                      <a:noFill/>
                    </a:ln>
                    <a:solidFill>
                      <a:srgbClr val="ED7D31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</p:grpSp>
      </p:grpSp>
      <p:sp>
        <p:nvSpPr>
          <p:cNvPr id="553" name="Textfeld 552">
            <a:extLst>
              <a:ext uri="{FF2B5EF4-FFF2-40B4-BE49-F238E27FC236}">
                <a16:creationId xmlns:a16="http://schemas.microsoft.com/office/drawing/2014/main" id="{A41DF619-4857-3FAB-1AE9-E0A962ED02B3}"/>
              </a:ext>
            </a:extLst>
          </p:cNvPr>
          <p:cNvSpPr txBox="1"/>
          <p:nvPr/>
        </p:nvSpPr>
        <p:spPr bwMode="auto">
          <a:xfrm>
            <a:off x="5904591" y="5118901"/>
            <a:ext cx="1502739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1000" b="0" i="0" u="none" strike="noStrike" kern="1200" cap="none" spc="0" normalizeH="0" baseline="0" noProof="1">
                <a:ln>
                  <a:noFill/>
                </a:ln>
                <a:solidFill>
                  <a:srgbClr val="9954CC"/>
                </a:solidFill>
                <a:effectLst/>
                <a:uLnTx/>
                <a:uFillTx/>
                <a:latin typeface="Bahnschrift" panose="020B0502040204020203" pitchFamily="34" charset="0"/>
                <a:ea typeface="+mn-ea"/>
                <a:cs typeface="+mn-cs"/>
              </a:rPr>
              <a:t>Kontextfaktor Bauliche Dichte und Sanierung</a:t>
            </a:r>
          </a:p>
        </p:txBody>
      </p:sp>
      <p:sp>
        <p:nvSpPr>
          <p:cNvPr id="554" name="Textfeld 553">
            <a:extLst>
              <a:ext uri="{FF2B5EF4-FFF2-40B4-BE49-F238E27FC236}">
                <a16:creationId xmlns:a16="http://schemas.microsoft.com/office/drawing/2014/main" id="{0A24C198-676F-881C-38E1-A8BB5E2107FA}"/>
              </a:ext>
            </a:extLst>
          </p:cNvPr>
          <p:cNvSpPr txBox="1"/>
          <p:nvPr/>
        </p:nvSpPr>
        <p:spPr bwMode="auto">
          <a:xfrm>
            <a:off x="7837538" y="5004402"/>
            <a:ext cx="928791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1000" b="0" i="0" u="none" strike="noStrike" kern="1200" cap="none" spc="0" normalizeH="0" baseline="0" noProof="1">
                <a:ln>
                  <a:noFill/>
                </a:ln>
                <a:solidFill>
                  <a:srgbClr val="5FB564"/>
                </a:solidFill>
                <a:effectLst/>
                <a:uLnTx/>
                <a:uFillTx/>
                <a:latin typeface="Bahnschrift" panose="020B0502040204020203" pitchFamily="34" charset="0"/>
                <a:ea typeface="+mn-ea"/>
                <a:cs typeface="+mn-cs"/>
              </a:rPr>
              <a:t>THG-Budget und Kontext-Faktoren</a:t>
            </a:r>
          </a:p>
        </p:txBody>
      </p:sp>
      <p:grpSp>
        <p:nvGrpSpPr>
          <p:cNvPr id="555" name="Gruppieren 554">
            <a:extLst>
              <a:ext uri="{FF2B5EF4-FFF2-40B4-BE49-F238E27FC236}">
                <a16:creationId xmlns:a16="http://schemas.microsoft.com/office/drawing/2014/main" id="{FF043F30-9594-C4D5-39EC-DB816F182F21}"/>
              </a:ext>
            </a:extLst>
          </p:cNvPr>
          <p:cNvGrpSpPr/>
          <p:nvPr/>
        </p:nvGrpSpPr>
        <p:grpSpPr>
          <a:xfrm>
            <a:off x="7325611" y="5156618"/>
            <a:ext cx="289932" cy="380068"/>
            <a:chOff x="9018358" y="3729507"/>
            <a:chExt cx="512820" cy="672248"/>
          </a:xfrm>
        </p:grpSpPr>
        <p:grpSp>
          <p:nvGrpSpPr>
            <p:cNvPr id="556" name="Gruppieren 555">
              <a:extLst>
                <a:ext uri="{FF2B5EF4-FFF2-40B4-BE49-F238E27FC236}">
                  <a16:creationId xmlns:a16="http://schemas.microsoft.com/office/drawing/2014/main" id="{72507C40-7978-1238-6075-B20A19877B78}"/>
                </a:ext>
              </a:extLst>
            </p:cNvPr>
            <p:cNvGrpSpPr/>
            <p:nvPr/>
          </p:nvGrpSpPr>
          <p:grpSpPr>
            <a:xfrm>
              <a:off x="9018358" y="3729507"/>
              <a:ext cx="512820" cy="672248"/>
              <a:chOff x="0" y="3078492"/>
              <a:chExt cx="545343" cy="621971"/>
            </a:xfrm>
          </p:grpSpPr>
          <p:grpSp>
            <p:nvGrpSpPr>
              <p:cNvPr id="560" name="Gruppieren 559">
                <a:extLst>
                  <a:ext uri="{FF2B5EF4-FFF2-40B4-BE49-F238E27FC236}">
                    <a16:creationId xmlns:a16="http://schemas.microsoft.com/office/drawing/2014/main" id="{20233E27-7BFD-98A5-F70B-75FB3C89646A}"/>
                  </a:ext>
                </a:extLst>
              </p:cNvPr>
              <p:cNvGrpSpPr/>
              <p:nvPr>
                <p:custDataLst>
                  <p:tags r:id="rId34"/>
                </p:custDataLst>
              </p:nvPr>
            </p:nvGrpSpPr>
            <p:grpSpPr>
              <a:xfrm>
                <a:off x="0" y="3157538"/>
                <a:ext cx="545343" cy="542925"/>
                <a:chOff x="0" y="3157538"/>
                <a:chExt cx="545343" cy="542925"/>
              </a:xfrm>
              <a:solidFill>
                <a:srgbClr val="9954CC"/>
              </a:solidFill>
            </p:grpSpPr>
            <p:sp>
              <p:nvSpPr>
                <p:cNvPr id="563" name="Freeform 203">
                  <a:extLst>
                    <a:ext uri="{FF2B5EF4-FFF2-40B4-BE49-F238E27FC236}">
                      <a16:creationId xmlns:a16="http://schemas.microsoft.com/office/drawing/2014/main" id="{26A19BAD-1E8E-512E-DE27-D55B4C6C588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81015" y="3392120"/>
                  <a:ext cx="464328" cy="222490"/>
                </a:xfrm>
                <a:custGeom>
                  <a:avLst/>
                  <a:gdLst>
                    <a:gd name="T0" fmla="*/ 776 w 800"/>
                    <a:gd name="T1" fmla="*/ 20 h 382"/>
                    <a:gd name="T2" fmla="*/ 636 w 800"/>
                    <a:gd name="T3" fmla="*/ 80 h 382"/>
                    <a:gd name="T4" fmla="*/ 624 w 800"/>
                    <a:gd name="T5" fmla="*/ 108 h 382"/>
                    <a:gd name="T6" fmla="*/ 537 w 800"/>
                    <a:gd name="T7" fmla="*/ 166 h 382"/>
                    <a:gd name="T8" fmla="*/ 485 w 800"/>
                    <a:gd name="T9" fmla="*/ 126 h 382"/>
                    <a:gd name="T10" fmla="*/ 360 w 800"/>
                    <a:gd name="T11" fmla="*/ 122 h 382"/>
                    <a:gd name="T12" fmla="*/ 332 w 800"/>
                    <a:gd name="T13" fmla="*/ 108 h 382"/>
                    <a:gd name="T14" fmla="*/ 91 w 800"/>
                    <a:gd name="T15" fmla="*/ 118 h 382"/>
                    <a:gd name="T16" fmla="*/ 0 w 800"/>
                    <a:gd name="T17" fmla="*/ 209 h 382"/>
                    <a:gd name="T18" fmla="*/ 173 w 800"/>
                    <a:gd name="T19" fmla="*/ 382 h 382"/>
                    <a:gd name="T20" fmla="*/ 201 w 800"/>
                    <a:gd name="T21" fmla="*/ 354 h 382"/>
                    <a:gd name="T22" fmla="*/ 495 w 800"/>
                    <a:gd name="T23" fmla="*/ 354 h 382"/>
                    <a:gd name="T24" fmla="*/ 557 w 800"/>
                    <a:gd name="T25" fmla="*/ 332 h 382"/>
                    <a:gd name="T26" fmla="*/ 633 w 800"/>
                    <a:gd name="T27" fmla="*/ 267 h 382"/>
                    <a:gd name="T28" fmla="*/ 723 w 800"/>
                    <a:gd name="T29" fmla="*/ 165 h 382"/>
                    <a:gd name="T30" fmla="*/ 790 w 800"/>
                    <a:gd name="T31" fmla="*/ 61 h 382"/>
                    <a:gd name="T32" fmla="*/ 776 w 800"/>
                    <a:gd name="T33" fmla="*/ 20 h 38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</a:cxnLst>
                  <a:rect l="0" t="0" r="r" b="b"/>
                  <a:pathLst>
                    <a:path w="800" h="382">
                      <a:moveTo>
                        <a:pt x="776" y="20"/>
                      </a:moveTo>
                      <a:cubicBezTo>
                        <a:pt x="720" y="0"/>
                        <a:pt x="660" y="27"/>
                        <a:pt x="636" y="80"/>
                      </a:cubicBezTo>
                      <a:lnTo>
                        <a:pt x="624" y="108"/>
                      </a:lnTo>
                      <a:lnTo>
                        <a:pt x="537" y="166"/>
                      </a:lnTo>
                      <a:cubicBezTo>
                        <a:pt x="530" y="143"/>
                        <a:pt x="510" y="126"/>
                        <a:pt x="485" y="126"/>
                      </a:cubicBezTo>
                      <a:lnTo>
                        <a:pt x="360" y="122"/>
                      </a:lnTo>
                      <a:cubicBezTo>
                        <a:pt x="349" y="122"/>
                        <a:pt x="337" y="113"/>
                        <a:pt x="332" y="108"/>
                      </a:cubicBezTo>
                      <a:cubicBezTo>
                        <a:pt x="278" y="54"/>
                        <a:pt x="160" y="49"/>
                        <a:pt x="91" y="118"/>
                      </a:cubicBezTo>
                      <a:lnTo>
                        <a:pt x="0" y="209"/>
                      </a:lnTo>
                      <a:lnTo>
                        <a:pt x="173" y="382"/>
                      </a:lnTo>
                      <a:lnTo>
                        <a:pt x="201" y="354"/>
                      </a:lnTo>
                      <a:lnTo>
                        <a:pt x="495" y="354"/>
                      </a:lnTo>
                      <a:cubicBezTo>
                        <a:pt x="517" y="354"/>
                        <a:pt x="539" y="346"/>
                        <a:pt x="557" y="332"/>
                      </a:cubicBezTo>
                      <a:lnTo>
                        <a:pt x="633" y="267"/>
                      </a:lnTo>
                      <a:cubicBezTo>
                        <a:pt x="668" y="238"/>
                        <a:pt x="698" y="203"/>
                        <a:pt x="723" y="165"/>
                      </a:cubicBezTo>
                      <a:lnTo>
                        <a:pt x="790" y="61"/>
                      </a:lnTo>
                      <a:cubicBezTo>
                        <a:pt x="800" y="46"/>
                        <a:pt x="793" y="25"/>
                        <a:pt x="776" y="20"/>
                      </a:cubicBezTo>
                    </a:path>
                  </a:pathLst>
                </a:custGeom>
                <a:grpFill/>
                <a:ln w="9525">
                  <a:noFill/>
                  <a:round/>
                  <a:headEnd/>
                  <a:tailEnd/>
                </a:ln>
              </p:spPr>
              <p:txBody>
                <a:bodyPr vert="horz" wrap="square" lIns="68580" tIns="34290" rIns="68580" bIns="3429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6858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de-DE" sz="1350" b="0" i="0" u="none" strike="noStrike" kern="0" cap="none" spc="0" normalizeH="0" baseline="0" noProof="1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564" name="Freeform 204">
                  <a:extLst>
                    <a:ext uri="{FF2B5EF4-FFF2-40B4-BE49-F238E27FC236}">
                      <a16:creationId xmlns:a16="http://schemas.microsoft.com/office/drawing/2014/main" id="{C588DEC9-33F3-973D-669C-B1D330E8FD6A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0" y="3514248"/>
                  <a:ext cx="187424" cy="186215"/>
                </a:xfrm>
                <a:custGeom>
                  <a:avLst/>
                  <a:gdLst>
                    <a:gd name="T0" fmla="*/ 232 w 322"/>
                    <a:gd name="T1" fmla="*/ 206 h 322"/>
                    <a:gd name="T2" fmla="*/ 256 w 322"/>
                    <a:gd name="T3" fmla="*/ 230 h 322"/>
                    <a:gd name="T4" fmla="*/ 232 w 322"/>
                    <a:gd name="T5" fmla="*/ 253 h 322"/>
                    <a:gd name="T6" fmla="*/ 209 w 322"/>
                    <a:gd name="T7" fmla="*/ 230 h 322"/>
                    <a:gd name="T8" fmla="*/ 232 w 322"/>
                    <a:gd name="T9" fmla="*/ 206 h 322"/>
                    <a:gd name="T10" fmla="*/ 0 w 322"/>
                    <a:gd name="T11" fmla="*/ 92 h 322"/>
                    <a:gd name="T12" fmla="*/ 230 w 322"/>
                    <a:gd name="T13" fmla="*/ 322 h 322"/>
                    <a:gd name="T14" fmla="*/ 322 w 322"/>
                    <a:gd name="T15" fmla="*/ 230 h 322"/>
                    <a:gd name="T16" fmla="*/ 93 w 322"/>
                    <a:gd name="T17" fmla="*/ 0 h 322"/>
                    <a:gd name="T18" fmla="*/ 0 w 322"/>
                    <a:gd name="T19" fmla="*/ 92 h 32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322" h="322">
                      <a:moveTo>
                        <a:pt x="232" y="206"/>
                      </a:moveTo>
                      <a:lnTo>
                        <a:pt x="256" y="230"/>
                      </a:lnTo>
                      <a:lnTo>
                        <a:pt x="232" y="253"/>
                      </a:lnTo>
                      <a:lnTo>
                        <a:pt x="209" y="230"/>
                      </a:lnTo>
                      <a:lnTo>
                        <a:pt x="232" y="206"/>
                      </a:lnTo>
                      <a:close/>
                      <a:moveTo>
                        <a:pt x="0" y="92"/>
                      </a:moveTo>
                      <a:lnTo>
                        <a:pt x="230" y="322"/>
                      </a:lnTo>
                      <a:lnTo>
                        <a:pt x="322" y="230"/>
                      </a:lnTo>
                      <a:lnTo>
                        <a:pt x="93" y="0"/>
                      </a:lnTo>
                      <a:lnTo>
                        <a:pt x="0" y="92"/>
                      </a:lnTo>
                      <a:close/>
                    </a:path>
                  </a:pathLst>
                </a:custGeom>
                <a:grpFill/>
                <a:ln w="9525">
                  <a:noFill/>
                  <a:round/>
                  <a:headEnd/>
                  <a:tailEnd/>
                </a:ln>
              </p:spPr>
              <p:txBody>
                <a:bodyPr vert="horz" wrap="square" lIns="68580" tIns="34290" rIns="68580" bIns="3429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6858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de-DE" sz="1350" b="0" i="0" u="none" strike="noStrike" kern="0" cap="none" spc="0" normalizeH="0" baseline="0" noProof="1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565" name="Freeform 206">
                  <a:extLst>
                    <a:ext uri="{FF2B5EF4-FFF2-40B4-BE49-F238E27FC236}">
                      <a16:creationId xmlns:a16="http://schemas.microsoft.com/office/drawing/2014/main" id="{470FB81E-7B25-BF38-6F58-7B3870E6EC71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192260" y="3157538"/>
                  <a:ext cx="257557" cy="303506"/>
                </a:xfrm>
                <a:custGeom>
                  <a:avLst/>
                  <a:gdLst>
                    <a:gd name="T0" fmla="*/ 222 w 444"/>
                    <a:gd name="T1" fmla="*/ 355 h 524"/>
                    <a:gd name="T2" fmla="*/ 159 w 444"/>
                    <a:gd name="T3" fmla="*/ 299 h 524"/>
                    <a:gd name="T4" fmla="*/ 204 w 444"/>
                    <a:gd name="T5" fmla="*/ 246 h 524"/>
                    <a:gd name="T6" fmla="*/ 204 w 444"/>
                    <a:gd name="T7" fmla="*/ 229 h 524"/>
                    <a:gd name="T8" fmla="*/ 240 w 444"/>
                    <a:gd name="T9" fmla="*/ 229 h 524"/>
                    <a:gd name="T10" fmla="*/ 240 w 444"/>
                    <a:gd name="T11" fmla="*/ 246 h 524"/>
                    <a:gd name="T12" fmla="*/ 285 w 444"/>
                    <a:gd name="T13" fmla="*/ 299 h 524"/>
                    <a:gd name="T14" fmla="*/ 249 w 444"/>
                    <a:gd name="T15" fmla="*/ 299 h 524"/>
                    <a:gd name="T16" fmla="*/ 222 w 444"/>
                    <a:gd name="T17" fmla="*/ 280 h 524"/>
                    <a:gd name="T18" fmla="*/ 195 w 444"/>
                    <a:gd name="T19" fmla="*/ 299 h 524"/>
                    <a:gd name="T20" fmla="*/ 222 w 444"/>
                    <a:gd name="T21" fmla="*/ 319 h 524"/>
                    <a:gd name="T22" fmla="*/ 285 w 444"/>
                    <a:gd name="T23" fmla="*/ 375 h 524"/>
                    <a:gd name="T24" fmla="*/ 240 w 444"/>
                    <a:gd name="T25" fmla="*/ 428 h 524"/>
                    <a:gd name="T26" fmla="*/ 240 w 444"/>
                    <a:gd name="T27" fmla="*/ 446 h 524"/>
                    <a:gd name="T28" fmla="*/ 204 w 444"/>
                    <a:gd name="T29" fmla="*/ 446 h 524"/>
                    <a:gd name="T30" fmla="*/ 204 w 444"/>
                    <a:gd name="T31" fmla="*/ 428 h 524"/>
                    <a:gd name="T32" fmla="*/ 159 w 444"/>
                    <a:gd name="T33" fmla="*/ 375 h 524"/>
                    <a:gd name="T34" fmla="*/ 195 w 444"/>
                    <a:gd name="T35" fmla="*/ 375 h 524"/>
                    <a:gd name="T36" fmla="*/ 222 w 444"/>
                    <a:gd name="T37" fmla="*/ 394 h 524"/>
                    <a:gd name="T38" fmla="*/ 249 w 444"/>
                    <a:gd name="T39" fmla="*/ 375 h 524"/>
                    <a:gd name="T40" fmla="*/ 222 w 444"/>
                    <a:gd name="T41" fmla="*/ 355 h 524"/>
                    <a:gd name="T42" fmla="*/ 165 w 444"/>
                    <a:gd name="T43" fmla="*/ 489 h 524"/>
                    <a:gd name="T44" fmla="*/ 172 w 444"/>
                    <a:gd name="T45" fmla="*/ 494 h 524"/>
                    <a:gd name="T46" fmla="*/ 296 w 444"/>
                    <a:gd name="T47" fmla="*/ 497 h 524"/>
                    <a:gd name="T48" fmla="*/ 357 w 444"/>
                    <a:gd name="T49" fmla="*/ 524 h 524"/>
                    <a:gd name="T50" fmla="*/ 407 w 444"/>
                    <a:gd name="T51" fmla="*/ 491 h 524"/>
                    <a:gd name="T52" fmla="*/ 415 w 444"/>
                    <a:gd name="T53" fmla="*/ 472 h 524"/>
                    <a:gd name="T54" fmla="*/ 444 w 444"/>
                    <a:gd name="T55" fmla="*/ 430 h 524"/>
                    <a:gd name="T56" fmla="*/ 444 w 444"/>
                    <a:gd name="T57" fmla="*/ 430 h 524"/>
                    <a:gd name="T58" fmla="*/ 444 w 444"/>
                    <a:gd name="T59" fmla="*/ 428 h 524"/>
                    <a:gd name="T60" fmla="*/ 286 w 444"/>
                    <a:gd name="T61" fmla="*/ 162 h 524"/>
                    <a:gd name="T62" fmla="*/ 286 w 444"/>
                    <a:gd name="T63" fmla="*/ 104 h 524"/>
                    <a:gd name="T64" fmla="*/ 310 w 444"/>
                    <a:gd name="T65" fmla="*/ 30 h 524"/>
                    <a:gd name="T66" fmla="*/ 293 w 444"/>
                    <a:gd name="T67" fmla="*/ 0 h 524"/>
                    <a:gd name="T68" fmla="*/ 293 w 444"/>
                    <a:gd name="T69" fmla="*/ 0 h 524"/>
                    <a:gd name="T70" fmla="*/ 274 w 444"/>
                    <a:gd name="T71" fmla="*/ 5 h 524"/>
                    <a:gd name="T72" fmla="*/ 265 w 444"/>
                    <a:gd name="T73" fmla="*/ 5 h 524"/>
                    <a:gd name="T74" fmla="*/ 246 w 444"/>
                    <a:gd name="T75" fmla="*/ 0 h 524"/>
                    <a:gd name="T76" fmla="*/ 227 w 444"/>
                    <a:gd name="T77" fmla="*/ 5 h 524"/>
                    <a:gd name="T78" fmla="*/ 217 w 444"/>
                    <a:gd name="T79" fmla="*/ 5 h 524"/>
                    <a:gd name="T80" fmla="*/ 198 w 444"/>
                    <a:gd name="T81" fmla="*/ 0 h 524"/>
                    <a:gd name="T82" fmla="*/ 179 w 444"/>
                    <a:gd name="T83" fmla="*/ 5 h 524"/>
                    <a:gd name="T84" fmla="*/ 170 w 444"/>
                    <a:gd name="T85" fmla="*/ 5 h 524"/>
                    <a:gd name="T86" fmla="*/ 151 w 444"/>
                    <a:gd name="T87" fmla="*/ 0 h 524"/>
                    <a:gd name="T88" fmla="*/ 151 w 444"/>
                    <a:gd name="T89" fmla="*/ 0 h 524"/>
                    <a:gd name="T90" fmla="*/ 134 w 444"/>
                    <a:gd name="T91" fmla="*/ 30 h 524"/>
                    <a:gd name="T92" fmla="*/ 158 w 444"/>
                    <a:gd name="T93" fmla="*/ 104 h 524"/>
                    <a:gd name="T94" fmla="*/ 158 w 444"/>
                    <a:gd name="T95" fmla="*/ 162 h 524"/>
                    <a:gd name="T96" fmla="*/ 0 w 444"/>
                    <a:gd name="T97" fmla="*/ 428 h 524"/>
                    <a:gd name="T98" fmla="*/ 0 w 444"/>
                    <a:gd name="T99" fmla="*/ 441 h 524"/>
                    <a:gd name="T100" fmla="*/ 30 w 444"/>
                    <a:gd name="T101" fmla="*/ 438 h 524"/>
                    <a:gd name="T102" fmla="*/ 165 w 444"/>
                    <a:gd name="T103" fmla="*/ 489 h 52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</a:cxnLst>
                  <a:rect l="0" t="0" r="r" b="b"/>
                  <a:pathLst>
                    <a:path w="444" h="524">
                      <a:moveTo>
                        <a:pt x="222" y="355"/>
                      </a:moveTo>
                      <a:cubicBezTo>
                        <a:pt x="178" y="355"/>
                        <a:pt x="159" y="327"/>
                        <a:pt x="159" y="299"/>
                      </a:cubicBezTo>
                      <a:cubicBezTo>
                        <a:pt x="159" y="274"/>
                        <a:pt x="178" y="253"/>
                        <a:pt x="204" y="246"/>
                      </a:cubicBezTo>
                      <a:lnTo>
                        <a:pt x="204" y="229"/>
                      </a:lnTo>
                      <a:lnTo>
                        <a:pt x="240" y="229"/>
                      </a:lnTo>
                      <a:lnTo>
                        <a:pt x="240" y="246"/>
                      </a:lnTo>
                      <a:cubicBezTo>
                        <a:pt x="266" y="253"/>
                        <a:pt x="285" y="274"/>
                        <a:pt x="285" y="299"/>
                      </a:cubicBezTo>
                      <a:lnTo>
                        <a:pt x="249" y="299"/>
                      </a:lnTo>
                      <a:cubicBezTo>
                        <a:pt x="249" y="289"/>
                        <a:pt x="236" y="280"/>
                        <a:pt x="222" y="280"/>
                      </a:cubicBezTo>
                      <a:cubicBezTo>
                        <a:pt x="208" y="280"/>
                        <a:pt x="195" y="289"/>
                        <a:pt x="195" y="299"/>
                      </a:cubicBezTo>
                      <a:cubicBezTo>
                        <a:pt x="195" y="316"/>
                        <a:pt x="212" y="319"/>
                        <a:pt x="222" y="319"/>
                      </a:cubicBezTo>
                      <a:cubicBezTo>
                        <a:pt x="259" y="319"/>
                        <a:pt x="285" y="342"/>
                        <a:pt x="285" y="375"/>
                      </a:cubicBezTo>
                      <a:cubicBezTo>
                        <a:pt x="285" y="400"/>
                        <a:pt x="266" y="421"/>
                        <a:pt x="240" y="428"/>
                      </a:cubicBezTo>
                      <a:lnTo>
                        <a:pt x="240" y="446"/>
                      </a:lnTo>
                      <a:lnTo>
                        <a:pt x="204" y="446"/>
                      </a:lnTo>
                      <a:lnTo>
                        <a:pt x="204" y="428"/>
                      </a:lnTo>
                      <a:cubicBezTo>
                        <a:pt x="178" y="421"/>
                        <a:pt x="159" y="400"/>
                        <a:pt x="159" y="375"/>
                      </a:cubicBezTo>
                      <a:lnTo>
                        <a:pt x="195" y="375"/>
                      </a:lnTo>
                      <a:cubicBezTo>
                        <a:pt x="195" y="385"/>
                        <a:pt x="208" y="394"/>
                        <a:pt x="222" y="394"/>
                      </a:cubicBezTo>
                      <a:cubicBezTo>
                        <a:pt x="236" y="394"/>
                        <a:pt x="249" y="385"/>
                        <a:pt x="249" y="375"/>
                      </a:cubicBezTo>
                      <a:cubicBezTo>
                        <a:pt x="249" y="363"/>
                        <a:pt x="239" y="355"/>
                        <a:pt x="222" y="355"/>
                      </a:cubicBezTo>
                      <a:close/>
                      <a:moveTo>
                        <a:pt x="165" y="489"/>
                      </a:moveTo>
                      <a:cubicBezTo>
                        <a:pt x="167" y="491"/>
                        <a:pt x="171" y="493"/>
                        <a:pt x="172" y="494"/>
                      </a:cubicBezTo>
                      <a:lnTo>
                        <a:pt x="296" y="497"/>
                      </a:lnTo>
                      <a:cubicBezTo>
                        <a:pt x="320" y="498"/>
                        <a:pt x="341" y="508"/>
                        <a:pt x="357" y="524"/>
                      </a:cubicBezTo>
                      <a:lnTo>
                        <a:pt x="407" y="491"/>
                      </a:lnTo>
                      <a:lnTo>
                        <a:pt x="415" y="472"/>
                      </a:lnTo>
                      <a:cubicBezTo>
                        <a:pt x="422" y="456"/>
                        <a:pt x="432" y="442"/>
                        <a:pt x="444" y="430"/>
                      </a:cubicBezTo>
                      <a:cubicBezTo>
                        <a:pt x="444" y="430"/>
                        <a:pt x="444" y="430"/>
                        <a:pt x="444" y="430"/>
                      </a:cubicBezTo>
                      <a:lnTo>
                        <a:pt x="444" y="428"/>
                      </a:lnTo>
                      <a:cubicBezTo>
                        <a:pt x="444" y="309"/>
                        <a:pt x="388" y="206"/>
                        <a:pt x="286" y="162"/>
                      </a:cubicBezTo>
                      <a:lnTo>
                        <a:pt x="286" y="104"/>
                      </a:lnTo>
                      <a:lnTo>
                        <a:pt x="310" y="30"/>
                      </a:lnTo>
                      <a:cubicBezTo>
                        <a:pt x="315" y="16"/>
                        <a:pt x="307" y="0"/>
                        <a:pt x="293" y="0"/>
                      </a:cubicBezTo>
                      <a:cubicBezTo>
                        <a:pt x="293" y="0"/>
                        <a:pt x="293" y="0"/>
                        <a:pt x="293" y="0"/>
                      </a:cubicBezTo>
                      <a:cubicBezTo>
                        <a:pt x="285" y="0"/>
                        <a:pt x="278" y="2"/>
                        <a:pt x="274" y="5"/>
                      </a:cubicBezTo>
                      <a:cubicBezTo>
                        <a:pt x="271" y="6"/>
                        <a:pt x="268" y="6"/>
                        <a:pt x="265" y="5"/>
                      </a:cubicBezTo>
                      <a:cubicBezTo>
                        <a:pt x="260" y="2"/>
                        <a:pt x="253" y="0"/>
                        <a:pt x="246" y="0"/>
                      </a:cubicBezTo>
                      <a:cubicBezTo>
                        <a:pt x="238" y="0"/>
                        <a:pt x="231" y="2"/>
                        <a:pt x="227" y="5"/>
                      </a:cubicBezTo>
                      <a:cubicBezTo>
                        <a:pt x="224" y="6"/>
                        <a:pt x="220" y="6"/>
                        <a:pt x="217" y="5"/>
                      </a:cubicBezTo>
                      <a:cubicBezTo>
                        <a:pt x="213" y="2"/>
                        <a:pt x="206" y="0"/>
                        <a:pt x="198" y="0"/>
                      </a:cubicBezTo>
                      <a:cubicBezTo>
                        <a:pt x="191" y="0"/>
                        <a:pt x="184" y="2"/>
                        <a:pt x="179" y="5"/>
                      </a:cubicBezTo>
                      <a:cubicBezTo>
                        <a:pt x="176" y="6"/>
                        <a:pt x="173" y="6"/>
                        <a:pt x="170" y="5"/>
                      </a:cubicBezTo>
                      <a:cubicBezTo>
                        <a:pt x="166" y="2"/>
                        <a:pt x="159" y="0"/>
                        <a:pt x="151" y="0"/>
                      </a:cubicBezTo>
                      <a:cubicBezTo>
                        <a:pt x="151" y="0"/>
                        <a:pt x="151" y="0"/>
                        <a:pt x="151" y="0"/>
                      </a:cubicBezTo>
                      <a:cubicBezTo>
                        <a:pt x="138" y="0"/>
                        <a:pt x="129" y="16"/>
                        <a:pt x="134" y="30"/>
                      </a:cubicBezTo>
                      <a:lnTo>
                        <a:pt x="158" y="104"/>
                      </a:lnTo>
                      <a:lnTo>
                        <a:pt x="158" y="162"/>
                      </a:lnTo>
                      <a:cubicBezTo>
                        <a:pt x="56" y="206"/>
                        <a:pt x="0" y="309"/>
                        <a:pt x="0" y="428"/>
                      </a:cubicBezTo>
                      <a:lnTo>
                        <a:pt x="0" y="441"/>
                      </a:lnTo>
                      <a:cubicBezTo>
                        <a:pt x="10" y="439"/>
                        <a:pt x="20" y="438"/>
                        <a:pt x="30" y="438"/>
                      </a:cubicBezTo>
                      <a:cubicBezTo>
                        <a:pt x="84" y="438"/>
                        <a:pt x="133" y="457"/>
                        <a:pt x="165" y="489"/>
                      </a:cubicBezTo>
                    </a:path>
                  </a:pathLst>
                </a:custGeom>
                <a:grpFill/>
                <a:ln w="9525">
                  <a:noFill/>
                  <a:round/>
                  <a:headEnd/>
                  <a:tailEnd/>
                </a:ln>
              </p:spPr>
              <p:txBody>
                <a:bodyPr vert="horz" wrap="square" lIns="68580" tIns="34290" rIns="68580" bIns="3429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6858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de-DE" sz="1350" b="0" i="0" u="none" strike="noStrike" kern="0" cap="none" spc="0" normalizeH="0" baseline="0" noProof="1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  <p:sp>
            <p:nvSpPr>
              <p:cNvPr id="561" name="Freihandform 240">
                <a:extLst>
                  <a:ext uri="{FF2B5EF4-FFF2-40B4-BE49-F238E27FC236}">
                    <a16:creationId xmlns:a16="http://schemas.microsoft.com/office/drawing/2014/main" id="{E1F240D0-0DE2-079E-75AA-894D4945C4A3}"/>
                  </a:ext>
                </a:extLst>
              </p:cNvPr>
              <p:cNvSpPr/>
              <p:nvPr/>
            </p:nvSpPr>
            <p:spPr>
              <a:xfrm>
                <a:off x="132106" y="3078492"/>
                <a:ext cx="320330" cy="382046"/>
              </a:xfrm>
              <a:custGeom>
                <a:avLst/>
                <a:gdLst>
                  <a:gd name="connsiteX0" fmla="*/ 206030 w 320330"/>
                  <a:gd name="connsiteY0" fmla="*/ 33802 h 382046"/>
                  <a:gd name="connsiteX1" fmla="*/ 206030 w 320330"/>
                  <a:gd name="connsiteY1" fmla="*/ 33802 h 382046"/>
                  <a:gd name="connsiteX2" fmla="*/ 153642 w 320330"/>
                  <a:gd name="connsiteY2" fmla="*/ 36184 h 382046"/>
                  <a:gd name="connsiteX3" fmla="*/ 132211 w 320330"/>
                  <a:gd name="connsiteY3" fmla="*/ 48090 h 382046"/>
                  <a:gd name="connsiteX4" fmla="*/ 113161 w 320330"/>
                  <a:gd name="connsiteY4" fmla="*/ 59996 h 382046"/>
                  <a:gd name="connsiteX5" fmla="*/ 98874 w 320330"/>
                  <a:gd name="connsiteY5" fmla="*/ 74284 h 382046"/>
                  <a:gd name="connsiteX6" fmla="*/ 82205 w 320330"/>
                  <a:gd name="connsiteY6" fmla="*/ 86190 h 382046"/>
                  <a:gd name="connsiteX7" fmla="*/ 67917 w 320330"/>
                  <a:gd name="connsiteY7" fmla="*/ 105240 h 382046"/>
                  <a:gd name="connsiteX8" fmla="*/ 60774 w 320330"/>
                  <a:gd name="connsiteY8" fmla="*/ 112384 h 382046"/>
                  <a:gd name="connsiteX9" fmla="*/ 48867 w 320330"/>
                  <a:gd name="connsiteY9" fmla="*/ 131434 h 382046"/>
                  <a:gd name="connsiteX10" fmla="*/ 39342 w 320330"/>
                  <a:gd name="connsiteY10" fmla="*/ 155246 h 382046"/>
                  <a:gd name="connsiteX11" fmla="*/ 25055 w 320330"/>
                  <a:gd name="connsiteY11" fmla="*/ 176677 h 382046"/>
                  <a:gd name="connsiteX12" fmla="*/ 15530 w 320330"/>
                  <a:gd name="connsiteY12" fmla="*/ 195727 h 382046"/>
                  <a:gd name="connsiteX13" fmla="*/ 6005 w 320330"/>
                  <a:gd name="connsiteY13" fmla="*/ 207634 h 382046"/>
                  <a:gd name="connsiteX14" fmla="*/ 3624 w 320330"/>
                  <a:gd name="connsiteY14" fmla="*/ 214777 h 382046"/>
                  <a:gd name="connsiteX15" fmla="*/ 6005 w 320330"/>
                  <a:gd name="connsiteY15" fmla="*/ 262402 h 382046"/>
                  <a:gd name="connsiteX16" fmla="*/ 22674 w 320330"/>
                  <a:gd name="connsiteY16" fmla="*/ 279071 h 382046"/>
                  <a:gd name="connsiteX17" fmla="*/ 29817 w 320330"/>
                  <a:gd name="connsiteY17" fmla="*/ 286215 h 382046"/>
                  <a:gd name="connsiteX18" fmla="*/ 36961 w 320330"/>
                  <a:gd name="connsiteY18" fmla="*/ 300502 h 382046"/>
                  <a:gd name="connsiteX19" fmla="*/ 44105 w 320330"/>
                  <a:gd name="connsiteY19" fmla="*/ 305265 h 382046"/>
                  <a:gd name="connsiteX20" fmla="*/ 48867 w 320330"/>
                  <a:gd name="connsiteY20" fmla="*/ 321934 h 382046"/>
                  <a:gd name="connsiteX21" fmla="*/ 58392 w 320330"/>
                  <a:gd name="connsiteY21" fmla="*/ 326696 h 382046"/>
                  <a:gd name="connsiteX22" fmla="*/ 72680 w 320330"/>
                  <a:gd name="connsiteY22" fmla="*/ 336221 h 382046"/>
                  <a:gd name="connsiteX23" fmla="*/ 91730 w 320330"/>
                  <a:gd name="connsiteY23" fmla="*/ 340984 h 382046"/>
                  <a:gd name="connsiteX24" fmla="*/ 101255 w 320330"/>
                  <a:gd name="connsiteY24" fmla="*/ 343365 h 382046"/>
                  <a:gd name="connsiteX25" fmla="*/ 129830 w 320330"/>
                  <a:gd name="connsiteY25" fmla="*/ 348127 h 382046"/>
                  <a:gd name="connsiteX26" fmla="*/ 136974 w 320330"/>
                  <a:gd name="connsiteY26" fmla="*/ 350509 h 382046"/>
                  <a:gd name="connsiteX27" fmla="*/ 153642 w 320330"/>
                  <a:gd name="connsiteY27" fmla="*/ 357652 h 382046"/>
                  <a:gd name="connsiteX28" fmla="*/ 170311 w 320330"/>
                  <a:gd name="connsiteY28" fmla="*/ 362415 h 382046"/>
                  <a:gd name="connsiteX29" fmla="*/ 184599 w 320330"/>
                  <a:gd name="connsiteY29" fmla="*/ 369559 h 382046"/>
                  <a:gd name="connsiteX30" fmla="*/ 225080 w 320330"/>
                  <a:gd name="connsiteY30" fmla="*/ 376702 h 382046"/>
                  <a:gd name="connsiteX31" fmla="*/ 232224 w 320330"/>
                  <a:gd name="connsiteY31" fmla="*/ 379084 h 382046"/>
                  <a:gd name="connsiteX32" fmla="*/ 291755 w 320330"/>
                  <a:gd name="connsiteY32" fmla="*/ 379084 h 382046"/>
                  <a:gd name="connsiteX33" fmla="*/ 298899 w 320330"/>
                  <a:gd name="connsiteY33" fmla="*/ 371940 h 382046"/>
                  <a:gd name="connsiteX34" fmla="*/ 308424 w 320330"/>
                  <a:gd name="connsiteY34" fmla="*/ 357652 h 382046"/>
                  <a:gd name="connsiteX35" fmla="*/ 310805 w 320330"/>
                  <a:gd name="connsiteY35" fmla="*/ 348127 h 382046"/>
                  <a:gd name="connsiteX36" fmla="*/ 317949 w 320330"/>
                  <a:gd name="connsiteY36" fmla="*/ 338602 h 382046"/>
                  <a:gd name="connsiteX37" fmla="*/ 320330 w 320330"/>
                  <a:gd name="connsiteY37" fmla="*/ 324315 h 382046"/>
                  <a:gd name="connsiteX38" fmla="*/ 317949 w 320330"/>
                  <a:gd name="connsiteY38" fmla="*/ 243352 h 382046"/>
                  <a:gd name="connsiteX39" fmla="*/ 315567 w 320330"/>
                  <a:gd name="connsiteY39" fmla="*/ 231446 h 382046"/>
                  <a:gd name="connsiteX40" fmla="*/ 308424 w 320330"/>
                  <a:gd name="connsiteY40" fmla="*/ 193346 h 382046"/>
                  <a:gd name="connsiteX41" fmla="*/ 303661 w 320330"/>
                  <a:gd name="connsiteY41" fmla="*/ 186202 h 382046"/>
                  <a:gd name="connsiteX42" fmla="*/ 294136 w 320330"/>
                  <a:gd name="connsiteY42" fmla="*/ 164771 h 382046"/>
                  <a:gd name="connsiteX43" fmla="*/ 289374 w 320330"/>
                  <a:gd name="connsiteY43" fmla="*/ 152865 h 382046"/>
                  <a:gd name="connsiteX44" fmla="*/ 275086 w 320330"/>
                  <a:gd name="connsiteY44" fmla="*/ 121909 h 382046"/>
                  <a:gd name="connsiteX45" fmla="*/ 265561 w 320330"/>
                  <a:gd name="connsiteY45" fmla="*/ 95715 h 382046"/>
                  <a:gd name="connsiteX46" fmla="*/ 263180 w 320330"/>
                  <a:gd name="connsiteY46" fmla="*/ 86190 h 382046"/>
                  <a:gd name="connsiteX47" fmla="*/ 253655 w 320330"/>
                  <a:gd name="connsiteY47" fmla="*/ 71902 h 382046"/>
                  <a:gd name="connsiteX48" fmla="*/ 246511 w 320330"/>
                  <a:gd name="connsiteY48" fmla="*/ 50471 h 382046"/>
                  <a:gd name="connsiteX49" fmla="*/ 239367 w 320330"/>
                  <a:gd name="connsiteY49" fmla="*/ 38565 h 382046"/>
                  <a:gd name="connsiteX50" fmla="*/ 232224 w 320330"/>
                  <a:gd name="connsiteY50" fmla="*/ 17134 h 382046"/>
                  <a:gd name="connsiteX51" fmla="*/ 227461 w 320330"/>
                  <a:gd name="connsiteY51" fmla="*/ 9990 h 382046"/>
                  <a:gd name="connsiteX52" fmla="*/ 225080 w 320330"/>
                  <a:gd name="connsiteY52" fmla="*/ 465 h 382046"/>
                  <a:gd name="connsiteX53" fmla="*/ 206030 w 320330"/>
                  <a:gd name="connsiteY53" fmla="*/ 33802 h 38204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</a:cxnLst>
                <a:rect l="l" t="t" r="r" b="b"/>
                <a:pathLst>
                  <a:path w="320330" h="382046">
                    <a:moveTo>
                      <a:pt x="206030" y="33802"/>
                    </a:moveTo>
                    <a:lnTo>
                      <a:pt x="206030" y="33802"/>
                    </a:lnTo>
                    <a:cubicBezTo>
                      <a:pt x="188567" y="34596"/>
                      <a:pt x="171067" y="34790"/>
                      <a:pt x="153642" y="36184"/>
                    </a:cubicBezTo>
                    <a:cubicBezTo>
                      <a:pt x="146592" y="36748"/>
                      <a:pt x="135990" y="45445"/>
                      <a:pt x="132211" y="48090"/>
                    </a:cubicBezTo>
                    <a:cubicBezTo>
                      <a:pt x="116754" y="58910"/>
                      <a:pt x="129002" y="52077"/>
                      <a:pt x="113161" y="59996"/>
                    </a:cubicBezTo>
                    <a:cubicBezTo>
                      <a:pt x="101942" y="76827"/>
                      <a:pt x="116590" y="56569"/>
                      <a:pt x="98874" y="74284"/>
                    </a:cubicBezTo>
                    <a:cubicBezTo>
                      <a:pt x="85796" y="87361"/>
                      <a:pt x="105646" y="76813"/>
                      <a:pt x="82205" y="86190"/>
                    </a:cubicBezTo>
                    <a:cubicBezTo>
                      <a:pt x="77442" y="92540"/>
                      <a:pt x="73529" y="99627"/>
                      <a:pt x="67917" y="105240"/>
                    </a:cubicBezTo>
                    <a:cubicBezTo>
                      <a:pt x="65536" y="107621"/>
                      <a:pt x="62930" y="109797"/>
                      <a:pt x="60774" y="112384"/>
                    </a:cubicBezTo>
                    <a:cubicBezTo>
                      <a:pt x="58288" y="115367"/>
                      <a:pt x="49647" y="130030"/>
                      <a:pt x="48867" y="131434"/>
                    </a:cubicBezTo>
                    <a:cubicBezTo>
                      <a:pt x="40892" y="145789"/>
                      <a:pt x="46596" y="137111"/>
                      <a:pt x="39342" y="155246"/>
                    </a:cubicBezTo>
                    <a:cubicBezTo>
                      <a:pt x="35120" y="165801"/>
                      <a:pt x="32771" y="167033"/>
                      <a:pt x="25055" y="176677"/>
                    </a:cubicBezTo>
                    <a:cubicBezTo>
                      <a:pt x="20321" y="195616"/>
                      <a:pt x="26324" y="176837"/>
                      <a:pt x="15530" y="195727"/>
                    </a:cubicBezTo>
                    <a:cubicBezTo>
                      <a:pt x="8451" y="208115"/>
                      <a:pt x="19562" y="198595"/>
                      <a:pt x="6005" y="207634"/>
                    </a:cubicBezTo>
                    <a:cubicBezTo>
                      <a:pt x="5211" y="210015"/>
                      <a:pt x="4314" y="212364"/>
                      <a:pt x="3624" y="214777"/>
                    </a:cubicBezTo>
                    <a:cubicBezTo>
                      <a:pt x="-1127" y="231404"/>
                      <a:pt x="-2042" y="241839"/>
                      <a:pt x="6005" y="262402"/>
                    </a:cubicBezTo>
                    <a:cubicBezTo>
                      <a:pt x="8868" y="269720"/>
                      <a:pt x="17118" y="273515"/>
                      <a:pt x="22674" y="279071"/>
                    </a:cubicBezTo>
                    <a:lnTo>
                      <a:pt x="29817" y="286215"/>
                    </a:lnTo>
                    <a:cubicBezTo>
                      <a:pt x="31754" y="292024"/>
                      <a:pt x="32346" y="295887"/>
                      <a:pt x="36961" y="300502"/>
                    </a:cubicBezTo>
                    <a:cubicBezTo>
                      <a:pt x="38985" y="302526"/>
                      <a:pt x="41724" y="303677"/>
                      <a:pt x="44105" y="305265"/>
                    </a:cubicBezTo>
                    <a:cubicBezTo>
                      <a:pt x="45692" y="310821"/>
                      <a:pt x="45662" y="317126"/>
                      <a:pt x="48867" y="321934"/>
                    </a:cubicBezTo>
                    <a:cubicBezTo>
                      <a:pt x="50836" y="324888"/>
                      <a:pt x="55348" y="324870"/>
                      <a:pt x="58392" y="326696"/>
                    </a:cubicBezTo>
                    <a:cubicBezTo>
                      <a:pt x="63300" y="329641"/>
                      <a:pt x="67250" y="334411"/>
                      <a:pt x="72680" y="336221"/>
                    </a:cubicBezTo>
                    <a:cubicBezTo>
                      <a:pt x="85444" y="340475"/>
                      <a:pt x="74493" y="337153"/>
                      <a:pt x="91730" y="340984"/>
                    </a:cubicBezTo>
                    <a:cubicBezTo>
                      <a:pt x="94925" y="341694"/>
                      <a:pt x="98038" y="342762"/>
                      <a:pt x="101255" y="343365"/>
                    </a:cubicBezTo>
                    <a:cubicBezTo>
                      <a:pt x="110746" y="345144"/>
                      <a:pt x="129830" y="348127"/>
                      <a:pt x="129830" y="348127"/>
                    </a:cubicBezTo>
                    <a:cubicBezTo>
                      <a:pt x="132211" y="348921"/>
                      <a:pt x="134667" y="349520"/>
                      <a:pt x="136974" y="350509"/>
                    </a:cubicBezTo>
                    <a:cubicBezTo>
                      <a:pt x="149673" y="355952"/>
                      <a:pt x="142474" y="354461"/>
                      <a:pt x="153642" y="357652"/>
                    </a:cubicBezTo>
                    <a:cubicBezTo>
                      <a:pt x="157197" y="358668"/>
                      <a:pt x="166508" y="360514"/>
                      <a:pt x="170311" y="362415"/>
                    </a:cubicBezTo>
                    <a:cubicBezTo>
                      <a:pt x="184224" y="369371"/>
                      <a:pt x="170634" y="365569"/>
                      <a:pt x="184599" y="369559"/>
                    </a:cubicBezTo>
                    <a:cubicBezTo>
                      <a:pt x="197794" y="373329"/>
                      <a:pt x="211538" y="374768"/>
                      <a:pt x="225080" y="376702"/>
                    </a:cubicBezTo>
                    <a:cubicBezTo>
                      <a:pt x="227461" y="377496"/>
                      <a:pt x="229789" y="378475"/>
                      <a:pt x="232224" y="379084"/>
                    </a:cubicBezTo>
                    <a:cubicBezTo>
                      <a:pt x="255131" y="384811"/>
                      <a:pt x="258097" y="380767"/>
                      <a:pt x="291755" y="379084"/>
                    </a:cubicBezTo>
                    <a:cubicBezTo>
                      <a:pt x="294136" y="376703"/>
                      <a:pt x="297031" y="374742"/>
                      <a:pt x="298899" y="371940"/>
                    </a:cubicBezTo>
                    <a:cubicBezTo>
                      <a:pt x="312684" y="351262"/>
                      <a:pt x="285634" y="380442"/>
                      <a:pt x="308424" y="357652"/>
                    </a:cubicBezTo>
                    <a:cubicBezTo>
                      <a:pt x="309218" y="354477"/>
                      <a:pt x="309341" y="351054"/>
                      <a:pt x="310805" y="348127"/>
                    </a:cubicBezTo>
                    <a:cubicBezTo>
                      <a:pt x="312580" y="344577"/>
                      <a:pt x="316475" y="342287"/>
                      <a:pt x="317949" y="338602"/>
                    </a:cubicBezTo>
                    <a:cubicBezTo>
                      <a:pt x="319742" y="334119"/>
                      <a:pt x="319536" y="329077"/>
                      <a:pt x="320330" y="324315"/>
                    </a:cubicBezTo>
                    <a:cubicBezTo>
                      <a:pt x="319536" y="297327"/>
                      <a:pt x="319332" y="270316"/>
                      <a:pt x="317949" y="243352"/>
                    </a:cubicBezTo>
                    <a:cubicBezTo>
                      <a:pt x="317742" y="239310"/>
                      <a:pt x="316182" y="235446"/>
                      <a:pt x="315567" y="231446"/>
                    </a:cubicBezTo>
                    <a:cubicBezTo>
                      <a:pt x="314503" y="224530"/>
                      <a:pt x="312561" y="199551"/>
                      <a:pt x="308424" y="193346"/>
                    </a:cubicBezTo>
                    <a:lnTo>
                      <a:pt x="303661" y="186202"/>
                    </a:lnTo>
                    <a:cubicBezTo>
                      <a:pt x="298622" y="171084"/>
                      <a:pt x="304470" y="187506"/>
                      <a:pt x="294136" y="164771"/>
                    </a:cubicBezTo>
                    <a:cubicBezTo>
                      <a:pt x="292367" y="160880"/>
                      <a:pt x="291165" y="156746"/>
                      <a:pt x="289374" y="152865"/>
                    </a:cubicBezTo>
                    <a:cubicBezTo>
                      <a:pt x="272211" y="115677"/>
                      <a:pt x="285934" y="149025"/>
                      <a:pt x="275086" y="121909"/>
                    </a:cubicBezTo>
                    <a:cubicBezTo>
                      <a:pt x="270300" y="97974"/>
                      <a:pt x="276306" y="122576"/>
                      <a:pt x="265561" y="95715"/>
                    </a:cubicBezTo>
                    <a:cubicBezTo>
                      <a:pt x="264346" y="92676"/>
                      <a:pt x="264644" y="89117"/>
                      <a:pt x="263180" y="86190"/>
                    </a:cubicBezTo>
                    <a:cubicBezTo>
                      <a:pt x="260620" y="81070"/>
                      <a:pt x="256396" y="76927"/>
                      <a:pt x="253655" y="71902"/>
                    </a:cubicBezTo>
                    <a:cubicBezTo>
                      <a:pt x="238486" y="44093"/>
                      <a:pt x="256965" y="73992"/>
                      <a:pt x="246511" y="50471"/>
                    </a:cubicBezTo>
                    <a:cubicBezTo>
                      <a:pt x="244631" y="46242"/>
                      <a:pt x="241437" y="42705"/>
                      <a:pt x="239367" y="38565"/>
                    </a:cubicBezTo>
                    <a:cubicBezTo>
                      <a:pt x="220034" y="-102"/>
                      <a:pt x="245868" y="48969"/>
                      <a:pt x="232224" y="17134"/>
                    </a:cubicBezTo>
                    <a:cubicBezTo>
                      <a:pt x="231097" y="14503"/>
                      <a:pt x="229049" y="12371"/>
                      <a:pt x="227461" y="9990"/>
                    </a:cubicBezTo>
                    <a:cubicBezTo>
                      <a:pt x="226667" y="6815"/>
                      <a:pt x="226369" y="3473"/>
                      <a:pt x="225080" y="465"/>
                    </a:cubicBezTo>
                    <a:cubicBezTo>
                      <a:pt x="223061" y="-4247"/>
                      <a:pt x="209205" y="28246"/>
                      <a:pt x="206030" y="33802"/>
                    </a:cubicBezTo>
                    <a:close/>
                  </a:path>
                </a:pathLst>
              </a:custGeom>
              <a:solidFill>
                <a:sysClr val="window" lastClr="FFFFFF"/>
              </a:solidFill>
              <a:ln w="12700" cap="flat" cmpd="sng" algn="ctr">
                <a:solidFill>
                  <a:sysClr val="window" lastClr="FFFFFF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6858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de-DE" sz="1350" b="0" i="0" u="none" strike="noStrike" kern="0" cap="none" spc="0" normalizeH="0" baseline="0" noProof="1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562" name="Bolt3" descr="{&quot;Key&quot;:&quot;POWER_USER_SHAPE_ICON&quot;,&quot;Value&quot;:&quot;POWER_USER_SHAPE_ICON_STYLE_1&quot;}">
                <a:extLst>
                  <a:ext uri="{FF2B5EF4-FFF2-40B4-BE49-F238E27FC236}">
                    <a16:creationId xmlns:a16="http://schemas.microsoft.com/office/drawing/2014/main" id="{7772B885-1298-F8C7-1327-12E63022259E}"/>
                  </a:ext>
                </a:extLst>
              </p:cNvPr>
              <p:cNvSpPr>
                <a:spLocks noChangeAspect="1"/>
              </p:cNvSpPr>
              <p:nvPr>
                <p:custDataLst>
                  <p:tags r:id="rId35"/>
                </p:custDataLst>
              </p:nvPr>
            </p:nvSpPr>
            <p:spPr bwMode="auto">
              <a:xfrm>
                <a:off x="234737" y="3127907"/>
                <a:ext cx="197755" cy="316407"/>
              </a:xfrm>
              <a:custGeom>
                <a:avLst/>
                <a:gdLst>
                  <a:gd name="T0" fmla="*/ 132 w 511"/>
                  <a:gd name="T1" fmla="*/ 773 h 815"/>
                  <a:gd name="T2" fmla="*/ 212 w 511"/>
                  <a:gd name="T3" fmla="*/ 474 h 815"/>
                  <a:gd name="T4" fmla="*/ 32 w 511"/>
                  <a:gd name="T5" fmla="*/ 474 h 815"/>
                  <a:gd name="T6" fmla="*/ 13 w 511"/>
                  <a:gd name="T7" fmla="*/ 435 h 815"/>
                  <a:gd name="T8" fmla="*/ 336 w 511"/>
                  <a:gd name="T9" fmla="*/ 21 h 815"/>
                  <a:gd name="T10" fmla="*/ 379 w 511"/>
                  <a:gd name="T11" fmla="*/ 42 h 815"/>
                  <a:gd name="T12" fmla="*/ 299 w 511"/>
                  <a:gd name="T13" fmla="*/ 341 h 815"/>
                  <a:gd name="T14" fmla="*/ 479 w 511"/>
                  <a:gd name="T15" fmla="*/ 341 h 815"/>
                  <a:gd name="T16" fmla="*/ 499 w 511"/>
                  <a:gd name="T17" fmla="*/ 380 h 815"/>
                  <a:gd name="T18" fmla="*/ 176 w 511"/>
                  <a:gd name="T19" fmla="*/ 794 h 815"/>
                  <a:gd name="T20" fmla="*/ 132 w 511"/>
                  <a:gd name="T21" fmla="*/ 773 h 81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511" h="815">
                    <a:moveTo>
                      <a:pt x="132" y="773"/>
                    </a:moveTo>
                    <a:lnTo>
                      <a:pt x="212" y="474"/>
                    </a:lnTo>
                    <a:lnTo>
                      <a:pt x="32" y="474"/>
                    </a:lnTo>
                    <a:cubicBezTo>
                      <a:pt x="12" y="474"/>
                      <a:pt x="0" y="450"/>
                      <a:pt x="13" y="435"/>
                    </a:cubicBezTo>
                    <a:lnTo>
                      <a:pt x="336" y="21"/>
                    </a:lnTo>
                    <a:cubicBezTo>
                      <a:pt x="352" y="0"/>
                      <a:pt x="386" y="17"/>
                      <a:pt x="379" y="42"/>
                    </a:cubicBezTo>
                    <a:lnTo>
                      <a:pt x="299" y="341"/>
                    </a:lnTo>
                    <a:lnTo>
                      <a:pt x="479" y="341"/>
                    </a:lnTo>
                    <a:cubicBezTo>
                      <a:pt x="500" y="341"/>
                      <a:pt x="511" y="365"/>
                      <a:pt x="499" y="380"/>
                    </a:cubicBezTo>
                    <a:lnTo>
                      <a:pt x="176" y="794"/>
                    </a:lnTo>
                    <a:cubicBezTo>
                      <a:pt x="159" y="815"/>
                      <a:pt x="125" y="798"/>
                      <a:pt x="132" y="773"/>
                    </a:cubicBezTo>
                    <a:close/>
                  </a:path>
                </a:pathLst>
              </a:custGeom>
              <a:solidFill>
                <a:srgbClr val="9954CC"/>
              </a:solidFill>
              <a:ln>
                <a:noFill/>
              </a:ln>
            </p:spPr>
            <p:txBody>
              <a:bodyPr vert="horz" wrap="square" lIns="68580" tIns="34290" rIns="68580" bIns="3429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6858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de-DE" sz="1350" b="0" i="0" u="none" strike="noStrike" kern="0" cap="none" spc="0" normalizeH="0" baseline="0" noProof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  <p:grpSp>
          <p:nvGrpSpPr>
            <p:cNvPr id="557" name="Gruppieren 556" descr="{&quot;Key&quot;:&quot;POWER_USER_SHAPE_ICON&quot;,&quot;Value&quot;:&quot;POWER_USER_SHAPE_ICON_STYLE_2&quot;}">
              <a:extLst>
                <a:ext uri="{FF2B5EF4-FFF2-40B4-BE49-F238E27FC236}">
                  <a16:creationId xmlns:a16="http://schemas.microsoft.com/office/drawing/2014/main" id="{2525D5BE-E44F-9B43-111B-DFA89BE7B79B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9163525" y="3777549"/>
              <a:ext cx="328332" cy="328332"/>
              <a:chOff x="7786650" y="4317126"/>
              <a:chExt cx="762000" cy="762000"/>
            </a:xfrm>
            <a:noFill/>
          </p:grpSpPr>
          <p:sp>
            <p:nvSpPr>
              <p:cNvPr id="558" name="POWER_USER_SHAPE_ICON_STYLE_2">
                <a:extLst>
                  <a:ext uri="{FF2B5EF4-FFF2-40B4-BE49-F238E27FC236}">
                    <a16:creationId xmlns:a16="http://schemas.microsoft.com/office/drawing/2014/main" id="{34746632-6EE6-8E0E-5A86-89C117149F16}"/>
                  </a:ext>
                </a:extLst>
              </p:cNvPr>
              <p:cNvSpPr/>
              <p:nvPr/>
            </p:nvSpPr>
            <p:spPr>
              <a:xfrm>
                <a:off x="7786650" y="4317126"/>
                <a:ext cx="762000" cy="762000"/>
              </a:xfrm>
              <a:prstGeom prst="ellipse">
                <a:avLst/>
              </a:prstGeom>
              <a:solidFill>
                <a:sysClr val="window" lastClr="FFFFFF"/>
              </a:solidFill>
              <a:ln w="28575" cap="flat" cmpd="sng" algn="ctr">
                <a:solidFill>
                  <a:srgbClr val="9954CC"/>
                </a:solidFill>
                <a:prstDash val="sysDot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6858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de-DE" sz="1350" b="0" i="0" u="none" strike="noStrike" kern="0" cap="none" spc="0" normalizeH="0" baseline="0" noProof="1">
                  <a:ln>
                    <a:noFill/>
                  </a:ln>
                  <a:solidFill>
                    <a:srgbClr val="9954CC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559" name="Building5" descr="{&quot;Key&quot;:&quot;POWER_USER_SHAPE_ICON&quot;,&quot;Value&quot;:&quot;POWER_USER_SHAPE_ICON_STYLE_1&quot;}">
                <a:extLst>
                  <a:ext uri="{FF2B5EF4-FFF2-40B4-BE49-F238E27FC236}">
                    <a16:creationId xmlns:a16="http://schemas.microsoft.com/office/drawing/2014/main" id="{F5757A6E-B4B4-FAED-9EDB-B0774151A7A6}"/>
                  </a:ext>
                </a:extLst>
              </p:cNvPr>
              <p:cNvSpPr>
                <a:spLocks noChangeAspect="1" noEditPoints="1"/>
              </p:cNvSpPr>
              <p:nvPr>
                <p:custDataLst>
                  <p:tags r:id="rId33"/>
                </p:custDataLst>
              </p:nvPr>
            </p:nvSpPr>
            <p:spPr bwMode="auto">
              <a:xfrm>
                <a:off x="7913650" y="4456556"/>
                <a:ext cx="508000" cy="483141"/>
              </a:xfrm>
              <a:custGeom>
                <a:avLst/>
                <a:gdLst>
                  <a:gd name="T0" fmla="*/ 915 w 1250"/>
                  <a:gd name="T1" fmla="*/ 250 h 1187"/>
                  <a:gd name="T2" fmla="*/ 915 w 1250"/>
                  <a:gd name="T3" fmla="*/ 1053 h 1187"/>
                  <a:gd name="T4" fmla="*/ 848 w 1250"/>
                  <a:gd name="T5" fmla="*/ 1053 h 1187"/>
                  <a:gd name="T6" fmla="*/ 850 w 1250"/>
                  <a:gd name="T7" fmla="*/ 0 h 1187"/>
                  <a:gd name="T8" fmla="*/ 448 w 1250"/>
                  <a:gd name="T9" fmla="*/ 0 h 1187"/>
                  <a:gd name="T10" fmla="*/ 446 w 1250"/>
                  <a:gd name="T11" fmla="*/ 1053 h 1187"/>
                  <a:gd name="T12" fmla="*/ 379 w 1250"/>
                  <a:gd name="T13" fmla="*/ 1053 h 1187"/>
                  <a:gd name="T14" fmla="*/ 379 w 1250"/>
                  <a:gd name="T15" fmla="*/ 361 h 1187"/>
                  <a:gd name="T16" fmla="*/ 0 w 1250"/>
                  <a:gd name="T17" fmla="*/ 361 h 1187"/>
                  <a:gd name="T18" fmla="*/ 0 w 1250"/>
                  <a:gd name="T19" fmla="*/ 1187 h 1187"/>
                  <a:gd name="T20" fmla="*/ 1250 w 1250"/>
                  <a:gd name="T21" fmla="*/ 1187 h 1187"/>
                  <a:gd name="T22" fmla="*/ 1250 w 1250"/>
                  <a:gd name="T23" fmla="*/ 250 h 1187"/>
                  <a:gd name="T24" fmla="*/ 915 w 1250"/>
                  <a:gd name="T25" fmla="*/ 250 h 1187"/>
                  <a:gd name="T26" fmla="*/ 982 w 1250"/>
                  <a:gd name="T27" fmla="*/ 339 h 1187"/>
                  <a:gd name="T28" fmla="*/ 1183 w 1250"/>
                  <a:gd name="T29" fmla="*/ 339 h 1187"/>
                  <a:gd name="T30" fmla="*/ 1183 w 1250"/>
                  <a:gd name="T31" fmla="*/ 584 h 1187"/>
                  <a:gd name="T32" fmla="*/ 982 w 1250"/>
                  <a:gd name="T33" fmla="*/ 584 h 1187"/>
                  <a:gd name="T34" fmla="*/ 982 w 1250"/>
                  <a:gd name="T35" fmla="*/ 339 h 1187"/>
                  <a:gd name="T36" fmla="*/ 982 w 1250"/>
                  <a:gd name="T37" fmla="*/ 674 h 1187"/>
                  <a:gd name="T38" fmla="*/ 1183 w 1250"/>
                  <a:gd name="T39" fmla="*/ 674 h 1187"/>
                  <a:gd name="T40" fmla="*/ 1183 w 1250"/>
                  <a:gd name="T41" fmla="*/ 919 h 1187"/>
                  <a:gd name="T42" fmla="*/ 982 w 1250"/>
                  <a:gd name="T43" fmla="*/ 919 h 1187"/>
                  <a:gd name="T44" fmla="*/ 982 w 1250"/>
                  <a:gd name="T45" fmla="*/ 674 h 1187"/>
                  <a:gd name="T46" fmla="*/ 513 w 1250"/>
                  <a:gd name="T47" fmla="*/ 71 h 1187"/>
                  <a:gd name="T48" fmla="*/ 781 w 1250"/>
                  <a:gd name="T49" fmla="*/ 71 h 1187"/>
                  <a:gd name="T50" fmla="*/ 781 w 1250"/>
                  <a:gd name="T51" fmla="*/ 183 h 1187"/>
                  <a:gd name="T52" fmla="*/ 513 w 1250"/>
                  <a:gd name="T53" fmla="*/ 183 h 1187"/>
                  <a:gd name="T54" fmla="*/ 513 w 1250"/>
                  <a:gd name="T55" fmla="*/ 71 h 1187"/>
                  <a:gd name="T56" fmla="*/ 513 w 1250"/>
                  <a:gd name="T57" fmla="*/ 294 h 1187"/>
                  <a:gd name="T58" fmla="*/ 781 w 1250"/>
                  <a:gd name="T59" fmla="*/ 294 h 1187"/>
                  <a:gd name="T60" fmla="*/ 781 w 1250"/>
                  <a:gd name="T61" fmla="*/ 406 h 1187"/>
                  <a:gd name="T62" fmla="*/ 513 w 1250"/>
                  <a:gd name="T63" fmla="*/ 406 h 1187"/>
                  <a:gd name="T64" fmla="*/ 513 w 1250"/>
                  <a:gd name="T65" fmla="*/ 294 h 1187"/>
                  <a:gd name="T66" fmla="*/ 513 w 1250"/>
                  <a:gd name="T67" fmla="*/ 517 h 1187"/>
                  <a:gd name="T68" fmla="*/ 781 w 1250"/>
                  <a:gd name="T69" fmla="*/ 517 h 1187"/>
                  <a:gd name="T70" fmla="*/ 781 w 1250"/>
                  <a:gd name="T71" fmla="*/ 629 h 1187"/>
                  <a:gd name="T72" fmla="*/ 513 w 1250"/>
                  <a:gd name="T73" fmla="*/ 629 h 1187"/>
                  <a:gd name="T74" fmla="*/ 513 w 1250"/>
                  <a:gd name="T75" fmla="*/ 517 h 1187"/>
                  <a:gd name="T76" fmla="*/ 513 w 1250"/>
                  <a:gd name="T77" fmla="*/ 741 h 1187"/>
                  <a:gd name="T78" fmla="*/ 781 w 1250"/>
                  <a:gd name="T79" fmla="*/ 741 h 1187"/>
                  <a:gd name="T80" fmla="*/ 781 w 1250"/>
                  <a:gd name="T81" fmla="*/ 852 h 1187"/>
                  <a:gd name="T82" fmla="*/ 513 w 1250"/>
                  <a:gd name="T83" fmla="*/ 852 h 1187"/>
                  <a:gd name="T84" fmla="*/ 513 w 1250"/>
                  <a:gd name="T85" fmla="*/ 741 h 1187"/>
                  <a:gd name="T86" fmla="*/ 67 w 1250"/>
                  <a:gd name="T87" fmla="*/ 450 h 1187"/>
                  <a:gd name="T88" fmla="*/ 156 w 1250"/>
                  <a:gd name="T89" fmla="*/ 450 h 1187"/>
                  <a:gd name="T90" fmla="*/ 156 w 1250"/>
                  <a:gd name="T91" fmla="*/ 607 h 1187"/>
                  <a:gd name="T92" fmla="*/ 67 w 1250"/>
                  <a:gd name="T93" fmla="*/ 607 h 1187"/>
                  <a:gd name="T94" fmla="*/ 67 w 1250"/>
                  <a:gd name="T95" fmla="*/ 450 h 1187"/>
                  <a:gd name="T96" fmla="*/ 223 w 1250"/>
                  <a:gd name="T97" fmla="*/ 450 h 1187"/>
                  <a:gd name="T98" fmla="*/ 313 w 1250"/>
                  <a:gd name="T99" fmla="*/ 450 h 1187"/>
                  <a:gd name="T100" fmla="*/ 313 w 1250"/>
                  <a:gd name="T101" fmla="*/ 607 h 1187"/>
                  <a:gd name="T102" fmla="*/ 223 w 1250"/>
                  <a:gd name="T103" fmla="*/ 607 h 1187"/>
                  <a:gd name="T104" fmla="*/ 223 w 1250"/>
                  <a:gd name="T105" fmla="*/ 450 h 1187"/>
                  <a:gd name="T106" fmla="*/ 67 w 1250"/>
                  <a:gd name="T107" fmla="*/ 718 h 1187"/>
                  <a:gd name="T108" fmla="*/ 156 w 1250"/>
                  <a:gd name="T109" fmla="*/ 718 h 1187"/>
                  <a:gd name="T110" fmla="*/ 156 w 1250"/>
                  <a:gd name="T111" fmla="*/ 875 h 1187"/>
                  <a:gd name="T112" fmla="*/ 67 w 1250"/>
                  <a:gd name="T113" fmla="*/ 875 h 1187"/>
                  <a:gd name="T114" fmla="*/ 67 w 1250"/>
                  <a:gd name="T115" fmla="*/ 718 h 1187"/>
                  <a:gd name="T116" fmla="*/ 223 w 1250"/>
                  <a:gd name="T117" fmla="*/ 718 h 1187"/>
                  <a:gd name="T118" fmla="*/ 313 w 1250"/>
                  <a:gd name="T119" fmla="*/ 718 h 1187"/>
                  <a:gd name="T120" fmla="*/ 313 w 1250"/>
                  <a:gd name="T121" fmla="*/ 875 h 1187"/>
                  <a:gd name="T122" fmla="*/ 223 w 1250"/>
                  <a:gd name="T123" fmla="*/ 875 h 1187"/>
                  <a:gd name="T124" fmla="*/ 223 w 1250"/>
                  <a:gd name="T125" fmla="*/ 718 h 118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  <a:cxn ang="0">
                    <a:pos x="T122" y="T123"/>
                  </a:cxn>
                  <a:cxn ang="0">
                    <a:pos x="T124" y="T125"/>
                  </a:cxn>
                </a:cxnLst>
                <a:rect l="0" t="0" r="r" b="b"/>
                <a:pathLst>
                  <a:path w="1250" h="1187">
                    <a:moveTo>
                      <a:pt x="915" y="250"/>
                    </a:moveTo>
                    <a:lnTo>
                      <a:pt x="915" y="1053"/>
                    </a:lnTo>
                    <a:lnTo>
                      <a:pt x="848" y="1053"/>
                    </a:lnTo>
                    <a:lnTo>
                      <a:pt x="850" y="0"/>
                    </a:lnTo>
                    <a:lnTo>
                      <a:pt x="448" y="0"/>
                    </a:lnTo>
                    <a:lnTo>
                      <a:pt x="446" y="1053"/>
                    </a:lnTo>
                    <a:lnTo>
                      <a:pt x="379" y="1053"/>
                    </a:lnTo>
                    <a:lnTo>
                      <a:pt x="379" y="361"/>
                    </a:lnTo>
                    <a:lnTo>
                      <a:pt x="0" y="361"/>
                    </a:lnTo>
                    <a:lnTo>
                      <a:pt x="0" y="1187"/>
                    </a:lnTo>
                    <a:lnTo>
                      <a:pt x="1250" y="1187"/>
                    </a:lnTo>
                    <a:lnTo>
                      <a:pt x="1250" y="250"/>
                    </a:lnTo>
                    <a:lnTo>
                      <a:pt x="915" y="250"/>
                    </a:lnTo>
                    <a:close/>
                    <a:moveTo>
                      <a:pt x="982" y="339"/>
                    </a:moveTo>
                    <a:lnTo>
                      <a:pt x="1183" y="339"/>
                    </a:lnTo>
                    <a:lnTo>
                      <a:pt x="1183" y="584"/>
                    </a:lnTo>
                    <a:lnTo>
                      <a:pt x="982" y="584"/>
                    </a:lnTo>
                    <a:lnTo>
                      <a:pt x="982" y="339"/>
                    </a:lnTo>
                    <a:close/>
                    <a:moveTo>
                      <a:pt x="982" y="674"/>
                    </a:moveTo>
                    <a:lnTo>
                      <a:pt x="1183" y="674"/>
                    </a:lnTo>
                    <a:lnTo>
                      <a:pt x="1183" y="919"/>
                    </a:lnTo>
                    <a:lnTo>
                      <a:pt x="982" y="919"/>
                    </a:lnTo>
                    <a:lnTo>
                      <a:pt x="982" y="674"/>
                    </a:lnTo>
                    <a:close/>
                    <a:moveTo>
                      <a:pt x="513" y="71"/>
                    </a:moveTo>
                    <a:lnTo>
                      <a:pt x="781" y="71"/>
                    </a:lnTo>
                    <a:lnTo>
                      <a:pt x="781" y="183"/>
                    </a:lnTo>
                    <a:lnTo>
                      <a:pt x="513" y="183"/>
                    </a:lnTo>
                    <a:lnTo>
                      <a:pt x="513" y="71"/>
                    </a:lnTo>
                    <a:close/>
                    <a:moveTo>
                      <a:pt x="513" y="294"/>
                    </a:moveTo>
                    <a:lnTo>
                      <a:pt x="781" y="294"/>
                    </a:lnTo>
                    <a:lnTo>
                      <a:pt x="781" y="406"/>
                    </a:lnTo>
                    <a:lnTo>
                      <a:pt x="513" y="406"/>
                    </a:lnTo>
                    <a:lnTo>
                      <a:pt x="513" y="294"/>
                    </a:lnTo>
                    <a:close/>
                    <a:moveTo>
                      <a:pt x="513" y="517"/>
                    </a:moveTo>
                    <a:lnTo>
                      <a:pt x="781" y="517"/>
                    </a:lnTo>
                    <a:lnTo>
                      <a:pt x="781" y="629"/>
                    </a:lnTo>
                    <a:lnTo>
                      <a:pt x="513" y="629"/>
                    </a:lnTo>
                    <a:lnTo>
                      <a:pt x="513" y="517"/>
                    </a:lnTo>
                    <a:close/>
                    <a:moveTo>
                      <a:pt x="513" y="741"/>
                    </a:moveTo>
                    <a:lnTo>
                      <a:pt x="781" y="741"/>
                    </a:lnTo>
                    <a:lnTo>
                      <a:pt x="781" y="852"/>
                    </a:lnTo>
                    <a:lnTo>
                      <a:pt x="513" y="852"/>
                    </a:lnTo>
                    <a:lnTo>
                      <a:pt x="513" y="741"/>
                    </a:lnTo>
                    <a:close/>
                    <a:moveTo>
                      <a:pt x="67" y="450"/>
                    </a:moveTo>
                    <a:lnTo>
                      <a:pt x="156" y="450"/>
                    </a:lnTo>
                    <a:lnTo>
                      <a:pt x="156" y="607"/>
                    </a:lnTo>
                    <a:lnTo>
                      <a:pt x="67" y="607"/>
                    </a:lnTo>
                    <a:lnTo>
                      <a:pt x="67" y="450"/>
                    </a:lnTo>
                    <a:close/>
                    <a:moveTo>
                      <a:pt x="223" y="450"/>
                    </a:moveTo>
                    <a:lnTo>
                      <a:pt x="313" y="450"/>
                    </a:lnTo>
                    <a:lnTo>
                      <a:pt x="313" y="607"/>
                    </a:lnTo>
                    <a:lnTo>
                      <a:pt x="223" y="607"/>
                    </a:lnTo>
                    <a:lnTo>
                      <a:pt x="223" y="450"/>
                    </a:lnTo>
                    <a:close/>
                    <a:moveTo>
                      <a:pt x="67" y="718"/>
                    </a:moveTo>
                    <a:lnTo>
                      <a:pt x="156" y="718"/>
                    </a:lnTo>
                    <a:lnTo>
                      <a:pt x="156" y="875"/>
                    </a:lnTo>
                    <a:lnTo>
                      <a:pt x="67" y="875"/>
                    </a:lnTo>
                    <a:lnTo>
                      <a:pt x="67" y="718"/>
                    </a:lnTo>
                    <a:close/>
                    <a:moveTo>
                      <a:pt x="223" y="718"/>
                    </a:moveTo>
                    <a:lnTo>
                      <a:pt x="313" y="718"/>
                    </a:lnTo>
                    <a:lnTo>
                      <a:pt x="313" y="875"/>
                    </a:lnTo>
                    <a:lnTo>
                      <a:pt x="223" y="875"/>
                    </a:lnTo>
                    <a:lnTo>
                      <a:pt x="223" y="718"/>
                    </a:lnTo>
                    <a:close/>
                  </a:path>
                </a:pathLst>
              </a:custGeom>
              <a:solidFill>
                <a:srgbClr val="9954CC"/>
              </a:solidFill>
              <a:ln>
                <a:noFill/>
              </a:ln>
            </p:spPr>
            <p:txBody>
              <a:bodyPr vert="horz" wrap="square" lIns="68580" tIns="34290" rIns="68580" bIns="3429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6858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de-DE" sz="1350" b="0" i="0" u="none" strike="noStrike" kern="0" cap="none" spc="0" normalizeH="0" baseline="0" noProof="1">
                  <a:ln>
                    <a:noFill/>
                  </a:ln>
                  <a:solidFill>
                    <a:srgbClr val="9954CC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</p:grpSp>
      <p:sp>
        <p:nvSpPr>
          <p:cNvPr id="566" name="Rechteck 565">
            <a:extLst>
              <a:ext uri="{FF2B5EF4-FFF2-40B4-BE49-F238E27FC236}">
                <a16:creationId xmlns:a16="http://schemas.microsoft.com/office/drawing/2014/main" id="{E591D160-1DED-F46F-B633-CFB486D05762}"/>
              </a:ext>
            </a:extLst>
          </p:cNvPr>
          <p:cNvSpPr/>
          <p:nvPr/>
        </p:nvSpPr>
        <p:spPr bwMode="auto">
          <a:xfrm>
            <a:off x="9736699" y="4765780"/>
            <a:ext cx="1759031" cy="776508"/>
          </a:xfrm>
          <a:prstGeom prst="rect">
            <a:avLst/>
          </a:prstGeom>
          <a:solidFill>
            <a:srgbClr val="D8D7B7"/>
          </a:solidFill>
          <a:ln w="28575" cap="flat" cmpd="sng" algn="ctr">
            <a:noFill/>
            <a:prstDash val="dash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200" b="0" i="0" u="none" strike="noStrike" kern="0" cap="none" spc="0" normalizeH="0" baseline="0" noProof="1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67" name="Building5" descr="{&quot;Key&quot;:&quot;POWER_USER_SHAPE_ICON&quot;,&quot;Value&quot;:&quot;POWER_USER_SHAPE_ICON_STYLE_1&quot;}">
            <a:extLst>
              <a:ext uri="{FF2B5EF4-FFF2-40B4-BE49-F238E27FC236}">
                <a16:creationId xmlns:a16="http://schemas.microsoft.com/office/drawing/2014/main" id="{CDF1263D-69BB-7ACE-5EAE-535FB8329C8A}"/>
              </a:ext>
            </a:extLst>
          </p:cNvPr>
          <p:cNvSpPr>
            <a:spLocks noChangeAspect="1" noEditPoints="1"/>
          </p:cNvSpPr>
          <p:nvPr>
            <p:custDataLst>
              <p:tags r:id="rId3"/>
            </p:custDataLst>
          </p:nvPr>
        </p:nvSpPr>
        <p:spPr bwMode="auto">
          <a:xfrm>
            <a:off x="9833775" y="3564982"/>
            <a:ext cx="1233099" cy="1200798"/>
          </a:xfrm>
          <a:custGeom>
            <a:avLst/>
            <a:gdLst>
              <a:gd name="T0" fmla="*/ 915 w 1250"/>
              <a:gd name="T1" fmla="*/ 250 h 1187"/>
              <a:gd name="T2" fmla="*/ 915 w 1250"/>
              <a:gd name="T3" fmla="*/ 1053 h 1187"/>
              <a:gd name="T4" fmla="*/ 848 w 1250"/>
              <a:gd name="T5" fmla="*/ 1053 h 1187"/>
              <a:gd name="T6" fmla="*/ 850 w 1250"/>
              <a:gd name="T7" fmla="*/ 0 h 1187"/>
              <a:gd name="T8" fmla="*/ 448 w 1250"/>
              <a:gd name="T9" fmla="*/ 0 h 1187"/>
              <a:gd name="T10" fmla="*/ 446 w 1250"/>
              <a:gd name="T11" fmla="*/ 1053 h 1187"/>
              <a:gd name="T12" fmla="*/ 379 w 1250"/>
              <a:gd name="T13" fmla="*/ 1053 h 1187"/>
              <a:gd name="T14" fmla="*/ 379 w 1250"/>
              <a:gd name="T15" fmla="*/ 361 h 1187"/>
              <a:gd name="T16" fmla="*/ 0 w 1250"/>
              <a:gd name="T17" fmla="*/ 361 h 1187"/>
              <a:gd name="T18" fmla="*/ 0 w 1250"/>
              <a:gd name="T19" fmla="*/ 1187 h 1187"/>
              <a:gd name="T20" fmla="*/ 1250 w 1250"/>
              <a:gd name="T21" fmla="*/ 1187 h 1187"/>
              <a:gd name="T22" fmla="*/ 1250 w 1250"/>
              <a:gd name="T23" fmla="*/ 250 h 1187"/>
              <a:gd name="T24" fmla="*/ 915 w 1250"/>
              <a:gd name="T25" fmla="*/ 250 h 1187"/>
              <a:gd name="T26" fmla="*/ 982 w 1250"/>
              <a:gd name="T27" fmla="*/ 339 h 1187"/>
              <a:gd name="T28" fmla="*/ 1183 w 1250"/>
              <a:gd name="T29" fmla="*/ 339 h 1187"/>
              <a:gd name="T30" fmla="*/ 1183 w 1250"/>
              <a:gd name="T31" fmla="*/ 584 h 1187"/>
              <a:gd name="T32" fmla="*/ 982 w 1250"/>
              <a:gd name="T33" fmla="*/ 584 h 1187"/>
              <a:gd name="T34" fmla="*/ 982 w 1250"/>
              <a:gd name="T35" fmla="*/ 339 h 1187"/>
              <a:gd name="T36" fmla="*/ 982 w 1250"/>
              <a:gd name="T37" fmla="*/ 674 h 1187"/>
              <a:gd name="T38" fmla="*/ 1183 w 1250"/>
              <a:gd name="T39" fmla="*/ 674 h 1187"/>
              <a:gd name="T40" fmla="*/ 1183 w 1250"/>
              <a:gd name="T41" fmla="*/ 919 h 1187"/>
              <a:gd name="T42" fmla="*/ 982 w 1250"/>
              <a:gd name="T43" fmla="*/ 919 h 1187"/>
              <a:gd name="T44" fmla="*/ 982 w 1250"/>
              <a:gd name="T45" fmla="*/ 674 h 1187"/>
              <a:gd name="T46" fmla="*/ 513 w 1250"/>
              <a:gd name="T47" fmla="*/ 71 h 1187"/>
              <a:gd name="T48" fmla="*/ 781 w 1250"/>
              <a:gd name="T49" fmla="*/ 71 h 1187"/>
              <a:gd name="T50" fmla="*/ 781 w 1250"/>
              <a:gd name="T51" fmla="*/ 183 h 1187"/>
              <a:gd name="T52" fmla="*/ 513 w 1250"/>
              <a:gd name="T53" fmla="*/ 183 h 1187"/>
              <a:gd name="T54" fmla="*/ 513 w 1250"/>
              <a:gd name="T55" fmla="*/ 71 h 1187"/>
              <a:gd name="T56" fmla="*/ 513 w 1250"/>
              <a:gd name="T57" fmla="*/ 294 h 1187"/>
              <a:gd name="T58" fmla="*/ 781 w 1250"/>
              <a:gd name="T59" fmla="*/ 294 h 1187"/>
              <a:gd name="T60" fmla="*/ 781 w 1250"/>
              <a:gd name="T61" fmla="*/ 406 h 1187"/>
              <a:gd name="T62" fmla="*/ 513 w 1250"/>
              <a:gd name="T63" fmla="*/ 406 h 1187"/>
              <a:gd name="T64" fmla="*/ 513 w 1250"/>
              <a:gd name="T65" fmla="*/ 294 h 1187"/>
              <a:gd name="T66" fmla="*/ 513 w 1250"/>
              <a:gd name="T67" fmla="*/ 517 h 1187"/>
              <a:gd name="T68" fmla="*/ 781 w 1250"/>
              <a:gd name="T69" fmla="*/ 517 h 1187"/>
              <a:gd name="T70" fmla="*/ 781 w 1250"/>
              <a:gd name="T71" fmla="*/ 629 h 1187"/>
              <a:gd name="T72" fmla="*/ 513 w 1250"/>
              <a:gd name="T73" fmla="*/ 629 h 1187"/>
              <a:gd name="T74" fmla="*/ 513 w 1250"/>
              <a:gd name="T75" fmla="*/ 517 h 1187"/>
              <a:gd name="T76" fmla="*/ 513 w 1250"/>
              <a:gd name="T77" fmla="*/ 741 h 1187"/>
              <a:gd name="T78" fmla="*/ 781 w 1250"/>
              <a:gd name="T79" fmla="*/ 741 h 1187"/>
              <a:gd name="T80" fmla="*/ 781 w 1250"/>
              <a:gd name="T81" fmla="*/ 852 h 1187"/>
              <a:gd name="T82" fmla="*/ 513 w 1250"/>
              <a:gd name="T83" fmla="*/ 852 h 1187"/>
              <a:gd name="T84" fmla="*/ 513 w 1250"/>
              <a:gd name="T85" fmla="*/ 741 h 1187"/>
              <a:gd name="T86" fmla="*/ 67 w 1250"/>
              <a:gd name="T87" fmla="*/ 450 h 1187"/>
              <a:gd name="T88" fmla="*/ 156 w 1250"/>
              <a:gd name="T89" fmla="*/ 450 h 1187"/>
              <a:gd name="T90" fmla="*/ 156 w 1250"/>
              <a:gd name="T91" fmla="*/ 607 h 1187"/>
              <a:gd name="T92" fmla="*/ 67 w 1250"/>
              <a:gd name="T93" fmla="*/ 607 h 1187"/>
              <a:gd name="T94" fmla="*/ 67 w 1250"/>
              <a:gd name="T95" fmla="*/ 450 h 1187"/>
              <a:gd name="T96" fmla="*/ 223 w 1250"/>
              <a:gd name="T97" fmla="*/ 450 h 1187"/>
              <a:gd name="T98" fmla="*/ 313 w 1250"/>
              <a:gd name="T99" fmla="*/ 450 h 1187"/>
              <a:gd name="T100" fmla="*/ 313 w 1250"/>
              <a:gd name="T101" fmla="*/ 607 h 1187"/>
              <a:gd name="T102" fmla="*/ 223 w 1250"/>
              <a:gd name="T103" fmla="*/ 607 h 1187"/>
              <a:gd name="T104" fmla="*/ 223 w 1250"/>
              <a:gd name="T105" fmla="*/ 450 h 1187"/>
              <a:gd name="T106" fmla="*/ 67 w 1250"/>
              <a:gd name="T107" fmla="*/ 718 h 1187"/>
              <a:gd name="T108" fmla="*/ 156 w 1250"/>
              <a:gd name="T109" fmla="*/ 718 h 1187"/>
              <a:gd name="T110" fmla="*/ 156 w 1250"/>
              <a:gd name="T111" fmla="*/ 875 h 1187"/>
              <a:gd name="T112" fmla="*/ 67 w 1250"/>
              <a:gd name="T113" fmla="*/ 875 h 1187"/>
              <a:gd name="T114" fmla="*/ 67 w 1250"/>
              <a:gd name="T115" fmla="*/ 718 h 1187"/>
              <a:gd name="T116" fmla="*/ 223 w 1250"/>
              <a:gd name="T117" fmla="*/ 718 h 1187"/>
              <a:gd name="T118" fmla="*/ 313 w 1250"/>
              <a:gd name="T119" fmla="*/ 718 h 1187"/>
              <a:gd name="T120" fmla="*/ 313 w 1250"/>
              <a:gd name="T121" fmla="*/ 875 h 1187"/>
              <a:gd name="T122" fmla="*/ 223 w 1250"/>
              <a:gd name="T123" fmla="*/ 875 h 1187"/>
              <a:gd name="T124" fmla="*/ 223 w 1250"/>
              <a:gd name="T125" fmla="*/ 718 h 118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  <a:cxn ang="0">
                <a:pos x="T124" y="T125"/>
              </a:cxn>
            </a:cxnLst>
            <a:rect l="0" t="0" r="r" b="b"/>
            <a:pathLst>
              <a:path w="1250" h="1187">
                <a:moveTo>
                  <a:pt x="915" y="250"/>
                </a:moveTo>
                <a:lnTo>
                  <a:pt x="915" y="1053"/>
                </a:lnTo>
                <a:lnTo>
                  <a:pt x="848" y="1053"/>
                </a:lnTo>
                <a:lnTo>
                  <a:pt x="850" y="0"/>
                </a:lnTo>
                <a:lnTo>
                  <a:pt x="448" y="0"/>
                </a:lnTo>
                <a:lnTo>
                  <a:pt x="446" y="1053"/>
                </a:lnTo>
                <a:lnTo>
                  <a:pt x="379" y="1053"/>
                </a:lnTo>
                <a:lnTo>
                  <a:pt x="379" y="361"/>
                </a:lnTo>
                <a:lnTo>
                  <a:pt x="0" y="361"/>
                </a:lnTo>
                <a:lnTo>
                  <a:pt x="0" y="1187"/>
                </a:lnTo>
                <a:lnTo>
                  <a:pt x="1250" y="1187"/>
                </a:lnTo>
                <a:lnTo>
                  <a:pt x="1250" y="250"/>
                </a:lnTo>
                <a:lnTo>
                  <a:pt x="915" y="250"/>
                </a:lnTo>
                <a:close/>
                <a:moveTo>
                  <a:pt x="982" y="339"/>
                </a:moveTo>
                <a:lnTo>
                  <a:pt x="1183" y="339"/>
                </a:lnTo>
                <a:lnTo>
                  <a:pt x="1183" y="584"/>
                </a:lnTo>
                <a:lnTo>
                  <a:pt x="982" y="584"/>
                </a:lnTo>
                <a:lnTo>
                  <a:pt x="982" y="339"/>
                </a:lnTo>
                <a:close/>
                <a:moveTo>
                  <a:pt x="982" y="674"/>
                </a:moveTo>
                <a:lnTo>
                  <a:pt x="1183" y="674"/>
                </a:lnTo>
                <a:lnTo>
                  <a:pt x="1183" y="919"/>
                </a:lnTo>
                <a:lnTo>
                  <a:pt x="982" y="919"/>
                </a:lnTo>
                <a:lnTo>
                  <a:pt x="982" y="674"/>
                </a:lnTo>
                <a:close/>
                <a:moveTo>
                  <a:pt x="513" y="71"/>
                </a:moveTo>
                <a:lnTo>
                  <a:pt x="781" y="71"/>
                </a:lnTo>
                <a:lnTo>
                  <a:pt x="781" y="183"/>
                </a:lnTo>
                <a:lnTo>
                  <a:pt x="513" y="183"/>
                </a:lnTo>
                <a:lnTo>
                  <a:pt x="513" y="71"/>
                </a:lnTo>
                <a:close/>
                <a:moveTo>
                  <a:pt x="513" y="294"/>
                </a:moveTo>
                <a:lnTo>
                  <a:pt x="781" y="294"/>
                </a:lnTo>
                <a:lnTo>
                  <a:pt x="781" y="406"/>
                </a:lnTo>
                <a:lnTo>
                  <a:pt x="513" y="406"/>
                </a:lnTo>
                <a:lnTo>
                  <a:pt x="513" y="294"/>
                </a:lnTo>
                <a:close/>
                <a:moveTo>
                  <a:pt x="513" y="517"/>
                </a:moveTo>
                <a:lnTo>
                  <a:pt x="781" y="517"/>
                </a:lnTo>
                <a:lnTo>
                  <a:pt x="781" y="629"/>
                </a:lnTo>
                <a:lnTo>
                  <a:pt x="513" y="629"/>
                </a:lnTo>
                <a:lnTo>
                  <a:pt x="513" y="517"/>
                </a:lnTo>
                <a:close/>
                <a:moveTo>
                  <a:pt x="513" y="741"/>
                </a:moveTo>
                <a:lnTo>
                  <a:pt x="781" y="741"/>
                </a:lnTo>
                <a:lnTo>
                  <a:pt x="781" y="852"/>
                </a:lnTo>
                <a:lnTo>
                  <a:pt x="513" y="852"/>
                </a:lnTo>
                <a:lnTo>
                  <a:pt x="513" y="741"/>
                </a:lnTo>
                <a:close/>
                <a:moveTo>
                  <a:pt x="67" y="450"/>
                </a:moveTo>
                <a:lnTo>
                  <a:pt x="156" y="450"/>
                </a:lnTo>
                <a:lnTo>
                  <a:pt x="156" y="607"/>
                </a:lnTo>
                <a:lnTo>
                  <a:pt x="67" y="607"/>
                </a:lnTo>
                <a:lnTo>
                  <a:pt x="67" y="450"/>
                </a:lnTo>
                <a:close/>
                <a:moveTo>
                  <a:pt x="223" y="450"/>
                </a:moveTo>
                <a:lnTo>
                  <a:pt x="313" y="450"/>
                </a:lnTo>
                <a:lnTo>
                  <a:pt x="313" y="607"/>
                </a:lnTo>
                <a:lnTo>
                  <a:pt x="223" y="607"/>
                </a:lnTo>
                <a:lnTo>
                  <a:pt x="223" y="450"/>
                </a:lnTo>
                <a:close/>
                <a:moveTo>
                  <a:pt x="67" y="718"/>
                </a:moveTo>
                <a:lnTo>
                  <a:pt x="156" y="718"/>
                </a:lnTo>
                <a:lnTo>
                  <a:pt x="156" y="875"/>
                </a:lnTo>
                <a:lnTo>
                  <a:pt x="67" y="875"/>
                </a:lnTo>
                <a:lnTo>
                  <a:pt x="67" y="718"/>
                </a:lnTo>
                <a:close/>
                <a:moveTo>
                  <a:pt x="223" y="718"/>
                </a:moveTo>
                <a:lnTo>
                  <a:pt x="313" y="718"/>
                </a:lnTo>
                <a:lnTo>
                  <a:pt x="313" y="875"/>
                </a:lnTo>
                <a:lnTo>
                  <a:pt x="223" y="875"/>
                </a:lnTo>
                <a:lnTo>
                  <a:pt x="223" y="718"/>
                </a:lnTo>
                <a:close/>
              </a:path>
            </a:pathLst>
          </a:custGeom>
          <a:solidFill>
            <a:srgbClr val="FFFFFF">
              <a:lumMod val="85000"/>
            </a:srgbClr>
          </a:solidFill>
          <a:ln>
            <a:noFill/>
          </a:ln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200" b="0" i="0" u="none" strike="noStrike" kern="0" cap="none" spc="0" normalizeH="0" baseline="0" noProof="1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pSp>
        <p:nvGrpSpPr>
          <p:cNvPr id="568" name="Gruppieren 567">
            <a:extLst>
              <a:ext uri="{FF2B5EF4-FFF2-40B4-BE49-F238E27FC236}">
                <a16:creationId xmlns:a16="http://schemas.microsoft.com/office/drawing/2014/main" id="{BD617E73-7AF8-0602-9B4F-159DCA3975DA}"/>
              </a:ext>
            </a:extLst>
          </p:cNvPr>
          <p:cNvGrpSpPr/>
          <p:nvPr/>
        </p:nvGrpSpPr>
        <p:grpSpPr>
          <a:xfrm>
            <a:off x="10449073" y="4075900"/>
            <a:ext cx="298582" cy="276822"/>
            <a:chOff x="-19101" y="2381281"/>
            <a:chExt cx="699820" cy="699820"/>
          </a:xfrm>
        </p:grpSpPr>
        <p:sp>
          <p:nvSpPr>
            <p:cNvPr id="569" name="Ellipse 568">
              <a:extLst>
                <a:ext uri="{FF2B5EF4-FFF2-40B4-BE49-F238E27FC236}">
                  <a16:creationId xmlns:a16="http://schemas.microsoft.com/office/drawing/2014/main" id="{C14ED07E-05EA-FEE9-B136-F954BD1CA754}"/>
                </a:ext>
              </a:extLst>
            </p:cNvPr>
            <p:cNvSpPr/>
            <p:nvPr/>
          </p:nvSpPr>
          <p:spPr>
            <a:xfrm>
              <a:off x="-19101" y="2381281"/>
              <a:ext cx="699820" cy="699820"/>
            </a:xfrm>
            <a:prstGeom prst="ellipse">
              <a:avLst/>
            </a:prstGeom>
            <a:solidFill>
              <a:sysClr val="windowText" lastClr="000000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de-DE" sz="1200" b="0" i="0" u="none" strike="noStrike" kern="0" cap="none" spc="0" normalizeH="0" baseline="0" noProof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70" name="Plug" descr="{&quot;Key&quot;:&quot;POWER_USER_SHAPE_ICON&quot;,&quot;Value&quot;:&quot;POWER_USER_SHAPE_ICON_STYLE_1&quot;}">
              <a:extLst>
                <a:ext uri="{FF2B5EF4-FFF2-40B4-BE49-F238E27FC236}">
                  <a16:creationId xmlns:a16="http://schemas.microsoft.com/office/drawing/2014/main" id="{4F70334D-5158-4FCF-C7E5-2E41CB1CB564}"/>
                </a:ext>
              </a:extLst>
            </p:cNvPr>
            <p:cNvSpPr>
              <a:spLocks noChangeAspect="1" noEditPoints="1"/>
            </p:cNvSpPr>
            <p:nvPr>
              <p:custDataLst>
                <p:tags r:id="rId32"/>
              </p:custDataLst>
            </p:nvPr>
          </p:nvSpPr>
          <p:spPr bwMode="auto">
            <a:xfrm>
              <a:off x="124100" y="2458915"/>
              <a:ext cx="393828" cy="542925"/>
            </a:xfrm>
            <a:custGeom>
              <a:avLst/>
              <a:gdLst>
                <a:gd name="T0" fmla="*/ 336 w 592"/>
                <a:gd name="T1" fmla="*/ 106 h 790"/>
                <a:gd name="T2" fmla="*/ 415 w 592"/>
                <a:gd name="T3" fmla="*/ 27 h 790"/>
                <a:gd name="T4" fmla="*/ 456 w 592"/>
                <a:gd name="T5" fmla="*/ 69 h 790"/>
                <a:gd name="T6" fmla="*/ 377 w 592"/>
                <a:gd name="T7" fmla="*/ 148 h 790"/>
                <a:gd name="T8" fmla="*/ 336 w 592"/>
                <a:gd name="T9" fmla="*/ 106 h 790"/>
                <a:gd name="T10" fmla="*/ 156 w 592"/>
                <a:gd name="T11" fmla="*/ 393 h 790"/>
                <a:gd name="T12" fmla="*/ 199 w 592"/>
                <a:gd name="T13" fmla="*/ 436 h 790"/>
                <a:gd name="T14" fmla="*/ 224 w 592"/>
                <a:gd name="T15" fmla="*/ 411 h 790"/>
                <a:gd name="T16" fmla="*/ 181 w 592"/>
                <a:gd name="T17" fmla="*/ 368 h 790"/>
                <a:gd name="T18" fmla="*/ 156 w 592"/>
                <a:gd name="T19" fmla="*/ 393 h 790"/>
                <a:gd name="T20" fmla="*/ 110 w 592"/>
                <a:gd name="T21" fmla="*/ 445 h 790"/>
                <a:gd name="T22" fmla="*/ 146 w 592"/>
                <a:gd name="T23" fmla="*/ 481 h 790"/>
                <a:gd name="T24" fmla="*/ 171 w 592"/>
                <a:gd name="T25" fmla="*/ 456 h 790"/>
                <a:gd name="T26" fmla="*/ 135 w 592"/>
                <a:gd name="T27" fmla="*/ 421 h 790"/>
                <a:gd name="T28" fmla="*/ 110 w 592"/>
                <a:gd name="T29" fmla="*/ 445 h 790"/>
                <a:gd name="T30" fmla="*/ 174 w 592"/>
                <a:gd name="T31" fmla="*/ 528 h 790"/>
                <a:gd name="T32" fmla="*/ 141 w 592"/>
                <a:gd name="T33" fmla="*/ 529 h 790"/>
                <a:gd name="T34" fmla="*/ 64 w 592"/>
                <a:gd name="T35" fmla="*/ 451 h 790"/>
                <a:gd name="T36" fmla="*/ 62 w 592"/>
                <a:gd name="T37" fmla="*/ 418 h 790"/>
                <a:gd name="T38" fmla="*/ 158 w 592"/>
                <a:gd name="T39" fmla="*/ 193 h 790"/>
                <a:gd name="T40" fmla="*/ 165 w 592"/>
                <a:gd name="T41" fmla="*/ 172 h 790"/>
                <a:gd name="T42" fmla="*/ 242 w 592"/>
                <a:gd name="T43" fmla="*/ 95 h 790"/>
                <a:gd name="T44" fmla="*/ 275 w 592"/>
                <a:gd name="T45" fmla="*/ 95 h 790"/>
                <a:gd name="T46" fmla="*/ 497 w 592"/>
                <a:gd name="T47" fmla="*/ 316 h 790"/>
                <a:gd name="T48" fmla="*/ 496 w 592"/>
                <a:gd name="T49" fmla="*/ 349 h 790"/>
                <a:gd name="T50" fmla="*/ 420 w 592"/>
                <a:gd name="T51" fmla="*/ 426 h 790"/>
                <a:gd name="T52" fmla="*/ 400 w 592"/>
                <a:gd name="T53" fmla="*/ 434 h 790"/>
                <a:gd name="T54" fmla="*/ 174 w 592"/>
                <a:gd name="T55" fmla="*/ 528 h 790"/>
                <a:gd name="T56" fmla="*/ 393 w 592"/>
                <a:gd name="T57" fmla="*/ 594 h 790"/>
                <a:gd name="T58" fmla="*/ 295 w 592"/>
                <a:gd name="T59" fmla="*/ 594 h 790"/>
                <a:gd name="T60" fmla="*/ 210 w 592"/>
                <a:gd name="T61" fmla="*/ 678 h 790"/>
                <a:gd name="T62" fmla="*/ 45 w 592"/>
                <a:gd name="T63" fmla="*/ 678 h 790"/>
                <a:gd name="T64" fmla="*/ 45 w 592"/>
                <a:gd name="T65" fmla="*/ 513 h 790"/>
                <a:gd name="T66" fmla="*/ 61 w 592"/>
                <a:gd name="T67" fmla="*/ 497 h 790"/>
                <a:gd name="T68" fmla="*/ 94 w 592"/>
                <a:gd name="T69" fmla="*/ 531 h 790"/>
                <a:gd name="T70" fmla="*/ 78 w 592"/>
                <a:gd name="T71" fmla="*/ 546 h 790"/>
                <a:gd name="T72" fmla="*/ 78 w 592"/>
                <a:gd name="T73" fmla="*/ 645 h 790"/>
                <a:gd name="T74" fmla="*/ 177 w 592"/>
                <a:gd name="T75" fmla="*/ 645 h 790"/>
                <a:gd name="T76" fmla="*/ 261 w 592"/>
                <a:gd name="T77" fmla="*/ 560 h 790"/>
                <a:gd name="T78" fmla="*/ 426 w 592"/>
                <a:gd name="T79" fmla="*/ 560 h 790"/>
                <a:gd name="T80" fmla="*/ 426 w 592"/>
                <a:gd name="T81" fmla="*/ 725 h 790"/>
                <a:gd name="T82" fmla="*/ 384 w 592"/>
                <a:gd name="T83" fmla="*/ 768 h 790"/>
                <a:gd name="T84" fmla="*/ 351 w 592"/>
                <a:gd name="T85" fmla="*/ 734 h 790"/>
                <a:gd name="T86" fmla="*/ 393 w 592"/>
                <a:gd name="T87" fmla="*/ 692 h 790"/>
                <a:gd name="T88" fmla="*/ 393 w 592"/>
                <a:gd name="T89" fmla="*/ 594 h 790"/>
                <a:gd name="T90" fmla="*/ 485 w 592"/>
                <a:gd name="T91" fmla="*/ 256 h 790"/>
                <a:gd name="T92" fmla="*/ 564 w 592"/>
                <a:gd name="T93" fmla="*/ 176 h 790"/>
                <a:gd name="T94" fmla="*/ 523 w 592"/>
                <a:gd name="T95" fmla="*/ 135 h 790"/>
                <a:gd name="T96" fmla="*/ 444 w 592"/>
                <a:gd name="T97" fmla="*/ 214 h 790"/>
                <a:gd name="T98" fmla="*/ 485 w 592"/>
                <a:gd name="T99" fmla="*/ 256 h 790"/>
                <a:gd name="T100" fmla="*/ 485 w 592"/>
                <a:gd name="T101" fmla="*/ 256 h 7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592" h="790">
                  <a:moveTo>
                    <a:pt x="336" y="106"/>
                  </a:moveTo>
                  <a:lnTo>
                    <a:pt x="415" y="27"/>
                  </a:lnTo>
                  <a:cubicBezTo>
                    <a:pt x="442" y="0"/>
                    <a:pt x="484" y="41"/>
                    <a:pt x="456" y="69"/>
                  </a:cubicBezTo>
                  <a:lnTo>
                    <a:pt x="377" y="148"/>
                  </a:lnTo>
                  <a:lnTo>
                    <a:pt x="336" y="106"/>
                  </a:lnTo>
                  <a:close/>
                  <a:moveTo>
                    <a:pt x="156" y="393"/>
                  </a:moveTo>
                  <a:lnTo>
                    <a:pt x="199" y="436"/>
                  </a:lnTo>
                  <a:cubicBezTo>
                    <a:pt x="215" y="452"/>
                    <a:pt x="240" y="428"/>
                    <a:pt x="224" y="411"/>
                  </a:cubicBezTo>
                  <a:lnTo>
                    <a:pt x="181" y="368"/>
                  </a:lnTo>
                  <a:cubicBezTo>
                    <a:pt x="164" y="351"/>
                    <a:pt x="139" y="376"/>
                    <a:pt x="156" y="393"/>
                  </a:cubicBezTo>
                  <a:close/>
                  <a:moveTo>
                    <a:pt x="110" y="445"/>
                  </a:moveTo>
                  <a:lnTo>
                    <a:pt x="146" y="481"/>
                  </a:lnTo>
                  <a:cubicBezTo>
                    <a:pt x="162" y="498"/>
                    <a:pt x="187" y="473"/>
                    <a:pt x="171" y="456"/>
                  </a:cubicBezTo>
                  <a:lnTo>
                    <a:pt x="135" y="421"/>
                  </a:lnTo>
                  <a:cubicBezTo>
                    <a:pt x="119" y="404"/>
                    <a:pt x="94" y="429"/>
                    <a:pt x="110" y="445"/>
                  </a:cubicBezTo>
                  <a:close/>
                  <a:moveTo>
                    <a:pt x="174" y="528"/>
                  </a:moveTo>
                  <a:cubicBezTo>
                    <a:pt x="165" y="537"/>
                    <a:pt x="150" y="538"/>
                    <a:pt x="141" y="529"/>
                  </a:cubicBezTo>
                  <a:lnTo>
                    <a:pt x="64" y="451"/>
                  </a:lnTo>
                  <a:cubicBezTo>
                    <a:pt x="54" y="442"/>
                    <a:pt x="53" y="428"/>
                    <a:pt x="62" y="418"/>
                  </a:cubicBezTo>
                  <a:cubicBezTo>
                    <a:pt x="121" y="355"/>
                    <a:pt x="169" y="283"/>
                    <a:pt x="158" y="193"/>
                  </a:cubicBezTo>
                  <a:cubicBezTo>
                    <a:pt x="157" y="185"/>
                    <a:pt x="159" y="178"/>
                    <a:pt x="165" y="172"/>
                  </a:cubicBezTo>
                  <a:lnTo>
                    <a:pt x="242" y="95"/>
                  </a:lnTo>
                  <a:cubicBezTo>
                    <a:pt x="251" y="86"/>
                    <a:pt x="266" y="86"/>
                    <a:pt x="275" y="95"/>
                  </a:cubicBezTo>
                  <a:lnTo>
                    <a:pt x="497" y="316"/>
                  </a:lnTo>
                  <a:cubicBezTo>
                    <a:pt x="506" y="325"/>
                    <a:pt x="506" y="340"/>
                    <a:pt x="496" y="349"/>
                  </a:cubicBezTo>
                  <a:lnTo>
                    <a:pt x="420" y="426"/>
                  </a:lnTo>
                  <a:cubicBezTo>
                    <a:pt x="415" y="431"/>
                    <a:pt x="408" y="434"/>
                    <a:pt x="400" y="434"/>
                  </a:cubicBezTo>
                  <a:cubicBezTo>
                    <a:pt x="309" y="423"/>
                    <a:pt x="238" y="469"/>
                    <a:pt x="174" y="528"/>
                  </a:cubicBezTo>
                  <a:close/>
                  <a:moveTo>
                    <a:pt x="393" y="594"/>
                  </a:moveTo>
                  <a:cubicBezTo>
                    <a:pt x="366" y="567"/>
                    <a:pt x="322" y="567"/>
                    <a:pt x="295" y="594"/>
                  </a:cubicBezTo>
                  <a:lnTo>
                    <a:pt x="210" y="678"/>
                  </a:lnTo>
                  <a:cubicBezTo>
                    <a:pt x="165" y="723"/>
                    <a:pt x="90" y="723"/>
                    <a:pt x="45" y="678"/>
                  </a:cubicBezTo>
                  <a:cubicBezTo>
                    <a:pt x="0" y="633"/>
                    <a:pt x="0" y="558"/>
                    <a:pt x="45" y="513"/>
                  </a:cubicBezTo>
                  <a:lnTo>
                    <a:pt x="61" y="497"/>
                  </a:lnTo>
                  <a:lnTo>
                    <a:pt x="94" y="531"/>
                  </a:lnTo>
                  <a:lnTo>
                    <a:pt x="78" y="546"/>
                  </a:lnTo>
                  <a:cubicBezTo>
                    <a:pt x="52" y="573"/>
                    <a:pt x="52" y="618"/>
                    <a:pt x="78" y="645"/>
                  </a:cubicBezTo>
                  <a:cubicBezTo>
                    <a:pt x="105" y="672"/>
                    <a:pt x="150" y="672"/>
                    <a:pt x="177" y="645"/>
                  </a:cubicBezTo>
                  <a:lnTo>
                    <a:pt x="261" y="560"/>
                  </a:lnTo>
                  <a:cubicBezTo>
                    <a:pt x="307" y="515"/>
                    <a:pt x="381" y="515"/>
                    <a:pt x="426" y="560"/>
                  </a:cubicBezTo>
                  <a:cubicBezTo>
                    <a:pt x="472" y="605"/>
                    <a:pt x="472" y="680"/>
                    <a:pt x="426" y="725"/>
                  </a:cubicBezTo>
                  <a:lnTo>
                    <a:pt x="384" y="768"/>
                  </a:lnTo>
                  <a:cubicBezTo>
                    <a:pt x="362" y="790"/>
                    <a:pt x="329" y="756"/>
                    <a:pt x="351" y="734"/>
                  </a:cubicBezTo>
                  <a:lnTo>
                    <a:pt x="393" y="692"/>
                  </a:lnTo>
                  <a:cubicBezTo>
                    <a:pt x="420" y="665"/>
                    <a:pt x="420" y="620"/>
                    <a:pt x="393" y="594"/>
                  </a:cubicBezTo>
                  <a:close/>
                  <a:moveTo>
                    <a:pt x="485" y="256"/>
                  </a:moveTo>
                  <a:lnTo>
                    <a:pt x="564" y="176"/>
                  </a:lnTo>
                  <a:cubicBezTo>
                    <a:pt x="592" y="149"/>
                    <a:pt x="550" y="108"/>
                    <a:pt x="523" y="135"/>
                  </a:cubicBezTo>
                  <a:lnTo>
                    <a:pt x="444" y="214"/>
                  </a:lnTo>
                  <a:lnTo>
                    <a:pt x="485" y="256"/>
                  </a:lnTo>
                  <a:lnTo>
                    <a:pt x="485" y="256"/>
                  </a:lnTo>
                  <a:close/>
                </a:path>
              </a:pathLst>
            </a:custGeom>
            <a:solidFill>
              <a:sysClr val="window" lastClr="FFFFFF"/>
            </a:solidFill>
            <a:ln>
              <a:noFill/>
            </a:ln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de-DE" sz="1200" b="0" i="0" u="none" strike="noStrike" kern="0" cap="none" spc="0" normalizeH="0" baseline="0" noProof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grpSp>
        <p:nvGrpSpPr>
          <p:cNvPr id="571" name="Gruppieren 570" descr="{&quot;Key&quot;:&quot;POWER_USER_SHAPE_ICON&quot;,&quot;Value&quot;:&quot;POWER_USER_SHAPE_ICON_STYLE_2&quot;}">
            <a:extLst>
              <a:ext uri="{FF2B5EF4-FFF2-40B4-BE49-F238E27FC236}">
                <a16:creationId xmlns:a16="http://schemas.microsoft.com/office/drawing/2014/main" id="{7BFB7581-056D-0E32-5214-F369A9F03FAA}"/>
              </a:ext>
            </a:extLst>
          </p:cNvPr>
          <p:cNvGrpSpPr>
            <a:grpSpLocks noChangeAspect="1"/>
          </p:cNvGrpSpPr>
          <p:nvPr/>
        </p:nvGrpSpPr>
        <p:grpSpPr>
          <a:xfrm>
            <a:off x="10321333" y="3841115"/>
            <a:ext cx="295815" cy="295814"/>
            <a:chOff x="-151229" y="3030538"/>
            <a:chExt cx="762000" cy="762000"/>
          </a:xfrm>
        </p:grpSpPr>
        <p:sp>
          <p:nvSpPr>
            <p:cNvPr id="572" name="POWER_USER_SHAPE_ICON_STYLE_2">
              <a:extLst>
                <a:ext uri="{FF2B5EF4-FFF2-40B4-BE49-F238E27FC236}">
                  <a16:creationId xmlns:a16="http://schemas.microsoft.com/office/drawing/2014/main" id="{B714FF94-646D-9BDA-3239-128423A1201C}"/>
                </a:ext>
              </a:extLst>
            </p:cNvPr>
            <p:cNvSpPr/>
            <p:nvPr/>
          </p:nvSpPr>
          <p:spPr>
            <a:xfrm>
              <a:off x="-151229" y="3030538"/>
              <a:ext cx="762000" cy="762000"/>
            </a:xfrm>
            <a:prstGeom prst="ellipse">
              <a:avLst/>
            </a:prstGeom>
            <a:solidFill>
              <a:srgbClr val="FFC000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txBody>
            <a:bodyPr rtlCol="0" anchor="ctr"/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de-DE" sz="1200" b="0" i="0" u="none" strike="noStrike" kern="0" cap="none" spc="0" normalizeH="0" baseline="0" noProof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grpSp>
          <p:nvGrpSpPr>
            <p:cNvPr id="573" name="Gruppieren 572">
              <a:extLst>
                <a:ext uri="{FF2B5EF4-FFF2-40B4-BE49-F238E27FC236}">
                  <a16:creationId xmlns:a16="http://schemas.microsoft.com/office/drawing/2014/main" id="{CD25BACF-5A03-DBE5-0049-74C884BD2743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1" y="3157538"/>
              <a:ext cx="459541" cy="508000"/>
              <a:chOff x="0" y="3157538"/>
              <a:chExt cx="491134" cy="542925"/>
            </a:xfrm>
          </p:grpSpPr>
          <p:sp>
            <p:nvSpPr>
              <p:cNvPr id="574" name="Crowdsourcing2">
                <a:extLst>
                  <a:ext uri="{FF2B5EF4-FFF2-40B4-BE49-F238E27FC236}">
                    <a16:creationId xmlns:a16="http://schemas.microsoft.com/office/drawing/2014/main" id="{79F96942-CCA9-2A8E-E0C9-EFE663D2FEC8}"/>
                  </a:ext>
                </a:extLst>
              </p:cNvPr>
              <p:cNvSpPr>
                <a:spLocks/>
              </p:cNvSpPr>
              <p:nvPr>
                <p:custDataLst>
                  <p:tags r:id="rId24"/>
                </p:custDataLst>
              </p:nvPr>
            </p:nvSpPr>
            <p:spPr bwMode="auto">
              <a:xfrm>
                <a:off x="192882" y="3595092"/>
                <a:ext cx="105371" cy="35719"/>
              </a:xfrm>
              <a:custGeom>
                <a:avLst/>
                <a:gdLst>
                  <a:gd name="T0" fmla="*/ 130 w 156"/>
                  <a:gd name="T1" fmla="*/ 52 h 52"/>
                  <a:gd name="T2" fmla="*/ 26 w 156"/>
                  <a:gd name="T3" fmla="*/ 52 h 52"/>
                  <a:gd name="T4" fmla="*/ 0 w 156"/>
                  <a:gd name="T5" fmla="*/ 26 h 52"/>
                  <a:gd name="T6" fmla="*/ 26 w 156"/>
                  <a:gd name="T7" fmla="*/ 0 h 52"/>
                  <a:gd name="T8" fmla="*/ 130 w 156"/>
                  <a:gd name="T9" fmla="*/ 0 h 52"/>
                  <a:gd name="T10" fmla="*/ 156 w 156"/>
                  <a:gd name="T11" fmla="*/ 26 h 52"/>
                  <a:gd name="T12" fmla="*/ 130 w 156"/>
                  <a:gd name="T13" fmla="*/ 52 h 5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56" h="52">
                    <a:moveTo>
                      <a:pt x="130" y="52"/>
                    </a:moveTo>
                    <a:lnTo>
                      <a:pt x="26" y="52"/>
                    </a:lnTo>
                    <a:cubicBezTo>
                      <a:pt x="11" y="52"/>
                      <a:pt x="0" y="40"/>
                      <a:pt x="0" y="26"/>
                    </a:cubicBezTo>
                    <a:cubicBezTo>
                      <a:pt x="0" y="12"/>
                      <a:pt x="11" y="0"/>
                      <a:pt x="26" y="0"/>
                    </a:cubicBezTo>
                    <a:lnTo>
                      <a:pt x="130" y="0"/>
                    </a:lnTo>
                    <a:cubicBezTo>
                      <a:pt x="144" y="0"/>
                      <a:pt x="156" y="12"/>
                      <a:pt x="156" y="26"/>
                    </a:cubicBezTo>
                    <a:cubicBezTo>
                      <a:pt x="156" y="40"/>
                      <a:pt x="144" y="52"/>
                      <a:pt x="130" y="52"/>
                    </a:cubicBezTo>
                    <a:close/>
                  </a:path>
                </a:pathLst>
              </a:custGeom>
              <a:solidFill>
                <a:srgbClr val="FFFFFF"/>
              </a:solidFill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68580" tIns="34290" rIns="68580" bIns="3429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6858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de-DE" sz="1200" b="0" i="0" u="none" strike="noStrike" kern="0" cap="none" spc="0" normalizeH="0" baseline="0" noProof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575" name="Crowdsourcing2">
                <a:extLst>
                  <a:ext uri="{FF2B5EF4-FFF2-40B4-BE49-F238E27FC236}">
                    <a16:creationId xmlns:a16="http://schemas.microsoft.com/office/drawing/2014/main" id="{BFDE574F-154C-4905-24CF-E508A6AD1E70}"/>
                  </a:ext>
                </a:extLst>
              </p:cNvPr>
              <p:cNvSpPr>
                <a:spLocks/>
              </p:cNvSpPr>
              <p:nvPr>
                <p:custDataLst>
                  <p:tags r:id="rId25"/>
                </p:custDataLst>
              </p:nvPr>
            </p:nvSpPr>
            <p:spPr bwMode="auto">
              <a:xfrm>
                <a:off x="228601" y="3157538"/>
                <a:ext cx="33932" cy="105371"/>
              </a:xfrm>
              <a:custGeom>
                <a:avLst/>
                <a:gdLst>
                  <a:gd name="T0" fmla="*/ 26 w 52"/>
                  <a:gd name="T1" fmla="*/ 156 h 156"/>
                  <a:gd name="T2" fmla="*/ 0 w 52"/>
                  <a:gd name="T3" fmla="*/ 130 h 156"/>
                  <a:gd name="T4" fmla="*/ 0 w 52"/>
                  <a:gd name="T5" fmla="*/ 26 h 156"/>
                  <a:gd name="T6" fmla="*/ 26 w 52"/>
                  <a:gd name="T7" fmla="*/ 0 h 156"/>
                  <a:gd name="T8" fmla="*/ 52 w 52"/>
                  <a:gd name="T9" fmla="*/ 26 h 156"/>
                  <a:gd name="T10" fmla="*/ 52 w 52"/>
                  <a:gd name="T11" fmla="*/ 130 h 156"/>
                  <a:gd name="T12" fmla="*/ 26 w 52"/>
                  <a:gd name="T13" fmla="*/ 156 h 15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52" h="156">
                    <a:moveTo>
                      <a:pt x="26" y="156"/>
                    </a:moveTo>
                    <a:cubicBezTo>
                      <a:pt x="12" y="156"/>
                      <a:pt x="0" y="145"/>
                      <a:pt x="0" y="130"/>
                    </a:cubicBezTo>
                    <a:lnTo>
                      <a:pt x="0" y="26"/>
                    </a:lnTo>
                    <a:cubicBezTo>
                      <a:pt x="0" y="12"/>
                      <a:pt x="12" y="0"/>
                      <a:pt x="26" y="0"/>
                    </a:cubicBezTo>
                    <a:cubicBezTo>
                      <a:pt x="40" y="0"/>
                      <a:pt x="52" y="12"/>
                      <a:pt x="52" y="26"/>
                    </a:cubicBezTo>
                    <a:lnTo>
                      <a:pt x="52" y="130"/>
                    </a:lnTo>
                    <a:cubicBezTo>
                      <a:pt x="52" y="145"/>
                      <a:pt x="40" y="156"/>
                      <a:pt x="26" y="156"/>
                    </a:cubicBezTo>
                    <a:close/>
                  </a:path>
                </a:pathLst>
              </a:custGeom>
              <a:solidFill>
                <a:srgbClr val="FFFFFF"/>
              </a:solidFill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68580" tIns="34290" rIns="68580" bIns="3429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6858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de-DE" sz="1200" b="0" i="0" u="none" strike="noStrike" kern="0" cap="none" spc="0" normalizeH="0" baseline="0" noProof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576" name="Crowdsourcing2">
                <a:extLst>
                  <a:ext uri="{FF2B5EF4-FFF2-40B4-BE49-F238E27FC236}">
                    <a16:creationId xmlns:a16="http://schemas.microsoft.com/office/drawing/2014/main" id="{6C826038-BB9D-88D6-7A94-17DAA9A0925B}"/>
                  </a:ext>
                </a:extLst>
              </p:cNvPr>
              <p:cNvSpPr>
                <a:spLocks/>
              </p:cNvSpPr>
              <p:nvPr>
                <p:custDataLst>
                  <p:tags r:id="rId26"/>
                </p:custDataLst>
              </p:nvPr>
            </p:nvSpPr>
            <p:spPr bwMode="auto">
              <a:xfrm>
                <a:off x="0" y="3386137"/>
                <a:ext cx="105371" cy="33932"/>
              </a:xfrm>
              <a:custGeom>
                <a:avLst/>
                <a:gdLst>
                  <a:gd name="T0" fmla="*/ 131 w 157"/>
                  <a:gd name="T1" fmla="*/ 52 h 52"/>
                  <a:gd name="T2" fmla="*/ 26 w 157"/>
                  <a:gd name="T3" fmla="*/ 52 h 52"/>
                  <a:gd name="T4" fmla="*/ 0 w 157"/>
                  <a:gd name="T5" fmla="*/ 26 h 52"/>
                  <a:gd name="T6" fmla="*/ 26 w 157"/>
                  <a:gd name="T7" fmla="*/ 0 h 52"/>
                  <a:gd name="T8" fmla="*/ 131 w 157"/>
                  <a:gd name="T9" fmla="*/ 0 h 52"/>
                  <a:gd name="T10" fmla="*/ 157 w 157"/>
                  <a:gd name="T11" fmla="*/ 26 h 52"/>
                  <a:gd name="T12" fmla="*/ 131 w 157"/>
                  <a:gd name="T13" fmla="*/ 52 h 5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57" h="52">
                    <a:moveTo>
                      <a:pt x="131" y="52"/>
                    </a:moveTo>
                    <a:lnTo>
                      <a:pt x="26" y="52"/>
                    </a:lnTo>
                    <a:cubicBezTo>
                      <a:pt x="12" y="52"/>
                      <a:pt x="0" y="40"/>
                      <a:pt x="0" y="26"/>
                    </a:cubicBezTo>
                    <a:cubicBezTo>
                      <a:pt x="0" y="11"/>
                      <a:pt x="12" y="0"/>
                      <a:pt x="26" y="0"/>
                    </a:cubicBezTo>
                    <a:lnTo>
                      <a:pt x="131" y="0"/>
                    </a:lnTo>
                    <a:cubicBezTo>
                      <a:pt x="145" y="0"/>
                      <a:pt x="157" y="11"/>
                      <a:pt x="157" y="26"/>
                    </a:cubicBezTo>
                    <a:cubicBezTo>
                      <a:pt x="157" y="40"/>
                      <a:pt x="145" y="52"/>
                      <a:pt x="131" y="52"/>
                    </a:cubicBezTo>
                    <a:close/>
                  </a:path>
                </a:pathLst>
              </a:custGeom>
              <a:solidFill>
                <a:srgbClr val="FFFFFF"/>
              </a:solidFill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68580" tIns="34290" rIns="68580" bIns="3429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6858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de-DE" sz="1200" b="0" i="0" u="none" strike="noStrike" kern="0" cap="none" spc="0" normalizeH="0" baseline="0" noProof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577" name="Crowdsourcing2">
                <a:extLst>
                  <a:ext uri="{FF2B5EF4-FFF2-40B4-BE49-F238E27FC236}">
                    <a16:creationId xmlns:a16="http://schemas.microsoft.com/office/drawing/2014/main" id="{EBFA23BF-E5AD-8F38-A8F8-135EFE02CC38}"/>
                  </a:ext>
                </a:extLst>
              </p:cNvPr>
              <p:cNvSpPr>
                <a:spLocks/>
              </p:cNvSpPr>
              <p:nvPr>
                <p:custDataLst>
                  <p:tags r:id="rId27"/>
                </p:custDataLst>
              </p:nvPr>
            </p:nvSpPr>
            <p:spPr bwMode="auto">
              <a:xfrm>
                <a:off x="62508" y="3220046"/>
                <a:ext cx="87512" cy="85725"/>
              </a:xfrm>
              <a:custGeom>
                <a:avLst/>
                <a:gdLst>
                  <a:gd name="T0" fmla="*/ 103 w 131"/>
                  <a:gd name="T1" fmla="*/ 128 h 128"/>
                  <a:gd name="T2" fmla="*/ 84 w 131"/>
                  <a:gd name="T3" fmla="*/ 121 h 128"/>
                  <a:gd name="T4" fmla="*/ 11 w 131"/>
                  <a:gd name="T5" fmla="*/ 47 h 128"/>
                  <a:gd name="T6" fmla="*/ 11 w 131"/>
                  <a:gd name="T7" fmla="*/ 10 h 128"/>
                  <a:gd name="T8" fmla="*/ 47 w 131"/>
                  <a:gd name="T9" fmla="*/ 10 h 128"/>
                  <a:gd name="T10" fmla="*/ 121 w 131"/>
                  <a:gd name="T11" fmla="*/ 84 h 128"/>
                  <a:gd name="T12" fmla="*/ 121 w 131"/>
                  <a:gd name="T13" fmla="*/ 121 h 128"/>
                  <a:gd name="T14" fmla="*/ 103 w 131"/>
                  <a:gd name="T15" fmla="*/ 128 h 12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131" h="128">
                    <a:moveTo>
                      <a:pt x="103" y="128"/>
                    </a:moveTo>
                    <a:cubicBezTo>
                      <a:pt x="96" y="128"/>
                      <a:pt x="89" y="126"/>
                      <a:pt x="84" y="121"/>
                    </a:cubicBezTo>
                    <a:lnTo>
                      <a:pt x="11" y="47"/>
                    </a:lnTo>
                    <a:cubicBezTo>
                      <a:pt x="0" y="37"/>
                      <a:pt x="0" y="20"/>
                      <a:pt x="11" y="10"/>
                    </a:cubicBezTo>
                    <a:cubicBezTo>
                      <a:pt x="21" y="0"/>
                      <a:pt x="37" y="0"/>
                      <a:pt x="47" y="10"/>
                    </a:cubicBezTo>
                    <a:lnTo>
                      <a:pt x="121" y="84"/>
                    </a:lnTo>
                    <a:cubicBezTo>
                      <a:pt x="131" y="94"/>
                      <a:pt x="131" y="111"/>
                      <a:pt x="121" y="121"/>
                    </a:cubicBezTo>
                    <a:cubicBezTo>
                      <a:pt x="116" y="126"/>
                      <a:pt x="109" y="128"/>
                      <a:pt x="103" y="128"/>
                    </a:cubicBezTo>
                    <a:close/>
                  </a:path>
                </a:pathLst>
              </a:custGeom>
              <a:solidFill>
                <a:srgbClr val="FFFFFF"/>
              </a:solidFill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68580" tIns="34290" rIns="68580" bIns="3429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6858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de-DE" sz="1200" b="0" i="0" u="none" strike="noStrike" kern="0" cap="none" spc="0" normalizeH="0" baseline="0" noProof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578" name="Crowdsourcing2">
                <a:extLst>
                  <a:ext uri="{FF2B5EF4-FFF2-40B4-BE49-F238E27FC236}">
                    <a16:creationId xmlns:a16="http://schemas.microsoft.com/office/drawing/2014/main" id="{32D454FE-EE4C-2006-D8EE-762EC1BF4390}"/>
                  </a:ext>
                </a:extLst>
              </p:cNvPr>
              <p:cNvSpPr>
                <a:spLocks/>
              </p:cNvSpPr>
              <p:nvPr>
                <p:custDataLst>
                  <p:tags r:id="rId28"/>
                </p:custDataLst>
              </p:nvPr>
            </p:nvSpPr>
            <p:spPr bwMode="auto">
              <a:xfrm>
                <a:off x="339329" y="3220046"/>
                <a:ext cx="87512" cy="85725"/>
              </a:xfrm>
              <a:custGeom>
                <a:avLst/>
                <a:gdLst>
                  <a:gd name="T0" fmla="*/ 28 w 130"/>
                  <a:gd name="T1" fmla="*/ 128 h 128"/>
                  <a:gd name="T2" fmla="*/ 10 w 130"/>
                  <a:gd name="T3" fmla="*/ 121 h 128"/>
                  <a:gd name="T4" fmla="*/ 10 w 130"/>
                  <a:gd name="T5" fmla="*/ 84 h 128"/>
                  <a:gd name="T6" fmla="*/ 83 w 130"/>
                  <a:gd name="T7" fmla="*/ 10 h 128"/>
                  <a:gd name="T8" fmla="*/ 120 w 130"/>
                  <a:gd name="T9" fmla="*/ 10 h 128"/>
                  <a:gd name="T10" fmla="*/ 120 w 130"/>
                  <a:gd name="T11" fmla="*/ 47 h 128"/>
                  <a:gd name="T12" fmla="*/ 47 w 130"/>
                  <a:gd name="T13" fmla="*/ 121 h 128"/>
                  <a:gd name="T14" fmla="*/ 28 w 130"/>
                  <a:gd name="T15" fmla="*/ 128 h 12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130" h="128">
                    <a:moveTo>
                      <a:pt x="28" y="128"/>
                    </a:moveTo>
                    <a:cubicBezTo>
                      <a:pt x="22" y="128"/>
                      <a:pt x="15" y="126"/>
                      <a:pt x="10" y="121"/>
                    </a:cubicBezTo>
                    <a:cubicBezTo>
                      <a:pt x="0" y="111"/>
                      <a:pt x="0" y="94"/>
                      <a:pt x="10" y="84"/>
                    </a:cubicBezTo>
                    <a:lnTo>
                      <a:pt x="83" y="10"/>
                    </a:lnTo>
                    <a:cubicBezTo>
                      <a:pt x="94" y="0"/>
                      <a:pt x="110" y="0"/>
                      <a:pt x="120" y="10"/>
                    </a:cubicBezTo>
                    <a:cubicBezTo>
                      <a:pt x="130" y="20"/>
                      <a:pt x="130" y="37"/>
                      <a:pt x="120" y="47"/>
                    </a:cubicBezTo>
                    <a:lnTo>
                      <a:pt x="47" y="121"/>
                    </a:lnTo>
                    <a:cubicBezTo>
                      <a:pt x="42" y="126"/>
                      <a:pt x="35" y="128"/>
                      <a:pt x="28" y="128"/>
                    </a:cubicBezTo>
                    <a:close/>
                  </a:path>
                </a:pathLst>
              </a:custGeom>
              <a:solidFill>
                <a:srgbClr val="FFFFFF"/>
              </a:solidFill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68580" tIns="34290" rIns="68580" bIns="3429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6858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de-DE" sz="1200" b="0" i="0" u="none" strike="noStrike" kern="0" cap="none" spc="0" normalizeH="0" baseline="0" noProof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579" name="Crowdsourcing2">
                <a:extLst>
                  <a:ext uri="{FF2B5EF4-FFF2-40B4-BE49-F238E27FC236}">
                    <a16:creationId xmlns:a16="http://schemas.microsoft.com/office/drawing/2014/main" id="{EF8EA1D1-A0D8-5A30-11F4-5B3D8F2DA0BD}"/>
                  </a:ext>
                </a:extLst>
              </p:cNvPr>
              <p:cNvSpPr>
                <a:spLocks/>
              </p:cNvSpPr>
              <p:nvPr>
                <p:custDataLst>
                  <p:tags r:id="rId29"/>
                </p:custDataLst>
              </p:nvPr>
            </p:nvSpPr>
            <p:spPr bwMode="auto">
              <a:xfrm>
                <a:off x="385763" y="3386137"/>
                <a:ext cx="105371" cy="33932"/>
              </a:xfrm>
              <a:custGeom>
                <a:avLst/>
                <a:gdLst>
                  <a:gd name="T0" fmla="*/ 131 w 157"/>
                  <a:gd name="T1" fmla="*/ 52 h 52"/>
                  <a:gd name="T2" fmla="*/ 26 w 157"/>
                  <a:gd name="T3" fmla="*/ 52 h 52"/>
                  <a:gd name="T4" fmla="*/ 0 w 157"/>
                  <a:gd name="T5" fmla="*/ 26 h 52"/>
                  <a:gd name="T6" fmla="*/ 26 w 157"/>
                  <a:gd name="T7" fmla="*/ 0 h 52"/>
                  <a:gd name="T8" fmla="*/ 131 w 157"/>
                  <a:gd name="T9" fmla="*/ 0 h 52"/>
                  <a:gd name="T10" fmla="*/ 157 w 157"/>
                  <a:gd name="T11" fmla="*/ 26 h 52"/>
                  <a:gd name="T12" fmla="*/ 131 w 157"/>
                  <a:gd name="T13" fmla="*/ 52 h 5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57" h="52">
                    <a:moveTo>
                      <a:pt x="131" y="52"/>
                    </a:moveTo>
                    <a:lnTo>
                      <a:pt x="26" y="52"/>
                    </a:lnTo>
                    <a:cubicBezTo>
                      <a:pt x="12" y="52"/>
                      <a:pt x="0" y="40"/>
                      <a:pt x="0" y="26"/>
                    </a:cubicBezTo>
                    <a:cubicBezTo>
                      <a:pt x="0" y="11"/>
                      <a:pt x="12" y="0"/>
                      <a:pt x="26" y="0"/>
                    </a:cubicBezTo>
                    <a:lnTo>
                      <a:pt x="131" y="0"/>
                    </a:lnTo>
                    <a:cubicBezTo>
                      <a:pt x="145" y="0"/>
                      <a:pt x="157" y="11"/>
                      <a:pt x="157" y="26"/>
                    </a:cubicBezTo>
                    <a:cubicBezTo>
                      <a:pt x="157" y="40"/>
                      <a:pt x="145" y="52"/>
                      <a:pt x="131" y="52"/>
                    </a:cubicBezTo>
                    <a:close/>
                  </a:path>
                </a:pathLst>
              </a:custGeom>
              <a:solidFill>
                <a:srgbClr val="FFFFFF"/>
              </a:solidFill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68580" tIns="34290" rIns="68580" bIns="3429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6858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de-DE" sz="1200" b="0" i="0" u="none" strike="noStrike" kern="0" cap="none" spc="0" normalizeH="0" baseline="0" noProof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580" name="Crowdsourcing2">
                <a:extLst>
                  <a:ext uri="{FF2B5EF4-FFF2-40B4-BE49-F238E27FC236}">
                    <a16:creationId xmlns:a16="http://schemas.microsoft.com/office/drawing/2014/main" id="{28782BCD-6959-F558-AB65-E61A5987B575}"/>
                  </a:ext>
                </a:extLst>
              </p:cNvPr>
              <p:cNvSpPr>
                <a:spLocks/>
              </p:cNvSpPr>
              <p:nvPr>
                <p:custDataLst>
                  <p:tags r:id="rId30"/>
                </p:custDataLst>
              </p:nvPr>
            </p:nvSpPr>
            <p:spPr bwMode="auto">
              <a:xfrm>
                <a:off x="192882" y="3646885"/>
                <a:ext cx="105371" cy="53578"/>
              </a:xfrm>
              <a:custGeom>
                <a:avLst/>
                <a:gdLst>
                  <a:gd name="T0" fmla="*/ 130 w 156"/>
                  <a:gd name="T1" fmla="*/ 0 h 78"/>
                  <a:gd name="T2" fmla="*/ 26 w 156"/>
                  <a:gd name="T3" fmla="*/ 0 h 78"/>
                  <a:gd name="T4" fmla="*/ 0 w 156"/>
                  <a:gd name="T5" fmla="*/ 26 h 78"/>
                  <a:gd name="T6" fmla="*/ 26 w 156"/>
                  <a:gd name="T7" fmla="*/ 52 h 78"/>
                  <a:gd name="T8" fmla="*/ 39 w 156"/>
                  <a:gd name="T9" fmla="*/ 52 h 78"/>
                  <a:gd name="T10" fmla="*/ 65 w 156"/>
                  <a:gd name="T11" fmla="*/ 78 h 78"/>
                  <a:gd name="T12" fmla="*/ 91 w 156"/>
                  <a:gd name="T13" fmla="*/ 78 h 78"/>
                  <a:gd name="T14" fmla="*/ 117 w 156"/>
                  <a:gd name="T15" fmla="*/ 52 h 78"/>
                  <a:gd name="T16" fmla="*/ 130 w 156"/>
                  <a:gd name="T17" fmla="*/ 52 h 78"/>
                  <a:gd name="T18" fmla="*/ 156 w 156"/>
                  <a:gd name="T19" fmla="*/ 26 h 78"/>
                  <a:gd name="T20" fmla="*/ 130 w 156"/>
                  <a:gd name="T21" fmla="*/ 0 h 7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156" h="78">
                    <a:moveTo>
                      <a:pt x="130" y="0"/>
                    </a:moveTo>
                    <a:lnTo>
                      <a:pt x="26" y="0"/>
                    </a:lnTo>
                    <a:cubicBezTo>
                      <a:pt x="11" y="0"/>
                      <a:pt x="0" y="12"/>
                      <a:pt x="0" y="26"/>
                    </a:cubicBezTo>
                    <a:cubicBezTo>
                      <a:pt x="0" y="41"/>
                      <a:pt x="11" y="52"/>
                      <a:pt x="26" y="52"/>
                    </a:cubicBezTo>
                    <a:lnTo>
                      <a:pt x="39" y="52"/>
                    </a:lnTo>
                    <a:cubicBezTo>
                      <a:pt x="39" y="67"/>
                      <a:pt x="51" y="78"/>
                      <a:pt x="65" y="78"/>
                    </a:cubicBezTo>
                    <a:lnTo>
                      <a:pt x="91" y="78"/>
                    </a:lnTo>
                    <a:cubicBezTo>
                      <a:pt x="105" y="78"/>
                      <a:pt x="117" y="67"/>
                      <a:pt x="117" y="52"/>
                    </a:cubicBezTo>
                    <a:lnTo>
                      <a:pt x="130" y="52"/>
                    </a:lnTo>
                    <a:cubicBezTo>
                      <a:pt x="144" y="52"/>
                      <a:pt x="156" y="41"/>
                      <a:pt x="156" y="26"/>
                    </a:cubicBezTo>
                    <a:cubicBezTo>
                      <a:pt x="156" y="12"/>
                      <a:pt x="144" y="0"/>
                      <a:pt x="13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68580" tIns="34290" rIns="68580" bIns="3429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6858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de-DE" sz="1200" b="0" i="0" u="none" strike="noStrike" kern="0" cap="none" spc="0" normalizeH="0" baseline="0" noProof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581" name="Crowdsourcing2">
                <a:extLst>
                  <a:ext uri="{FF2B5EF4-FFF2-40B4-BE49-F238E27FC236}">
                    <a16:creationId xmlns:a16="http://schemas.microsoft.com/office/drawing/2014/main" id="{A955DB0D-BF9B-BCA0-53B0-6FC1197695A4}"/>
                  </a:ext>
                </a:extLst>
              </p:cNvPr>
              <p:cNvSpPr>
                <a:spLocks/>
              </p:cNvSpPr>
              <p:nvPr>
                <p:custDataLst>
                  <p:tags r:id="rId31"/>
                </p:custDataLst>
              </p:nvPr>
            </p:nvSpPr>
            <p:spPr bwMode="auto">
              <a:xfrm>
                <a:off x="123230" y="3280768"/>
                <a:ext cx="244674" cy="296465"/>
              </a:xfrm>
              <a:custGeom>
                <a:avLst/>
                <a:gdLst>
                  <a:gd name="T0" fmla="*/ 316 w 364"/>
                  <a:gd name="T1" fmla="*/ 306 h 443"/>
                  <a:gd name="T2" fmla="*/ 364 w 364"/>
                  <a:gd name="T3" fmla="*/ 183 h 443"/>
                  <a:gd name="T4" fmla="*/ 182 w 364"/>
                  <a:gd name="T5" fmla="*/ 0 h 443"/>
                  <a:gd name="T6" fmla="*/ 0 w 364"/>
                  <a:gd name="T7" fmla="*/ 183 h 443"/>
                  <a:gd name="T8" fmla="*/ 45 w 364"/>
                  <a:gd name="T9" fmla="*/ 302 h 443"/>
                  <a:gd name="T10" fmla="*/ 104 w 364"/>
                  <a:gd name="T11" fmla="*/ 417 h 443"/>
                  <a:gd name="T12" fmla="*/ 130 w 364"/>
                  <a:gd name="T13" fmla="*/ 443 h 443"/>
                  <a:gd name="T14" fmla="*/ 234 w 364"/>
                  <a:gd name="T15" fmla="*/ 443 h 443"/>
                  <a:gd name="T16" fmla="*/ 260 w 364"/>
                  <a:gd name="T17" fmla="*/ 417 h 443"/>
                  <a:gd name="T18" fmla="*/ 260 w 364"/>
                  <a:gd name="T19" fmla="*/ 416 h 443"/>
                  <a:gd name="T20" fmla="*/ 316 w 364"/>
                  <a:gd name="T21" fmla="*/ 306 h 44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364" h="443">
                    <a:moveTo>
                      <a:pt x="316" y="306"/>
                    </a:moveTo>
                    <a:cubicBezTo>
                      <a:pt x="346" y="273"/>
                      <a:pt x="364" y="230"/>
                      <a:pt x="364" y="183"/>
                    </a:cubicBezTo>
                    <a:cubicBezTo>
                      <a:pt x="364" y="82"/>
                      <a:pt x="283" y="0"/>
                      <a:pt x="182" y="0"/>
                    </a:cubicBezTo>
                    <a:cubicBezTo>
                      <a:pt x="81" y="0"/>
                      <a:pt x="0" y="82"/>
                      <a:pt x="0" y="183"/>
                    </a:cubicBezTo>
                    <a:cubicBezTo>
                      <a:pt x="0" y="229"/>
                      <a:pt x="17" y="270"/>
                      <a:pt x="45" y="302"/>
                    </a:cubicBezTo>
                    <a:cubicBezTo>
                      <a:pt x="57" y="316"/>
                      <a:pt x="104" y="372"/>
                      <a:pt x="104" y="417"/>
                    </a:cubicBezTo>
                    <a:cubicBezTo>
                      <a:pt x="104" y="431"/>
                      <a:pt x="115" y="443"/>
                      <a:pt x="130" y="443"/>
                    </a:cubicBezTo>
                    <a:lnTo>
                      <a:pt x="234" y="443"/>
                    </a:lnTo>
                    <a:cubicBezTo>
                      <a:pt x="248" y="443"/>
                      <a:pt x="260" y="431"/>
                      <a:pt x="260" y="417"/>
                    </a:cubicBezTo>
                    <a:lnTo>
                      <a:pt x="260" y="416"/>
                    </a:lnTo>
                    <a:cubicBezTo>
                      <a:pt x="261" y="373"/>
                      <a:pt x="301" y="323"/>
                      <a:pt x="316" y="306"/>
                    </a:cubicBezTo>
                    <a:close/>
                  </a:path>
                </a:pathLst>
              </a:custGeom>
              <a:solidFill>
                <a:srgbClr val="FFFFFF"/>
              </a:solidFill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68580" tIns="34290" rIns="68580" bIns="3429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6858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de-DE" sz="1200" b="0" i="0" u="none" strike="noStrike" kern="0" cap="none" spc="0" normalizeH="0" baseline="0" noProof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582" name="Gruppieren 581">
            <a:extLst>
              <a:ext uri="{FF2B5EF4-FFF2-40B4-BE49-F238E27FC236}">
                <a16:creationId xmlns:a16="http://schemas.microsoft.com/office/drawing/2014/main" id="{CEDB457F-E0EF-8534-A677-5B50D8E06383}"/>
              </a:ext>
            </a:extLst>
          </p:cNvPr>
          <p:cNvGrpSpPr/>
          <p:nvPr/>
        </p:nvGrpSpPr>
        <p:grpSpPr>
          <a:xfrm>
            <a:off x="9982409" y="4163262"/>
            <a:ext cx="480669" cy="448955"/>
            <a:chOff x="1369937" y="4620185"/>
            <a:chExt cx="512470" cy="478658"/>
          </a:xfrm>
        </p:grpSpPr>
        <p:grpSp>
          <p:nvGrpSpPr>
            <p:cNvPr id="583" name="Gruppieren 582" descr="{&quot;Key&quot;:&quot;POWER_USER_SHAPE_ICON&quot;,&quot;Value&quot;:&quot;POWER_USER_SHAPE_ICON_STYLE_2&quot;}">
              <a:extLst>
                <a:ext uri="{FF2B5EF4-FFF2-40B4-BE49-F238E27FC236}">
                  <a16:creationId xmlns:a16="http://schemas.microsoft.com/office/drawing/2014/main" id="{39B16EEF-8465-7027-2BDF-E09678D3DC65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1498726" y="4620185"/>
              <a:ext cx="286311" cy="286311"/>
              <a:chOff x="-147119" y="3030538"/>
              <a:chExt cx="762000" cy="762000"/>
            </a:xfrm>
            <a:solidFill>
              <a:srgbClr val="000066"/>
            </a:solidFill>
          </p:grpSpPr>
          <p:sp>
            <p:nvSpPr>
              <p:cNvPr id="593" name="POWER_USER_SHAPE_ICON_STYLE_2">
                <a:extLst>
                  <a:ext uri="{FF2B5EF4-FFF2-40B4-BE49-F238E27FC236}">
                    <a16:creationId xmlns:a16="http://schemas.microsoft.com/office/drawing/2014/main" id="{5CC9A9C6-D50A-07F1-A26B-0418172DCD2B}"/>
                  </a:ext>
                </a:extLst>
              </p:cNvPr>
              <p:cNvSpPr/>
              <p:nvPr/>
            </p:nvSpPr>
            <p:spPr>
              <a:xfrm>
                <a:off x="-147119" y="3030538"/>
                <a:ext cx="762000" cy="762000"/>
              </a:xfrm>
              <a:prstGeom prst="ellipse">
                <a:avLst/>
              </a:prstGeom>
              <a:grpFill/>
              <a:ln w="12700" cap="flat" cmpd="sng" algn="ctr">
                <a:noFill/>
                <a:prstDash val="solid"/>
                <a:miter lim="800000"/>
              </a:ln>
              <a:effectLst/>
              <a:extLst>
                <a:ext uri="{91240B29-F687-4F45-9708-019B960494DF}">
                  <a14:hiddenLine xmlns:a14="http://schemas.microsoft.com/office/drawing/2010/main" w="12700" cap="flat" cmpd="sng" algn="ctr">
                    <a:solidFill>
                      <a:schemeClr val="accent1">
                        <a:shade val="50000"/>
                      </a:schemeClr>
                    </a:solidFill>
                    <a:prstDash val="solid"/>
                    <a:miter lim="800000"/>
                  </a14:hiddenLine>
                </a:ext>
              </a:extLst>
            </p:spPr>
            <p:txBody>
              <a:bodyPr rtlCol="0" anchor="ctr"/>
              <a:lstStyle/>
              <a:p>
                <a:pPr marL="0" marR="0" lvl="0" indent="0" algn="ctr" defTabSz="6858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de-DE" sz="1200" b="0" i="0" u="none" strike="noStrike" kern="0" cap="none" spc="0" normalizeH="0" baseline="0" noProof="1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594" name="Snowflake2" descr="{&quot;Key&quot;:&quot;POWER_USER_SHAPE_ICON&quot;,&quot;Value&quot;:&quot;POWER_USER_SHAPE_ICON_STYLE_1&quot;}">
                <a:extLst>
                  <a:ext uri="{FF2B5EF4-FFF2-40B4-BE49-F238E27FC236}">
                    <a16:creationId xmlns:a16="http://schemas.microsoft.com/office/drawing/2014/main" id="{6D249516-5960-E237-041D-174CB81D9A68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0" y="3157538"/>
                <a:ext cx="467762" cy="508000"/>
              </a:xfrm>
              <a:custGeom>
                <a:avLst/>
                <a:gdLst>
                  <a:gd name="T0" fmla="*/ 1278 w 1378"/>
                  <a:gd name="T1" fmla="*/ 769 h 1496"/>
                  <a:gd name="T2" fmla="*/ 852 w 1378"/>
                  <a:gd name="T3" fmla="*/ 748 h 1496"/>
                  <a:gd name="T4" fmla="*/ 1279 w 1378"/>
                  <a:gd name="T5" fmla="*/ 727 h 1496"/>
                  <a:gd name="T6" fmla="*/ 1220 w 1378"/>
                  <a:gd name="T7" fmla="*/ 535 h 1496"/>
                  <a:gd name="T8" fmla="*/ 1297 w 1378"/>
                  <a:gd name="T9" fmla="*/ 303 h 1496"/>
                  <a:gd name="T10" fmla="*/ 1139 w 1378"/>
                  <a:gd name="T11" fmla="*/ 248 h 1496"/>
                  <a:gd name="T12" fmla="*/ 1002 w 1378"/>
                  <a:gd name="T13" fmla="*/ 474 h 1496"/>
                  <a:gd name="T14" fmla="*/ 770 w 1378"/>
                  <a:gd name="T15" fmla="*/ 340 h 1496"/>
                  <a:gd name="T16" fmla="*/ 897 w 1378"/>
                  <a:gd name="T17" fmla="*/ 108 h 1496"/>
                  <a:gd name="T18" fmla="*/ 770 w 1378"/>
                  <a:gd name="T19" fmla="*/ 0 h 1496"/>
                  <a:gd name="T20" fmla="*/ 608 w 1378"/>
                  <a:gd name="T21" fmla="*/ 181 h 1496"/>
                  <a:gd name="T22" fmla="*/ 412 w 1378"/>
                  <a:gd name="T23" fmla="*/ 227 h 1496"/>
                  <a:gd name="T24" fmla="*/ 608 w 1378"/>
                  <a:gd name="T25" fmla="*/ 607 h 1496"/>
                  <a:gd name="T26" fmla="*/ 376 w 1378"/>
                  <a:gd name="T27" fmla="*/ 248 h 1496"/>
                  <a:gd name="T28" fmla="*/ 239 w 1378"/>
                  <a:gd name="T29" fmla="*/ 394 h 1496"/>
                  <a:gd name="T30" fmla="*/ 0 w 1378"/>
                  <a:gd name="T31" fmla="*/ 444 h 1496"/>
                  <a:gd name="T32" fmla="*/ 31 w 1378"/>
                  <a:gd name="T33" fmla="*/ 608 h 1496"/>
                  <a:gd name="T34" fmla="*/ 295 w 1378"/>
                  <a:gd name="T35" fmla="*/ 614 h 1496"/>
                  <a:gd name="T36" fmla="*/ 295 w 1378"/>
                  <a:gd name="T37" fmla="*/ 882 h 1496"/>
                  <a:gd name="T38" fmla="*/ 31 w 1378"/>
                  <a:gd name="T39" fmla="*/ 888 h 1496"/>
                  <a:gd name="T40" fmla="*/ 0 w 1378"/>
                  <a:gd name="T41" fmla="*/ 1052 h 1496"/>
                  <a:gd name="T42" fmla="*/ 239 w 1378"/>
                  <a:gd name="T43" fmla="*/ 1102 h 1496"/>
                  <a:gd name="T44" fmla="*/ 376 w 1378"/>
                  <a:gd name="T45" fmla="*/ 1248 h 1496"/>
                  <a:gd name="T46" fmla="*/ 608 w 1378"/>
                  <a:gd name="T47" fmla="*/ 889 h 1496"/>
                  <a:gd name="T48" fmla="*/ 412 w 1378"/>
                  <a:gd name="T49" fmla="*/ 1269 h 1496"/>
                  <a:gd name="T50" fmla="*/ 608 w 1378"/>
                  <a:gd name="T51" fmla="*/ 1315 h 1496"/>
                  <a:gd name="T52" fmla="*/ 770 w 1378"/>
                  <a:gd name="T53" fmla="*/ 1496 h 1496"/>
                  <a:gd name="T54" fmla="*/ 897 w 1378"/>
                  <a:gd name="T55" fmla="*/ 1388 h 1496"/>
                  <a:gd name="T56" fmla="*/ 770 w 1378"/>
                  <a:gd name="T57" fmla="*/ 1156 h 1496"/>
                  <a:gd name="T58" fmla="*/ 1002 w 1378"/>
                  <a:gd name="T59" fmla="*/ 1022 h 1496"/>
                  <a:gd name="T60" fmla="*/ 1139 w 1378"/>
                  <a:gd name="T61" fmla="*/ 1248 h 1496"/>
                  <a:gd name="T62" fmla="*/ 1297 w 1378"/>
                  <a:gd name="T63" fmla="*/ 1193 h 1496"/>
                  <a:gd name="T64" fmla="*/ 1220 w 1378"/>
                  <a:gd name="T65" fmla="*/ 961 h 149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</a:cxnLst>
                <a:rect l="0" t="0" r="r" b="b"/>
                <a:pathLst>
                  <a:path w="1378" h="1496">
                    <a:moveTo>
                      <a:pt x="1347" y="888"/>
                    </a:moveTo>
                    <a:lnTo>
                      <a:pt x="1278" y="769"/>
                    </a:lnTo>
                    <a:lnTo>
                      <a:pt x="1083" y="882"/>
                    </a:lnTo>
                    <a:lnTo>
                      <a:pt x="852" y="748"/>
                    </a:lnTo>
                    <a:lnTo>
                      <a:pt x="1083" y="614"/>
                    </a:lnTo>
                    <a:lnTo>
                      <a:pt x="1279" y="727"/>
                    </a:lnTo>
                    <a:lnTo>
                      <a:pt x="1347" y="608"/>
                    </a:lnTo>
                    <a:lnTo>
                      <a:pt x="1220" y="535"/>
                    </a:lnTo>
                    <a:lnTo>
                      <a:pt x="1378" y="444"/>
                    </a:lnTo>
                    <a:lnTo>
                      <a:pt x="1297" y="303"/>
                    </a:lnTo>
                    <a:lnTo>
                      <a:pt x="1139" y="394"/>
                    </a:lnTo>
                    <a:lnTo>
                      <a:pt x="1139" y="248"/>
                    </a:lnTo>
                    <a:lnTo>
                      <a:pt x="1002" y="248"/>
                    </a:lnTo>
                    <a:lnTo>
                      <a:pt x="1002" y="474"/>
                    </a:lnTo>
                    <a:lnTo>
                      <a:pt x="770" y="607"/>
                    </a:lnTo>
                    <a:lnTo>
                      <a:pt x="770" y="340"/>
                    </a:lnTo>
                    <a:lnTo>
                      <a:pt x="966" y="227"/>
                    </a:lnTo>
                    <a:lnTo>
                      <a:pt x="897" y="108"/>
                    </a:lnTo>
                    <a:lnTo>
                      <a:pt x="770" y="181"/>
                    </a:lnTo>
                    <a:lnTo>
                      <a:pt x="770" y="0"/>
                    </a:lnTo>
                    <a:lnTo>
                      <a:pt x="608" y="0"/>
                    </a:lnTo>
                    <a:lnTo>
                      <a:pt x="608" y="181"/>
                    </a:lnTo>
                    <a:lnTo>
                      <a:pt x="481" y="108"/>
                    </a:lnTo>
                    <a:lnTo>
                      <a:pt x="412" y="227"/>
                    </a:lnTo>
                    <a:lnTo>
                      <a:pt x="608" y="340"/>
                    </a:lnTo>
                    <a:lnTo>
                      <a:pt x="608" y="607"/>
                    </a:lnTo>
                    <a:lnTo>
                      <a:pt x="376" y="474"/>
                    </a:lnTo>
                    <a:lnTo>
                      <a:pt x="376" y="248"/>
                    </a:lnTo>
                    <a:lnTo>
                      <a:pt x="239" y="248"/>
                    </a:lnTo>
                    <a:lnTo>
                      <a:pt x="239" y="394"/>
                    </a:lnTo>
                    <a:lnTo>
                      <a:pt x="82" y="303"/>
                    </a:lnTo>
                    <a:lnTo>
                      <a:pt x="0" y="444"/>
                    </a:lnTo>
                    <a:lnTo>
                      <a:pt x="158" y="535"/>
                    </a:lnTo>
                    <a:lnTo>
                      <a:pt x="31" y="608"/>
                    </a:lnTo>
                    <a:lnTo>
                      <a:pt x="100" y="727"/>
                    </a:lnTo>
                    <a:lnTo>
                      <a:pt x="295" y="614"/>
                    </a:lnTo>
                    <a:lnTo>
                      <a:pt x="527" y="748"/>
                    </a:lnTo>
                    <a:lnTo>
                      <a:pt x="295" y="882"/>
                    </a:lnTo>
                    <a:lnTo>
                      <a:pt x="100" y="769"/>
                    </a:lnTo>
                    <a:lnTo>
                      <a:pt x="31" y="888"/>
                    </a:lnTo>
                    <a:lnTo>
                      <a:pt x="158" y="961"/>
                    </a:lnTo>
                    <a:lnTo>
                      <a:pt x="0" y="1052"/>
                    </a:lnTo>
                    <a:lnTo>
                      <a:pt x="82" y="1193"/>
                    </a:lnTo>
                    <a:lnTo>
                      <a:pt x="239" y="1102"/>
                    </a:lnTo>
                    <a:lnTo>
                      <a:pt x="239" y="1248"/>
                    </a:lnTo>
                    <a:lnTo>
                      <a:pt x="376" y="1248"/>
                    </a:lnTo>
                    <a:lnTo>
                      <a:pt x="376" y="1022"/>
                    </a:lnTo>
                    <a:lnTo>
                      <a:pt x="608" y="889"/>
                    </a:lnTo>
                    <a:lnTo>
                      <a:pt x="608" y="1156"/>
                    </a:lnTo>
                    <a:lnTo>
                      <a:pt x="412" y="1269"/>
                    </a:lnTo>
                    <a:lnTo>
                      <a:pt x="481" y="1388"/>
                    </a:lnTo>
                    <a:lnTo>
                      <a:pt x="608" y="1315"/>
                    </a:lnTo>
                    <a:lnTo>
                      <a:pt x="608" y="1496"/>
                    </a:lnTo>
                    <a:lnTo>
                      <a:pt x="770" y="1496"/>
                    </a:lnTo>
                    <a:lnTo>
                      <a:pt x="770" y="1315"/>
                    </a:lnTo>
                    <a:lnTo>
                      <a:pt x="897" y="1388"/>
                    </a:lnTo>
                    <a:lnTo>
                      <a:pt x="966" y="1269"/>
                    </a:lnTo>
                    <a:lnTo>
                      <a:pt x="770" y="1156"/>
                    </a:lnTo>
                    <a:lnTo>
                      <a:pt x="770" y="889"/>
                    </a:lnTo>
                    <a:lnTo>
                      <a:pt x="1002" y="1022"/>
                    </a:lnTo>
                    <a:lnTo>
                      <a:pt x="1002" y="1248"/>
                    </a:lnTo>
                    <a:lnTo>
                      <a:pt x="1139" y="1248"/>
                    </a:lnTo>
                    <a:lnTo>
                      <a:pt x="1139" y="1102"/>
                    </a:lnTo>
                    <a:lnTo>
                      <a:pt x="1297" y="1193"/>
                    </a:lnTo>
                    <a:lnTo>
                      <a:pt x="1378" y="1052"/>
                    </a:lnTo>
                    <a:lnTo>
                      <a:pt x="1220" y="961"/>
                    </a:lnTo>
                    <a:lnTo>
                      <a:pt x="1347" y="888"/>
                    </a:lnTo>
                    <a:close/>
                  </a:path>
                </a:pathLst>
              </a:custGeom>
              <a:solidFill>
                <a:sysClr val="window" lastClr="FFFFFF"/>
              </a:solidFill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68580" tIns="34290" rIns="68580" bIns="3429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6858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de-DE" sz="1200" b="0" i="0" u="none" strike="noStrike" kern="0" cap="none" spc="0" normalizeH="0" baseline="0" noProof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  <p:grpSp>
          <p:nvGrpSpPr>
            <p:cNvPr id="584" name="Gruppieren 583" descr="{&quot;Key&quot;:&quot;POWER_USER_SHAPE_ICON&quot;,&quot;Value&quot;:&quot;POWER_USER_SHAPE_ICON_STYLE_2&quot;}">
              <a:extLst>
                <a:ext uri="{FF2B5EF4-FFF2-40B4-BE49-F238E27FC236}">
                  <a16:creationId xmlns:a16="http://schemas.microsoft.com/office/drawing/2014/main" id="{9B98D36E-1242-20A2-CF1A-9CF9B9BFE97F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1369937" y="4810589"/>
              <a:ext cx="288254" cy="288254"/>
              <a:chOff x="-158376" y="3030538"/>
              <a:chExt cx="762000" cy="762000"/>
            </a:xfrm>
          </p:grpSpPr>
          <p:sp>
            <p:nvSpPr>
              <p:cNvPr id="591" name="POWER_USER_SHAPE_ICON_STYLE_2">
                <a:extLst>
                  <a:ext uri="{FF2B5EF4-FFF2-40B4-BE49-F238E27FC236}">
                    <a16:creationId xmlns:a16="http://schemas.microsoft.com/office/drawing/2014/main" id="{BD6C46F9-DD7D-21D1-C3F7-3F8DA55DA461}"/>
                  </a:ext>
                </a:extLst>
              </p:cNvPr>
              <p:cNvSpPr/>
              <p:nvPr/>
            </p:nvSpPr>
            <p:spPr>
              <a:xfrm>
                <a:off x="-158376" y="3030538"/>
                <a:ext cx="762000" cy="762000"/>
              </a:xfrm>
              <a:prstGeom prst="ellipse">
                <a:avLst/>
              </a:prstGeom>
              <a:solidFill>
                <a:srgbClr val="FF0000"/>
              </a:solidFill>
              <a:ln w="12700" cap="flat" cmpd="sng" algn="ctr">
                <a:noFill/>
                <a:prstDash val="solid"/>
                <a:miter lim="800000"/>
              </a:ln>
              <a:effectLst/>
              <a:extLst>
                <a:ext uri="{91240B29-F687-4F45-9708-019B960494DF}">
                  <a14:hiddenLine xmlns:a14="http://schemas.microsoft.com/office/drawing/2010/main" w="12700" cap="flat" cmpd="sng" algn="ctr">
                    <a:solidFill>
                      <a:schemeClr val="accent1">
                        <a:shade val="50000"/>
                      </a:schemeClr>
                    </a:solidFill>
                    <a:prstDash val="solid"/>
                    <a:miter lim="800000"/>
                  </a14:hiddenLine>
                </a:ext>
              </a:extLst>
            </p:spPr>
            <p:txBody>
              <a:bodyPr rtlCol="0" anchor="ctr"/>
              <a:lstStyle/>
              <a:p>
                <a:pPr marL="0" marR="0" lvl="0" indent="0" algn="ctr" defTabSz="6858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de-DE" sz="1200" b="0" i="0" u="none" strike="noStrike" kern="0" cap="none" spc="0" normalizeH="0" baseline="0" noProof="1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592" name="Flame3" descr="{&quot;Key&quot;:&quot;POWER_USER_SHAPE_ICON&quot;,&quot;Value&quot;:&quot;POWER_USER_SHAPE_ICON_STYLE_1&quot;}">
                <a:extLst>
                  <a:ext uri="{FF2B5EF4-FFF2-40B4-BE49-F238E27FC236}">
                    <a16:creationId xmlns:a16="http://schemas.microsoft.com/office/drawing/2014/main" id="{A09C4B67-18A3-87F7-866B-8B3D713531A9}"/>
                  </a:ext>
                </a:extLst>
              </p:cNvPr>
              <p:cNvSpPr>
                <a:spLocks noChangeAspect="1"/>
              </p:cNvSpPr>
              <p:nvPr>
                <p:custDataLst>
                  <p:tags r:id="rId23"/>
                </p:custDataLst>
              </p:nvPr>
            </p:nvSpPr>
            <p:spPr bwMode="auto">
              <a:xfrm>
                <a:off x="1" y="3157538"/>
                <a:ext cx="445247" cy="508000"/>
              </a:xfrm>
              <a:custGeom>
                <a:avLst/>
                <a:gdLst>
                  <a:gd name="T0" fmla="*/ 177 w 620"/>
                  <a:gd name="T1" fmla="*/ 708 h 708"/>
                  <a:gd name="T2" fmla="*/ 133 w 620"/>
                  <a:gd name="T3" fmla="*/ 708 h 708"/>
                  <a:gd name="T4" fmla="*/ 0 w 620"/>
                  <a:gd name="T5" fmla="*/ 487 h 708"/>
                  <a:gd name="T6" fmla="*/ 89 w 620"/>
                  <a:gd name="T7" fmla="*/ 88 h 708"/>
                  <a:gd name="T8" fmla="*/ 178 w 620"/>
                  <a:gd name="T9" fmla="*/ 265 h 708"/>
                  <a:gd name="T10" fmla="*/ 310 w 620"/>
                  <a:gd name="T11" fmla="*/ 0 h 708"/>
                  <a:gd name="T12" fmla="*/ 443 w 620"/>
                  <a:gd name="T13" fmla="*/ 354 h 708"/>
                  <a:gd name="T14" fmla="*/ 532 w 620"/>
                  <a:gd name="T15" fmla="*/ 221 h 708"/>
                  <a:gd name="T16" fmla="*/ 620 w 620"/>
                  <a:gd name="T17" fmla="*/ 443 h 708"/>
                  <a:gd name="T18" fmla="*/ 487 w 620"/>
                  <a:gd name="T19" fmla="*/ 708 h 708"/>
                  <a:gd name="T20" fmla="*/ 399 w 620"/>
                  <a:gd name="T21" fmla="*/ 708 h 708"/>
                  <a:gd name="T22" fmla="*/ 443 w 620"/>
                  <a:gd name="T23" fmla="*/ 576 h 708"/>
                  <a:gd name="T24" fmla="*/ 354 w 620"/>
                  <a:gd name="T25" fmla="*/ 310 h 708"/>
                  <a:gd name="T26" fmla="*/ 266 w 620"/>
                  <a:gd name="T27" fmla="*/ 576 h 708"/>
                  <a:gd name="T28" fmla="*/ 177 w 620"/>
                  <a:gd name="T29" fmla="*/ 398 h 708"/>
                  <a:gd name="T30" fmla="*/ 133 w 620"/>
                  <a:gd name="T31" fmla="*/ 562 h 708"/>
                  <a:gd name="T32" fmla="*/ 177 w 620"/>
                  <a:gd name="T33" fmla="*/ 708 h 70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</a:cxnLst>
                <a:rect l="0" t="0" r="r" b="b"/>
                <a:pathLst>
                  <a:path w="620" h="708">
                    <a:moveTo>
                      <a:pt x="177" y="708"/>
                    </a:moveTo>
                    <a:lnTo>
                      <a:pt x="133" y="708"/>
                    </a:lnTo>
                    <a:cubicBezTo>
                      <a:pt x="44" y="664"/>
                      <a:pt x="0" y="572"/>
                      <a:pt x="0" y="487"/>
                    </a:cubicBezTo>
                    <a:cubicBezTo>
                      <a:pt x="0" y="338"/>
                      <a:pt x="89" y="221"/>
                      <a:pt x="89" y="88"/>
                    </a:cubicBezTo>
                    <a:cubicBezTo>
                      <a:pt x="155" y="110"/>
                      <a:pt x="177" y="177"/>
                      <a:pt x="178" y="265"/>
                    </a:cubicBezTo>
                    <a:cubicBezTo>
                      <a:pt x="225" y="196"/>
                      <a:pt x="310" y="114"/>
                      <a:pt x="310" y="0"/>
                    </a:cubicBezTo>
                    <a:cubicBezTo>
                      <a:pt x="384" y="55"/>
                      <a:pt x="443" y="177"/>
                      <a:pt x="443" y="354"/>
                    </a:cubicBezTo>
                    <a:cubicBezTo>
                      <a:pt x="487" y="354"/>
                      <a:pt x="532" y="310"/>
                      <a:pt x="532" y="221"/>
                    </a:cubicBezTo>
                    <a:cubicBezTo>
                      <a:pt x="576" y="265"/>
                      <a:pt x="620" y="354"/>
                      <a:pt x="620" y="443"/>
                    </a:cubicBezTo>
                    <a:cubicBezTo>
                      <a:pt x="620" y="553"/>
                      <a:pt x="576" y="642"/>
                      <a:pt x="487" y="708"/>
                    </a:cubicBezTo>
                    <a:lnTo>
                      <a:pt x="399" y="708"/>
                    </a:lnTo>
                    <a:cubicBezTo>
                      <a:pt x="426" y="669"/>
                      <a:pt x="446" y="623"/>
                      <a:pt x="443" y="576"/>
                    </a:cubicBezTo>
                    <a:cubicBezTo>
                      <a:pt x="437" y="455"/>
                      <a:pt x="354" y="443"/>
                      <a:pt x="354" y="310"/>
                    </a:cubicBezTo>
                    <a:cubicBezTo>
                      <a:pt x="309" y="354"/>
                      <a:pt x="266" y="473"/>
                      <a:pt x="266" y="576"/>
                    </a:cubicBezTo>
                    <a:cubicBezTo>
                      <a:pt x="199" y="531"/>
                      <a:pt x="177" y="443"/>
                      <a:pt x="177" y="398"/>
                    </a:cubicBezTo>
                    <a:cubicBezTo>
                      <a:pt x="142" y="460"/>
                      <a:pt x="133" y="520"/>
                      <a:pt x="133" y="562"/>
                    </a:cubicBezTo>
                    <a:cubicBezTo>
                      <a:pt x="133" y="629"/>
                      <a:pt x="161" y="684"/>
                      <a:pt x="177" y="708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vert="horz" wrap="square" lIns="68580" tIns="34290" rIns="68580" bIns="3429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6858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de-DE" sz="1200" b="0" i="0" u="none" strike="noStrike" kern="0" cap="none" spc="0" normalizeH="0" baseline="0" noProof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  <p:grpSp>
          <p:nvGrpSpPr>
            <p:cNvPr id="585" name="Gruppieren 584" descr="{&quot;Key&quot;:&quot;POWER_USER_SHAPE_ICON&quot;,&quot;Value&quot;:&quot;POWER_USER_SHAPE_ICON_STYLE_2&quot;}">
              <a:extLst>
                <a:ext uri="{FF2B5EF4-FFF2-40B4-BE49-F238E27FC236}">
                  <a16:creationId xmlns:a16="http://schemas.microsoft.com/office/drawing/2014/main" id="{FDD9660F-9D1E-8D9A-48E0-C2E61636BB78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1612540" y="4824795"/>
              <a:ext cx="269867" cy="269867"/>
              <a:chOff x="-127000" y="2980451"/>
              <a:chExt cx="762000" cy="762000"/>
            </a:xfrm>
          </p:grpSpPr>
          <p:sp>
            <p:nvSpPr>
              <p:cNvPr id="586" name="POWER_USER_SHAPE_ICON_STYLE_2">
                <a:extLst>
                  <a:ext uri="{FF2B5EF4-FFF2-40B4-BE49-F238E27FC236}">
                    <a16:creationId xmlns:a16="http://schemas.microsoft.com/office/drawing/2014/main" id="{7A14BAA6-CA05-ACC7-20A5-A331A8CC4CA1}"/>
                  </a:ext>
                </a:extLst>
              </p:cNvPr>
              <p:cNvSpPr/>
              <p:nvPr/>
            </p:nvSpPr>
            <p:spPr>
              <a:xfrm>
                <a:off x="-127000" y="2980451"/>
                <a:ext cx="762000" cy="762000"/>
              </a:xfrm>
              <a:prstGeom prst="ellipse">
                <a:avLst/>
              </a:prstGeom>
              <a:solidFill>
                <a:srgbClr val="FF9966"/>
              </a:solidFill>
              <a:ln w="12700" cap="flat" cmpd="sng" algn="ctr">
                <a:noFill/>
                <a:prstDash val="solid"/>
                <a:miter lim="800000"/>
              </a:ln>
              <a:effectLst/>
              <a:extLst>
                <a:ext uri="{91240B29-F687-4F45-9708-019B960494DF}">
                  <a14:hiddenLine xmlns:a14="http://schemas.microsoft.com/office/drawing/2010/main" w="12700" cap="flat" cmpd="sng" algn="ctr">
                    <a:solidFill>
                      <a:schemeClr val="accent1">
                        <a:shade val="50000"/>
                      </a:schemeClr>
                    </a:solidFill>
                    <a:prstDash val="solid"/>
                  </a14:hiddenLine>
                </a:ext>
              </a:extLst>
            </p:spPr>
            <p:txBody>
              <a:bodyPr rtlCol="0" anchor="ctr"/>
              <a:lstStyle/>
              <a:p>
                <a:pPr marL="0" marR="0" lvl="0" indent="0" algn="ctr" defTabSz="6858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de-DE" sz="1200" b="0" i="0" u="none" strike="noStrike" kern="0" cap="none" spc="0" normalizeH="0" baseline="0" noProof="1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grpSp>
            <p:nvGrpSpPr>
              <p:cNvPr id="587" name="Gruppieren 586">
                <a:extLst>
                  <a:ext uri="{FF2B5EF4-FFF2-40B4-BE49-F238E27FC236}">
                    <a16:creationId xmlns:a16="http://schemas.microsoft.com/office/drawing/2014/main" id="{8838D233-71A7-BB32-6F7C-5E3EE3EDA5AF}"/>
                  </a:ext>
                </a:extLst>
              </p:cNvPr>
              <p:cNvGrpSpPr>
                <a:grpSpLocks noChangeAspect="1"/>
              </p:cNvGrpSpPr>
              <p:nvPr/>
            </p:nvGrpSpPr>
            <p:grpSpPr>
              <a:xfrm>
                <a:off x="0" y="3157538"/>
                <a:ext cx="508000" cy="407826"/>
                <a:chOff x="0" y="3157538"/>
                <a:chExt cx="676283" cy="542925"/>
              </a:xfrm>
            </p:grpSpPr>
            <p:sp>
              <p:nvSpPr>
                <p:cNvPr id="588" name="Freeform 284">
                  <a:extLst>
                    <a:ext uri="{FF2B5EF4-FFF2-40B4-BE49-F238E27FC236}">
                      <a16:creationId xmlns:a16="http://schemas.microsoft.com/office/drawing/2014/main" id="{60CF1AF9-47A5-5999-E7A7-F1EABC6D517E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92288" y="3286273"/>
                  <a:ext cx="283995" cy="414190"/>
                </a:xfrm>
                <a:custGeom>
                  <a:avLst/>
                  <a:gdLst>
                    <a:gd name="T0" fmla="*/ 128 w 294"/>
                    <a:gd name="T1" fmla="*/ 145 h 428"/>
                    <a:gd name="T2" fmla="*/ 0 w 294"/>
                    <a:gd name="T3" fmla="*/ 320 h 428"/>
                    <a:gd name="T4" fmla="*/ 144 w 294"/>
                    <a:gd name="T5" fmla="*/ 428 h 428"/>
                    <a:gd name="T6" fmla="*/ 294 w 294"/>
                    <a:gd name="T7" fmla="*/ 278 h 428"/>
                    <a:gd name="T8" fmla="*/ 144 w 294"/>
                    <a:gd name="T9" fmla="*/ 0 h 428"/>
                    <a:gd name="T10" fmla="*/ 107 w 294"/>
                    <a:gd name="T11" fmla="*/ 37 h 428"/>
                    <a:gd name="T12" fmla="*/ 128 w 294"/>
                    <a:gd name="T13" fmla="*/ 145 h 42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294" h="428">
                      <a:moveTo>
                        <a:pt x="128" y="145"/>
                      </a:moveTo>
                      <a:cubicBezTo>
                        <a:pt x="128" y="227"/>
                        <a:pt x="74" y="296"/>
                        <a:pt x="0" y="320"/>
                      </a:cubicBezTo>
                      <a:cubicBezTo>
                        <a:pt x="18" y="382"/>
                        <a:pt x="76" y="428"/>
                        <a:pt x="144" y="428"/>
                      </a:cubicBezTo>
                      <a:cubicBezTo>
                        <a:pt x="227" y="428"/>
                        <a:pt x="294" y="361"/>
                        <a:pt x="294" y="278"/>
                      </a:cubicBezTo>
                      <a:cubicBezTo>
                        <a:pt x="294" y="145"/>
                        <a:pt x="180" y="32"/>
                        <a:pt x="144" y="0"/>
                      </a:cubicBezTo>
                      <a:cubicBezTo>
                        <a:pt x="136" y="8"/>
                        <a:pt x="122" y="21"/>
                        <a:pt x="107" y="37"/>
                      </a:cubicBezTo>
                      <a:cubicBezTo>
                        <a:pt x="120" y="71"/>
                        <a:pt x="128" y="107"/>
                        <a:pt x="128" y="145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 vert="horz" wrap="square" lIns="68580" tIns="34290" rIns="68580" bIns="3429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6858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de-DE" sz="1200" b="0" i="0" u="none" strike="noStrike" kern="0" cap="none" spc="0" normalizeH="0" baseline="0" noProof="1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589" name="Freeform 285">
                  <a:extLst>
                    <a:ext uri="{FF2B5EF4-FFF2-40B4-BE49-F238E27FC236}">
                      <a16:creationId xmlns:a16="http://schemas.microsoft.com/office/drawing/2014/main" id="{6B0FA0C5-E367-F4FA-1A08-50972BBA193E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19506" y="3157538"/>
                  <a:ext cx="263553" cy="414190"/>
                </a:xfrm>
                <a:custGeom>
                  <a:avLst/>
                  <a:gdLst>
                    <a:gd name="T0" fmla="*/ 107 w 273"/>
                    <a:gd name="T1" fmla="*/ 411 h 428"/>
                    <a:gd name="T2" fmla="*/ 106 w 273"/>
                    <a:gd name="T3" fmla="*/ 427 h 428"/>
                    <a:gd name="T4" fmla="*/ 123 w 273"/>
                    <a:gd name="T5" fmla="*/ 428 h 428"/>
                    <a:gd name="T6" fmla="*/ 273 w 273"/>
                    <a:gd name="T7" fmla="*/ 278 h 428"/>
                    <a:gd name="T8" fmla="*/ 123 w 273"/>
                    <a:gd name="T9" fmla="*/ 0 h 428"/>
                    <a:gd name="T10" fmla="*/ 0 w 273"/>
                    <a:gd name="T11" fmla="*/ 164 h 428"/>
                    <a:gd name="T12" fmla="*/ 107 w 273"/>
                    <a:gd name="T13" fmla="*/ 411 h 42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273" h="428">
                      <a:moveTo>
                        <a:pt x="107" y="411"/>
                      </a:moveTo>
                      <a:cubicBezTo>
                        <a:pt x="107" y="417"/>
                        <a:pt x="106" y="422"/>
                        <a:pt x="106" y="427"/>
                      </a:cubicBezTo>
                      <a:cubicBezTo>
                        <a:pt x="112" y="428"/>
                        <a:pt x="117" y="428"/>
                        <a:pt x="123" y="428"/>
                      </a:cubicBezTo>
                      <a:cubicBezTo>
                        <a:pt x="206" y="428"/>
                        <a:pt x="273" y="361"/>
                        <a:pt x="273" y="278"/>
                      </a:cubicBezTo>
                      <a:cubicBezTo>
                        <a:pt x="273" y="145"/>
                        <a:pt x="159" y="32"/>
                        <a:pt x="123" y="0"/>
                      </a:cubicBezTo>
                      <a:cubicBezTo>
                        <a:pt x="99" y="22"/>
                        <a:pt x="36" y="84"/>
                        <a:pt x="0" y="164"/>
                      </a:cubicBezTo>
                      <a:cubicBezTo>
                        <a:pt x="49" y="220"/>
                        <a:pt x="107" y="309"/>
                        <a:pt x="107" y="411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 vert="horz" wrap="square" lIns="68580" tIns="34290" rIns="68580" bIns="3429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6858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de-DE" sz="1200" b="0" i="0" u="none" strike="noStrike" kern="0" cap="none" spc="0" normalizeH="0" baseline="0" noProof="1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590" name="Freeform 286">
                  <a:extLst>
                    <a:ext uri="{FF2B5EF4-FFF2-40B4-BE49-F238E27FC236}">
                      <a16:creationId xmlns:a16="http://schemas.microsoft.com/office/drawing/2014/main" id="{A55E0170-5F48-5265-A480-48D174F52A6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0" y="3286273"/>
                  <a:ext cx="289836" cy="414190"/>
                </a:xfrm>
                <a:custGeom>
                  <a:avLst/>
                  <a:gdLst>
                    <a:gd name="T0" fmla="*/ 150 w 300"/>
                    <a:gd name="T1" fmla="*/ 428 h 428"/>
                    <a:gd name="T2" fmla="*/ 300 w 300"/>
                    <a:gd name="T3" fmla="*/ 278 h 428"/>
                    <a:gd name="T4" fmla="*/ 150 w 300"/>
                    <a:gd name="T5" fmla="*/ 0 h 428"/>
                    <a:gd name="T6" fmla="*/ 0 w 300"/>
                    <a:gd name="T7" fmla="*/ 278 h 428"/>
                    <a:gd name="T8" fmla="*/ 150 w 300"/>
                    <a:gd name="T9" fmla="*/ 428 h 42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00" h="428">
                      <a:moveTo>
                        <a:pt x="150" y="428"/>
                      </a:moveTo>
                      <a:cubicBezTo>
                        <a:pt x="233" y="428"/>
                        <a:pt x="300" y="361"/>
                        <a:pt x="300" y="278"/>
                      </a:cubicBezTo>
                      <a:cubicBezTo>
                        <a:pt x="300" y="145"/>
                        <a:pt x="186" y="32"/>
                        <a:pt x="150" y="0"/>
                      </a:cubicBezTo>
                      <a:cubicBezTo>
                        <a:pt x="115" y="32"/>
                        <a:pt x="0" y="145"/>
                        <a:pt x="0" y="278"/>
                      </a:cubicBezTo>
                      <a:cubicBezTo>
                        <a:pt x="0" y="361"/>
                        <a:pt x="68" y="428"/>
                        <a:pt x="150" y="428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 vert="horz" wrap="square" lIns="68580" tIns="34290" rIns="68580" bIns="3429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6858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de-DE" sz="1200" b="0" i="0" u="none" strike="noStrike" kern="0" cap="none" spc="0" normalizeH="0" baseline="0" noProof="1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</p:grpSp>
      </p:grpSp>
      <p:grpSp>
        <p:nvGrpSpPr>
          <p:cNvPr id="595" name="Gruppieren 594" descr="{&quot;Key&quot;:&quot;POWER_USER_SHAPE_ICON&quot;,&quot;Value&quot;:&quot;POWER_USER_SHAPE_ICON_STYLE_2&quot;}">
            <a:extLst>
              <a:ext uri="{FF2B5EF4-FFF2-40B4-BE49-F238E27FC236}">
                <a16:creationId xmlns:a16="http://schemas.microsoft.com/office/drawing/2014/main" id="{9F237375-A6E0-F0F6-59B1-F459CA46D0A2}"/>
              </a:ext>
            </a:extLst>
          </p:cNvPr>
          <p:cNvGrpSpPr>
            <a:grpSpLocks noChangeAspect="1"/>
          </p:cNvGrpSpPr>
          <p:nvPr/>
        </p:nvGrpSpPr>
        <p:grpSpPr>
          <a:xfrm>
            <a:off x="10527432" y="3482451"/>
            <a:ext cx="332846" cy="332846"/>
            <a:chOff x="6103281" y="1370067"/>
            <a:chExt cx="762000" cy="762000"/>
          </a:xfrm>
        </p:grpSpPr>
        <p:sp>
          <p:nvSpPr>
            <p:cNvPr id="596" name="POWER_USER_SHAPE_ICON_STYLE_2">
              <a:extLst>
                <a:ext uri="{FF2B5EF4-FFF2-40B4-BE49-F238E27FC236}">
                  <a16:creationId xmlns:a16="http://schemas.microsoft.com/office/drawing/2014/main" id="{77D09FC4-5F5B-0313-FC09-4F117B7BFB11}"/>
                </a:ext>
              </a:extLst>
            </p:cNvPr>
            <p:cNvSpPr/>
            <p:nvPr/>
          </p:nvSpPr>
          <p:spPr>
            <a:xfrm>
              <a:off x="6103281" y="1370067"/>
              <a:ext cx="762000" cy="762000"/>
            </a:xfrm>
            <a:prstGeom prst="ellipse">
              <a:avLst/>
            </a:prstGeom>
            <a:solidFill>
              <a:srgbClr val="00B050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txBody>
            <a:bodyPr rtlCol="0" anchor="ctr"/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de-DE" sz="1200" b="0" i="0" u="none" strike="noStrike" kern="0" cap="none" spc="0" normalizeH="0" baseline="0" noProof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97" name="Solar_panel2" descr="{&quot;Key&quot;:&quot;POWER_USER_SHAPE_ICON&quot;,&quot;Value&quot;:&quot;POWER_USER_SHAPE_ICON_STYLE_1&quot;}">
              <a:extLst>
                <a:ext uri="{FF2B5EF4-FFF2-40B4-BE49-F238E27FC236}">
                  <a16:creationId xmlns:a16="http://schemas.microsoft.com/office/drawing/2014/main" id="{0AAA38E3-AEAE-80ED-5005-CA442AA0886D}"/>
                </a:ext>
              </a:extLst>
            </p:cNvPr>
            <p:cNvSpPr>
              <a:spLocks noChangeAspect="1" noEditPoints="1"/>
            </p:cNvSpPr>
            <p:nvPr>
              <p:custDataLst>
                <p:tags r:id="rId22"/>
              </p:custDataLst>
            </p:nvPr>
          </p:nvSpPr>
          <p:spPr bwMode="auto">
            <a:xfrm>
              <a:off x="6230281" y="1509627"/>
              <a:ext cx="508000" cy="482879"/>
            </a:xfrm>
            <a:custGeom>
              <a:avLst/>
              <a:gdLst>
                <a:gd name="T0" fmla="*/ 399 w 759"/>
                <a:gd name="T1" fmla="*/ 481 h 721"/>
                <a:gd name="T2" fmla="*/ 367 w 759"/>
                <a:gd name="T3" fmla="*/ 433 h 721"/>
                <a:gd name="T4" fmla="*/ 447 w 759"/>
                <a:gd name="T5" fmla="*/ 397 h 721"/>
                <a:gd name="T6" fmla="*/ 415 w 759"/>
                <a:gd name="T7" fmla="*/ 349 h 721"/>
                <a:gd name="T8" fmla="*/ 447 w 759"/>
                <a:gd name="T9" fmla="*/ 397 h 721"/>
                <a:gd name="T10" fmla="*/ 287 w 759"/>
                <a:gd name="T11" fmla="*/ 397 h 721"/>
                <a:gd name="T12" fmla="*/ 375 w 759"/>
                <a:gd name="T13" fmla="*/ 349 h 721"/>
                <a:gd name="T14" fmla="*/ 267 w 759"/>
                <a:gd name="T15" fmla="*/ 433 h 721"/>
                <a:gd name="T16" fmla="*/ 298 w 759"/>
                <a:gd name="T17" fmla="*/ 481 h 721"/>
                <a:gd name="T18" fmla="*/ 267 w 759"/>
                <a:gd name="T19" fmla="*/ 433 h 721"/>
                <a:gd name="T20" fmla="*/ 499 w 759"/>
                <a:gd name="T21" fmla="*/ 481 h 721"/>
                <a:gd name="T22" fmla="*/ 467 w 759"/>
                <a:gd name="T23" fmla="*/ 433 h 721"/>
                <a:gd name="T24" fmla="*/ 547 w 759"/>
                <a:gd name="T25" fmla="*/ 397 h 721"/>
                <a:gd name="T26" fmla="*/ 516 w 759"/>
                <a:gd name="T27" fmla="*/ 349 h 721"/>
                <a:gd name="T28" fmla="*/ 547 w 759"/>
                <a:gd name="T29" fmla="*/ 397 h 721"/>
                <a:gd name="T30" fmla="*/ 624 w 759"/>
                <a:gd name="T31" fmla="*/ 265 h 721"/>
                <a:gd name="T32" fmla="*/ 536 w 759"/>
                <a:gd name="T33" fmla="*/ 314 h 721"/>
                <a:gd name="T34" fmla="*/ 495 w 759"/>
                <a:gd name="T35" fmla="*/ 314 h 721"/>
                <a:gd name="T36" fmla="*/ 464 w 759"/>
                <a:gd name="T37" fmla="*/ 265 h 721"/>
                <a:gd name="T38" fmla="*/ 495 w 759"/>
                <a:gd name="T39" fmla="*/ 314 h 721"/>
                <a:gd name="T40" fmla="*/ 336 w 759"/>
                <a:gd name="T41" fmla="*/ 314 h 721"/>
                <a:gd name="T42" fmla="*/ 423 w 759"/>
                <a:gd name="T43" fmla="*/ 265 h 721"/>
                <a:gd name="T44" fmla="*/ 246 w 759"/>
                <a:gd name="T45" fmla="*/ 397 h 721"/>
                <a:gd name="T46" fmla="*/ 215 w 759"/>
                <a:gd name="T47" fmla="*/ 349 h 721"/>
                <a:gd name="T48" fmla="*/ 246 w 759"/>
                <a:gd name="T49" fmla="*/ 397 h 721"/>
                <a:gd name="T50" fmla="*/ 198 w 759"/>
                <a:gd name="T51" fmla="*/ 481 h 721"/>
                <a:gd name="T52" fmla="*/ 166 w 759"/>
                <a:gd name="T53" fmla="*/ 433 h 721"/>
                <a:gd name="T54" fmla="*/ 295 w 759"/>
                <a:gd name="T55" fmla="*/ 314 h 721"/>
                <a:gd name="T56" fmla="*/ 263 w 759"/>
                <a:gd name="T57" fmla="*/ 265 h 721"/>
                <a:gd name="T58" fmla="*/ 295 w 759"/>
                <a:gd name="T59" fmla="*/ 314 h 721"/>
                <a:gd name="T60" fmla="*/ 241 w 759"/>
                <a:gd name="T61" fmla="*/ 227 h 721"/>
                <a:gd name="T62" fmla="*/ 521 w 759"/>
                <a:gd name="T63" fmla="*/ 519 h 721"/>
                <a:gd name="T64" fmla="*/ 228 w 759"/>
                <a:gd name="T65" fmla="*/ 180 h 721"/>
                <a:gd name="T66" fmla="*/ 228 w 759"/>
                <a:gd name="T67" fmla="*/ 104 h 721"/>
                <a:gd name="T68" fmla="*/ 159 w 759"/>
                <a:gd name="T69" fmla="*/ 276 h 721"/>
                <a:gd name="T70" fmla="*/ 228 w 759"/>
                <a:gd name="T71" fmla="*/ 180 h 721"/>
                <a:gd name="T72" fmla="*/ 114 w 759"/>
                <a:gd name="T73" fmla="*/ 296 h 721"/>
                <a:gd name="T74" fmla="*/ 52 w 759"/>
                <a:gd name="T75" fmla="*/ 305 h 721"/>
                <a:gd name="T76" fmla="*/ 91 w 759"/>
                <a:gd name="T77" fmla="*/ 256 h 721"/>
                <a:gd name="T78" fmla="*/ 24 w 759"/>
                <a:gd name="T79" fmla="*/ 227 h 721"/>
                <a:gd name="T80" fmla="*/ 24 w 759"/>
                <a:gd name="T81" fmla="*/ 180 h 721"/>
                <a:gd name="T82" fmla="*/ 90 w 759"/>
                <a:gd name="T83" fmla="*/ 152 h 721"/>
                <a:gd name="T84" fmla="*/ 52 w 759"/>
                <a:gd name="T85" fmla="*/ 102 h 721"/>
                <a:gd name="T86" fmla="*/ 114 w 759"/>
                <a:gd name="T87" fmla="*/ 111 h 721"/>
                <a:gd name="T88" fmla="*/ 105 w 759"/>
                <a:gd name="T89" fmla="*/ 39 h 721"/>
                <a:gd name="T90" fmla="*/ 146 w 759"/>
                <a:gd name="T91" fmla="*/ 16 h 721"/>
                <a:gd name="T92" fmla="*/ 204 w 759"/>
                <a:gd name="T93" fmla="*/ 59 h 721"/>
                <a:gd name="T94" fmla="*/ 228 w 759"/>
                <a:gd name="T95" fmla="*/ 1 h 721"/>
                <a:gd name="T96" fmla="*/ 251 w 759"/>
                <a:gd name="T97" fmla="*/ 59 h 721"/>
                <a:gd name="T98" fmla="*/ 309 w 759"/>
                <a:gd name="T99" fmla="*/ 16 h 721"/>
                <a:gd name="T100" fmla="*/ 350 w 759"/>
                <a:gd name="T101" fmla="*/ 39 h 721"/>
                <a:gd name="T102" fmla="*/ 341 w 759"/>
                <a:gd name="T103" fmla="*/ 111 h 721"/>
                <a:gd name="T104" fmla="*/ 403 w 759"/>
                <a:gd name="T105" fmla="*/ 102 h 721"/>
                <a:gd name="T106" fmla="*/ 365 w 759"/>
                <a:gd name="T107" fmla="*/ 152 h 721"/>
                <a:gd name="T108" fmla="*/ 730 w 759"/>
                <a:gd name="T109" fmla="*/ 180 h 721"/>
                <a:gd name="T110" fmla="*/ 555 w 759"/>
                <a:gd name="T111" fmla="*/ 554 h 721"/>
                <a:gd name="T112" fmla="*/ 416 w 759"/>
                <a:gd name="T113" fmla="*/ 566 h 721"/>
                <a:gd name="T114" fmla="*/ 632 w 759"/>
                <a:gd name="T115" fmla="*/ 673 h 721"/>
                <a:gd name="T116" fmla="*/ 632 w 759"/>
                <a:gd name="T117" fmla="*/ 721 h 721"/>
                <a:gd name="T118" fmla="*/ 106 w 759"/>
                <a:gd name="T119" fmla="*/ 697 h 721"/>
                <a:gd name="T120" fmla="*/ 346 w 759"/>
                <a:gd name="T121" fmla="*/ 673 h 721"/>
                <a:gd name="T122" fmla="*/ 32 w 759"/>
                <a:gd name="T123" fmla="*/ 566 h 721"/>
                <a:gd name="T124" fmla="*/ 135 w 759"/>
                <a:gd name="T125" fmla="*/ 317 h 7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759" h="721">
                  <a:moveTo>
                    <a:pt x="339" y="481"/>
                  </a:moveTo>
                  <a:lnTo>
                    <a:pt x="399" y="481"/>
                  </a:lnTo>
                  <a:lnTo>
                    <a:pt x="427" y="433"/>
                  </a:lnTo>
                  <a:lnTo>
                    <a:pt x="367" y="433"/>
                  </a:lnTo>
                  <a:lnTo>
                    <a:pt x="339" y="481"/>
                  </a:lnTo>
                  <a:close/>
                  <a:moveTo>
                    <a:pt x="447" y="397"/>
                  </a:moveTo>
                  <a:lnTo>
                    <a:pt x="475" y="349"/>
                  </a:lnTo>
                  <a:lnTo>
                    <a:pt x="415" y="349"/>
                  </a:lnTo>
                  <a:lnTo>
                    <a:pt x="387" y="397"/>
                  </a:lnTo>
                  <a:lnTo>
                    <a:pt x="447" y="397"/>
                  </a:lnTo>
                  <a:close/>
                  <a:moveTo>
                    <a:pt x="315" y="349"/>
                  </a:moveTo>
                  <a:lnTo>
                    <a:pt x="287" y="397"/>
                  </a:lnTo>
                  <a:lnTo>
                    <a:pt x="347" y="397"/>
                  </a:lnTo>
                  <a:lnTo>
                    <a:pt x="375" y="349"/>
                  </a:lnTo>
                  <a:lnTo>
                    <a:pt x="315" y="349"/>
                  </a:lnTo>
                  <a:close/>
                  <a:moveTo>
                    <a:pt x="267" y="433"/>
                  </a:moveTo>
                  <a:lnTo>
                    <a:pt x="239" y="481"/>
                  </a:lnTo>
                  <a:lnTo>
                    <a:pt x="298" y="481"/>
                  </a:lnTo>
                  <a:lnTo>
                    <a:pt x="326" y="433"/>
                  </a:lnTo>
                  <a:lnTo>
                    <a:pt x="267" y="433"/>
                  </a:lnTo>
                  <a:close/>
                  <a:moveTo>
                    <a:pt x="439" y="481"/>
                  </a:moveTo>
                  <a:lnTo>
                    <a:pt x="499" y="481"/>
                  </a:lnTo>
                  <a:lnTo>
                    <a:pt x="527" y="433"/>
                  </a:lnTo>
                  <a:lnTo>
                    <a:pt x="467" y="433"/>
                  </a:lnTo>
                  <a:lnTo>
                    <a:pt x="439" y="481"/>
                  </a:lnTo>
                  <a:close/>
                  <a:moveTo>
                    <a:pt x="547" y="397"/>
                  </a:moveTo>
                  <a:lnTo>
                    <a:pt x="575" y="349"/>
                  </a:lnTo>
                  <a:lnTo>
                    <a:pt x="516" y="349"/>
                  </a:lnTo>
                  <a:lnTo>
                    <a:pt x="488" y="397"/>
                  </a:lnTo>
                  <a:lnTo>
                    <a:pt x="547" y="397"/>
                  </a:lnTo>
                  <a:close/>
                  <a:moveTo>
                    <a:pt x="596" y="314"/>
                  </a:moveTo>
                  <a:lnTo>
                    <a:pt x="624" y="265"/>
                  </a:lnTo>
                  <a:lnTo>
                    <a:pt x="564" y="265"/>
                  </a:lnTo>
                  <a:lnTo>
                    <a:pt x="536" y="314"/>
                  </a:lnTo>
                  <a:lnTo>
                    <a:pt x="596" y="314"/>
                  </a:lnTo>
                  <a:close/>
                  <a:moveTo>
                    <a:pt x="495" y="314"/>
                  </a:moveTo>
                  <a:lnTo>
                    <a:pt x="523" y="265"/>
                  </a:lnTo>
                  <a:lnTo>
                    <a:pt x="464" y="265"/>
                  </a:lnTo>
                  <a:lnTo>
                    <a:pt x="436" y="314"/>
                  </a:lnTo>
                  <a:lnTo>
                    <a:pt x="495" y="314"/>
                  </a:lnTo>
                  <a:close/>
                  <a:moveTo>
                    <a:pt x="363" y="265"/>
                  </a:moveTo>
                  <a:lnTo>
                    <a:pt x="336" y="314"/>
                  </a:lnTo>
                  <a:lnTo>
                    <a:pt x="395" y="314"/>
                  </a:lnTo>
                  <a:lnTo>
                    <a:pt x="423" y="265"/>
                  </a:lnTo>
                  <a:lnTo>
                    <a:pt x="363" y="265"/>
                  </a:lnTo>
                  <a:close/>
                  <a:moveTo>
                    <a:pt x="246" y="397"/>
                  </a:moveTo>
                  <a:lnTo>
                    <a:pt x="274" y="349"/>
                  </a:lnTo>
                  <a:lnTo>
                    <a:pt x="215" y="349"/>
                  </a:lnTo>
                  <a:lnTo>
                    <a:pt x="187" y="397"/>
                  </a:lnTo>
                  <a:lnTo>
                    <a:pt x="246" y="397"/>
                  </a:lnTo>
                  <a:close/>
                  <a:moveTo>
                    <a:pt x="138" y="481"/>
                  </a:moveTo>
                  <a:lnTo>
                    <a:pt x="198" y="481"/>
                  </a:lnTo>
                  <a:lnTo>
                    <a:pt x="226" y="433"/>
                  </a:lnTo>
                  <a:lnTo>
                    <a:pt x="166" y="433"/>
                  </a:lnTo>
                  <a:lnTo>
                    <a:pt x="138" y="481"/>
                  </a:lnTo>
                  <a:close/>
                  <a:moveTo>
                    <a:pt x="295" y="314"/>
                  </a:moveTo>
                  <a:lnTo>
                    <a:pt x="323" y="265"/>
                  </a:lnTo>
                  <a:lnTo>
                    <a:pt x="263" y="265"/>
                  </a:lnTo>
                  <a:lnTo>
                    <a:pt x="235" y="314"/>
                  </a:lnTo>
                  <a:lnTo>
                    <a:pt x="295" y="314"/>
                  </a:lnTo>
                  <a:close/>
                  <a:moveTo>
                    <a:pt x="689" y="227"/>
                  </a:moveTo>
                  <a:lnTo>
                    <a:pt x="241" y="227"/>
                  </a:lnTo>
                  <a:lnTo>
                    <a:pt x="73" y="519"/>
                  </a:lnTo>
                  <a:lnTo>
                    <a:pt x="521" y="519"/>
                  </a:lnTo>
                  <a:lnTo>
                    <a:pt x="689" y="227"/>
                  </a:lnTo>
                  <a:close/>
                  <a:moveTo>
                    <a:pt x="228" y="180"/>
                  </a:moveTo>
                  <a:lnTo>
                    <a:pt x="324" y="180"/>
                  </a:lnTo>
                  <a:cubicBezTo>
                    <a:pt x="313" y="136"/>
                    <a:pt x="273" y="104"/>
                    <a:pt x="228" y="104"/>
                  </a:cubicBezTo>
                  <a:cubicBezTo>
                    <a:pt x="173" y="104"/>
                    <a:pt x="128" y="149"/>
                    <a:pt x="128" y="204"/>
                  </a:cubicBezTo>
                  <a:cubicBezTo>
                    <a:pt x="128" y="231"/>
                    <a:pt x="139" y="257"/>
                    <a:pt x="159" y="276"/>
                  </a:cubicBezTo>
                  <a:lnTo>
                    <a:pt x="207" y="192"/>
                  </a:lnTo>
                  <a:cubicBezTo>
                    <a:pt x="212" y="184"/>
                    <a:pt x="220" y="180"/>
                    <a:pt x="228" y="180"/>
                  </a:cubicBezTo>
                  <a:close/>
                  <a:moveTo>
                    <a:pt x="135" y="317"/>
                  </a:moveTo>
                  <a:cubicBezTo>
                    <a:pt x="127" y="311"/>
                    <a:pt x="120" y="304"/>
                    <a:pt x="114" y="296"/>
                  </a:cubicBezTo>
                  <a:lnTo>
                    <a:pt x="84" y="314"/>
                  </a:lnTo>
                  <a:cubicBezTo>
                    <a:pt x="73" y="320"/>
                    <a:pt x="59" y="316"/>
                    <a:pt x="52" y="305"/>
                  </a:cubicBezTo>
                  <a:cubicBezTo>
                    <a:pt x="46" y="294"/>
                    <a:pt x="49" y="280"/>
                    <a:pt x="61" y="273"/>
                  </a:cubicBezTo>
                  <a:lnTo>
                    <a:pt x="91" y="256"/>
                  </a:lnTo>
                  <a:cubicBezTo>
                    <a:pt x="87" y="247"/>
                    <a:pt x="85" y="237"/>
                    <a:pt x="83" y="227"/>
                  </a:cubicBezTo>
                  <a:lnTo>
                    <a:pt x="24" y="227"/>
                  </a:lnTo>
                  <a:cubicBezTo>
                    <a:pt x="11" y="227"/>
                    <a:pt x="0" y="217"/>
                    <a:pt x="0" y="204"/>
                  </a:cubicBezTo>
                  <a:cubicBezTo>
                    <a:pt x="0" y="191"/>
                    <a:pt x="11" y="180"/>
                    <a:pt x="24" y="180"/>
                  </a:cubicBezTo>
                  <a:lnTo>
                    <a:pt x="83" y="180"/>
                  </a:lnTo>
                  <a:cubicBezTo>
                    <a:pt x="84" y="170"/>
                    <a:pt x="87" y="161"/>
                    <a:pt x="90" y="152"/>
                  </a:cubicBezTo>
                  <a:lnTo>
                    <a:pt x="61" y="135"/>
                  </a:lnTo>
                  <a:cubicBezTo>
                    <a:pt x="49" y="128"/>
                    <a:pt x="46" y="114"/>
                    <a:pt x="52" y="102"/>
                  </a:cubicBezTo>
                  <a:cubicBezTo>
                    <a:pt x="59" y="91"/>
                    <a:pt x="73" y="87"/>
                    <a:pt x="84" y="94"/>
                  </a:cubicBezTo>
                  <a:lnTo>
                    <a:pt x="114" y="111"/>
                  </a:lnTo>
                  <a:cubicBezTo>
                    <a:pt x="120" y="103"/>
                    <a:pt x="127" y="96"/>
                    <a:pt x="135" y="90"/>
                  </a:cubicBezTo>
                  <a:lnTo>
                    <a:pt x="105" y="39"/>
                  </a:lnTo>
                  <a:cubicBezTo>
                    <a:pt x="99" y="28"/>
                    <a:pt x="103" y="13"/>
                    <a:pt x="114" y="7"/>
                  </a:cubicBezTo>
                  <a:cubicBezTo>
                    <a:pt x="125" y="1"/>
                    <a:pt x="140" y="4"/>
                    <a:pt x="146" y="16"/>
                  </a:cubicBezTo>
                  <a:lnTo>
                    <a:pt x="176" y="67"/>
                  </a:lnTo>
                  <a:cubicBezTo>
                    <a:pt x="185" y="63"/>
                    <a:pt x="194" y="61"/>
                    <a:pt x="204" y="59"/>
                  </a:cubicBezTo>
                  <a:lnTo>
                    <a:pt x="204" y="25"/>
                  </a:lnTo>
                  <a:cubicBezTo>
                    <a:pt x="204" y="12"/>
                    <a:pt x="215" y="1"/>
                    <a:pt x="228" y="1"/>
                  </a:cubicBezTo>
                  <a:cubicBezTo>
                    <a:pt x="241" y="1"/>
                    <a:pt x="251" y="12"/>
                    <a:pt x="251" y="25"/>
                  </a:cubicBezTo>
                  <a:lnTo>
                    <a:pt x="251" y="59"/>
                  </a:lnTo>
                  <a:cubicBezTo>
                    <a:pt x="261" y="61"/>
                    <a:pt x="271" y="63"/>
                    <a:pt x="280" y="67"/>
                  </a:cubicBezTo>
                  <a:lnTo>
                    <a:pt x="309" y="16"/>
                  </a:lnTo>
                  <a:cubicBezTo>
                    <a:pt x="316" y="4"/>
                    <a:pt x="330" y="0"/>
                    <a:pt x="341" y="7"/>
                  </a:cubicBezTo>
                  <a:cubicBezTo>
                    <a:pt x="353" y="13"/>
                    <a:pt x="356" y="28"/>
                    <a:pt x="350" y="39"/>
                  </a:cubicBezTo>
                  <a:lnTo>
                    <a:pt x="320" y="90"/>
                  </a:lnTo>
                  <a:cubicBezTo>
                    <a:pt x="328" y="96"/>
                    <a:pt x="335" y="103"/>
                    <a:pt x="341" y="111"/>
                  </a:cubicBezTo>
                  <a:lnTo>
                    <a:pt x="371" y="94"/>
                  </a:lnTo>
                  <a:cubicBezTo>
                    <a:pt x="382" y="87"/>
                    <a:pt x="397" y="91"/>
                    <a:pt x="403" y="102"/>
                  </a:cubicBezTo>
                  <a:cubicBezTo>
                    <a:pt x="410" y="114"/>
                    <a:pt x="406" y="128"/>
                    <a:pt x="395" y="135"/>
                  </a:cubicBezTo>
                  <a:lnTo>
                    <a:pt x="365" y="152"/>
                  </a:lnTo>
                  <a:cubicBezTo>
                    <a:pt x="368" y="161"/>
                    <a:pt x="371" y="170"/>
                    <a:pt x="372" y="180"/>
                  </a:cubicBezTo>
                  <a:lnTo>
                    <a:pt x="730" y="180"/>
                  </a:lnTo>
                  <a:cubicBezTo>
                    <a:pt x="749" y="180"/>
                    <a:pt x="759" y="201"/>
                    <a:pt x="750" y="217"/>
                  </a:cubicBezTo>
                  <a:lnTo>
                    <a:pt x="555" y="554"/>
                  </a:lnTo>
                  <a:cubicBezTo>
                    <a:pt x="550" y="562"/>
                    <a:pt x="542" y="566"/>
                    <a:pt x="533" y="566"/>
                  </a:cubicBezTo>
                  <a:lnTo>
                    <a:pt x="416" y="566"/>
                  </a:lnTo>
                  <a:lnTo>
                    <a:pt x="416" y="673"/>
                  </a:lnTo>
                  <a:lnTo>
                    <a:pt x="632" y="673"/>
                  </a:lnTo>
                  <a:cubicBezTo>
                    <a:pt x="645" y="673"/>
                    <a:pt x="656" y="684"/>
                    <a:pt x="656" y="697"/>
                  </a:cubicBezTo>
                  <a:cubicBezTo>
                    <a:pt x="656" y="710"/>
                    <a:pt x="645" y="721"/>
                    <a:pt x="632" y="721"/>
                  </a:cubicBezTo>
                  <a:lnTo>
                    <a:pt x="130" y="721"/>
                  </a:lnTo>
                  <a:cubicBezTo>
                    <a:pt x="117" y="721"/>
                    <a:pt x="106" y="710"/>
                    <a:pt x="106" y="697"/>
                  </a:cubicBezTo>
                  <a:cubicBezTo>
                    <a:pt x="106" y="684"/>
                    <a:pt x="117" y="673"/>
                    <a:pt x="130" y="673"/>
                  </a:cubicBezTo>
                  <a:lnTo>
                    <a:pt x="346" y="673"/>
                  </a:lnTo>
                  <a:lnTo>
                    <a:pt x="346" y="566"/>
                  </a:lnTo>
                  <a:lnTo>
                    <a:pt x="32" y="566"/>
                  </a:lnTo>
                  <a:cubicBezTo>
                    <a:pt x="14" y="566"/>
                    <a:pt x="3" y="546"/>
                    <a:pt x="12" y="531"/>
                  </a:cubicBezTo>
                  <a:lnTo>
                    <a:pt x="135" y="317"/>
                  </a:lnTo>
                  <a:lnTo>
                    <a:pt x="135" y="317"/>
                  </a:ln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de-DE" sz="1200" b="0" i="0" u="none" strike="noStrike" kern="0" cap="none" spc="0" normalizeH="0" baseline="0" noProof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598" name="Rechteck 597">
            <a:extLst>
              <a:ext uri="{FF2B5EF4-FFF2-40B4-BE49-F238E27FC236}">
                <a16:creationId xmlns:a16="http://schemas.microsoft.com/office/drawing/2014/main" id="{59775527-72B0-C40A-8F3A-90B89CF8E252}"/>
              </a:ext>
            </a:extLst>
          </p:cNvPr>
          <p:cNvSpPr/>
          <p:nvPr/>
        </p:nvSpPr>
        <p:spPr bwMode="auto">
          <a:xfrm>
            <a:off x="9683349" y="4616851"/>
            <a:ext cx="943409" cy="4154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1050" b="0" i="0" u="none" strike="noStrike" kern="1200" cap="none" spc="0" normalizeH="0" baseline="0" noProof="1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Bahnschrift" panose="020B0502040204020203" pitchFamily="34" charset="0"/>
                <a:ea typeface="+mn-ea"/>
                <a:cs typeface="+mn-cs"/>
              </a:rPr>
              <a:t>EMIM</a:t>
            </a: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050" b="0" i="0" u="none" strike="noStrike" kern="1200" cap="none" spc="0" normalizeH="0" baseline="0" noProof="1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Bahnschrift" panose="020B0502040204020203" pitchFamily="34" charset="0"/>
              <a:ea typeface="+mn-ea"/>
              <a:cs typeface="+mn-cs"/>
            </a:endParaRPr>
          </a:p>
        </p:txBody>
      </p:sp>
      <p:sp>
        <p:nvSpPr>
          <p:cNvPr id="599" name="Rechteck 598">
            <a:extLst>
              <a:ext uri="{FF2B5EF4-FFF2-40B4-BE49-F238E27FC236}">
                <a16:creationId xmlns:a16="http://schemas.microsoft.com/office/drawing/2014/main" id="{C76F963B-337A-E5E0-DD1F-3C1347E7D5DE}"/>
              </a:ext>
            </a:extLst>
          </p:cNvPr>
          <p:cNvSpPr/>
          <p:nvPr/>
        </p:nvSpPr>
        <p:spPr bwMode="auto">
          <a:xfrm>
            <a:off x="9732466" y="3454932"/>
            <a:ext cx="1764865" cy="2087356"/>
          </a:xfrm>
          <a:prstGeom prst="rect">
            <a:avLst/>
          </a:prstGeom>
          <a:noFill/>
          <a:ln w="28575" cap="flat" cmpd="sng" algn="ctr">
            <a:solidFill>
              <a:srgbClr val="F59C00"/>
            </a:solidFill>
            <a:prstDash val="sysDot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200" b="0" i="0" u="none" strike="noStrike" kern="0" cap="none" spc="0" normalizeH="0" baseline="0" noProof="1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pSp>
        <p:nvGrpSpPr>
          <p:cNvPr id="600" name="Gruppieren 599" descr="{&quot;Key&quot;:&quot;POWER_USER_SHAPE_ICON&quot;,&quot;Value&quot;:&quot;POWER_USER_SHAPE_ICON_STYLE_2&quot;}">
            <a:extLst>
              <a:ext uri="{FF2B5EF4-FFF2-40B4-BE49-F238E27FC236}">
                <a16:creationId xmlns:a16="http://schemas.microsoft.com/office/drawing/2014/main" id="{2CEA22B1-33EB-02A9-3657-6F6192FAE919}"/>
              </a:ext>
            </a:extLst>
          </p:cNvPr>
          <p:cNvGrpSpPr>
            <a:grpSpLocks noChangeAspect="1"/>
          </p:cNvGrpSpPr>
          <p:nvPr/>
        </p:nvGrpSpPr>
        <p:grpSpPr>
          <a:xfrm>
            <a:off x="10617521" y="4600987"/>
            <a:ext cx="283747" cy="283747"/>
            <a:chOff x="-127000" y="2976049"/>
            <a:chExt cx="762000" cy="762000"/>
          </a:xfrm>
        </p:grpSpPr>
        <p:sp>
          <p:nvSpPr>
            <p:cNvPr id="601" name="POWER_USER_SHAPE_ICON_STYLE_2">
              <a:extLst>
                <a:ext uri="{FF2B5EF4-FFF2-40B4-BE49-F238E27FC236}">
                  <a16:creationId xmlns:a16="http://schemas.microsoft.com/office/drawing/2014/main" id="{3545262C-6B23-9CB3-5EA3-ED682F19DD43}"/>
                </a:ext>
              </a:extLst>
            </p:cNvPr>
            <p:cNvSpPr/>
            <p:nvPr/>
          </p:nvSpPr>
          <p:spPr>
            <a:xfrm>
              <a:off x="-127000" y="2976049"/>
              <a:ext cx="762000" cy="762000"/>
            </a:xfrm>
            <a:prstGeom prst="ellipse">
              <a:avLst/>
            </a:prstGeom>
            <a:solidFill>
              <a:srgbClr val="FFFFFF">
                <a:lumMod val="65000"/>
              </a:srgbClr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txBody>
            <a:bodyPr rtlCol="0" anchor="ctr"/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de-DE" sz="1200" b="0" i="0" u="none" strike="noStrike" kern="0" cap="none" spc="0" normalizeH="0" baseline="0" noProof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602" name="Scooter" descr="{&quot;Key&quot;:&quot;POWER_USER_SHAPE_ICON&quot;,&quot;Value&quot;:&quot;POWER_USER_SHAPE_ICON_STYLE_1&quot;}">
              <a:extLst>
                <a:ext uri="{FF2B5EF4-FFF2-40B4-BE49-F238E27FC236}">
                  <a16:creationId xmlns:a16="http://schemas.microsoft.com/office/drawing/2014/main" id="{439A5226-A791-B622-6D97-570C4AB79035}"/>
                </a:ext>
              </a:extLst>
            </p:cNvPr>
            <p:cNvSpPr>
              <a:spLocks noChangeAspect="1" noEditPoints="1"/>
            </p:cNvSpPr>
            <p:nvPr>
              <p:custDataLst>
                <p:tags r:id="rId21"/>
              </p:custDataLst>
            </p:nvPr>
          </p:nvSpPr>
          <p:spPr bwMode="auto">
            <a:xfrm>
              <a:off x="0" y="3157538"/>
              <a:ext cx="508000" cy="399021"/>
            </a:xfrm>
            <a:custGeom>
              <a:avLst/>
              <a:gdLst>
                <a:gd name="T0" fmla="*/ 602 w 829"/>
                <a:gd name="T1" fmla="*/ 522 h 650"/>
                <a:gd name="T2" fmla="*/ 649 w 829"/>
                <a:gd name="T3" fmla="*/ 462 h 650"/>
                <a:gd name="T4" fmla="*/ 726 w 829"/>
                <a:gd name="T5" fmla="*/ 522 h 650"/>
                <a:gd name="T6" fmla="*/ 397 w 829"/>
                <a:gd name="T7" fmla="*/ 484 h 650"/>
                <a:gd name="T8" fmla="*/ 281 w 829"/>
                <a:gd name="T9" fmla="*/ 367 h 650"/>
                <a:gd name="T10" fmla="*/ 406 w 829"/>
                <a:gd name="T11" fmla="*/ 484 h 650"/>
                <a:gd name="T12" fmla="*/ 200 w 829"/>
                <a:gd name="T13" fmla="*/ 584 h 650"/>
                <a:gd name="T14" fmla="*/ 255 w 829"/>
                <a:gd name="T15" fmla="*/ 550 h 650"/>
                <a:gd name="T16" fmla="*/ 688 w 829"/>
                <a:gd name="T17" fmla="*/ 345 h 650"/>
                <a:gd name="T18" fmla="*/ 417 w 829"/>
                <a:gd name="T19" fmla="*/ 0 h 650"/>
                <a:gd name="T20" fmla="*/ 332 w 829"/>
                <a:gd name="T21" fmla="*/ 34 h 650"/>
                <a:gd name="T22" fmla="*/ 407 w 829"/>
                <a:gd name="T23" fmla="*/ 67 h 650"/>
                <a:gd name="T24" fmla="*/ 528 w 829"/>
                <a:gd name="T25" fmla="*/ 430 h 650"/>
                <a:gd name="T26" fmla="*/ 398 w 829"/>
                <a:gd name="T27" fmla="*/ 274 h 650"/>
                <a:gd name="T28" fmla="*/ 64 w 829"/>
                <a:gd name="T29" fmla="*/ 307 h 650"/>
                <a:gd name="T30" fmla="*/ 139 w 829"/>
                <a:gd name="T31" fmla="*/ 341 h 650"/>
                <a:gd name="T32" fmla="*/ 1 w 829"/>
                <a:gd name="T33" fmla="*/ 511 h 650"/>
                <a:gd name="T34" fmla="*/ 0 w 829"/>
                <a:gd name="T35" fmla="*/ 518 h 650"/>
                <a:gd name="T36" fmla="*/ 1 w 829"/>
                <a:gd name="T37" fmla="*/ 526 h 650"/>
                <a:gd name="T38" fmla="*/ 5 w 829"/>
                <a:gd name="T39" fmla="*/ 533 h 650"/>
                <a:gd name="T40" fmla="*/ 6 w 829"/>
                <a:gd name="T41" fmla="*/ 536 h 650"/>
                <a:gd name="T42" fmla="*/ 9 w 829"/>
                <a:gd name="T43" fmla="*/ 540 h 650"/>
                <a:gd name="T44" fmla="*/ 16 w 829"/>
                <a:gd name="T45" fmla="*/ 545 h 650"/>
                <a:gd name="T46" fmla="*/ 23 w 829"/>
                <a:gd name="T47" fmla="*/ 548 h 650"/>
                <a:gd name="T48" fmla="*/ 33 w 829"/>
                <a:gd name="T49" fmla="*/ 550 h 650"/>
                <a:gd name="T50" fmla="*/ 200 w 829"/>
                <a:gd name="T51" fmla="*/ 650 h 650"/>
                <a:gd name="T52" fmla="*/ 440 w 829"/>
                <a:gd name="T53" fmla="*/ 550 h 650"/>
                <a:gd name="T54" fmla="*/ 440 w 829"/>
                <a:gd name="T55" fmla="*/ 550 h 650"/>
                <a:gd name="T56" fmla="*/ 506 w 829"/>
                <a:gd name="T57" fmla="*/ 550 h 650"/>
                <a:gd name="T58" fmla="*/ 537 w 829"/>
                <a:gd name="T59" fmla="*/ 536 h 650"/>
                <a:gd name="T60" fmla="*/ 793 w 829"/>
                <a:gd name="T61" fmla="*/ 522 h 650"/>
                <a:gd name="T62" fmla="*/ 800 w 829"/>
                <a:gd name="T63" fmla="*/ 516 h 650"/>
                <a:gd name="T64" fmla="*/ 688 w 829"/>
                <a:gd name="T65" fmla="*/ 345 h 6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829" h="650">
                  <a:moveTo>
                    <a:pt x="664" y="584"/>
                  </a:moveTo>
                  <a:cubicBezTo>
                    <a:pt x="630" y="584"/>
                    <a:pt x="602" y="556"/>
                    <a:pt x="602" y="522"/>
                  </a:cubicBezTo>
                  <a:cubicBezTo>
                    <a:pt x="602" y="508"/>
                    <a:pt x="607" y="495"/>
                    <a:pt x="615" y="484"/>
                  </a:cubicBezTo>
                  <a:lnTo>
                    <a:pt x="649" y="462"/>
                  </a:lnTo>
                  <a:cubicBezTo>
                    <a:pt x="654" y="461"/>
                    <a:pt x="659" y="460"/>
                    <a:pt x="664" y="460"/>
                  </a:cubicBezTo>
                  <a:cubicBezTo>
                    <a:pt x="698" y="460"/>
                    <a:pt x="726" y="488"/>
                    <a:pt x="726" y="522"/>
                  </a:cubicBezTo>
                  <a:cubicBezTo>
                    <a:pt x="726" y="556"/>
                    <a:pt x="698" y="584"/>
                    <a:pt x="664" y="584"/>
                  </a:cubicBezTo>
                  <a:close/>
                  <a:moveTo>
                    <a:pt x="397" y="484"/>
                  </a:moveTo>
                  <a:lnTo>
                    <a:pt x="90" y="484"/>
                  </a:lnTo>
                  <a:cubicBezTo>
                    <a:pt x="122" y="436"/>
                    <a:pt x="185" y="367"/>
                    <a:pt x="281" y="367"/>
                  </a:cubicBezTo>
                  <a:cubicBezTo>
                    <a:pt x="320" y="367"/>
                    <a:pt x="350" y="378"/>
                    <a:pt x="371" y="400"/>
                  </a:cubicBezTo>
                  <a:cubicBezTo>
                    <a:pt x="394" y="425"/>
                    <a:pt x="402" y="459"/>
                    <a:pt x="406" y="484"/>
                  </a:cubicBezTo>
                  <a:lnTo>
                    <a:pt x="397" y="484"/>
                  </a:lnTo>
                  <a:close/>
                  <a:moveTo>
                    <a:pt x="200" y="584"/>
                  </a:moveTo>
                  <a:cubicBezTo>
                    <a:pt x="176" y="584"/>
                    <a:pt x="156" y="570"/>
                    <a:pt x="145" y="550"/>
                  </a:cubicBezTo>
                  <a:lnTo>
                    <a:pt x="255" y="550"/>
                  </a:lnTo>
                  <a:cubicBezTo>
                    <a:pt x="244" y="570"/>
                    <a:pt x="224" y="584"/>
                    <a:pt x="200" y="584"/>
                  </a:cubicBezTo>
                  <a:close/>
                  <a:moveTo>
                    <a:pt x="688" y="345"/>
                  </a:moveTo>
                  <a:cubicBezTo>
                    <a:pt x="692" y="276"/>
                    <a:pt x="664" y="143"/>
                    <a:pt x="434" y="5"/>
                  </a:cubicBezTo>
                  <a:cubicBezTo>
                    <a:pt x="429" y="2"/>
                    <a:pt x="423" y="0"/>
                    <a:pt x="417" y="0"/>
                  </a:cubicBezTo>
                  <a:lnTo>
                    <a:pt x="365" y="0"/>
                  </a:lnTo>
                  <a:cubicBezTo>
                    <a:pt x="346" y="0"/>
                    <a:pt x="332" y="15"/>
                    <a:pt x="332" y="34"/>
                  </a:cubicBezTo>
                  <a:cubicBezTo>
                    <a:pt x="332" y="52"/>
                    <a:pt x="346" y="67"/>
                    <a:pt x="365" y="67"/>
                  </a:cubicBezTo>
                  <a:lnTo>
                    <a:pt x="407" y="67"/>
                  </a:lnTo>
                  <a:cubicBezTo>
                    <a:pt x="591" y="179"/>
                    <a:pt x="637" y="293"/>
                    <a:pt x="618" y="362"/>
                  </a:cubicBezTo>
                  <a:cubicBezTo>
                    <a:pt x="606" y="403"/>
                    <a:pt x="571" y="430"/>
                    <a:pt x="528" y="430"/>
                  </a:cubicBezTo>
                  <a:cubicBezTo>
                    <a:pt x="441" y="430"/>
                    <a:pt x="431" y="310"/>
                    <a:pt x="431" y="305"/>
                  </a:cubicBezTo>
                  <a:cubicBezTo>
                    <a:pt x="430" y="288"/>
                    <a:pt x="415" y="274"/>
                    <a:pt x="398" y="274"/>
                  </a:cubicBezTo>
                  <a:lnTo>
                    <a:pt x="98" y="274"/>
                  </a:lnTo>
                  <a:cubicBezTo>
                    <a:pt x="79" y="274"/>
                    <a:pt x="64" y="289"/>
                    <a:pt x="64" y="307"/>
                  </a:cubicBezTo>
                  <a:cubicBezTo>
                    <a:pt x="64" y="326"/>
                    <a:pt x="79" y="341"/>
                    <a:pt x="98" y="341"/>
                  </a:cubicBezTo>
                  <a:lnTo>
                    <a:pt x="139" y="341"/>
                  </a:lnTo>
                  <a:cubicBezTo>
                    <a:pt x="56" y="380"/>
                    <a:pt x="14" y="460"/>
                    <a:pt x="1" y="509"/>
                  </a:cubicBezTo>
                  <a:cubicBezTo>
                    <a:pt x="1" y="509"/>
                    <a:pt x="1" y="510"/>
                    <a:pt x="1" y="511"/>
                  </a:cubicBezTo>
                  <a:cubicBezTo>
                    <a:pt x="1" y="512"/>
                    <a:pt x="0" y="513"/>
                    <a:pt x="0" y="514"/>
                  </a:cubicBezTo>
                  <a:cubicBezTo>
                    <a:pt x="0" y="516"/>
                    <a:pt x="0" y="517"/>
                    <a:pt x="0" y="518"/>
                  </a:cubicBezTo>
                  <a:cubicBezTo>
                    <a:pt x="0" y="520"/>
                    <a:pt x="0" y="521"/>
                    <a:pt x="1" y="522"/>
                  </a:cubicBezTo>
                  <a:cubicBezTo>
                    <a:pt x="1" y="523"/>
                    <a:pt x="1" y="525"/>
                    <a:pt x="1" y="526"/>
                  </a:cubicBezTo>
                  <a:cubicBezTo>
                    <a:pt x="2" y="527"/>
                    <a:pt x="2" y="528"/>
                    <a:pt x="3" y="529"/>
                  </a:cubicBezTo>
                  <a:cubicBezTo>
                    <a:pt x="3" y="531"/>
                    <a:pt x="4" y="532"/>
                    <a:pt x="5" y="533"/>
                  </a:cubicBezTo>
                  <a:cubicBezTo>
                    <a:pt x="5" y="534"/>
                    <a:pt x="5" y="535"/>
                    <a:pt x="6" y="536"/>
                  </a:cubicBezTo>
                  <a:cubicBezTo>
                    <a:pt x="6" y="536"/>
                    <a:pt x="6" y="536"/>
                    <a:pt x="6" y="536"/>
                  </a:cubicBezTo>
                  <a:cubicBezTo>
                    <a:pt x="7" y="537"/>
                    <a:pt x="7" y="537"/>
                    <a:pt x="7" y="537"/>
                  </a:cubicBezTo>
                  <a:cubicBezTo>
                    <a:pt x="8" y="538"/>
                    <a:pt x="9" y="539"/>
                    <a:pt x="9" y="540"/>
                  </a:cubicBezTo>
                  <a:cubicBezTo>
                    <a:pt x="10" y="541"/>
                    <a:pt x="11" y="541"/>
                    <a:pt x="12" y="542"/>
                  </a:cubicBezTo>
                  <a:cubicBezTo>
                    <a:pt x="13" y="543"/>
                    <a:pt x="14" y="544"/>
                    <a:pt x="16" y="545"/>
                  </a:cubicBezTo>
                  <a:cubicBezTo>
                    <a:pt x="16" y="545"/>
                    <a:pt x="17" y="546"/>
                    <a:pt x="18" y="547"/>
                  </a:cubicBezTo>
                  <a:cubicBezTo>
                    <a:pt x="20" y="547"/>
                    <a:pt x="21" y="548"/>
                    <a:pt x="23" y="548"/>
                  </a:cubicBezTo>
                  <a:cubicBezTo>
                    <a:pt x="24" y="549"/>
                    <a:pt x="25" y="549"/>
                    <a:pt x="25" y="549"/>
                  </a:cubicBezTo>
                  <a:cubicBezTo>
                    <a:pt x="28" y="550"/>
                    <a:pt x="31" y="550"/>
                    <a:pt x="33" y="550"/>
                  </a:cubicBezTo>
                  <a:lnTo>
                    <a:pt x="75" y="550"/>
                  </a:lnTo>
                  <a:cubicBezTo>
                    <a:pt x="88" y="608"/>
                    <a:pt x="139" y="650"/>
                    <a:pt x="200" y="650"/>
                  </a:cubicBezTo>
                  <a:cubicBezTo>
                    <a:pt x="261" y="650"/>
                    <a:pt x="312" y="608"/>
                    <a:pt x="325" y="550"/>
                  </a:cubicBezTo>
                  <a:lnTo>
                    <a:pt x="440" y="550"/>
                  </a:lnTo>
                  <a:lnTo>
                    <a:pt x="440" y="550"/>
                  </a:lnTo>
                  <a:lnTo>
                    <a:pt x="440" y="550"/>
                  </a:lnTo>
                  <a:lnTo>
                    <a:pt x="441" y="550"/>
                  </a:lnTo>
                  <a:lnTo>
                    <a:pt x="506" y="550"/>
                  </a:lnTo>
                  <a:cubicBezTo>
                    <a:pt x="512" y="550"/>
                    <a:pt x="519" y="548"/>
                    <a:pt x="524" y="545"/>
                  </a:cubicBezTo>
                  <a:lnTo>
                    <a:pt x="537" y="536"/>
                  </a:lnTo>
                  <a:cubicBezTo>
                    <a:pt x="544" y="601"/>
                    <a:pt x="598" y="650"/>
                    <a:pt x="664" y="650"/>
                  </a:cubicBezTo>
                  <a:cubicBezTo>
                    <a:pt x="735" y="650"/>
                    <a:pt x="793" y="593"/>
                    <a:pt x="793" y="522"/>
                  </a:cubicBezTo>
                  <a:cubicBezTo>
                    <a:pt x="793" y="520"/>
                    <a:pt x="793" y="519"/>
                    <a:pt x="793" y="517"/>
                  </a:cubicBezTo>
                  <a:cubicBezTo>
                    <a:pt x="795" y="517"/>
                    <a:pt x="798" y="517"/>
                    <a:pt x="800" y="516"/>
                  </a:cubicBezTo>
                  <a:cubicBezTo>
                    <a:pt x="818" y="511"/>
                    <a:pt x="829" y="493"/>
                    <a:pt x="824" y="475"/>
                  </a:cubicBezTo>
                  <a:cubicBezTo>
                    <a:pt x="801" y="388"/>
                    <a:pt x="728" y="356"/>
                    <a:pt x="688" y="345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de-DE" sz="1200" b="0" i="0" u="none" strike="noStrike" kern="0" cap="none" spc="0" normalizeH="0" baseline="0" noProof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grpSp>
        <p:nvGrpSpPr>
          <p:cNvPr id="603" name="Gruppieren 602" descr="{&quot;Key&quot;:&quot;POWER_USER_SHAPE_ICON&quot;,&quot;Value&quot;:&quot;POWER_USER_SHAPE_ICON_STYLE_2&quot;}">
            <a:extLst>
              <a:ext uri="{FF2B5EF4-FFF2-40B4-BE49-F238E27FC236}">
                <a16:creationId xmlns:a16="http://schemas.microsoft.com/office/drawing/2014/main" id="{C152C20D-33DD-05CF-B2E6-B369054455D6}"/>
              </a:ext>
            </a:extLst>
          </p:cNvPr>
          <p:cNvGrpSpPr>
            <a:grpSpLocks noChangeAspect="1"/>
          </p:cNvGrpSpPr>
          <p:nvPr/>
        </p:nvGrpSpPr>
        <p:grpSpPr>
          <a:xfrm>
            <a:off x="11091961" y="4599784"/>
            <a:ext cx="306630" cy="306630"/>
            <a:chOff x="-127000" y="2990387"/>
            <a:chExt cx="762000" cy="762000"/>
          </a:xfrm>
        </p:grpSpPr>
        <p:sp>
          <p:nvSpPr>
            <p:cNvPr id="604" name="POWER_USER_SHAPE_ICON_STYLE_2">
              <a:extLst>
                <a:ext uri="{FF2B5EF4-FFF2-40B4-BE49-F238E27FC236}">
                  <a16:creationId xmlns:a16="http://schemas.microsoft.com/office/drawing/2014/main" id="{4A11384B-61F7-CB77-405E-A7FD688ED344}"/>
                </a:ext>
              </a:extLst>
            </p:cNvPr>
            <p:cNvSpPr/>
            <p:nvPr/>
          </p:nvSpPr>
          <p:spPr>
            <a:xfrm>
              <a:off x="-127000" y="2990387"/>
              <a:ext cx="762000" cy="762000"/>
            </a:xfrm>
            <a:prstGeom prst="ellipse">
              <a:avLst/>
            </a:prstGeom>
            <a:solidFill>
              <a:sysClr val="windowText" lastClr="000000">
                <a:lumMod val="50000"/>
                <a:lumOff val="50000"/>
              </a:sysClr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txBody>
            <a:bodyPr rtlCol="0" anchor="ctr"/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de-DE" sz="1200" b="0" i="0" u="none" strike="noStrike" kern="0" cap="none" spc="0" normalizeH="0" baseline="0" noProof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605" name="Car7" descr="{&quot;Key&quot;:&quot;POWER_USER_SHAPE_ICON&quot;,&quot;Value&quot;:&quot;POWER_USER_SHAPE_ICON_STYLE_1&quot;}">
              <a:extLst>
                <a:ext uri="{FF2B5EF4-FFF2-40B4-BE49-F238E27FC236}">
                  <a16:creationId xmlns:a16="http://schemas.microsoft.com/office/drawing/2014/main" id="{496ADCE3-529D-DAA4-7591-E66466A90ADE}"/>
                </a:ext>
              </a:extLst>
            </p:cNvPr>
            <p:cNvSpPr>
              <a:spLocks noChangeAspect="1" noEditPoints="1"/>
            </p:cNvSpPr>
            <p:nvPr>
              <p:custDataLst>
                <p:tags r:id="rId20"/>
              </p:custDataLst>
            </p:nvPr>
          </p:nvSpPr>
          <p:spPr bwMode="auto">
            <a:xfrm>
              <a:off x="0" y="3157538"/>
              <a:ext cx="508000" cy="427698"/>
            </a:xfrm>
            <a:custGeom>
              <a:avLst/>
              <a:gdLst>
                <a:gd name="T0" fmla="*/ 616 w 733"/>
                <a:gd name="T1" fmla="*/ 466 h 616"/>
                <a:gd name="T2" fmla="*/ 566 w 733"/>
                <a:gd name="T3" fmla="*/ 416 h 616"/>
                <a:gd name="T4" fmla="*/ 616 w 733"/>
                <a:gd name="T5" fmla="*/ 366 h 616"/>
                <a:gd name="T6" fmla="*/ 666 w 733"/>
                <a:gd name="T7" fmla="*/ 416 h 616"/>
                <a:gd name="T8" fmla="*/ 616 w 733"/>
                <a:gd name="T9" fmla="*/ 466 h 616"/>
                <a:gd name="T10" fmla="*/ 134 w 733"/>
                <a:gd name="T11" fmla="*/ 266 h 616"/>
                <a:gd name="T12" fmla="*/ 165 w 733"/>
                <a:gd name="T13" fmla="*/ 107 h 616"/>
                <a:gd name="T14" fmla="*/ 200 w 733"/>
                <a:gd name="T15" fmla="*/ 66 h 616"/>
                <a:gd name="T16" fmla="*/ 533 w 733"/>
                <a:gd name="T17" fmla="*/ 66 h 616"/>
                <a:gd name="T18" fmla="*/ 567 w 733"/>
                <a:gd name="T19" fmla="*/ 107 h 616"/>
                <a:gd name="T20" fmla="*/ 599 w 733"/>
                <a:gd name="T21" fmla="*/ 266 h 616"/>
                <a:gd name="T22" fmla="*/ 134 w 733"/>
                <a:gd name="T23" fmla="*/ 266 h 616"/>
                <a:gd name="T24" fmla="*/ 116 w 733"/>
                <a:gd name="T25" fmla="*/ 466 h 616"/>
                <a:gd name="T26" fmla="*/ 66 w 733"/>
                <a:gd name="T27" fmla="*/ 416 h 616"/>
                <a:gd name="T28" fmla="*/ 116 w 733"/>
                <a:gd name="T29" fmla="*/ 366 h 616"/>
                <a:gd name="T30" fmla="*/ 166 w 733"/>
                <a:gd name="T31" fmla="*/ 416 h 616"/>
                <a:gd name="T32" fmla="*/ 116 w 733"/>
                <a:gd name="T33" fmla="*/ 466 h 616"/>
                <a:gd name="T34" fmla="*/ 666 w 733"/>
                <a:gd name="T35" fmla="*/ 272 h 616"/>
                <a:gd name="T36" fmla="*/ 666 w 733"/>
                <a:gd name="T37" fmla="*/ 266 h 616"/>
                <a:gd name="T38" fmla="*/ 632 w 733"/>
                <a:gd name="T39" fmla="*/ 93 h 616"/>
                <a:gd name="T40" fmla="*/ 632 w 733"/>
                <a:gd name="T41" fmla="*/ 91 h 616"/>
                <a:gd name="T42" fmla="*/ 533 w 733"/>
                <a:gd name="T43" fmla="*/ 0 h 616"/>
                <a:gd name="T44" fmla="*/ 200 w 733"/>
                <a:gd name="T45" fmla="*/ 0 h 616"/>
                <a:gd name="T46" fmla="*/ 101 w 733"/>
                <a:gd name="T47" fmla="*/ 91 h 616"/>
                <a:gd name="T48" fmla="*/ 67 w 733"/>
                <a:gd name="T49" fmla="*/ 260 h 616"/>
                <a:gd name="T50" fmla="*/ 66 w 733"/>
                <a:gd name="T51" fmla="*/ 266 h 616"/>
                <a:gd name="T52" fmla="*/ 67 w 733"/>
                <a:gd name="T53" fmla="*/ 272 h 616"/>
                <a:gd name="T54" fmla="*/ 0 w 733"/>
                <a:gd name="T55" fmla="*/ 366 h 616"/>
                <a:gd name="T56" fmla="*/ 0 w 733"/>
                <a:gd name="T57" fmla="*/ 450 h 616"/>
                <a:gd name="T58" fmla="*/ 66 w 733"/>
                <a:gd name="T59" fmla="*/ 544 h 616"/>
                <a:gd name="T60" fmla="*/ 66 w 733"/>
                <a:gd name="T61" fmla="*/ 583 h 616"/>
                <a:gd name="T62" fmla="*/ 100 w 733"/>
                <a:gd name="T63" fmla="*/ 616 h 616"/>
                <a:gd name="T64" fmla="*/ 133 w 733"/>
                <a:gd name="T65" fmla="*/ 616 h 616"/>
                <a:gd name="T66" fmla="*/ 166 w 733"/>
                <a:gd name="T67" fmla="*/ 583 h 616"/>
                <a:gd name="T68" fmla="*/ 166 w 733"/>
                <a:gd name="T69" fmla="*/ 550 h 616"/>
                <a:gd name="T70" fmla="*/ 566 w 733"/>
                <a:gd name="T71" fmla="*/ 550 h 616"/>
                <a:gd name="T72" fmla="*/ 566 w 733"/>
                <a:gd name="T73" fmla="*/ 583 h 616"/>
                <a:gd name="T74" fmla="*/ 600 w 733"/>
                <a:gd name="T75" fmla="*/ 616 h 616"/>
                <a:gd name="T76" fmla="*/ 633 w 733"/>
                <a:gd name="T77" fmla="*/ 616 h 616"/>
                <a:gd name="T78" fmla="*/ 666 w 733"/>
                <a:gd name="T79" fmla="*/ 583 h 616"/>
                <a:gd name="T80" fmla="*/ 666 w 733"/>
                <a:gd name="T81" fmla="*/ 544 h 616"/>
                <a:gd name="T82" fmla="*/ 733 w 733"/>
                <a:gd name="T83" fmla="*/ 450 h 616"/>
                <a:gd name="T84" fmla="*/ 733 w 733"/>
                <a:gd name="T85" fmla="*/ 366 h 616"/>
                <a:gd name="T86" fmla="*/ 666 w 733"/>
                <a:gd name="T87" fmla="*/ 272 h 6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733" h="616">
                  <a:moveTo>
                    <a:pt x="616" y="466"/>
                  </a:moveTo>
                  <a:cubicBezTo>
                    <a:pt x="589" y="466"/>
                    <a:pt x="566" y="444"/>
                    <a:pt x="566" y="416"/>
                  </a:cubicBezTo>
                  <a:cubicBezTo>
                    <a:pt x="566" y="389"/>
                    <a:pt x="589" y="366"/>
                    <a:pt x="616" y="366"/>
                  </a:cubicBezTo>
                  <a:cubicBezTo>
                    <a:pt x="644" y="366"/>
                    <a:pt x="666" y="389"/>
                    <a:pt x="666" y="416"/>
                  </a:cubicBezTo>
                  <a:cubicBezTo>
                    <a:pt x="666" y="444"/>
                    <a:pt x="644" y="466"/>
                    <a:pt x="616" y="466"/>
                  </a:cubicBezTo>
                  <a:close/>
                  <a:moveTo>
                    <a:pt x="134" y="266"/>
                  </a:moveTo>
                  <a:lnTo>
                    <a:pt x="165" y="107"/>
                  </a:lnTo>
                  <a:cubicBezTo>
                    <a:pt x="169" y="94"/>
                    <a:pt x="179" y="66"/>
                    <a:pt x="200" y="66"/>
                  </a:cubicBezTo>
                  <a:lnTo>
                    <a:pt x="533" y="66"/>
                  </a:lnTo>
                  <a:cubicBezTo>
                    <a:pt x="553" y="66"/>
                    <a:pt x="564" y="94"/>
                    <a:pt x="567" y="107"/>
                  </a:cubicBezTo>
                  <a:lnTo>
                    <a:pt x="599" y="266"/>
                  </a:lnTo>
                  <a:lnTo>
                    <a:pt x="134" y="266"/>
                  </a:lnTo>
                  <a:close/>
                  <a:moveTo>
                    <a:pt x="116" y="466"/>
                  </a:moveTo>
                  <a:cubicBezTo>
                    <a:pt x="89" y="466"/>
                    <a:pt x="66" y="444"/>
                    <a:pt x="66" y="416"/>
                  </a:cubicBezTo>
                  <a:cubicBezTo>
                    <a:pt x="66" y="389"/>
                    <a:pt x="89" y="366"/>
                    <a:pt x="116" y="366"/>
                  </a:cubicBezTo>
                  <a:cubicBezTo>
                    <a:pt x="144" y="366"/>
                    <a:pt x="166" y="389"/>
                    <a:pt x="166" y="416"/>
                  </a:cubicBezTo>
                  <a:cubicBezTo>
                    <a:pt x="166" y="444"/>
                    <a:pt x="144" y="466"/>
                    <a:pt x="116" y="466"/>
                  </a:cubicBezTo>
                  <a:close/>
                  <a:moveTo>
                    <a:pt x="666" y="272"/>
                  </a:moveTo>
                  <a:cubicBezTo>
                    <a:pt x="666" y="270"/>
                    <a:pt x="666" y="268"/>
                    <a:pt x="666" y="266"/>
                  </a:cubicBezTo>
                  <a:lnTo>
                    <a:pt x="632" y="93"/>
                  </a:lnTo>
                  <a:lnTo>
                    <a:pt x="632" y="91"/>
                  </a:lnTo>
                  <a:cubicBezTo>
                    <a:pt x="616" y="34"/>
                    <a:pt x="579" y="0"/>
                    <a:pt x="533" y="0"/>
                  </a:cubicBezTo>
                  <a:lnTo>
                    <a:pt x="200" y="0"/>
                  </a:lnTo>
                  <a:cubicBezTo>
                    <a:pt x="153" y="0"/>
                    <a:pt x="116" y="34"/>
                    <a:pt x="101" y="91"/>
                  </a:cubicBezTo>
                  <a:lnTo>
                    <a:pt x="67" y="260"/>
                  </a:lnTo>
                  <a:lnTo>
                    <a:pt x="66" y="266"/>
                  </a:lnTo>
                  <a:cubicBezTo>
                    <a:pt x="66" y="268"/>
                    <a:pt x="67" y="270"/>
                    <a:pt x="67" y="272"/>
                  </a:cubicBezTo>
                  <a:cubicBezTo>
                    <a:pt x="28" y="286"/>
                    <a:pt x="0" y="323"/>
                    <a:pt x="0" y="366"/>
                  </a:cubicBezTo>
                  <a:lnTo>
                    <a:pt x="0" y="450"/>
                  </a:lnTo>
                  <a:cubicBezTo>
                    <a:pt x="0" y="493"/>
                    <a:pt x="28" y="530"/>
                    <a:pt x="66" y="544"/>
                  </a:cubicBezTo>
                  <a:lnTo>
                    <a:pt x="66" y="583"/>
                  </a:lnTo>
                  <a:cubicBezTo>
                    <a:pt x="66" y="601"/>
                    <a:pt x="81" y="616"/>
                    <a:pt x="100" y="616"/>
                  </a:cubicBezTo>
                  <a:lnTo>
                    <a:pt x="133" y="616"/>
                  </a:lnTo>
                  <a:cubicBezTo>
                    <a:pt x="151" y="616"/>
                    <a:pt x="166" y="601"/>
                    <a:pt x="166" y="583"/>
                  </a:cubicBezTo>
                  <a:lnTo>
                    <a:pt x="166" y="550"/>
                  </a:lnTo>
                  <a:lnTo>
                    <a:pt x="566" y="550"/>
                  </a:lnTo>
                  <a:lnTo>
                    <a:pt x="566" y="583"/>
                  </a:lnTo>
                  <a:cubicBezTo>
                    <a:pt x="566" y="601"/>
                    <a:pt x="581" y="616"/>
                    <a:pt x="600" y="616"/>
                  </a:cubicBezTo>
                  <a:lnTo>
                    <a:pt x="633" y="616"/>
                  </a:lnTo>
                  <a:cubicBezTo>
                    <a:pt x="651" y="616"/>
                    <a:pt x="666" y="601"/>
                    <a:pt x="666" y="583"/>
                  </a:cubicBezTo>
                  <a:lnTo>
                    <a:pt x="666" y="544"/>
                  </a:lnTo>
                  <a:cubicBezTo>
                    <a:pt x="705" y="530"/>
                    <a:pt x="733" y="493"/>
                    <a:pt x="733" y="450"/>
                  </a:cubicBezTo>
                  <a:lnTo>
                    <a:pt x="733" y="366"/>
                  </a:lnTo>
                  <a:cubicBezTo>
                    <a:pt x="733" y="323"/>
                    <a:pt x="705" y="286"/>
                    <a:pt x="666" y="272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de-DE" sz="1200" b="0" i="0" u="none" strike="noStrike" kern="0" cap="none" spc="0" normalizeH="0" baseline="0" noProof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grpSp>
        <p:nvGrpSpPr>
          <p:cNvPr id="606" name="Gruppieren 605" descr="{&quot;Key&quot;:&quot;POWER_USER_SHAPE_ICON&quot;,&quot;Value&quot;:&quot;POWER_USER_SHAPE_ICON_STYLE_2&quot;}">
            <a:extLst>
              <a:ext uri="{FF2B5EF4-FFF2-40B4-BE49-F238E27FC236}">
                <a16:creationId xmlns:a16="http://schemas.microsoft.com/office/drawing/2014/main" id="{2026342F-9C05-1BAA-3D1F-7B69BF603961}"/>
              </a:ext>
            </a:extLst>
          </p:cNvPr>
          <p:cNvGrpSpPr>
            <a:grpSpLocks noChangeAspect="1"/>
          </p:cNvGrpSpPr>
          <p:nvPr/>
        </p:nvGrpSpPr>
        <p:grpSpPr>
          <a:xfrm>
            <a:off x="10819622" y="4459214"/>
            <a:ext cx="349283" cy="349282"/>
            <a:chOff x="288345" y="3340831"/>
            <a:chExt cx="762000" cy="762000"/>
          </a:xfrm>
        </p:grpSpPr>
        <p:sp>
          <p:nvSpPr>
            <p:cNvPr id="607" name="POWER_USER_SHAPE_ICON_STYLE_2">
              <a:extLst>
                <a:ext uri="{FF2B5EF4-FFF2-40B4-BE49-F238E27FC236}">
                  <a16:creationId xmlns:a16="http://schemas.microsoft.com/office/drawing/2014/main" id="{A28592E6-FED5-F58A-ED07-ABA481BB1AB1}"/>
                </a:ext>
              </a:extLst>
            </p:cNvPr>
            <p:cNvSpPr/>
            <p:nvPr/>
          </p:nvSpPr>
          <p:spPr>
            <a:xfrm>
              <a:off x="288345" y="3340831"/>
              <a:ext cx="762000" cy="762000"/>
            </a:xfrm>
            <a:prstGeom prst="ellipse">
              <a:avLst/>
            </a:prstGeom>
            <a:solidFill>
              <a:srgbClr val="0070C0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txBody>
            <a:bodyPr rtlCol="0" anchor="ctr"/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de-DE" sz="1200" b="0" i="0" u="none" strike="noStrike" kern="0" cap="none" spc="0" normalizeH="0" baseline="0" noProof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608" name="Electric_Car" descr="{&quot;Key&quot;:&quot;POWER_USER_SHAPE_ICON&quot;,&quot;Value&quot;:&quot;POWER_USER_SHAPE_ICON_STYLE_1&quot;}">
              <a:extLst>
                <a:ext uri="{FF2B5EF4-FFF2-40B4-BE49-F238E27FC236}">
                  <a16:creationId xmlns:a16="http://schemas.microsoft.com/office/drawing/2014/main" id="{850DFBAC-31A7-ABEC-B588-87C166A140B6}"/>
                </a:ext>
              </a:extLst>
            </p:cNvPr>
            <p:cNvSpPr>
              <a:spLocks noChangeAspect="1" noEditPoints="1"/>
            </p:cNvSpPr>
            <p:nvPr>
              <p:custDataLst>
                <p:tags r:id="rId19"/>
              </p:custDataLst>
            </p:nvPr>
          </p:nvSpPr>
          <p:spPr bwMode="auto">
            <a:xfrm>
              <a:off x="415345" y="3593005"/>
              <a:ext cx="508000" cy="257651"/>
            </a:xfrm>
            <a:custGeom>
              <a:avLst/>
              <a:gdLst>
                <a:gd name="T0" fmla="*/ 1124 w 1250"/>
                <a:gd name="T1" fmla="*/ 55 h 632"/>
                <a:gd name="T2" fmla="*/ 957 w 1250"/>
                <a:gd name="T3" fmla="*/ 0 h 632"/>
                <a:gd name="T4" fmla="*/ 726 w 1250"/>
                <a:gd name="T5" fmla="*/ 0 h 632"/>
                <a:gd name="T6" fmla="*/ 584 w 1250"/>
                <a:gd name="T7" fmla="*/ 210 h 632"/>
                <a:gd name="T8" fmla="*/ 494 w 1250"/>
                <a:gd name="T9" fmla="*/ 280 h 632"/>
                <a:gd name="T10" fmla="*/ 477 w 1250"/>
                <a:gd name="T11" fmla="*/ 150 h 632"/>
                <a:gd name="T12" fmla="*/ 408 w 1250"/>
                <a:gd name="T13" fmla="*/ 81 h 632"/>
                <a:gd name="T14" fmla="*/ 339 w 1250"/>
                <a:gd name="T15" fmla="*/ 306 h 632"/>
                <a:gd name="T16" fmla="*/ 339 w 1250"/>
                <a:gd name="T17" fmla="*/ 463 h 632"/>
                <a:gd name="T18" fmla="*/ 308 w 1250"/>
                <a:gd name="T19" fmla="*/ 475 h 632"/>
                <a:gd name="T20" fmla="*/ 304 w 1250"/>
                <a:gd name="T21" fmla="*/ 349 h 632"/>
                <a:gd name="T22" fmla="*/ 204 w 1250"/>
                <a:gd name="T23" fmla="*/ 280 h 632"/>
                <a:gd name="T24" fmla="*/ 80 w 1250"/>
                <a:gd name="T25" fmla="*/ 211 h 632"/>
                <a:gd name="T26" fmla="*/ 17 w 1250"/>
                <a:gd name="T27" fmla="*/ 246 h 632"/>
                <a:gd name="T28" fmla="*/ 0 w 1250"/>
                <a:gd name="T29" fmla="*/ 263 h 632"/>
                <a:gd name="T30" fmla="*/ 17 w 1250"/>
                <a:gd name="T31" fmla="*/ 280 h 632"/>
                <a:gd name="T32" fmla="*/ 80 w 1250"/>
                <a:gd name="T33" fmla="*/ 332 h 632"/>
                <a:gd name="T34" fmla="*/ 17 w 1250"/>
                <a:gd name="T35" fmla="*/ 332 h 632"/>
                <a:gd name="T36" fmla="*/ 17 w 1250"/>
                <a:gd name="T37" fmla="*/ 367 h 632"/>
                <a:gd name="T38" fmla="*/ 80 w 1250"/>
                <a:gd name="T39" fmla="*/ 367 h 632"/>
                <a:gd name="T40" fmla="*/ 112 w 1250"/>
                <a:gd name="T41" fmla="*/ 402 h 632"/>
                <a:gd name="T42" fmla="*/ 235 w 1250"/>
                <a:gd name="T43" fmla="*/ 332 h 632"/>
                <a:gd name="T44" fmla="*/ 252 w 1250"/>
                <a:gd name="T45" fmla="*/ 462 h 632"/>
                <a:gd name="T46" fmla="*/ 321 w 1250"/>
                <a:gd name="T47" fmla="*/ 531 h 632"/>
                <a:gd name="T48" fmla="*/ 391 w 1250"/>
                <a:gd name="T49" fmla="*/ 306 h 632"/>
                <a:gd name="T50" fmla="*/ 391 w 1250"/>
                <a:gd name="T51" fmla="*/ 149 h 632"/>
                <a:gd name="T52" fmla="*/ 421 w 1250"/>
                <a:gd name="T53" fmla="*/ 137 h 632"/>
                <a:gd name="T54" fmla="*/ 425 w 1250"/>
                <a:gd name="T55" fmla="*/ 263 h 632"/>
                <a:gd name="T56" fmla="*/ 518 w 1250"/>
                <a:gd name="T57" fmla="*/ 332 h 632"/>
                <a:gd name="T58" fmla="*/ 577 w 1250"/>
                <a:gd name="T59" fmla="*/ 491 h 632"/>
                <a:gd name="T60" fmla="*/ 686 w 1250"/>
                <a:gd name="T61" fmla="*/ 554 h 632"/>
                <a:gd name="T62" fmla="*/ 884 w 1250"/>
                <a:gd name="T63" fmla="*/ 491 h 632"/>
                <a:gd name="T64" fmla="*/ 1081 w 1250"/>
                <a:gd name="T65" fmla="*/ 554 h 632"/>
                <a:gd name="T66" fmla="*/ 1191 w 1250"/>
                <a:gd name="T67" fmla="*/ 491 h 632"/>
                <a:gd name="T68" fmla="*/ 1250 w 1250"/>
                <a:gd name="T69" fmla="*/ 294 h 632"/>
                <a:gd name="T70" fmla="*/ 633 w 1250"/>
                <a:gd name="T71" fmla="*/ 372 h 632"/>
                <a:gd name="T72" fmla="*/ 633 w 1250"/>
                <a:gd name="T73" fmla="*/ 268 h 632"/>
                <a:gd name="T74" fmla="*/ 633 w 1250"/>
                <a:gd name="T75" fmla="*/ 372 h 632"/>
                <a:gd name="T76" fmla="*/ 884 w 1250"/>
                <a:gd name="T77" fmla="*/ 209 h 632"/>
                <a:gd name="T78" fmla="*/ 692 w 1250"/>
                <a:gd name="T79" fmla="*/ 87 h 632"/>
                <a:gd name="T80" fmla="*/ 884 w 1250"/>
                <a:gd name="T81" fmla="*/ 57 h 632"/>
                <a:gd name="T82" fmla="*/ 1043 w 1250"/>
                <a:gd name="T83" fmla="*/ 57 h 632"/>
                <a:gd name="T84" fmla="*/ 1122 w 1250"/>
                <a:gd name="T85" fmla="*/ 209 h 632"/>
                <a:gd name="T86" fmla="*/ 1135 w 1250"/>
                <a:gd name="T87" fmla="*/ 372 h 632"/>
                <a:gd name="T88" fmla="*/ 1135 w 1250"/>
                <a:gd name="T89" fmla="*/ 268 h 632"/>
                <a:gd name="T90" fmla="*/ 1135 w 1250"/>
                <a:gd name="T91" fmla="*/ 372 h 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1250" h="632">
                  <a:moveTo>
                    <a:pt x="1184" y="210"/>
                  </a:moveTo>
                  <a:lnTo>
                    <a:pt x="1124" y="55"/>
                  </a:lnTo>
                  <a:cubicBezTo>
                    <a:pt x="1112" y="25"/>
                    <a:pt x="1088" y="0"/>
                    <a:pt x="1042" y="0"/>
                  </a:cubicBezTo>
                  <a:lnTo>
                    <a:pt x="957" y="0"/>
                  </a:lnTo>
                  <a:lnTo>
                    <a:pt x="812" y="0"/>
                  </a:lnTo>
                  <a:lnTo>
                    <a:pt x="726" y="0"/>
                  </a:lnTo>
                  <a:cubicBezTo>
                    <a:pt x="680" y="0"/>
                    <a:pt x="656" y="25"/>
                    <a:pt x="644" y="55"/>
                  </a:cubicBezTo>
                  <a:lnTo>
                    <a:pt x="584" y="210"/>
                  </a:lnTo>
                  <a:cubicBezTo>
                    <a:pt x="563" y="213"/>
                    <a:pt x="526" y="236"/>
                    <a:pt x="520" y="280"/>
                  </a:cubicBezTo>
                  <a:lnTo>
                    <a:pt x="494" y="280"/>
                  </a:lnTo>
                  <a:cubicBezTo>
                    <a:pt x="484" y="280"/>
                    <a:pt x="477" y="267"/>
                    <a:pt x="477" y="263"/>
                  </a:cubicBezTo>
                  <a:lnTo>
                    <a:pt x="477" y="150"/>
                  </a:lnTo>
                  <a:cubicBezTo>
                    <a:pt x="477" y="131"/>
                    <a:pt x="471" y="113"/>
                    <a:pt x="458" y="101"/>
                  </a:cubicBezTo>
                  <a:cubicBezTo>
                    <a:pt x="446" y="88"/>
                    <a:pt x="428" y="81"/>
                    <a:pt x="408" y="81"/>
                  </a:cubicBezTo>
                  <a:cubicBezTo>
                    <a:pt x="368" y="81"/>
                    <a:pt x="339" y="110"/>
                    <a:pt x="339" y="149"/>
                  </a:cubicBezTo>
                  <a:lnTo>
                    <a:pt x="339" y="306"/>
                  </a:lnTo>
                  <a:lnTo>
                    <a:pt x="339" y="306"/>
                  </a:lnTo>
                  <a:lnTo>
                    <a:pt x="339" y="463"/>
                  </a:lnTo>
                  <a:cubicBezTo>
                    <a:pt x="339" y="474"/>
                    <a:pt x="333" y="479"/>
                    <a:pt x="321" y="479"/>
                  </a:cubicBezTo>
                  <a:cubicBezTo>
                    <a:pt x="317" y="479"/>
                    <a:pt x="312" y="479"/>
                    <a:pt x="308" y="475"/>
                  </a:cubicBezTo>
                  <a:cubicBezTo>
                    <a:pt x="305" y="472"/>
                    <a:pt x="304" y="467"/>
                    <a:pt x="304" y="463"/>
                  </a:cubicBezTo>
                  <a:lnTo>
                    <a:pt x="304" y="349"/>
                  </a:lnTo>
                  <a:cubicBezTo>
                    <a:pt x="304" y="317"/>
                    <a:pt x="275" y="280"/>
                    <a:pt x="235" y="280"/>
                  </a:cubicBezTo>
                  <a:lnTo>
                    <a:pt x="204" y="280"/>
                  </a:lnTo>
                  <a:cubicBezTo>
                    <a:pt x="193" y="240"/>
                    <a:pt x="156" y="211"/>
                    <a:pt x="112" y="211"/>
                  </a:cubicBezTo>
                  <a:lnTo>
                    <a:pt x="80" y="211"/>
                  </a:lnTo>
                  <a:lnTo>
                    <a:pt x="80" y="246"/>
                  </a:lnTo>
                  <a:lnTo>
                    <a:pt x="17" y="246"/>
                  </a:lnTo>
                  <a:lnTo>
                    <a:pt x="17" y="246"/>
                  </a:lnTo>
                  <a:cubicBezTo>
                    <a:pt x="8" y="246"/>
                    <a:pt x="0" y="253"/>
                    <a:pt x="0" y="263"/>
                  </a:cubicBezTo>
                  <a:cubicBezTo>
                    <a:pt x="0" y="272"/>
                    <a:pt x="8" y="280"/>
                    <a:pt x="17" y="280"/>
                  </a:cubicBezTo>
                  <a:lnTo>
                    <a:pt x="17" y="280"/>
                  </a:lnTo>
                  <a:lnTo>
                    <a:pt x="80" y="280"/>
                  </a:lnTo>
                  <a:lnTo>
                    <a:pt x="80" y="332"/>
                  </a:lnTo>
                  <a:lnTo>
                    <a:pt x="17" y="332"/>
                  </a:lnTo>
                  <a:lnTo>
                    <a:pt x="17" y="332"/>
                  </a:lnTo>
                  <a:cubicBezTo>
                    <a:pt x="8" y="332"/>
                    <a:pt x="0" y="340"/>
                    <a:pt x="0" y="350"/>
                  </a:cubicBezTo>
                  <a:cubicBezTo>
                    <a:pt x="0" y="359"/>
                    <a:pt x="8" y="367"/>
                    <a:pt x="17" y="367"/>
                  </a:cubicBezTo>
                  <a:lnTo>
                    <a:pt x="17" y="367"/>
                  </a:lnTo>
                  <a:lnTo>
                    <a:pt x="80" y="367"/>
                  </a:lnTo>
                  <a:lnTo>
                    <a:pt x="80" y="402"/>
                  </a:lnTo>
                  <a:lnTo>
                    <a:pt x="112" y="402"/>
                  </a:lnTo>
                  <a:cubicBezTo>
                    <a:pt x="156" y="402"/>
                    <a:pt x="193" y="372"/>
                    <a:pt x="204" y="332"/>
                  </a:cubicBezTo>
                  <a:lnTo>
                    <a:pt x="235" y="332"/>
                  </a:lnTo>
                  <a:cubicBezTo>
                    <a:pt x="245" y="332"/>
                    <a:pt x="252" y="345"/>
                    <a:pt x="252" y="349"/>
                  </a:cubicBezTo>
                  <a:lnTo>
                    <a:pt x="252" y="462"/>
                  </a:lnTo>
                  <a:cubicBezTo>
                    <a:pt x="252" y="481"/>
                    <a:pt x="258" y="499"/>
                    <a:pt x="271" y="511"/>
                  </a:cubicBezTo>
                  <a:cubicBezTo>
                    <a:pt x="283" y="524"/>
                    <a:pt x="301" y="531"/>
                    <a:pt x="321" y="531"/>
                  </a:cubicBezTo>
                  <a:cubicBezTo>
                    <a:pt x="361" y="531"/>
                    <a:pt x="391" y="502"/>
                    <a:pt x="391" y="463"/>
                  </a:cubicBezTo>
                  <a:lnTo>
                    <a:pt x="391" y="306"/>
                  </a:lnTo>
                  <a:lnTo>
                    <a:pt x="391" y="306"/>
                  </a:lnTo>
                  <a:lnTo>
                    <a:pt x="391" y="149"/>
                  </a:lnTo>
                  <a:cubicBezTo>
                    <a:pt x="391" y="138"/>
                    <a:pt x="396" y="133"/>
                    <a:pt x="408" y="133"/>
                  </a:cubicBezTo>
                  <a:cubicBezTo>
                    <a:pt x="412" y="133"/>
                    <a:pt x="418" y="133"/>
                    <a:pt x="421" y="137"/>
                  </a:cubicBezTo>
                  <a:cubicBezTo>
                    <a:pt x="424" y="140"/>
                    <a:pt x="425" y="145"/>
                    <a:pt x="425" y="149"/>
                  </a:cubicBezTo>
                  <a:lnTo>
                    <a:pt x="425" y="263"/>
                  </a:lnTo>
                  <a:cubicBezTo>
                    <a:pt x="425" y="295"/>
                    <a:pt x="454" y="332"/>
                    <a:pt x="494" y="332"/>
                  </a:cubicBezTo>
                  <a:lnTo>
                    <a:pt x="518" y="332"/>
                  </a:lnTo>
                  <a:lnTo>
                    <a:pt x="518" y="491"/>
                  </a:lnTo>
                  <a:lnTo>
                    <a:pt x="577" y="491"/>
                  </a:lnTo>
                  <a:lnTo>
                    <a:pt x="577" y="554"/>
                  </a:lnTo>
                  <a:cubicBezTo>
                    <a:pt x="577" y="632"/>
                    <a:pt x="687" y="631"/>
                    <a:pt x="686" y="554"/>
                  </a:cubicBezTo>
                  <a:lnTo>
                    <a:pt x="686" y="491"/>
                  </a:lnTo>
                  <a:lnTo>
                    <a:pt x="884" y="491"/>
                  </a:lnTo>
                  <a:lnTo>
                    <a:pt x="1081" y="491"/>
                  </a:lnTo>
                  <a:lnTo>
                    <a:pt x="1081" y="554"/>
                  </a:lnTo>
                  <a:cubicBezTo>
                    <a:pt x="1082" y="631"/>
                    <a:pt x="1191" y="632"/>
                    <a:pt x="1191" y="554"/>
                  </a:cubicBezTo>
                  <a:lnTo>
                    <a:pt x="1191" y="491"/>
                  </a:lnTo>
                  <a:lnTo>
                    <a:pt x="1250" y="491"/>
                  </a:lnTo>
                  <a:lnTo>
                    <a:pt x="1250" y="294"/>
                  </a:lnTo>
                  <a:cubicBezTo>
                    <a:pt x="1250" y="241"/>
                    <a:pt x="1208" y="213"/>
                    <a:pt x="1184" y="210"/>
                  </a:cubicBezTo>
                  <a:close/>
                  <a:moveTo>
                    <a:pt x="633" y="372"/>
                  </a:moveTo>
                  <a:cubicBezTo>
                    <a:pt x="605" y="372"/>
                    <a:pt x="583" y="349"/>
                    <a:pt x="583" y="320"/>
                  </a:cubicBezTo>
                  <a:cubicBezTo>
                    <a:pt x="583" y="291"/>
                    <a:pt x="605" y="268"/>
                    <a:pt x="633" y="268"/>
                  </a:cubicBezTo>
                  <a:cubicBezTo>
                    <a:pt x="661" y="268"/>
                    <a:pt x="684" y="291"/>
                    <a:pt x="684" y="320"/>
                  </a:cubicBezTo>
                  <a:cubicBezTo>
                    <a:pt x="684" y="349"/>
                    <a:pt x="661" y="372"/>
                    <a:pt x="633" y="372"/>
                  </a:cubicBezTo>
                  <a:close/>
                  <a:moveTo>
                    <a:pt x="884" y="209"/>
                  </a:moveTo>
                  <a:lnTo>
                    <a:pt x="884" y="209"/>
                  </a:lnTo>
                  <a:lnTo>
                    <a:pt x="647" y="209"/>
                  </a:lnTo>
                  <a:lnTo>
                    <a:pt x="692" y="87"/>
                  </a:lnTo>
                  <a:cubicBezTo>
                    <a:pt x="697" y="69"/>
                    <a:pt x="706" y="57"/>
                    <a:pt x="726" y="57"/>
                  </a:cubicBezTo>
                  <a:lnTo>
                    <a:pt x="884" y="57"/>
                  </a:lnTo>
                  <a:lnTo>
                    <a:pt x="884" y="57"/>
                  </a:lnTo>
                  <a:lnTo>
                    <a:pt x="1043" y="57"/>
                  </a:lnTo>
                  <a:cubicBezTo>
                    <a:pt x="1062" y="57"/>
                    <a:pt x="1071" y="69"/>
                    <a:pt x="1076" y="87"/>
                  </a:cubicBezTo>
                  <a:lnTo>
                    <a:pt x="1122" y="209"/>
                  </a:lnTo>
                  <a:lnTo>
                    <a:pt x="884" y="209"/>
                  </a:lnTo>
                  <a:close/>
                  <a:moveTo>
                    <a:pt x="1135" y="372"/>
                  </a:moveTo>
                  <a:cubicBezTo>
                    <a:pt x="1107" y="372"/>
                    <a:pt x="1084" y="349"/>
                    <a:pt x="1084" y="320"/>
                  </a:cubicBezTo>
                  <a:cubicBezTo>
                    <a:pt x="1084" y="291"/>
                    <a:pt x="1107" y="268"/>
                    <a:pt x="1135" y="268"/>
                  </a:cubicBezTo>
                  <a:cubicBezTo>
                    <a:pt x="1163" y="268"/>
                    <a:pt x="1185" y="291"/>
                    <a:pt x="1186" y="320"/>
                  </a:cubicBezTo>
                  <a:cubicBezTo>
                    <a:pt x="1185" y="349"/>
                    <a:pt x="1163" y="372"/>
                    <a:pt x="1135" y="372"/>
                  </a:cubicBezTo>
                  <a:close/>
                </a:path>
              </a:pathLst>
            </a:custGeom>
            <a:solidFill>
              <a:srgbClr val="FFFFFF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de-DE" sz="1200" b="0" i="0" u="none" strike="noStrike" kern="0" cap="none" spc="0" normalizeH="0" baseline="0" noProof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grpSp>
        <p:nvGrpSpPr>
          <p:cNvPr id="609" name="Gruppieren 608">
            <a:extLst>
              <a:ext uri="{FF2B5EF4-FFF2-40B4-BE49-F238E27FC236}">
                <a16:creationId xmlns:a16="http://schemas.microsoft.com/office/drawing/2014/main" id="{AABE817A-5D32-CAF9-A0B4-FC5410F52AC0}"/>
              </a:ext>
            </a:extLst>
          </p:cNvPr>
          <p:cNvGrpSpPr/>
          <p:nvPr/>
        </p:nvGrpSpPr>
        <p:grpSpPr>
          <a:xfrm>
            <a:off x="11095152" y="5064489"/>
            <a:ext cx="305538" cy="400524"/>
            <a:chOff x="0" y="3078492"/>
            <a:chExt cx="545343" cy="621971"/>
          </a:xfrm>
          <a:solidFill>
            <a:srgbClr val="0070C0"/>
          </a:solidFill>
        </p:grpSpPr>
        <p:grpSp>
          <p:nvGrpSpPr>
            <p:cNvPr id="610" name="Gruppieren 609">
              <a:extLst>
                <a:ext uri="{FF2B5EF4-FFF2-40B4-BE49-F238E27FC236}">
                  <a16:creationId xmlns:a16="http://schemas.microsoft.com/office/drawing/2014/main" id="{113318B9-1106-4943-089E-EA7CAFF09645}"/>
                </a:ext>
              </a:extLst>
            </p:cNvPr>
            <p:cNvGrpSpPr/>
            <p:nvPr>
              <p:custDataLst>
                <p:tags r:id="rId18"/>
              </p:custDataLst>
            </p:nvPr>
          </p:nvGrpSpPr>
          <p:grpSpPr>
            <a:xfrm>
              <a:off x="0" y="3157538"/>
              <a:ext cx="545343" cy="542925"/>
              <a:chOff x="0" y="3157538"/>
              <a:chExt cx="545343" cy="542925"/>
            </a:xfrm>
            <a:grpFill/>
          </p:grpSpPr>
          <p:sp>
            <p:nvSpPr>
              <p:cNvPr id="612" name="Freeform 203">
                <a:extLst>
                  <a:ext uri="{FF2B5EF4-FFF2-40B4-BE49-F238E27FC236}">
                    <a16:creationId xmlns:a16="http://schemas.microsoft.com/office/drawing/2014/main" id="{1843C7BB-3FC2-79BB-48DC-58473CEF47B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1015" y="3392120"/>
                <a:ext cx="464328" cy="222490"/>
              </a:xfrm>
              <a:custGeom>
                <a:avLst/>
                <a:gdLst>
                  <a:gd name="T0" fmla="*/ 776 w 800"/>
                  <a:gd name="T1" fmla="*/ 20 h 382"/>
                  <a:gd name="T2" fmla="*/ 636 w 800"/>
                  <a:gd name="T3" fmla="*/ 80 h 382"/>
                  <a:gd name="T4" fmla="*/ 624 w 800"/>
                  <a:gd name="T5" fmla="*/ 108 h 382"/>
                  <a:gd name="T6" fmla="*/ 537 w 800"/>
                  <a:gd name="T7" fmla="*/ 166 h 382"/>
                  <a:gd name="T8" fmla="*/ 485 w 800"/>
                  <a:gd name="T9" fmla="*/ 126 h 382"/>
                  <a:gd name="T10" fmla="*/ 360 w 800"/>
                  <a:gd name="T11" fmla="*/ 122 h 382"/>
                  <a:gd name="T12" fmla="*/ 332 w 800"/>
                  <a:gd name="T13" fmla="*/ 108 h 382"/>
                  <a:gd name="T14" fmla="*/ 91 w 800"/>
                  <a:gd name="T15" fmla="*/ 118 h 382"/>
                  <a:gd name="T16" fmla="*/ 0 w 800"/>
                  <a:gd name="T17" fmla="*/ 209 h 382"/>
                  <a:gd name="T18" fmla="*/ 173 w 800"/>
                  <a:gd name="T19" fmla="*/ 382 h 382"/>
                  <a:gd name="T20" fmla="*/ 201 w 800"/>
                  <a:gd name="T21" fmla="*/ 354 h 382"/>
                  <a:gd name="T22" fmla="*/ 495 w 800"/>
                  <a:gd name="T23" fmla="*/ 354 h 382"/>
                  <a:gd name="T24" fmla="*/ 557 w 800"/>
                  <a:gd name="T25" fmla="*/ 332 h 382"/>
                  <a:gd name="T26" fmla="*/ 633 w 800"/>
                  <a:gd name="T27" fmla="*/ 267 h 382"/>
                  <a:gd name="T28" fmla="*/ 723 w 800"/>
                  <a:gd name="T29" fmla="*/ 165 h 382"/>
                  <a:gd name="T30" fmla="*/ 790 w 800"/>
                  <a:gd name="T31" fmla="*/ 61 h 382"/>
                  <a:gd name="T32" fmla="*/ 776 w 800"/>
                  <a:gd name="T33" fmla="*/ 20 h 38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</a:cxnLst>
                <a:rect l="0" t="0" r="r" b="b"/>
                <a:pathLst>
                  <a:path w="800" h="382">
                    <a:moveTo>
                      <a:pt x="776" y="20"/>
                    </a:moveTo>
                    <a:cubicBezTo>
                      <a:pt x="720" y="0"/>
                      <a:pt x="660" y="27"/>
                      <a:pt x="636" y="80"/>
                    </a:cubicBezTo>
                    <a:lnTo>
                      <a:pt x="624" y="108"/>
                    </a:lnTo>
                    <a:lnTo>
                      <a:pt x="537" y="166"/>
                    </a:lnTo>
                    <a:cubicBezTo>
                      <a:pt x="530" y="143"/>
                      <a:pt x="510" y="126"/>
                      <a:pt x="485" y="126"/>
                    </a:cubicBezTo>
                    <a:lnTo>
                      <a:pt x="360" y="122"/>
                    </a:lnTo>
                    <a:cubicBezTo>
                      <a:pt x="349" y="122"/>
                      <a:pt x="337" y="113"/>
                      <a:pt x="332" y="108"/>
                    </a:cubicBezTo>
                    <a:cubicBezTo>
                      <a:pt x="278" y="54"/>
                      <a:pt x="160" y="49"/>
                      <a:pt x="91" y="118"/>
                    </a:cubicBezTo>
                    <a:lnTo>
                      <a:pt x="0" y="209"/>
                    </a:lnTo>
                    <a:lnTo>
                      <a:pt x="173" y="382"/>
                    </a:lnTo>
                    <a:lnTo>
                      <a:pt x="201" y="354"/>
                    </a:lnTo>
                    <a:lnTo>
                      <a:pt x="495" y="354"/>
                    </a:lnTo>
                    <a:cubicBezTo>
                      <a:pt x="517" y="354"/>
                      <a:pt x="539" y="346"/>
                      <a:pt x="557" y="332"/>
                    </a:cubicBezTo>
                    <a:lnTo>
                      <a:pt x="633" y="267"/>
                    </a:lnTo>
                    <a:cubicBezTo>
                      <a:pt x="668" y="238"/>
                      <a:pt x="698" y="203"/>
                      <a:pt x="723" y="165"/>
                    </a:cubicBezTo>
                    <a:lnTo>
                      <a:pt x="790" y="61"/>
                    </a:lnTo>
                    <a:cubicBezTo>
                      <a:pt x="800" y="46"/>
                      <a:pt x="793" y="25"/>
                      <a:pt x="776" y="20"/>
                    </a:cubicBezTo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 vert="horz" wrap="square" lIns="68580" tIns="34290" rIns="68580" bIns="3429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6858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de-DE" sz="1350" b="0" i="0" u="none" strike="noStrike" kern="0" cap="none" spc="0" normalizeH="0" baseline="0" noProof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Bahnschrift" panose="020B0502040204020203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613" name="Freeform 204">
                <a:extLst>
                  <a:ext uri="{FF2B5EF4-FFF2-40B4-BE49-F238E27FC236}">
                    <a16:creationId xmlns:a16="http://schemas.microsoft.com/office/drawing/2014/main" id="{298684ED-DA81-238D-463A-46364F6124BE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0" y="3514248"/>
                <a:ext cx="187424" cy="186215"/>
              </a:xfrm>
              <a:custGeom>
                <a:avLst/>
                <a:gdLst>
                  <a:gd name="T0" fmla="*/ 232 w 322"/>
                  <a:gd name="T1" fmla="*/ 206 h 322"/>
                  <a:gd name="T2" fmla="*/ 256 w 322"/>
                  <a:gd name="T3" fmla="*/ 230 h 322"/>
                  <a:gd name="T4" fmla="*/ 232 w 322"/>
                  <a:gd name="T5" fmla="*/ 253 h 322"/>
                  <a:gd name="T6" fmla="*/ 209 w 322"/>
                  <a:gd name="T7" fmla="*/ 230 h 322"/>
                  <a:gd name="T8" fmla="*/ 232 w 322"/>
                  <a:gd name="T9" fmla="*/ 206 h 322"/>
                  <a:gd name="T10" fmla="*/ 0 w 322"/>
                  <a:gd name="T11" fmla="*/ 92 h 322"/>
                  <a:gd name="T12" fmla="*/ 230 w 322"/>
                  <a:gd name="T13" fmla="*/ 322 h 322"/>
                  <a:gd name="T14" fmla="*/ 322 w 322"/>
                  <a:gd name="T15" fmla="*/ 230 h 322"/>
                  <a:gd name="T16" fmla="*/ 93 w 322"/>
                  <a:gd name="T17" fmla="*/ 0 h 322"/>
                  <a:gd name="T18" fmla="*/ 0 w 322"/>
                  <a:gd name="T19" fmla="*/ 92 h 32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322" h="322">
                    <a:moveTo>
                      <a:pt x="232" y="206"/>
                    </a:moveTo>
                    <a:lnTo>
                      <a:pt x="256" y="230"/>
                    </a:lnTo>
                    <a:lnTo>
                      <a:pt x="232" y="253"/>
                    </a:lnTo>
                    <a:lnTo>
                      <a:pt x="209" y="230"/>
                    </a:lnTo>
                    <a:lnTo>
                      <a:pt x="232" y="206"/>
                    </a:lnTo>
                    <a:close/>
                    <a:moveTo>
                      <a:pt x="0" y="92"/>
                    </a:moveTo>
                    <a:lnTo>
                      <a:pt x="230" y="322"/>
                    </a:lnTo>
                    <a:lnTo>
                      <a:pt x="322" y="230"/>
                    </a:lnTo>
                    <a:lnTo>
                      <a:pt x="93" y="0"/>
                    </a:lnTo>
                    <a:lnTo>
                      <a:pt x="0" y="92"/>
                    </a:lnTo>
                    <a:close/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 vert="horz" wrap="square" lIns="68580" tIns="34290" rIns="68580" bIns="3429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6858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de-DE" sz="1350" b="0" i="0" u="none" strike="noStrike" kern="0" cap="none" spc="0" normalizeH="0" baseline="0" noProof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Bahnschrift" panose="020B0502040204020203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614" name="Freeform 206">
                <a:extLst>
                  <a:ext uri="{FF2B5EF4-FFF2-40B4-BE49-F238E27FC236}">
                    <a16:creationId xmlns:a16="http://schemas.microsoft.com/office/drawing/2014/main" id="{1D1F8A18-646D-4BC5-856B-8D4FBA0D8497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192260" y="3157538"/>
                <a:ext cx="257557" cy="303506"/>
              </a:xfrm>
              <a:custGeom>
                <a:avLst/>
                <a:gdLst>
                  <a:gd name="T0" fmla="*/ 222 w 444"/>
                  <a:gd name="T1" fmla="*/ 355 h 524"/>
                  <a:gd name="T2" fmla="*/ 159 w 444"/>
                  <a:gd name="T3" fmla="*/ 299 h 524"/>
                  <a:gd name="T4" fmla="*/ 204 w 444"/>
                  <a:gd name="T5" fmla="*/ 246 h 524"/>
                  <a:gd name="T6" fmla="*/ 204 w 444"/>
                  <a:gd name="T7" fmla="*/ 229 h 524"/>
                  <a:gd name="T8" fmla="*/ 240 w 444"/>
                  <a:gd name="T9" fmla="*/ 229 h 524"/>
                  <a:gd name="T10" fmla="*/ 240 w 444"/>
                  <a:gd name="T11" fmla="*/ 246 h 524"/>
                  <a:gd name="T12" fmla="*/ 285 w 444"/>
                  <a:gd name="T13" fmla="*/ 299 h 524"/>
                  <a:gd name="T14" fmla="*/ 249 w 444"/>
                  <a:gd name="T15" fmla="*/ 299 h 524"/>
                  <a:gd name="T16" fmla="*/ 222 w 444"/>
                  <a:gd name="T17" fmla="*/ 280 h 524"/>
                  <a:gd name="T18" fmla="*/ 195 w 444"/>
                  <a:gd name="T19" fmla="*/ 299 h 524"/>
                  <a:gd name="T20" fmla="*/ 222 w 444"/>
                  <a:gd name="T21" fmla="*/ 319 h 524"/>
                  <a:gd name="T22" fmla="*/ 285 w 444"/>
                  <a:gd name="T23" fmla="*/ 375 h 524"/>
                  <a:gd name="T24" fmla="*/ 240 w 444"/>
                  <a:gd name="T25" fmla="*/ 428 h 524"/>
                  <a:gd name="T26" fmla="*/ 240 w 444"/>
                  <a:gd name="T27" fmla="*/ 446 h 524"/>
                  <a:gd name="T28" fmla="*/ 204 w 444"/>
                  <a:gd name="T29" fmla="*/ 446 h 524"/>
                  <a:gd name="T30" fmla="*/ 204 w 444"/>
                  <a:gd name="T31" fmla="*/ 428 h 524"/>
                  <a:gd name="T32" fmla="*/ 159 w 444"/>
                  <a:gd name="T33" fmla="*/ 375 h 524"/>
                  <a:gd name="T34" fmla="*/ 195 w 444"/>
                  <a:gd name="T35" fmla="*/ 375 h 524"/>
                  <a:gd name="T36" fmla="*/ 222 w 444"/>
                  <a:gd name="T37" fmla="*/ 394 h 524"/>
                  <a:gd name="T38" fmla="*/ 249 w 444"/>
                  <a:gd name="T39" fmla="*/ 375 h 524"/>
                  <a:gd name="T40" fmla="*/ 222 w 444"/>
                  <a:gd name="T41" fmla="*/ 355 h 524"/>
                  <a:gd name="T42" fmla="*/ 165 w 444"/>
                  <a:gd name="T43" fmla="*/ 489 h 524"/>
                  <a:gd name="T44" fmla="*/ 172 w 444"/>
                  <a:gd name="T45" fmla="*/ 494 h 524"/>
                  <a:gd name="T46" fmla="*/ 296 w 444"/>
                  <a:gd name="T47" fmla="*/ 497 h 524"/>
                  <a:gd name="T48" fmla="*/ 357 w 444"/>
                  <a:gd name="T49" fmla="*/ 524 h 524"/>
                  <a:gd name="T50" fmla="*/ 407 w 444"/>
                  <a:gd name="T51" fmla="*/ 491 h 524"/>
                  <a:gd name="T52" fmla="*/ 415 w 444"/>
                  <a:gd name="T53" fmla="*/ 472 h 524"/>
                  <a:gd name="T54" fmla="*/ 444 w 444"/>
                  <a:gd name="T55" fmla="*/ 430 h 524"/>
                  <a:gd name="T56" fmla="*/ 444 w 444"/>
                  <a:gd name="T57" fmla="*/ 430 h 524"/>
                  <a:gd name="T58" fmla="*/ 444 w 444"/>
                  <a:gd name="T59" fmla="*/ 428 h 524"/>
                  <a:gd name="T60" fmla="*/ 286 w 444"/>
                  <a:gd name="T61" fmla="*/ 162 h 524"/>
                  <a:gd name="T62" fmla="*/ 286 w 444"/>
                  <a:gd name="T63" fmla="*/ 104 h 524"/>
                  <a:gd name="T64" fmla="*/ 310 w 444"/>
                  <a:gd name="T65" fmla="*/ 30 h 524"/>
                  <a:gd name="T66" fmla="*/ 293 w 444"/>
                  <a:gd name="T67" fmla="*/ 0 h 524"/>
                  <a:gd name="T68" fmla="*/ 293 w 444"/>
                  <a:gd name="T69" fmla="*/ 0 h 524"/>
                  <a:gd name="T70" fmla="*/ 274 w 444"/>
                  <a:gd name="T71" fmla="*/ 5 h 524"/>
                  <a:gd name="T72" fmla="*/ 265 w 444"/>
                  <a:gd name="T73" fmla="*/ 5 h 524"/>
                  <a:gd name="T74" fmla="*/ 246 w 444"/>
                  <a:gd name="T75" fmla="*/ 0 h 524"/>
                  <a:gd name="T76" fmla="*/ 227 w 444"/>
                  <a:gd name="T77" fmla="*/ 5 h 524"/>
                  <a:gd name="T78" fmla="*/ 217 w 444"/>
                  <a:gd name="T79" fmla="*/ 5 h 524"/>
                  <a:gd name="T80" fmla="*/ 198 w 444"/>
                  <a:gd name="T81" fmla="*/ 0 h 524"/>
                  <a:gd name="T82" fmla="*/ 179 w 444"/>
                  <a:gd name="T83" fmla="*/ 5 h 524"/>
                  <a:gd name="T84" fmla="*/ 170 w 444"/>
                  <a:gd name="T85" fmla="*/ 5 h 524"/>
                  <a:gd name="T86" fmla="*/ 151 w 444"/>
                  <a:gd name="T87" fmla="*/ 0 h 524"/>
                  <a:gd name="T88" fmla="*/ 151 w 444"/>
                  <a:gd name="T89" fmla="*/ 0 h 524"/>
                  <a:gd name="T90" fmla="*/ 134 w 444"/>
                  <a:gd name="T91" fmla="*/ 30 h 524"/>
                  <a:gd name="T92" fmla="*/ 158 w 444"/>
                  <a:gd name="T93" fmla="*/ 104 h 524"/>
                  <a:gd name="T94" fmla="*/ 158 w 444"/>
                  <a:gd name="T95" fmla="*/ 162 h 524"/>
                  <a:gd name="T96" fmla="*/ 0 w 444"/>
                  <a:gd name="T97" fmla="*/ 428 h 524"/>
                  <a:gd name="T98" fmla="*/ 0 w 444"/>
                  <a:gd name="T99" fmla="*/ 441 h 524"/>
                  <a:gd name="T100" fmla="*/ 30 w 444"/>
                  <a:gd name="T101" fmla="*/ 438 h 524"/>
                  <a:gd name="T102" fmla="*/ 165 w 444"/>
                  <a:gd name="T103" fmla="*/ 489 h 52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</a:cxnLst>
                <a:rect l="0" t="0" r="r" b="b"/>
                <a:pathLst>
                  <a:path w="444" h="524">
                    <a:moveTo>
                      <a:pt x="222" y="355"/>
                    </a:moveTo>
                    <a:cubicBezTo>
                      <a:pt x="178" y="355"/>
                      <a:pt x="159" y="327"/>
                      <a:pt x="159" y="299"/>
                    </a:cubicBezTo>
                    <a:cubicBezTo>
                      <a:pt x="159" y="274"/>
                      <a:pt x="178" y="253"/>
                      <a:pt x="204" y="246"/>
                    </a:cubicBezTo>
                    <a:lnTo>
                      <a:pt x="204" y="229"/>
                    </a:lnTo>
                    <a:lnTo>
                      <a:pt x="240" y="229"/>
                    </a:lnTo>
                    <a:lnTo>
                      <a:pt x="240" y="246"/>
                    </a:lnTo>
                    <a:cubicBezTo>
                      <a:pt x="266" y="253"/>
                      <a:pt x="285" y="274"/>
                      <a:pt x="285" y="299"/>
                    </a:cubicBezTo>
                    <a:lnTo>
                      <a:pt x="249" y="299"/>
                    </a:lnTo>
                    <a:cubicBezTo>
                      <a:pt x="249" y="289"/>
                      <a:pt x="236" y="280"/>
                      <a:pt x="222" y="280"/>
                    </a:cubicBezTo>
                    <a:cubicBezTo>
                      <a:pt x="208" y="280"/>
                      <a:pt x="195" y="289"/>
                      <a:pt x="195" y="299"/>
                    </a:cubicBezTo>
                    <a:cubicBezTo>
                      <a:pt x="195" y="316"/>
                      <a:pt x="212" y="319"/>
                      <a:pt x="222" y="319"/>
                    </a:cubicBezTo>
                    <a:cubicBezTo>
                      <a:pt x="259" y="319"/>
                      <a:pt x="285" y="342"/>
                      <a:pt x="285" y="375"/>
                    </a:cubicBezTo>
                    <a:cubicBezTo>
                      <a:pt x="285" y="400"/>
                      <a:pt x="266" y="421"/>
                      <a:pt x="240" y="428"/>
                    </a:cubicBezTo>
                    <a:lnTo>
                      <a:pt x="240" y="446"/>
                    </a:lnTo>
                    <a:lnTo>
                      <a:pt x="204" y="446"/>
                    </a:lnTo>
                    <a:lnTo>
                      <a:pt x="204" y="428"/>
                    </a:lnTo>
                    <a:cubicBezTo>
                      <a:pt x="178" y="421"/>
                      <a:pt x="159" y="400"/>
                      <a:pt x="159" y="375"/>
                    </a:cubicBezTo>
                    <a:lnTo>
                      <a:pt x="195" y="375"/>
                    </a:lnTo>
                    <a:cubicBezTo>
                      <a:pt x="195" y="385"/>
                      <a:pt x="208" y="394"/>
                      <a:pt x="222" y="394"/>
                    </a:cubicBezTo>
                    <a:cubicBezTo>
                      <a:pt x="236" y="394"/>
                      <a:pt x="249" y="385"/>
                      <a:pt x="249" y="375"/>
                    </a:cubicBezTo>
                    <a:cubicBezTo>
                      <a:pt x="249" y="363"/>
                      <a:pt x="239" y="355"/>
                      <a:pt x="222" y="355"/>
                    </a:cubicBezTo>
                    <a:close/>
                    <a:moveTo>
                      <a:pt x="165" y="489"/>
                    </a:moveTo>
                    <a:cubicBezTo>
                      <a:pt x="167" y="491"/>
                      <a:pt x="171" y="493"/>
                      <a:pt x="172" y="494"/>
                    </a:cubicBezTo>
                    <a:lnTo>
                      <a:pt x="296" y="497"/>
                    </a:lnTo>
                    <a:cubicBezTo>
                      <a:pt x="320" y="498"/>
                      <a:pt x="341" y="508"/>
                      <a:pt x="357" y="524"/>
                    </a:cubicBezTo>
                    <a:lnTo>
                      <a:pt x="407" y="491"/>
                    </a:lnTo>
                    <a:lnTo>
                      <a:pt x="415" y="472"/>
                    </a:lnTo>
                    <a:cubicBezTo>
                      <a:pt x="422" y="456"/>
                      <a:pt x="432" y="442"/>
                      <a:pt x="444" y="430"/>
                    </a:cubicBezTo>
                    <a:cubicBezTo>
                      <a:pt x="444" y="430"/>
                      <a:pt x="444" y="430"/>
                      <a:pt x="444" y="430"/>
                    </a:cubicBezTo>
                    <a:lnTo>
                      <a:pt x="444" y="428"/>
                    </a:lnTo>
                    <a:cubicBezTo>
                      <a:pt x="444" y="309"/>
                      <a:pt x="388" y="206"/>
                      <a:pt x="286" y="162"/>
                    </a:cubicBezTo>
                    <a:lnTo>
                      <a:pt x="286" y="104"/>
                    </a:lnTo>
                    <a:lnTo>
                      <a:pt x="310" y="30"/>
                    </a:lnTo>
                    <a:cubicBezTo>
                      <a:pt x="315" y="16"/>
                      <a:pt x="307" y="0"/>
                      <a:pt x="293" y="0"/>
                    </a:cubicBezTo>
                    <a:cubicBezTo>
                      <a:pt x="293" y="0"/>
                      <a:pt x="293" y="0"/>
                      <a:pt x="293" y="0"/>
                    </a:cubicBezTo>
                    <a:cubicBezTo>
                      <a:pt x="285" y="0"/>
                      <a:pt x="278" y="2"/>
                      <a:pt x="274" y="5"/>
                    </a:cubicBezTo>
                    <a:cubicBezTo>
                      <a:pt x="271" y="6"/>
                      <a:pt x="268" y="6"/>
                      <a:pt x="265" y="5"/>
                    </a:cubicBezTo>
                    <a:cubicBezTo>
                      <a:pt x="260" y="2"/>
                      <a:pt x="253" y="0"/>
                      <a:pt x="246" y="0"/>
                    </a:cubicBezTo>
                    <a:cubicBezTo>
                      <a:pt x="238" y="0"/>
                      <a:pt x="231" y="2"/>
                      <a:pt x="227" y="5"/>
                    </a:cubicBezTo>
                    <a:cubicBezTo>
                      <a:pt x="224" y="6"/>
                      <a:pt x="220" y="6"/>
                      <a:pt x="217" y="5"/>
                    </a:cubicBezTo>
                    <a:cubicBezTo>
                      <a:pt x="213" y="2"/>
                      <a:pt x="206" y="0"/>
                      <a:pt x="198" y="0"/>
                    </a:cubicBezTo>
                    <a:cubicBezTo>
                      <a:pt x="191" y="0"/>
                      <a:pt x="184" y="2"/>
                      <a:pt x="179" y="5"/>
                    </a:cubicBezTo>
                    <a:cubicBezTo>
                      <a:pt x="176" y="6"/>
                      <a:pt x="173" y="6"/>
                      <a:pt x="170" y="5"/>
                    </a:cubicBezTo>
                    <a:cubicBezTo>
                      <a:pt x="166" y="2"/>
                      <a:pt x="159" y="0"/>
                      <a:pt x="151" y="0"/>
                    </a:cubicBezTo>
                    <a:cubicBezTo>
                      <a:pt x="151" y="0"/>
                      <a:pt x="151" y="0"/>
                      <a:pt x="151" y="0"/>
                    </a:cubicBezTo>
                    <a:cubicBezTo>
                      <a:pt x="138" y="0"/>
                      <a:pt x="129" y="16"/>
                      <a:pt x="134" y="30"/>
                    </a:cubicBezTo>
                    <a:lnTo>
                      <a:pt x="158" y="104"/>
                    </a:lnTo>
                    <a:lnTo>
                      <a:pt x="158" y="162"/>
                    </a:lnTo>
                    <a:cubicBezTo>
                      <a:pt x="56" y="206"/>
                      <a:pt x="0" y="309"/>
                      <a:pt x="0" y="428"/>
                    </a:cubicBezTo>
                    <a:lnTo>
                      <a:pt x="0" y="441"/>
                    </a:lnTo>
                    <a:cubicBezTo>
                      <a:pt x="10" y="439"/>
                      <a:pt x="20" y="438"/>
                      <a:pt x="30" y="438"/>
                    </a:cubicBezTo>
                    <a:cubicBezTo>
                      <a:pt x="84" y="438"/>
                      <a:pt x="133" y="457"/>
                      <a:pt x="165" y="489"/>
                    </a:cubicBezTo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 vert="horz" wrap="square" lIns="68580" tIns="34290" rIns="68580" bIns="3429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6858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de-DE" sz="1350" b="0" i="0" u="none" strike="noStrike" kern="0" cap="none" spc="0" normalizeH="0" baseline="0" noProof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Bahnschrift" panose="020B0502040204020203" pitchFamily="34" charset="0"/>
                  <a:ea typeface="+mn-ea"/>
                  <a:cs typeface="+mn-cs"/>
                </a:endParaRPr>
              </a:p>
            </p:txBody>
          </p:sp>
        </p:grpSp>
        <p:sp>
          <p:nvSpPr>
            <p:cNvPr id="611" name="Freihandform 268">
              <a:extLst>
                <a:ext uri="{FF2B5EF4-FFF2-40B4-BE49-F238E27FC236}">
                  <a16:creationId xmlns:a16="http://schemas.microsoft.com/office/drawing/2014/main" id="{843EC2E0-ABC5-42D5-A112-B4C28D05087F}"/>
                </a:ext>
              </a:extLst>
            </p:cNvPr>
            <p:cNvSpPr/>
            <p:nvPr/>
          </p:nvSpPr>
          <p:spPr>
            <a:xfrm>
              <a:off x="132106" y="3078492"/>
              <a:ext cx="320330" cy="382046"/>
            </a:xfrm>
            <a:custGeom>
              <a:avLst/>
              <a:gdLst>
                <a:gd name="connsiteX0" fmla="*/ 206030 w 320330"/>
                <a:gd name="connsiteY0" fmla="*/ 33802 h 382046"/>
                <a:gd name="connsiteX1" fmla="*/ 206030 w 320330"/>
                <a:gd name="connsiteY1" fmla="*/ 33802 h 382046"/>
                <a:gd name="connsiteX2" fmla="*/ 153642 w 320330"/>
                <a:gd name="connsiteY2" fmla="*/ 36184 h 382046"/>
                <a:gd name="connsiteX3" fmla="*/ 132211 w 320330"/>
                <a:gd name="connsiteY3" fmla="*/ 48090 h 382046"/>
                <a:gd name="connsiteX4" fmla="*/ 113161 w 320330"/>
                <a:gd name="connsiteY4" fmla="*/ 59996 h 382046"/>
                <a:gd name="connsiteX5" fmla="*/ 98874 w 320330"/>
                <a:gd name="connsiteY5" fmla="*/ 74284 h 382046"/>
                <a:gd name="connsiteX6" fmla="*/ 82205 w 320330"/>
                <a:gd name="connsiteY6" fmla="*/ 86190 h 382046"/>
                <a:gd name="connsiteX7" fmla="*/ 67917 w 320330"/>
                <a:gd name="connsiteY7" fmla="*/ 105240 h 382046"/>
                <a:gd name="connsiteX8" fmla="*/ 60774 w 320330"/>
                <a:gd name="connsiteY8" fmla="*/ 112384 h 382046"/>
                <a:gd name="connsiteX9" fmla="*/ 48867 w 320330"/>
                <a:gd name="connsiteY9" fmla="*/ 131434 h 382046"/>
                <a:gd name="connsiteX10" fmla="*/ 39342 w 320330"/>
                <a:gd name="connsiteY10" fmla="*/ 155246 h 382046"/>
                <a:gd name="connsiteX11" fmla="*/ 25055 w 320330"/>
                <a:gd name="connsiteY11" fmla="*/ 176677 h 382046"/>
                <a:gd name="connsiteX12" fmla="*/ 15530 w 320330"/>
                <a:gd name="connsiteY12" fmla="*/ 195727 h 382046"/>
                <a:gd name="connsiteX13" fmla="*/ 6005 w 320330"/>
                <a:gd name="connsiteY13" fmla="*/ 207634 h 382046"/>
                <a:gd name="connsiteX14" fmla="*/ 3624 w 320330"/>
                <a:gd name="connsiteY14" fmla="*/ 214777 h 382046"/>
                <a:gd name="connsiteX15" fmla="*/ 6005 w 320330"/>
                <a:gd name="connsiteY15" fmla="*/ 262402 h 382046"/>
                <a:gd name="connsiteX16" fmla="*/ 22674 w 320330"/>
                <a:gd name="connsiteY16" fmla="*/ 279071 h 382046"/>
                <a:gd name="connsiteX17" fmla="*/ 29817 w 320330"/>
                <a:gd name="connsiteY17" fmla="*/ 286215 h 382046"/>
                <a:gd name="connsiteX18" fmla="*/ 36961 w 320330"/>
                <a:gd name="connsiteY18" fmla="*/ 300502 h 382046"/>
                <a:gd name="connsiteX19" fmla="*/ 44105 w 320330"/>
                <a:gd name="connsiteY19" fmla="*/ 305265 h 382046"/>
                <a:gd name="connsiteX20" fmla="*/ 48867 w 320330"/>
                <a:gd name="connsiteY20" fmla="*/ 321934 h 382046"/>
                <a:gd name="connsiteX21" fmla="*/ 58392 w 320330"/>
                <a:gd name="connsiteY21" fmla="*/ 326696 h 382046"/>
                <a:gd name="connsiteX22" fmla="*/ 72680 w 320330"/>
                <a:gd name="connsiteY22" fmla="*/ 336221 h 382046"/>
                <a:gd name="connsiteX23" fmla="*/ 91730 w 320330"/>
                <a:gd name="connsiteY23" fmla="*/ 340984 h 382046"/>
                <a:gd name="connsiteX24" fmla="*/ 101255 w 320330"/>
                <a:gd name="connsiteY24" fmla="*/ 343365 h 382046"/>
                <a:gd name="connsiteX25" fmla="*/ 129830 w 320330"/>
                <a:gd name="connsiteY25" fmla="*/ 348127 h 382046"/>
                <a:gd name="connsiteX26" fmla="*/ 136974 w 320330"/>
                <a:gd name="connsiteY26" fmla="*/ 350509 h 382046"/>
                <a:gd name="connsiteX27" fmla="*/ 153642 w 320330"/>
                <a:gd name="connsiteY27" fmla="*/ 357652 h 382046"/>
                <a:gd name="connsiteX28" fmla="*/ 170311 w 320330"/>
                <a:gd name="connsiteY28" fmla="*/ 362415 h 382046"/>
                <a:gd name="connsiteX29" fmla="*/ 184599 w 320330"/>
                <a:gd name="connsiteY29" fmla="*/ 369559 h 382046"/>
                <a:gd name="connsiteX30" fmla="*/ 225080 w 320330"/>
                <a:gd name="connsiteY30" fmla="*/ 376702 h 382046"/>
                <a:gd name="connsiteX31" fmla="*/ 232224 w 320330"/>
                <a:gd name="connsiteY31" fmla="*/ 379084 h 382046"/>
                <a:gd name="connsiteX32" fmla="*/ 291755 w 320330"/>
                <a:gd name="connsiteY32" fmla="*/ 379084 h 382046"/>
                <a:gd name="connsiteX33" fmla="*/ 298899 w 320330"/>
                <a:gd name="connsiteY33" fmla="*/ 371940 h 382046"/>
                <a:gd name="connsiteX34" fmla="*/ 308424 w 320330"/>
                <a:gd name="connsiteY34" fmla="*/ 357652 h 382046"/>
                <a:gd name="connsiteX35" fmla="*/ 310805 w 320330"/>
                <a:gd name="connsiteY35" fmla="*/ 348127 h 382046"/>
                <a:gd name="connsiteX36" fmla="*/ 317949 w 320330"/>
                <a:gd name="connsiteY36" fmla="*/ 338602 h 382046"/>
                <a:gd name="connsiteX37" fmla="*/ 320330 w 320330"/>
                <a:gd name="connsiteY37" fmla="*/ 324315 h 382046"/>
                <a:gd name="connsiteX38" fmla="*/ 317949 w 320330"/>
                <a:gd name="connsiteY38" fmla="*/ 243352 h 382046"/>
                <a:gd name="connsiteX39" fmla="*/ 315567 w 320330"/>
                <a:gd name="connsiteY39" fmla="*/ 231446 h 382046"/>
                <a:gd name="connsiteX40" fmla="*/ 308424 w 320330"/>
                <a:gd name="connsiteY40" fmla="*/ 193346 h 382046"/>
                <a:gd name="connsiteX41" fmla="*/ 303661 w 320330"/>
                <a:gd name="connsiteY41" fmla="*/ 186202 h 382046"/>
                <a:gd name="connsiteX42" fmla="*/ 294136 w 320330"/>
                <a:gd name="connsiteY42" fmla="*/ 164771 h 382046"/>
                <a:gd name="connsiteX43" fmla="*/ 289374 w 320330"/>
                <a:gd name="connsiteY43" fmla="*/ 152865 h 382046"/>
                <a:gd name="connsiteX44" fmla="*/ 275086 w 320330"/>
                <a:gd name="connsiteY44" fmla="*/ 121909 h 382046"/>
                <a:gd name="connsiteX45" fmla="*/ 265561 w 320330"/>
                <a:gd name="connsiteY45" fmla="*/ 95715 h 382046"/>
                <a:gd name="connsiteX46" fmla="*/ 263180 w 320330"/>
                <a:gd name="connsiteY46" fmla="*/ 86190 h 382046"/>
                <a:gd name="connsiteX47" fmla="*/ 253655 w 320330"/>
                <a:gd name="connsiteY47" fmla="*/ 71902 h 382046"/>
                <a:gd name="connsiteX48" fmla="*/ 246511 w 320330"/>
                <a:gd name="connsiteY48" fmla="*/ 50471 h 382046"/>
                <a:gd name="connsiteX49" fmla="*/ 239367 w 320330"/>
                <a:gd name="connsiteY49" fmla="*/ 38565 h 382046"/>
                <a:gd name="connsiteX50" fmla="*/ 232224 w 320330"/>
                <a:gd name="connsiteY50" fmla="*/ 17134 h 382046"/>
                <a:gd name="connsiteX51" fmla="*/ 227461 w 320330"/>
                <a:gd name="connsiteY51" fmla="*/ 9990 h 382046"/>
                <a:gd name="connsiteX52" fmla="*/ 225080 w 320330"/>
                <a:gd name="connsiteY52" fmla="*/ 465 h 382046"/>
                <a:gd name="connsiteX53" fmla="*/ 206030 w 320330"/>
                <a:gd name="connsiteY53" fmla="*/ 33802 h 3820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</a:cxnLst>
              <a:rect l="l" t="t" r="r" b="b"/>
              <a:pathLst>
                <a:path w="320330" h="382046">
                  <a:moveTo>
                    <a:pt x="206030" y="33802"/>
                  </a:moveTo>
                  <a:lnTo>
                    <a:pt x="206030" y="33802"/>
                  </a:lnTo>
                  <a:cubicBezTo>
                    <a:pt x="188567" y="34596"/>
                    <a:pt x="171067" y="34790"/>
                    <a:pt x="153642" y="36184"/>
                  </a:cubicBezTo>
                  <a:cubicBezTo>
                    <a:pt x="146592" y="36748"/>
                    <a:pt x="135990" y="45445"/>
                    <a:pt x="132211" y="48090"/>
                  </a:cubicBezTo>
                  <a:cubicBezTo>
                    <a:pt x="116754" y="58910"/>
                    <a:pt x="129002" y="52077"/>
                    <a:pt x="113161" y="59996"/>
                  </a:cubicBezTo>
                  <a:cubicBezTo>
                    <a:pt x="101942" y="76827"/>
                    <a:pt x="116590" y="56569"/>
                    <a:pt x="98874" y="74284"/>
                  </a:cubicBezTo>
                  <a:cubicBezTo>
                    <a:pt x="85796" y="87361"/>
                    <a:pt x="105646" y="76813"/>
                    <a:pt x="82205" y="86190"/>
                  </a:cubicBezTo>
                  <a:cubicBezTo>
                    <a:pt x="77442" y="92540"/>
                    <a:pt x="73529" y="99627"/>
                    <a:pt x="67917" y="105240"/>
                  </a:cubicBezTo>
                  <a:cubicBezTo>
                    <a:pt x="65536" y="107621"/>
                    <a:pt x="62930" y="109797"/>
                    <a:pt x="60774" y="112384"/>
                  </a:cubicBezTo>
                  <a:cubicBezTo>
                    <a:pt x="58288" y="115367"/>
                    <a:pt x="49647" y="130030"/>
                    <a:pt x="48867" y="131434"/>
                  </a:cubicBezTo>
                  <a:cubicBezTo>
                    <a:pt x="40892" y="145789"/>
                    <a:pt x="46596" y="137111"/>
                    <a:pt x="39342" y="155246"/>
                  </a:cubicBezTo>
                  <a:cubicBezTo>
                    <a:pt x="35120" y="165801"/>
                    <a:pt x="32771" y="167033"/>
                    <a:pt x="25055" y="176677"/>
                  </a:cubicBezTo>
                  <a:cubicBezTo>
                    <a:pt x="20321" y="195616"/>
                    <a:pt x="26324" y="176837"/>
                    <a:pt x="15530" y="195727"/>
                  </a:cubicBezTo>
                  <a:cubicBezTo>
                    <a:pt x="8451" y="208115"/>
                    <a:pt x="19562" y="198595"/>
                    <a:pt x="6005" y="207634"/>
                  </a:cubicBezTo>
                  <a:cubicBezTo>
                    <a:pt x="5211" y="210015"/>
                    <a:pt x="4314" y="212364"/>
                    <a:pt x="3624" y="214777"/>
                  </a:cubicBezTo>
                  <a:cubicBezTo>
                    <a:pt x="-1127" y="231404"/>
                    <a:pt x="-2042" y="241839"/>
                    <a:pt x="6005" y="262402"/>
                  </a:cubicBezTo>
                  <a:cubicBezTo>
                    <a:pt x="8868" y="269720"/>
                    <a:pt x="17118" y="273515"/>
                    <a:pt x="22674" y="279071"/>
                  </a:cubicBezTo>
                  <a:lnTo>
                    <a:pt x="29817" y="286215"/>
                  </a:lnTo>
                  <a:cubicBezTo>
                    <a:pt x="31754" y="292024"/>
                    <a:pt x="32346" y="295887"/>
                    <a:pt x="36961" y="300502"/>
                  </a:cubicBezTo>
                  <a:cubicBezTo>
                    <a:pt x="38985" y="302526"/>
                    <a:pt x="41724" y="303677"/>
                    <a:pt x="44105" y="305265"/>
                  </a:cubicBezTo>
                  <a:cubicBezTo>
                    <a:pt x="45692" y="310821"/>
                    <a:pt x="45662" y="317126"/>
                    <a:pt x="48867" y="321934"/>
                  </a:cubicBezTo>
                  <a:cubicBezTo>
                    <a:pt x="50836" y="324888"/>
                    <a:pt x="55348" y="324870"/>
                    <a:pt x="58392" y="326696"/>
                  </a:cubicBezTo>
                  <a:cubicBezTo>
                    <a:pt x="63300" y="329641"/>
                    <a:pt x="67250" y="334411"/>
                    <a:pt x="72680" y="336221"/>
                  </a:cubicBezTo>
                  <a:cubicBezTo>
                    <a:pt x="85444" y="340475"/>
                    <a:pt x="74493" y="337153"/>
                    <a:pt x="91730" y="340984"/>
                  </a:cubicBezTo>
                  <a:cubicBezTo>
                    <a:pt x="94925" y="341694"/>
                    <a:pt x="98038" y="342762"/>
                    <a:pt x="101255" y="343365"/>
                  </a:cubicBezTo>
                  <a:cubicBezTo>
                    <a:pt x="110746" y="345144"/>
                    <a:pt x="129830" y="348127"/>
                    <a:pt x="129830" y="348127"/>
                  </a:cubicBezTo>
                  <a:cubicBezTo>
                    <a:pt x="132211" y="348921"/>
                    <a:pt x="134667" y="349520"/>
                    <a:pt x="136974" y="350509"/>
                  </a:cubicBezTo>
                  <a:cubicBezTo>
                    <a:pt x="149673" y="355952"/>
                    <a:pt x="142474" y="354461"/>
                    <a:pt x="153642" y="357652"/>
                  </a:cubicBezTo>
                  <a:cubicBezTo>
                    <a:pt x="157197" y="358668"/>
                    <a:pt x="166508" y="360514"/>
                    <a:pt x="170311" y="362415"/>
                  </a:cubicBezTo>
                  <a:cubicBezTo>
                    <a:pt x="184224" y="369371"/>
                    <a:pt x="170634" y="365569"/>
                    <a:pt x="184599" y="369559"/>
                  </a:cubicBezTo>
                  <a:cubicBezTo>
                    <a:pt x="197794" y="373329"/>
                    <a:pt x="211538" y="374768"/>
                    <a:pt x="225080" y="376702"/>
                  </a:cubicBezTo>
                  <a:cubicBezTo>
                    <a:pt x="227461" y="377496"/>
                    <a:pt x="229789" y="378475"/>
                    <a:pt x="232224" y="379084"/>
                  </a:cubicBezTo>
                  <a:cubicBezTo>
                    <a:pt x="255131" y="384811"/>
                    <a:pt x="258097" y="380767"/>
                    <a:pt x="291755" y="379084"/>
                  </a:cubicBezTo>
                  <a:cubicBezTo>
                    <a:pt x="294136" y="376703"/>
                    <a:pt x="297031" y="374742"/>
                    <a:pt x="298899" y="371940"/>
                  </a:cubicBezTo>
                  <a:cubicBezTo>
                    <a:pt x="312684" y="351262"/>
                    <a:pt x="285634" y="380442"/>
                    <a:pt x="308424" y="357652"/>
                  </a:cubicBezTo>
                  <a:cubicBezTo>
                    <a:pt x="309218" y="354477"/>
                    <a:pt x="309341" y="351054"/>
                    <a:pt x="310805" y="348127"/>
                  </a:cubicBezTo>
                  <a:cubicBezTo>
                    <a:pt x="312580" y="344577"/>
                    <a:pt x="316475" y="342287"/>
                    <a:pt x="317949" y="338602"/>
                  </a:cubicBezTo>
                  <a:cubicBezTo>
                    <a:pt x="319742" y="334119"/>
                    <a:pt x="319536" y="329077"/>
                    <a:pt x="320330" y="324315"/>
                  </a:cubicBezTo>
                  <a:cubicBezTo>
                    <a:pt x="319536" y="297327"/>
                    <a:pt x="319332" y="270316"/>
                    <a:pt x="317949" y="243352"/>
                  </a:cubicBezTo>
                  <a:cubicBezTo>
                    <a:pt x="317742" y="239310"/>
                    <a:pt x="316182" y="235446"/>
                    <a:pt x="315567" y="231446"/>
                  </a:cubicBezTo>
                  <a:cubicBezTo>
                    <a:pt x="314503" y="224530"/>
                    <a:pt x="312561" y="199551"/>
                    <a:pt x="308424" y="193346"/>
                  </a:cubicBezTo>
                  <a:lnTo>
                    <a:pt x="303661" y="186202"/>
                  </a:lnTo>
                  <a:cubicBezTo>
                    <a:pt x="298622" y="171084"/>
                    <a:pt x="304470" y="187506"/>
                    <a:pt x="294136" y="164771"/>
                  </a:cubicBezTo>
                  <a:cubicBezTo>
                    <a:pt x="292367" y="160880"/>
                    <a:pt x="291165" y="156746"/>
                    <a:pt x="289374" y="152865"/>
                  </a:cubicBezTo>
                  <a:cubicBezTo>
                    <a:pt x="272211" y="115677"/>
                    <a:pt x="285934" y="149025"/>
                    <a:pt x="275086" y="121909"/>
                  </a:cubicBezTo>
                  <a:cubicBezTo>
                    <a:pt x="270300" y="97974"/>
                    <a:pt x="276306" y="122576"/>
                    <a:pt x="265561" y="95715"/>
                  </a:cubicBezTo>
                  <a:cubicBezTo>
                    <a:pt x="264346" y="92676"/>
                    <a:pt x="264644" y="89117"/>
                    <a:pt x="263180" y="86190"/>
                  </a:cubicBezTo>
                  <a:cubicBezTo>
                    <a:pt x="260620" y="81070"/>
                    <a:pt x="256396" y="76927"/>
                    <a:pt x="253655" y="71902"/>
                  </a:cubicBezTo>
                  <a:cubicBezTo>
                    <a:pt x="238486" y="44093"/>
                    <a:pt x="256965" y="73992"/>
                    <a:pt x="246511" y="50471"/>
                  </a:cubicBezTo>
                  <a:cubicBezTo>
                    <a:pt x="244631" y="46242"/>
                    <a:pt x="241437" y="42705"/>
                    <a:pt x="239367" y="38565"/>
                  </a:cubicBezTo>
                  <a:cubicBezTo>
                    <a:pt x="220034" y="-102"/>
                    <a:pt x="245868" y="48969"/>
                    <a:pt x="232224" y="17134"/>
                  </a:cubicBezTo>
                  <a:cubicBezTo>
                    <a:pt x="231097" y="14503"/>
                    <a:pt x="229049" y="12371"/>
                    <a:pt x="227461" y="9990"/>
                  </a:cubicBezTo>
                  <a:cubicBezTo>
                    <a:pt x="226667" y="6815"/>
                    <a:pt x="226369" y="3473"/>
                    <a:pt x="225080" y="465"/>
                  </a:cubicBezTo>
                  <a:cubicBezTo>
                    <a:pt x="223061" y="-4247"/>
                    <a:pt x="209205" y="28246"/>
                    <a:pt x="206030" y="33802"/>
                  </a:cubicBezTo>
                  <a:close/>
                </a:path>
              </a:pathLst>
            </a:custGeom>
            <a:grpFill/>
            <a:ln w="12700" cap="flat" cmpd="sng" algn="ctr">
              <a:solidFill>
                <a:sysClr val="window" lastClr="FFFFFF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de-DE" sz="1350" b="0" i="0" u="none" strike="noStrike" kern="0" cap="none" spc="0" normalizeH="0" baseline="0" noProof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Bahnschrift" panose="020B0502040204020203" pitchFamily="34" charset="0"/>
                <a:ea typeface="+mn-ea"/>
                <a:cs typeface="+mn-cs"/>
              </a:endParaRPr>
            </a:p>
          </p:txBody>
        </p:sp>
      </p:grpSp>
      <p:grpSp>
        <p:nvGrpSpPr>
          <p:cNvPr id="615" name="Gruppieren 614" descr="{&quot;Key&quot;:&quot;POWER_USER_SHAPE_ICON&quot;,&quot;Value&quot;:&quot;POWER_USER_SHAPE_ICON_STYLE_2&quot;}">
            <a:extLst>
              <a:ext uri="{FF2B5EF4-FFF2-40B4-BE49-F238E27FC236}">
                <a16:creationId xmlns:a16="http://schemas.microsoft.com/office/drawing/2014/main" id="{778DA144-54CD-D260-479B-5F9EF095ACDD}"/>
              </a:ext>
            </a:extLst>
          </p:cNvPr>
          <p:cNvGrpSpPr>
            <a:grpSpLocks noChangeAspect="1"/>
          </p:cNvGrpSpPr>
          <p:nvPr/>
        </p:nvGrpSpPr>
        <p:grpSpPr>
          <a:xfrm>
            <a:off x="11151524" y="5063610"/>
            <a:ext cx="221314" cy="221316"/>
            <a:chOff x="-99093" y="3018292"/>
            <a:chExt cx="706188" cy="706192"/>
          </a:xfrm>
        </p:grpSpPr>
        <p:sp>
          <p:nvSpPr>
            <p:cNvPr id="616" name="POWER_USER_SHAPE_ICON_STYLE_2">
              <a:extLst>
                <a:ext uri="{FF2B5EF4-FFF2-40B4-BE49-F238E27FC236}">
                  <a16:creationId xmlns:a16="http://schemas.microsoft.com/office/drawing/2014/main" id="{92975BC4-4E03-B541-ED6A-E7B3F388FA35}"/>
                </a:ext>
              </a:extLst>
            </p:cNvPr>
            <p:cNvSpPr/>
            <p:nvPr/>
          </p:nvSpPr>
          <p:spPr>
            <a:xfrm>
              <a:off x="-99093" y="3018292"/>
              <a:ext cx="706188" cy="706192"/>
            </a:xfrm>
            <a:prstGeom prst="ellipse">
              <a:avLst/>
            </a:prstGeom>
            <a:solidFill>
              <a:sysClr val="window" lastClr="FFFFFF"/>
            </a:solidFill>
            <a:ln w="28575" cap="flat" cmpd="sng" algn="ctr">
              <a:solidFill>
                <a:srgbClr val="0070C0"/>
              </a:solidFill>
              <a:prstDash val="sysDot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de-DE" sz="1350" b="0" i="0" u="none" strike="noStrike" kern="0" cap="none" spc="0" normalizeH="0" baseline="0" noProof="1">
                <a:ln>
                  <a:noFill/>
                </a:ln>
                <a:solidFill>
                  <a:srgbClr val="9954CC"/>
                </a:solidFill>
                <a:effectLst/>
                <a:uLnTx/>
                <a:uFillTx/>
                <a:latin typeface="Bahnschrift" panose="020B0502040204020203" pitchFamily="34" charset="0"/>
                <a:ea typeface="+mn-ea"/>
                <a:cs typeface="+mn-cs"/>
              </a:endParaRPr>
            </a:p>
          </p:txBody>
        </p:sp>
        <p:sp>
          <p:nvSpPr>
            <p:cNvPr id="617" name="Car7" descr="{&quot;Key&quot;:&quot;POWER_USER_SHAPE_ICON&quot;,&quot;Value&quot;:&quot;POWER_USER_SHAPE_ICON_STYLE_1&quot;}">
              <a:extLst>
                <a:ext uri="{FF2B5EF4-FFF2-40B4-BE49-F238E27FC236}">
                  <a16:creationId xmlns:a16="http://schemas.microsoft.com/office/drawing/2014/main" id="{F9AB15E2-9902-91EF-8F5A-E0901A0E8526}"/>
                </a:ext>
              </a:extLst>
            </p:cNvPr>
            <p:cNvSpPr>
              <a:spLocks noChangeAspect="1" noEditPoints="1"/>
            </p:cNvSpPr>
            <p:nvPr>
              <p:custDataLst>
                <p:tags r:id="rId17"/>
              </p:custDataLst>
            </p:nvPr>
          </p:nvSpPr>
          <p:spPr bwMode="auto">
            <a:xfrm>
              <a:off x="0" y="3157538"/>
              <a:ext cx="508000" cy="427698"/>
            </a:xfrm>
            <a:custGeom>
              <a:avLst/>
              <a:gdLst>
                <a:gd name="T0" fmla="*/ 616 w 733"/>
                <a:gd name="T1" fmla="*/ 466 h 616"/>
                <a:gd name="T2" fmla="*/ 566 w 733"/>
                <a:gd name="T3" fmla="*/ 416 h 616"/>
                <a:gd name="T4" fmla="*/ 616 w 733"/>
                <a:gd name="T5" fmla="*/ 366 h 616"/>
                <a:gd name="T6" fmla="*/ 666 w 733"/>
                <a:gd name="T7" fmla="*/ 416 h 616"/>
                <a:gd name="T8" fmla="*/ 616 w 733"/>
                <a:gd name="T9" fmla="*/ 466 h 616"/>
                <a:gd name="T10" fmla="*/ 134 w 733"/>
                <a:gd name="T11" fmla="*/ 266 h 616"/>
                <a:gd name="T12" fmla="*/ 165 w 733"/>
                <a:gd name="T13" fmla="*/ 107 h 616"/>
                <a:gd name="T14" fmla="*/ 200 w 733"/>
                <a:gd name="T15" fmla="*/ 66 h 616"/>
                <a:gd name="T16" fmla="*/ 533 w 733"/>
                <a:gd name="T17" fmla="*/ 66 h 616"/>
                <a:gd name="T18" fmla="*/ 567 w 733"/>
                <a:gd name="T19" fmla="*/ 107 h 616"/>
                <a:gd name="T20" fmla="*/ 599 w 733"/>
                <a:gd name="T21" fmla="*/ 266 h 616"/>
                <a:gd name="T22" fmla="*/ 134 w 733"/>
                <a:gd name="T23" fmla="*/ 266 h 616"/>
                <a:gd name="T24" fmla="*/ 116 w 733"/>
                <a:gd name="T25" fmla="*/ 466 h 616"/>
                <a:gd name="T26" fmla="*/ 66 w 733"/>
                <a:gd name="T27" fmla="*/ 416 h 616"/>
                <a:gd name="T28" fmla="*/ 116 w 733"/>
                <a:gd name="T29" fmla="*/ 366 h 616"/>
                <a:gd name="T30" fmla="*/ 166 w 733"/>
                <a:gd name="T31" fmla="*/ 416 h 616"/>
                <a:gd name="T32" fmla="*/ 116 w 733"/>
                <a:gd name="T33" fmla="*/ 466 h 616"/>
                <a:gd name="T34" fmla="*/ 666 w 733"/>
                <a:gd name="T35" fmla="*/ 272 h 616"/>
                <a:gd name="T36" fmla="*/ 666 w 733"/>
                <a:gd name="T37" fmla="*/ 266 h 616"/>
                <a:gd name="T38" fmla="*/ 632 w 733"/>
                <a:gd name="T39" fmla="*/ 93 h 616"/>
                <a:gd name="T40" fmla="*/ 632 w 733"/>
                <a:gd name="T41" fmla="*/ 91 h 616"/>
                <a:gd name="T42" fmla="*/ 533 w 733"/>
                <a:gd name="T43" fmla="*/ 0 h 616"/>
                <a:gd name="T44" fmla="*/ 200 w 733"/>
                <a:gd name="T45" fmla="*/ 0 h 616"/>
                <a:gd name="T46" fmla="*/ 101 w 733"/>
                <a:gd name="T47" fmla="*/ 91 h 616"/>
                <a:gd name="T48" fmla="*/ 67 w 733"/>
                <a:gd name="T49" fmla="*/ 260 h 616"/>
                <a:gd name="T50" fmla="*/ 66 w 733"/>
                <a:gd name="T51" fmla="*/ 266 h 616"/>
                <a:gd name="T52" fmla="*/ 67 w 733"/>
                <a:gd name="T53" fmla="*/ 272 h 616"/>
                <a:gd name="T54" fmla="*/ 0 w 733"/>
                <a:gd name="T55" fmla="*/ 366 h 616"/>
                <a:gd name="T56" fmla="*/ 0 w 733"/>
                <a:gd name="T57" fmla="*/ 450 h 616"/>
                <a:gd name="T58" fmla="*/ 66 w 733"/>
                <a:gd name="T59" fmla="*/ 544 h 616"/>
                <a:gd name="T60" fmla="*/ 66 w 733"/>
                <a:gd name="T61" fmla="*/ 583 h 616"/>
                <a:gd name="T62" fmla="*/ 100 w 733"/>
                <a:gd name="T63" fmla="*/ 616 h 616"/>
                <a:gd name="T64" fmla="*/ 133 w 733"/>
                <a:gd name="T65" fmla="*/ 616 h 616"/>
                <a:gd name="T66" fmla="*/ 166 w 733"/>
                <a:gd name="T67" fmla="*/ 583 h 616"/>
                <a:gd name="T68" fmla="*/ 166 w 733"/>
                <a:gd name="T69" fmla="*/ 550 h 616"/>
                <a:gd name="T70" fmla="*/ 566 w 733"/>
                <a:gd name="T71" fmla="*/ 550 h 616"/>
                <a:gd name="T72" fmla="*/ 566 w 733"/>
                <a:gd name="T73" fmla="*/ 583 h 616"/>
                <a:gd name="T74" fmla="*/ 600 w 733"/>
                <a:gd name="T75" fmla="*/ 616 h 616"/>
                <a:gd name="T76" fmla="*/ 633 w 733"/>
                <a:gd name="T77" fmla="*/ 616 h 616"/>
                <a:gd name="T78" fmla="*/ 666 w 733"/>
                <a:gd name="T79" fmla="*/ 583 h 616"/>
                <a:gd name="T80" fmla="*/ 666 w 733"/>
                <a:gd name="T81" fmla="*/ 544 h 616"/>
                <a:gd name="T82" fmla="*/ 733 w 733"/>
                <a:gd name="T83" fmla="*/ 450 h 616"/>
                <a:gd name="T84" fmla="*/ 733 w 733"/>
                <a:gd name="T85" fmla="*/ 366 h 616"/>
                <a:gd name="T86" fmla="*/ 666 w 733"/>
                <a:gd name="T87" fmla="*/ 272 h 6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733" h="616">
                  <a:moveTo>
                    <a:pt x="616" y="466"/>
                  </a:moveTo>
                  <a:cubicBezTo>
                    <a:pt x="589" y="466"/>
                    <a:pt x="566" y="444"/>
                    <a:pt x="566" y="416"/>
                  </a:cubicBezTo>
                  <a:cubicBezTo>
                    <a:pt x="566" y="389"/>
                    <a:pt x="589" y="366"/>
                    <a:pt x="616" y="366"/>
                  </a:cubicBezTo>
                  <a:cubicBezTo>
                    <a:pt x="644" y="366"/>
                    <a:pt x="666" y="389"/>
                    <a:pt x="666" y="416"/>
                  </a:cubicBezTo>
                  <a:cubicBezTo>
                    <a:pt x="666" y="444"/>
                    <a:pt x="644" y="466"/>
                    <a:pt x="616" y="466"/>
                  </a:cubicBezTo>
                  <a:close/>
                  <a:moveTo>
                    <a:pt x="134" y="266"/>
                  </a:moveTo>
                  <a:lnTo>
                    <a:pt x="165" y="107"/>
                  </a:lnTo>
                  <a:cubicBezTo>
                    <a:pt x="169" y="94"/>
                    <a:pt x="179" y="66"/>
                    <a:pt x="200" y="66"/>
                  </a:cubicBezTo>
                  <a:lnTo>
                    <a:pt x="533" y="66"/>
                  </a:lnTo>
                  <a:cubicBezTo>
                    <a:pt x="553" y="66"/>
                    <a:pt x="564" y="94"/>
                    <a:pt x="567" y="107"/>
                  </a:cubicBezTo>
                  <a:lnTo>
                    <a:pt x="599" y="266"/>
                  </a:lnTo>
                  <a:lnTo>
                    <a:pt x="134" y="266"/>
                  </a:lnTo>
                  <a:close/>
                  <a:moveTo>
                    <a:pt x="116" y="466"/>
                  </a:moveTo>
                  <a:cubicBezTo>
                    <a:pt x="89" y="466"/>
                    <a:pt x="66" y="444"/>
                    <a:pt x="66" y="416"/>
                  </a:cubicBezTo>
                  <a:cubicBezTo>
                    <a:pt x="66" y="389"/>
                    <a:pt x="89" y="366"/>
                    <a:pt x="116" y="366"/>
                  </a:cubicBezTo>
                  <a:cubicBezTo>
                    <a:pt x="144" y="366"/>
                    <a:pt x="166" y="389"/>
                    <a:pt x="166" y="416"/>
                  </a:cubicBezTo>
                  <a:cubicBezTo>
                    <a:pt x="166" y="444"/>
                    <a:pt x="144" y="466"/>
                    <a:pt x="116" y="466"/>
                  </a:cubicBezTo>
                  <a:close/>
                  <a:moveTo>
                    <a:pt x="666" y="272"/>
                  </a:moveTo>
                  <a:cubicBezTo>
                    <a:pt x="666" y="270"/>
                    <a:pt x="666" y="268"/>
                    <a:pt x="666" y="266"/>
                  </a:cubicBezTo>
                  <a:lnTo>
                    <a:pt x="632" y="93"/>
                  </a:lnTo>
                  <a:lnTo>
                    <a:pt x="632" y="91"/>
                  </a:lnTo>
                  <a:cubicBezTo>
                    <a:pt x="616" y="34"/>
                    <a:pt x="579" y="0"/>
                    <a:pt x="533" y="0"/>
                  </a:cubicBezTo>
                  <a:lnTo>
                    <a:pt x="200" y="0"/>
                  </a:lnTo>
                  <a:cubicBezTo>
                    <a:pt x="153" y="0"/>
                    <a:pt x="116" y="34"/>
                    <a:pt x="101" y="91"/>
                  </a:cubicBezTo>
                  <a:lnTo>
                    <a:pt x="67" y="260"/>
                  </a:lnTo>
                  <a:lnTo>
                    <a:pt x="66" y="266"/>
                  </a:lnTo>
                  <a:cubicBezTo>
                    <a:pt x="66" y="268"/>
                    <a:pt x="67" y="270"/>
                    <a:pt x="67" y="272"/>
                  </a:cubicBezTo>
                  <a:cubicBezTo>
                    <a:pt x="28" y="286"/>
                    <a:pt x="0" y="323"/>
                    <a:pt x="0" y="366"/>
                  </a:cubicBezTo>
                  <a:lnTo>
                    <a:pt x="0" y="450"/>
                  </a:lnTo>
                  <a:cubicBezTo>
                    <a:pt x="0" y="493"/>
                    <a:pt x="28" y="530"/>
                    <a:pt x="66" y="544"/>
                  </a:cubicBezTo>
                  <a:lnTo>
                    <a:pt x="66" y="583"/>
                  </a:lnTo>
                  <a:cubicBezTo>
                    <a:pt x="66" y="601"/>
                    <a:pt x="81" y="616"/>
                    <a:pt x="100" y="616"/>
                  </a:cubicBezTo>
                  <a:lnTo>
                    <a:pt x="133" y="616"/>
                  </a:lnTo>
                  <a:cubicBezTo>
                    <a:pt x="151" y="616"/>
                    <a:pt x="166" y="601"/>
                    <a:pt x="166" y="583"/>
                  </a:cubicBezTo>
                  <a:lnTo>
                    <a:pt x="166" y="550"/>
                  </a:lnTo>
                  <a:lnTo>
                    <a:pt x="566" y="550"/>
                  </a:lnTo>
                  <a:lnTo>
                    <a:pt x="566" y="583"/>
                  </a:lnTo>
                  <a:cubicBezTo>
                    <a:pt x="566" y="601"/>
                    <a:pt x="581" y="616"/>
                    <a:pt x="600" y="616"/>
                  </a:cubicBezTo>
                  <a:lnTo>
                    <a:pt x="633" y="616"/>
                  </a:lnTo>
                  <a:cubicBezTo>
                    <a:pt x="651" y="616"/>
                    <a:pt x="666" y="601"/>
                    <a:pt x="666" y="583"/>
                  </a:cubicBezTo>
                  <a:lnTo>
                    <a:pt x="666" y="544"/>
                  </a:lnTo>
                  <a:cubicBezTo>
                    <a:pt x="705" y="530"/>
                    <a:pt x="733" y="493"/>
                    <a:pt x="733" y="450"/>
                  </a:cubicBezTo>
                  <a:lnTo>
                    <a:pt x="733" y="366"/>
                  </a:lnTo>
                  <a:cubicBezTo>
                    <a:pt x="733" y="323"/>
                    <a:pt x="705" y="286"/>
                    <a:pt x="666" y="272"/>
                  </a:cubicBezTo>
                  <a:close/>
                </a:path>
              </a:pathLst>
            </a:custGeom>
            <a:solidFill>
              <a:srgbClr val="0070C0"/>
            </a:solidFill>
            <a:ln>
              <a:noFill/>
            </a:ln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de-DE" sz="1350" b="0" i="0" u="none" strike="noStrike" kern="0" cap="none" spc="0" normalizeH="0" baseline="0" noProof="1">
                <a:ln>
                  <a:noFill/>
                </a:ln>
                <a:solidFill>
                  <a:srgbClr val="9954CC"/>
                </a:solidFill>
                <a:effectLst/>
                <a:uLnTx/>
                <a:uFillTx/>
                <a:latin typeface="Bahnschrift" panose="020B0502040204020203" pitchFamily="34" charset="0"/>
                <a:ea typeface="+mn-ea"/>
                <a:cs typeface="+mn-cs"/>
              </a:endParaRPr>
            </a:p>
          </p:txBody>
        </p:sp>
      </p:grpSp>
      <p:sp>
        <p:nvSpPr>
          <p:cNvPr id="618" name="Textfeld 617">
            <a:extLst>
              <a:ext uri="{FF2B5EF4-FFF2-40B4-BE49-F238E27FC236}">
                <a16:creationId xmlns:a16="http://schemas.microsoft.com/office/drawing/2014/main" id="{75F4757D-8762-C88D-0BE0-EF9F05429746}"/>
              </a:ext>
            </a:extLst>
          </p:cNvPr>
          <p:cNvSpPr txBox="1"/>
          <p:nvPr/>
        </p:nvSpPr>
        <p:spPr bwMode="auto">
          <a:xfrm>
            <a:off x="9707243" y="4878800"/>
            <a:ext cx="1159019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1000" b="0" i="0" u="none" strike="noStrike" kern="1200" cap="none" spc="0" normalizeH="0" baseline="0" noProof="1">
                <a:ln>
                  <a:noFill/>
                </a:ln>
                <a:solidFill>
                  <a:srgbClr val="9954CC"/>
                </a:solidFill>
                <a:effectLst/>
                <a:uLnTx/>
                <a:uFillTx/>
                <a:latin typeface="Bahnschrift" panose="020B0502040204020203" pitchFamily="34" charset="0"/>
                <a:ea typeface="+mn-ea"/>
                <a:cs typeface="+mn-cs"/>
              </a:rPr>
              <a:t>Kontextfaktor Bauliche Dichte, Sanierung &amp; Mobilität</a:t>
            </a:r>
          </a:p>
        </p:txBody>
      </p:sp>
      <p:grpSp>
        <p:nvGrpSpPr>
          <p:cNvPr id="619" name="Gruppieren 618">
            <a:extLst>
              <a:ext uri="{FF2B5EF4-FFF2-40B4-BE49-F238E27FC236}">
                <a16:creationId xmlns:a16="http://schemas.microsoft.com/office/drawing/2014/main" id="{D9A89969-E140-7BCE-7D0F-B78C232E06DB}"/>
              </a:ext>
            </a:extLst>
          </p:cNvPr>
          <p:cNvGrpSpPr/>
          <p:nvPr/>
        </p:nvGrpSpPr>
        <p:grpSpPr>
          <a:xfrm>
            <a:off x="10812260" y="5042366"/>
            <a:ext cx="320539" cy="420190"/>
            <a:chOff x="9018358" y="3729507"/>
            <a:chExt cx="512820" cy="672248"/>
          </a:xfrm>
        </p:grpSpPr>
        <p:grpSp>
          <p:nvGrpSpPr>
            <p:cNvPr id="620" name="Gruppieren 619">
              <a:extLst>
                <a:ext uri="{FF2B5EF4-FFF2-40B4-BE49-F238E27FC236}">
                  <a16:creationId xmlns:a16="http://schemas.microsoft.com/office/drawing/2014/main" id="{D11DFA0F-B909-84FF-1D38-47510922E584}"/>
                </a:ext>
              </a:extLst>
            </p:cNvPr>
            <p:cNvGrpSpPr/>
            <p:nvPr/>
          </p:nvGrpSpPr>
          <p:grpSpPr>
            <a:xfrm>
              <a:off x="9018358" y="3729507"/>
              <a:ext cx="512820" cy="672248"/>
              <a:chOff x="0" y="3078492"/>
              <a:chExt cx="545343" cy="621971"/>
            </a:xfrm>
          </p:grpSpPr>
          <p:grpSp>
            <p:nvGrpSpPr>
              <p:cNvPr id="624" name="Gruppieren 623">
                <a:extLst>
                  <a:ext uri="{FF2B5EF4-FFF2-40B4-BE49-F238E27FC236}">
                    <a16:creationId xmlns:a16="http://schemas.microsoft.com/office/drawing/2014/main" id="{40F7312F-0B54-E1A7-B3B6-8A52DF842422}"/>
                  </a:ext>
                </a:extLst>
              </p:cNvPr>
              <p:cNvGrpSpPr/>
              <p:nvPr>
                <p:custDataLst>
                  <p:tags r:id="rId15"/>
                </p:custDataLst>
              </p:nvPr>
            </p:nvGrpSpPr>
            <p:grpSpPr>
              <a:xfrm>
                <a:off x="0" y="3157538"/>
                <a:ext cx="545343" cy="542925"/>
                <a:chOff x="0" y="3157538"/>
                <a:chExt cx="545343" cy="542925"/>
              </a:xfrm>
              <a:solidFill>
                <a:srgbClr val="9954CC"/>
              </a:solidFill>
            </p:grpSpPr>
            <p:sp>
              <p:nvSpPr>
                <p:cNvPr id="627" name="Freeform 203">
                  <a:extLst>
                    <a:ext uri="{FF2B5EF4-FFF2-40B4-BE49-F238E27FC236}">
                      <a16:creationId xmlns:a16="http://schemas.microsoft.com/office/drawing/2014/main" id="{CA871E3D-1676-4D28-B6F5-E08327A3304B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81015" y="3392120"/>
                  <a:ext cx="464328" cy="222490"/>
                </a:xfrm>
                <a:custGeom>
                  <a:avLst/>
                  <a:gdLst>
                    <a:gd name="T0" fmla="*/ 776 w 800"/>
                    <a:gd name="T1" fmla="*/ 20 h 382"/>
                    <a:gd name="T2" fmla="*/ 636 w 800"/>
                    <a:gd name="T3" fmla="*/ 80 h 382"/>
                    <a:gd name="T4" fmla="*/ 624 w 800"/>
                    <a:gd name="T5" fmla="*/ 108 h 382"/>
                    <a:gd name="T6" fmla="*/ 537 w 800"/>
                    <a:gd name="T7" fmla="*/ 166 h 382"/>
                    <a:gd name="T8" fmla="*/ 485 w 800"/>
                    <a:gd name="T9" fmla="*/ 126 h 382"/>
                    <a:gd name="T10" fmla="*/ 360 w 800"/>
                    <a:gd name="T11" fmla="*/ 122 h 382"/>
                    <a:gd name="T12" fmla="*/ 332 w 800"/>
                    <a:gd name="T13" fmla="*/ 108 h 382"/>
                    <a:gd name="T14" fmla="*/ 91 w 800"/>
                    <a:gd name="T15" fmla="*/ 118 h 382"/>
                    <a:gd name="T16" fmla="*/ 0 w 800"/>
                    <a:gd name="T17" fmla="*/ 209 h 382"/>
                    <a:gd name="T18" fmla="*/ 173 w 800"/>
                    <a:gd name="T19" fmla="*/ 382 h 382"/>
                    <a:gd name="T20" fmla="*/ 201 w 800"/>
                    <a:gd name="T21" fmla="*/ 354 h 382"/>
                    <a:gd name="T22" fmla="*/ 495 w 800"/>
                    <a:gd name="T23" fmla="*/ 354 h 382"/>
                    <a:gd name="T24" fmla="*/ 557 w 800"/>
                    <a:gd name="T25" fmla="*/ 332 h 382"/>
                    <a:gd name="T26" fmla="*/ 633 w 800"/>
                    <a:gd name="T27" fmla="*/ 267 h 382"/>
                    <a:gd name="T28" fmla="*/ 723 w 800"/>
                    <a:gd name="T29" fmla="*/ 165 h 382"/>
                    <a:gd name="T30" fmla="*/ 790 w 800"/>
                    <a:gd name="T31" fmla="*/ 61 h 382"/>
                    <a:gd name="T32" fmla="*/ 776 w 800"/>
                    <a:gd name="T33" fmla="*/ 20 h 38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</a:cxnLst>
                  <a:rect l="0" t="0" r="r" b="b"/>
                  <a:pathLst>
                    <a:path w="800" h="382">
                      <a:moveTo>
                        <a:pt x="776" y="20"/>
                      </a:moveTo>
                      <a:cubicBezTo>
                        <a:pt x="720" y="0"/>
                        <a:pt x="660" y="27"/>
                        <a:pt x="636" y="80"/>
                      </a:cubicBezTo>
                      <a:lnTo>
                        <a:pt x="624" y="108"/>
                      </a:lnTo>
                      <a:lnTo>
                        <a:pt x="537" y="166"/>
                      </a:lnTo>
                      <a:cubicBezTo>
                        <a:pt x="530" y="143"/>
                        <a:pt x="510" y="126"/>
                        <a:pt x="485" y="126"/>
                      </a:cubicBezTo>
                      <a:lnTo>
                        <a:pt x="360" y="122"/>
                      </a:lnTo>
                      <a:cubicBezTo>
                        <a:pt x="349" y="122"/>
                        <a:pt x="337" y="113"/>
                        <a:pt x="332" y="108"/>
                      </a:cubicBezTo>
                      <a:cubicBezTo>
                        <a:pt x="278" y="54"/>
                        <a:pt x="160" y="49"/>
                        <a:pt x="91" y="118"/>
                      </a:cubicBezTo>
                      <a:lnTo>
                        <a:pt x="0" y="209"/>
                      </a:lnTo>
                      <a:lnTo>
                        <a:pt x="173" y="382"/>
                      </a:lnTo>
                      <a:lnTo>
                        <a:pt x="201" y="354"/>
                      </a:lnTo>
                      <a:lnTo>
                        <a:pt x="495" y="354"/>
                      </a:lnTo>
                      <a:cubicBezTo>
                        <a:pt x="517" y="354"/>
                        <a:pt x="539" y="346"/>
                        <a:pt x="557" y="332"/>
                      </a:cubicBezTo>
                      <a:lnTo>
                        <a:pt x="633" y="267"/>
                      </a:lnTo>
                      <a:cubicBezTo>
                        <a:pt x="668" y="238"/>
                        <a:pt x="698" y="203"/>
                        <a:pt x="723" y="165"/>
                      </a:cubicBezTo>
                      <a:lnTo>
                        <a:pt x="790" y="61"/>
                      </a:lnTo>
                      <a:cubicBezTo>
                        <a:pt x="800" y="46"/>
                        <a:pt x="793" y="25"/>
                        <a:pt x="776" y="20"/>
                      </a:cubicBezTo>
                    </a:path>
                  </a:pathLst>
                </a:custGeom>
                <a:grpFill/>
                <a:ln w="9525">
                  <a:noFill/>
                  <a:round/>
                  <a:headEnd/>
                  <a:tailEnd/>
                </a:ln>
              </p:spPr>
              <p:txBody>
                <a:bodyPr vert="horz" wrap="square" lIns="68580" tIns="34290" rIns="68580" bIns="3429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6858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de-DE" sz="1350" b="0" i="0" u="none" strike="noStrike" kern="0" cap="none" spc="0" normalizeH="0" baseline="0" noProof="1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Bahnschrift" panose="020B0502040204020203" pitchFamily="34" charset="0"/>
                    <a:ea typeface="+mn-ea"/>
                    <a:cs typeface="+mn-cs"/>
                  </a:endParaRPr>
                </a:p>
              </p:txBody>
            </p:sp>
            <p:sp>
              <p:nvSpPr>
                <p:cNvPr id="628" name="Freeform 204">
                  <a:extLst>
                    <a:ext uri="{FF2B5EF4-FFF2-40B4-BE49-F238E27FC236}">
                      <a16:creationId xmlns:a16="http://schemas.microsoft.com/office/drawing/2014/main" id="{448131B2-E381-7128-A535-A34469B90764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0" y="3514248"/>
                  <a:ext cx="187424" cy="186215"/>
                </a:xfrm>
                <a:custGeom>
                  <a:avLst/>
                  <a:gdLst>
                    <a:gd name="T0" fmla="*/ 232 w 322"/>
                    <a:gd name="T1" fmla="*/ 206 h 322"/>
                    <a:gd name="T2" fmla="*/ 256 w 322"/>
                    <a:gd name="T3" fmla="*/ 230 h 322"/>
                    <a:gd name="T4" fmla="*/ 232 w 322"/>
                    <a:gd name="T5" fmla="*/ 253 h 322"/>
                    <a:gd name="T6" fmla="*/ 209 w 322"/>
                    <a:gd name="T7" fmla="*/ 230 h 322"/>
                    <a:gd name="T8" fmla="*/ 232 w 322"/>
                    <a:gd name="T9" fmla="*/ 206 h 322"/>
                    <a:gd name="T10" fmla="*/ 0 w 322"/>
                    <a:gd name="T11" fmla="*/ 92 h 322"/>
                    <a:gd name="T12" fmla="*/ 230 w 322"/>
                    <a:gd name="T13" fmla="*/ 322 h 322"/>
                    <a:gd name="T14" fmla="*/ 322 w 322"/>
                    <a:gd name="T15" fmla="*/ 230 h 322"/>
                    <a:gd name="T16" fmla="*/ 93 w 322"/>
                    <a:gd name="T17" fmla="*/ 0 h 322"/>
                    <a:gd name="T18" fmla="*/ 0 w 322"/>
                    <a:gd name="T19" fmla="*/ 92 h 32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322" h="322">
                      <a:moveTo>
                        <a:pt x="232" y="206"/>
                      </a:moveTo>
                      <a:lnTo>
                        <a:pt x="256" y="230"/>
                      </a:lnTo>
                      <a:lnTo>
                        <a:pt x="232" y="253"/>
                      </a:lnTo>
                      <a:lnTo>
                        <a:pt x="209" y="230"/>
                      </a:lnTo>
                      <a:lnTo>
                        <a:pt x="232" y="206"/>
                      </a:lnTo>
                      <a:close/>
                      <a:moveTo>
                        <a:pt x="0" y="92"/>
                      </a:moveTo>
                      <a:lnTo>
                        <a:pt x="230" y="322"/>
                      </a:lnTo>
                      <a:lnTo>
                        <a:pt x="322" y="230"/>
                      </a:lnTo>
                      <a:lnTo>
                        <a:pt x="93" y="0"/>
                      </a:lnTo>
                      <a:lnTo>
                        <a:pt x="0" y="92"/>
                      </a:lnTo>
                      <a:close/>
                    </a:path>
                  </a:pathLst>
                </a:custGeom>
                <a:grpFill/>
                <a:ln w="9525">
                  <a:noFill/>
                  <a:round/>
                  <a:headEnd/>
                  <a:tailEnd/>
                </a:ln>
              </p:spPr>
              <p:txBody>
                <a:bodyPr vert="horz" wrap="square" lIns="68580" tIns="34290" rIns="68580" bIns="3429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6858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de-DE" sz="1350" b="0" i="0" u="none" strike="noStrike" kern="0" cap="none" spc="0" normalizeH="0" baseline="0" noProof="1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Bahnschrift" panose="020B0502040204020203" pitchFamily="34" charset="0"/>
                    <a:ea typeface="+mn-ea"/>
                    <a:cs typeface="+mn-cs"/>
                  </a:endParaRPr>
                </a:p>
              </p:txBody>
            </p:sp>
            <p:sp>
              <p:nvSpPr>
                <p:cNvPr id="629" name="Freeform 206">
                  <a:extLst>
                    <a:ext uri="{FF2B5EF4-FFF2-40B4-BE49-F238E27FC236}">
                      <a16:creationId xmlns:a16="http://schemas.microsoft.com/office/drawing/2014/main" id="{A5F5B5F2-3FE6-5078-E3D6-23E69A6BBF73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192260" y="3157538"/>
                  <a:ext cx="257557" cy="303506"/>
                </a:xfrm>
                <a:custGeom>
                  <a:avLst/>
                  <a:gdLst>
                    <a:gd name="T0" fmla="*/ 222 w 444"/>
                    <a:gd name="T1" fmla="*/ 355 h 524"/>
                    <a:gd name="T2" fmla="*/ 159 w 444"/>
                    <a:gd name="T3" fmla="*/ 299 h 524"/>
                    <a:gd name="T4" fmla="*/ 204 w 444"/>
                    <a:gd name="T5" fmla="*/ 246 h 524"/>
                    <a:gd name="T6" fmla="*/ 204 w 444"/>
                    <a:gd name="T7" fmla="*/ 229 h 524"/>
                    <a:gd name="T8" fmla="*/ 240 w 444"/>
                    <a:gd name="T9" fmla="*/ 229 h 524"/>
                    <a:gd name="T10" fmla="*/ 240 w 444"/>
                    <a:gd name="T11" fmla="*/ 246 h 524"/>
                    <a:gd name="T12" fmla="*/ 285 w 444"/>
                    <a:gd name="T13" fmla="*/ 299 h 524"/>
                    <a:gd name="T14" fmla="*/ 249 w 444"/>
                    <a:gd name="T15" fmla="*/ 299 h 524"/>
                    <a:gd name="T16" fmla="*/ 222 w 444"/>
                    <a:gd name="T17" fmla="*/ 280 h 524"/>
                    <a:gd name="T18" fmla="*/ 195 w 444"/>
                    <a:gd name="T19" fmla="*/ 299 h 524"/>
                    <a:gd name="T20" fmla="*/ 222 w 444"/>
                    <a:gd name="T21" fmla="*/ 319 h 524"/>
                    <a:gd name="T22" fmla="*/ 285 w 444"/>
                    <a:gd name="T23" fmla="*/ 375 h 524"/>
                    <a:gd name="T24" fmla="*/ 240 w 444"/>
                    <a:gd name="T25" fmla="*/ 428 h 524"/>
                    <a:gd name="T26" fmla="*/ 240 w 444"/>
                    <a:gd name="T27" fmla="*/ 446 h 524"/>
                    <a:gd name="T28" fmla="*/ 204 w 444"/>
                    <a:gd name="T29" fmla="*/ 446 h 524"/>
                    <a:gd name="T30" fmla="*/ 204 w 444"/>
                    <a:gd name="T31" fmla="*/ 428 h 524"/>
                    <a:gd name="T32" fmla="*/ 159 w 444"/>
                    <a:gd name="T33" fmla="*/ 375 h 524"/>
                    <a:gd name="T34" fmla="*/ 195 w 444"/>
                    <a:gd name="T35" fmla="*/ 375 h 524"/>
                    <a:gd name="T36" fmla="*/ 222 w 444"/>
                    <a:gd name="T37" fmla="*/ 394 h 524"/>
                    <a:gd name="T38" fmla="*/ 249 w 444"/>
                    <a:gd name="T39" fmla="*/ 375 h 524"/>
                    <a:gd name="T40" fmla="*/ 222 w 444"/>
                    <a:gd name="T41" fmla="*/ 355 h 524"/>
                    <a:gd name="T42" fmla="*/ 165 w 444"/>
                    <a:gd name="T43" fmla="*/ 489 h 524"/>
                    <a:gd name="T44" fmla="*/ 172 w 444"/>
                    <a:gd name="T45" fmla="*/ 494 h 524"/>
                    <a:gd name="T46" fmla="*/ 296 w 444"/>
                    <a:gd name="T47" fmla="*/ 497 h 524"/>
                    <a:gd name="T48" fmla="*/ 357 w 444"/>
                    <a:gd name="T49" fmla="*/ 524 h 524"/>
                    <a:gd name="T50" fmla="*/ 407 w 444"/>
                    <a:gd name="T51" fmla="*/ 491 h 524"/>
                    <a:gd name="T52" fmla="*/ 415 w 444"/>
                    <a:gd name="T53" fmla="*/ 472 h 524"/>
                    <a:gd name="T54" fmla="*/ 444 w 444"/>
                    <a:gd name="T55" fmla="*/ 430 h 524"/>
                    <a:gd name="T56" fmla="*/ 444 w 444"/>
                    <a:gd name="T57" fmla="*/ 430 h 524"/>
                    <a:gd name="T58" fmla="*/ 444 w 444"/>
                    <a:gd name="T59" fmla="*/ 428 h 524"/>
                    <a:gd name="T60" fmla="*/ 286 w 444"/>
                    <a:gd name="T61" fmla="*/ 162 h 524"/>
                    <a:gd name="T62" fmla="*/ 286 w 444"/>
                    <a:gd name="T63" fmla="*/ 104 h 524"/>
                    <a:gd name="T64" fmla="*/ 310 w 444"/>
                    <a:gd name="T65" fmla="*/ 30 h 524"/>
                    <a:gd name="T66" fmla="*/ 293 w 444"/>
                    <a:gd name="T67" fmla="*/ 0 h 524"/>
                    <a:gd name="T68" fmla="*/ 293 w 444"/>
                    <a:gd name="T69" fmla="*/ 0 h 524"/>
                    <a:gd name="T70" fmla="*/ 274 w 444"/>
                    <a:gd name="T71" fmla="*/ 5 h 524"/>
                    <a:gd name="T72" fmla="*/ 265 w 444"/>
                    <a:gd name="T73" fmla="*/ 5 h 524"/>
                    <a:gd name="T74" fmla="*/ 246 w 444"/>
                    <a:gd name="T75" fmla="*/ 0 h 524"/>
                    <a:gd name="T76" fmla="*/ 227 w 444"/>
                    <a:gd name="T77" fmla="*/ 5 h 524"/>
                    <a:gd name="T78" fmla="*/ 217 w 444"/>
                    <a:gd name="T79" fmla="*/ 5 h 524"/>
                    <a:gd name="T80" fmla="*/ 198 w 444"/>
                    <a:gd name="T81" fmla="*/ 0 h 524"/>
                    <a:gd name="T82" fmla="*/ 179 w 444"/>
                    <a:gd name="T83" fmla="*/ 5 h 524"/>
                    <a:gd name="T84" fmla="*/ 170 w 444"/>
                    <a:gd name="T85" fmla="*/ 5 h 524"/>
                    <a:gd name="T86" fmla="*/ 151 w 444"/>
                    <a:gd name="T87" fmla="*/ 0 h 524"/>
                    <a:gd name="T88" fmla="*/ 151 w 444"/>
                    <a:gd name="T89" fmla="*/ 0 h 524"/>
                    <a:gd name="T90" fmla="*/ 134 w 444"/>
                    <a:gd name="T91" fmla="*/ 30 h 524"/>
                    <a:gd name="T92" fmla="*/ 158 w 444"/>
                    <a:gd name="T93" fmla="*/ 104 h 524"/>
                    <a:gd name="T94" fmla="*/ 158 w 444"/>
                    <a:gd name="T95" fmla="*/ 162 h 524"/>
                    <a:gd name="T96" fmla="*/ 0 w 444"/>
                    <a:gd name="T97" fmla="*/ 428 h 524"/>
                    <a:gd name="T98" fmla="*/ 0 w 444"/>
                    <a:gd name="T99" fmla="*/ 441 h 524"/>
                    <a:gd name="T100" fmla="*/ 30 w 444"/>
                    <a:gd name="T101" fmla="*/ 438 h 524"/>
                    <a:gd name="T102" fmla="*/ 165 w 444"/>
                    <a:gd name="T103" fmla="*/ 489 h 52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</a:cxnLst>
                  <a:rect l="0" t="0" r="r" b="b"/>
                  <a:pathLst>
                    <a:path w="444" h="524">
                      <a:moveTo>
                        <a:pt x="222" y="355"/>
                      </a:moveTo>
                      <a:cubicBezTo>
                        <a:pt x="178" y="355"/>
                        <a:pt x="159" y="327"/>
                        <a:pt x="159" y="299"/>
                      </a:cubicBezTo>
                      <a:cubicBezTo>
                        <a:pt x="159" y="274"/>
                        <a:pt x="178" y="253"/>
                        <a:pt x="204" y="246"/>
                      </a:cubicBezTo>
                      <a:lnTo>
                        <a:pt x="204" y="229"/>
                      </a:lnTo>
                      <a:lnTo>
                        <a:pt x="240" y="229"/>
                      </a:lnTo>
                      <a:lnTo>
                        <a:pt x="240" y="246"/>
                      </a:lnTo>
                      <a:cubicBezTo>
                        <a:pt x="266" y="253"/>
                        <a:pt x="285" y="274"/>
                        <a:pt x="285" y="299"/>
                      </a:cubicBezTo>
                      <a:lnTo>
                        <a:pt x="249" y="299"/>
                      </a:lnTo>
                      <a:cubicBezTo>
                        <a:pt x="249" y="289"/>
                        <a:pt x="236" y="280"/>
                        <a:pt x="222" y="280"/>
                      </a:cubicBezTo>
                      <a:cubicBezTo>
                        <a:pt x="208" y="280"/>
                        <a:pt x="195" y="289"/>
                        <a:pt x="195" y="299"/>
                      </a:cubicBezTo>
                      <a:cubicBezTo>
                        <a:pt x="195" y="316"/>
                        <a:pt x="212" y="319"/>
                        <a:pt x="222" y="319"/>
                      </a:cubicBezTo>
                      <a:cubicBezTo>
                        <a:pt x="259" y="319"/>
                        <a:pt x="285" y="342"/>
                        <a:pt x="285" y="375"/>
                      </a:cubicBezTo>
                      <a:cubicBezTo>
                        <a:pt x="285" y="400"/>
                        <a:pt x="266" y="421"/>
                        <a:pt x="240" y="428"/>
                      </a:cubicBezTo>
                      <a:lnTo>
                        <a:pt x="240" y="446"/>
                      </a:lnTo>
                      <a:lnTo>
                        <a:pt x="204" y="446"/>
                      </a:lnTo>
                      <a:lnTo>
                        <a:pt x="204" y="428"/>
                      </a:lnTo>
                      <a:cubicBezTo>
                        <a:pt x="178" y="421"/>
                        <a:pt x="159" y="400"/>
                        <a:pt x="159" y="375"/>
                      </a:cubicBezTo>
                      <a:lnTo>
                        <a:pt x="195" y="375"/>
                      </a:lnTo>
                      <a:cubicBezTo>
                        <a:pt x="195" y="385"/>
                        <a:pt x="208" y="394"/>
                        <a:pt x="222" y="394"/>
                      </a:cubicBezTo>
                      <a:cubicBezTo>
                        <a:pt x="236" y="394"/>
                        <a:pt x="249" y="385"/>
                        <a:pt x="249" y="375"/>
                      </a:cubicBezTo>
                      <a:cubicBezTo>
                        <a:pt x="249" y="363"/>
                        <a:pt x="239" y="355"/>
                        <a:pt x="222" y="355"/>
                      </a:cubicBezTo>
                      <a:close/>
                      <a:moveTo>
                        <a:pt x="165" y="489"/>
                      </a:moveTo>
                      <a:cubicBezTo>
                        <a:pt x="167" y="491"/>
                        <a:pt x="171" y="493"/>
                        <a:pt x="172" y="494"/>
                      </a:cubicBezTo>
                      <a:lnTo>
                        <a:pt x="296" y="497"/>
                      </a:lnTo>
                      <a:cubicBezTo>
                        <a:pt x="320" y="498"/>
                        <a:pt x="341" y="508"/>
                        <a:pt x="357" y="524"/>
                      </a:cubicBezTo>
                      <a:lnTo>
                        <a:pt x="407" y="491"/>
                      </a:lnTo>
                      <a:lnTo>
                        <a:pt x="415" y="472"/>
                      </a:lnTo>
                      <a:cubicBezTo>
                        <a:pt x="422" y="456"/>
                        <a:pt x="432" y="442"/>
                        <a:pt x="444" y="430"/>
                      </a:cubicBezTo>
                      <a:cubicBezTo>
                        <a:pt x="444" y="430"/>
                        <a:pt x="444" y="430"/>
                        <a:pt x="444" y="430"/>
                      </a:cubicBezTo>
                      <a:lnTo>
                        <a:pt x="444" y="428"/>
                      </a:lnTo>
                      <a:cubicBezTo>
                        <a:pt x="444" y="309"/>
                        <a:pt x="388" y="206"/>
                        <a:pt x="286" y="162"/>
                      </a:cubicBezTo>
                      <a:lnTo>
                        <a:pt x="286" y="104"/>
                      </a:lnTo>
                      <a:lnTo>
                        <a:pt x="310" y="30"/>
                      </a:lnTo>
                      <a:cubicBezTo>
                        <a:pt x="315" y="16"/>
                        <a:pt x="307" y="0"/>
                        <a:pt x="293" y="0"/>
                      </a:cubicBezTo>
                      <a:cubicBezTo>
                        <a:pt x="293" y="0"/>
                        <a:pt x="293" y="0"/>
                        <a:pt x="293" y="0"/>
                      </a:cubicBezTo>
                      <a:cubicBezTo>
                        <a:pt x="285" y="0"/>
                        <a:pt x="278" y="2"/>
                        <a:pt x="274" y="5"/>
                      </a:cubicBezTo>
                      <a:cubicBezTo>
                        <a:pt x="271" y="6"/>
                        <a:pt x="268" y="6"/>
                        <a:pt x="265" y="5"/>
                      </a:cubicBezTo>
                      <a:cubicBezTo>
                        <a:pt x="260" y="2"/>
                        <a:pt x="253" y="0"/>
                        <a:pt x="246" y="0"/>
                      </a:cubicBezTo>
                      <a:cubicBezTo>
                        <a:pt x="238" y="0"/>
                        <a:pt x="231" y="2"/>
                        <a:pt x="227" y="5"/>
                      </a:cubicBezTo>
                      <a:cubicBezTo>
                        <a:pt x="224" y="6"/>
                        <a:pt x="220" y="6"/>
                        <a:pt x="217" y="5"/>
                      </a:cubicBezTo>
                      <a:cubicBezTo>
                        <a:pt x="213" y="2"/>
                        <a:pt x="206" y="0"/>
                        <a:pt x="198" y="0"/>
                      </a:cubicBezTo>
                      <a:cubicBezTo>
                        <a:pt x="191" y="0"/>
                        <a:pt x="184" y="2"/>
                        <a:pt x="179" y="5"/>
                      </a:cubicBezTo>
                      <a:cubicBezTo>
                        <a:pt x="176" y="6"/>
                        <a:pt x="173" y="6"/>
                        <a:pt x="170" y="5"/>
                      </a:cubicBezTo>
                      <a:cubicBezTo>
                        <a:pt x="166" y="2"/>
                        <a:pt x="159" y="0"/>
                        <a:pt x="151" y="0"/>
                      </a:cubicBezTo>
                      <a:cubicBezTo>
                        <a:pt x="151" y="0"/>
                        <a:pt x="151" y="0"/>
                        <a:pt x="151" y="0"/>
                      </a:cubicBezTo>
                      <a:cubicBezTo>
                        <a:pt x="138" y="0"/>
                        <a:pt x="129" y="16"/>
                        <a:pt x="134" y="30"/>
                      </a:cubicBezTo>
                      <a:lnTo>
                        <a:pt x="158" y="104"/>
                      </a:lnTo>
                      <a:lnTo>
                        <a:pt x="158" y="162"/>
                      </a:lnTo>
                      <a:cubicBezTo>
                        <a:pt x="56" y="206"/>
                        <a:pt x="0" y="309"/>
                        <a:pt x="0" y="428"/>
                      </a:cubicBezTo>
                      <a:lnTo>
                        <a:pt x="0" y="441"/>
                      </a:lnTo>
                      <a:cubicBezTo>
                        <a:pt x="10" y="439"/>
                        <a:pt x="20" y="438"/>
                        <a:pt x="30" y="438"/>
                      </a:cubicBezTo>
                      <a:cubicBezTo>
                        <a:pt x="84" y="438"/>
                        <a:pt x="133" y="457"/>
                        <a:pt x="165" y="489"/>
                      </a:cubicBezTo>
                    </a:path>
                  </a:pathLst>
                </a:custGeom>
                <a:grpFill/>
                <a:ln w="9525">
                  <a:noFill/>
                  <a:round/>
                  <a:headEnd/>
                  <a:tailEnd/>
                </a:ln>
              </p:spPr>
              <p:txBody>
                <a:bodyPr vert="horz" wrap="square" lIns="68580" tIns="34290" rIns="68580" bIns="3429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6858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de-DE" sz="1350" b="0" i="0" u="none" strike="noStrike" kern="0" cap="none" spc="0" normalizeH="0" baseline="0" noProof="1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Bahnschrift" panose="020B0502040204020203" pitchFamily="34" charset="0"/>
                    <a:ea typeface="+mn-ea"/>
                    <a:cs typeface="+mn-cs"/>
                  </a:endParaRPr>
                </a:p>
              </p:txBody>
            </p:sp>
          </p:grpSp>
          <p:sp>
            <p:nvSpPr>
              <p:cNvPr id="625" name="Freihandform 240">
                <a:extLst>
                  <a:ext uri="{FF2B5EF4-FFF2-40B4-BE49-F238E27FC236}">
                    <a16:creationId xmlns:a16="http://schemas.microsoft.com/office/drawing/2014/main" id="{7AA146ED-7254-9E19-A0CA-4C7BC6E9D509}"/>
                  </a:ext>
                </a:extLst>
              </p:cNvPr>
              <p:cNvSpPr/>
              <p:nvPr/>
            </p:nvSpPr>
            <p:spPr>
              <a:xfrm>
                <a:off x="132106" y="3078492"/>
                <a:ext cx="320330" cy="382046"/>
              </a:xfrm>
              <a:custGeom>
                <a:avLst/>
                <a:gdLst>
                  <a:gd name="connsiteX0" fmla="*/ 206030 w 320330"/>
                  <a:gd name="connsiteY0" fmla="*/ 33802 h 382046"/>
                  <a:gd name="connsiteX1" fmla="*/ 206030 w 320330"/>
                  <a:gd name="connsiteY1" fmla="*/ 33802 h 382046"/>
                  <a:gd name="connsiteX2" fmla="*/ 153642 w 320330"/>
                  <a:gd name="connsiteY2" fmla="*/ 36184 h 382046"/>
                  <a:gd name="connsiteX3" fmla="*/ 132211 w 320330"/>
                  <a:gd name="connsiteY3" fmla="*/ 48090 h 382046"/>
                  <a:gd name="connsiteX4" fmla="*/ 113161 w 320330"/>
                  <a:gd name="connsiteY4" fmla="*/ 59996 h 382046"/>
                  <a:gd name="connsiteX5" fmla="*/ 98874 w 320330"/>
                  <a:gd name="connsiteY5" fmla="*/ 74284 h 382046"/>
                  <a:gd name="connsiteX6" fmla="*/ 82205 w 320330"/>
                  <a:gd name="connsiteY6" fmla="*/ 86190 h 382046"/>
                  <a:gd name="connsiteX7" fmla="*/ 67917 w 320330"/>
                  <a:gd name="connsiteY7" fmla="*/ 105240 h 382046"/>
                  <a:gd name="connsiteX8" fmla="*/ 60774 w 320330"/>
                  <a:gd name="connsiteY8" fmla="*/ 112384 h 382046"/>
                  <a:gd name="connsiteX9" fmla="*/ 48867 w 320330"/>
                  <a:gd name="connsiteY9" fmla="*/ 131434 h 382046"/>
                  <a:gd name="connsiteX10" fmla="*/ 39342 w 320330"/>
                  <a:gd name="connsiteY10" fmla="*/ 155246 h 382046"/>
                  <a:gd name="connsiteX11" fmla="*/ 25055 w 320330"/>
                  <a:gd name="connsiteY11" fmla="*/ 176677 h 382046"/>
                  <a:gd name="connsiteX12" fmla="*/ 15530 w 320330"/>
                  <a:gd name="connsiteY12" fmla="*/ 195727 h 382046"/>
                  <a:gd name="connsiteX13" fmla="*/ 6005 w 320330"/>
                  <a:gd name="connsiteY13" fmla="*/ 207634 h 382046"/>
                  <a:gd name="connsiteX14" fmla="*/ 3624 w 320330"/>
                  <a:gd name="connsiteY14" fmla="*/ 214777 h 382046"/>
                  <a:gd name="connsiteX15" fmla="*/ 6005 w 320330"/>
                  <a:gd name="connsiteY15" fmla="*/ 262402 h 382046"/>
                  <a:gd name="connsiteX16" fmla="*/ 22674 w 320330"/>
                  <a:gd name="connsiteY16" fmla="*/ 279071 h 382046"/>
                  <a:gd name="connsiteX17" fmla="*/ 29817 w 320330"/>
                  <a:gd name="connsiteY17" fmla="*/ 286215 h 382046"/>
                  <a:gd name="connsiteX18" fmla="*/ 36961 w 320330"/>
                  <a:gd name="connsiteY18" fmla="*/ 300502 h 382046"/>
                  <a:gd name="connsiteX19" fmla="*/ 44105 w 320330"/>
                  <a:gd name="connsiteY19" fmla="*/ 305265 h 382046"/>
                  <a:gd name="connsiteX20" fmla="*/ 48867 w 320330"/>
                  <a:gd name="connsiteY20" fmla="*/ 321934 h 382046"/>
                  <a:gd name="connsiteX21" fmla="*/ 58392 w 320330"/>
                  <a:gd name="connsiteY21" fmla="*/ 326696 h 382046"/>
                  <a:gd name="connsiteX22" fmla="*/ 72680 w 320330"/>
                  <a:gd name="connsiteY22" fmla="*/ 336221 h 382046"/>
                  <a:gd name="connsiteX23" fmla="*/ 91730 w 320330"/>
                  <a:gd name="connsiteY23" fmla="*/ 340984 h 382046"/>
                  <a:gd name="connsiteX24" fmla="*/ 101255 w 320330"/>
                  <a:gd name="connsiteY24" fmla="*/ 343365 h 382046"/>
                  <a:gd name="connsiteX25" fmla="*/ 129830 w 320330"/>
                  <a:gd name="connsiteY25" fmla="*/ 348127 h 382046"/>
                  <a:gd name="connsiteX26" fmla="*/ 136974 w 320330"/>
                  <a:gd name="connsiteY26" fmla="*/ 350509 h 382046"/>
                  <a:gd name="connsiteX27" fmla="*/ 153642 w 320330"/>
                  <a:gd name="connsiteY27" fmla="*/ 357652 h 382046"/>
                  <a:gd name="connsiteX28" fmla="*/ 170311 w 320330"/>
                  <a:gd name="connsiteY28" fmla="*/ 362415 h 382046"/>
                  <a:gd name="connsiteX29" fmla="*/ 184599 w 320330"/>
                  <a:gd name="connsiteY29" fmla="*/ 369559 h 382046"/>
                  <a:gd name="connsiteX30" fmla="*/ 225080 w 320330"/>
                  <a:gd name="connsiteY30" fmla="*/ 376702 h 382046"/>
                  <a:gd name="connsiteX31" fmla="*/ 232224 w 320330"/>
                  <a:gd name="connsiteY31" fmla="*/ 379084 h 382046"/>
                  <a:gd name="connsiteX32" fmla="*/ 291755 w 320330"/>
                  <a:gd name="connsiteY32" fmla="*/ 379084 h 382046"/>
                  <a:gd name="connsiteX33" fmla="*/ 298899 w 320330"/>
                  <a:gd name="connsiteY33" fmla="*/ 371940 h 382046"/>
                  <a:gd name="connsiteX34" fmla="*/ 308424 w 320330"/>
                  <a:gd name="connsiteY34" fmla="*/ 357652 h 382046"/>
                  <a:gd name="connsiteX35" fmla="*/ 310805 w 320330"/>
                  <a:gd name="connsiteY35" fmla="*/ 348127 h 382046"/>
                  <a:gd name="connsiteX36" fmla="*/ 317949 w 320330"/>
                  <a:gd name="connsiteY36" fmla="*/ 338602 h 382046"/>
                  <a:gd name="connsiteX37" fmla="*/ 320330 w 320330"/>
                  <a:gd name="connsiteY37" fmla="*/ 324315 h 382046"/>
                  <a:gd name="connsiteX38" fmla="*/ 317949 w 320330"/>
                  <a:gd name="connsiteY38" fmla="*/ 243352 h 382046"/>
                  <a:gd name="connsiteX39" fmla="*/ 315567 w 320330"/>
                  <a:gd name="connsiteY39" fmla="*/ 231446 h 382046"/>
                  <a:gd name="connsiteX40" fmla="*/ 308424 w 320330"/>
                  <a:gd name="connsiteY40" fmla="*/ 193346 h 382046"/>
                  <a:gd name="connsiteX41" fmla="*/ 303661 w 320330"/>
                  <a:gd name="connsiteY41" fmla="*/ 186202 h 382046"/>
                  <a:gd name="connsiteX42" fmla="*/ 294136 w 320330"/>
                  <a:gd name="connsiteY42" fmla="*/ 164771 h 382046"/>
                  <a:gd name="connsiteX43" fmla="*/ 289374 w 320330"/>
                  <a:gd name="connsiteY43" fmla="*/ 152865 h 382046"/>
                  <a:gd name="connsiteX44" fmla="*/ 275086 w 320330"/>
                  <a:gd name="connsiteY44" fmla="*/ 121909 h 382046"/>
                  <a:gd name="connsiteX45" fmla="*/ 265561 w 320330"/>
                  <a:gd name="connsiteY45" fmla="*/ 95715 h 382046"/>
                  <a:gd name="connsiteX46" fmla="*/ 263180 w 320330"/>
                  <a:gd name="connsiteY46" fmla="*/ 86190 h 382046"/>
                  <a:gd name="connsiteX47" fmla="*/ 253655 w 320330"/>
                  <a:gd name="connsiteY47" fmla="*/ 71902 h 382046"/>
                  <a:gd name="connsiteX48" fmla="*/ 246511 w 320330"/>
                  <a:gd name="connsiteY48" fmla="*/ 50471 h 382046"/>
                  <a:gd name="connsiteX49" fmla="*/ 239367 w 320330"/>
                  <a:gd name="connsiteY49" fmla="*/ 38565 h 382046"/>
                  <a:gd name="connsiteX50" fmla="*/ 232224 w 320330"/>
                  <a:gd name="connsiteY50" fmla="*/ 17134 h 382046"/>
                  <a:gd name="connsiteX51" fmla="*/ 227461 w 320330"/>
                  <a:gd name="connsiteY51" fmla="*/ 9990 h 382046"/>
                  <a:gd name="connsiteX52" fmla="*/ 225080 w 320330"/>
                  <a:gd name="connsiteY52" fmla="*/ 465 h 382046"/>
                  <a:gd name="connsiteX53" fmla="*/ 206030 w 320330"/>
                  <a:gd name="connsiteY53" fmla="*/ 33802 h 38204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</a:cxnLst>
                <a:rect l="l" t="t" r="r" b="b"/>
                <a:pathLst>
                  <a:path w="320330" h="382046">
                    <a:moveTo>
                      <a:pt x="206030" y="33802"/>
                    </a:moveTo>
                    <a:lnTo>
                      <a:pt x="206030" y="33802"/>
                    </a:lnTo>
                    <a:cubicBezTo>
                      <a:pt x="188567" y="34596"/>
                      <a:pt x="171067" y="34790"/>
                      <a:pt x="153642" y="36184"/>
                    </a:cubicBezTo>
                    <a:cubicBezTo>
                      <a:pt x="146592" y="36748"/>
                      <a:pt x="135990" y="45445"/>
                      <a:pt x="132211" y="48090"/>
                    </a:cubicBezTo>
                    <a:cubicBezTo>
                      <a:pt x="116754" y="58910"/>
                      <a:pt x="129002" y="52077"/>
                      <a:pt x="113161" y="59996"/>
                    </a:cubicBezTo>
                    <a:cubicBezTo>
                      <a:pt x="101942" y="76827"/>
                      <a:pt x="116590" y="56569"/>
                      <a:pt x="98874" y="74284"/>
                    </a:cubicBezTo>
                    <a:cubicBezTo>
                      <a:pt x="85796" y="87361"/>
                      <a:pt x="105646" y="76813"/>
                      <a:pt x="82205" y="86190"/>
                    </a:cubicBezTo>
                    <a:cubicBezTo>
                      <a:pt x="77442" y="92540"/>
                      <a:pt x="73529" y="99627"/>
                      <a:pt x="67917" y="105240"/>
                    </a:cubicBezTo>
                    <a:cubicBezTo>
                      <a:pt x="65536" y="107621"/>
                      <a:pt x="62930" y="109797"/>
                      <a:pt x="60774" y="112384"/>
                    </a:cubicBezTo>
                    <a:cubicBezTo>
                      <a:pt x="58288" y="115367"/>
                      <a:pt x="49647" y="130030"/>
                      <a:pt x="48867" y="131434"/>
                    </a:cubicBezTo>
                    <a:cubicBezTo>
                      <a:pt x="40892" y="145789"/>
                      <a:pt x="46596" y="137111"/>
                      <a:pt x="39342" y="155246"/>
                    </a:cubicBezTo>
                    <a:cubicBezTo>
                      <a:pt x="35120" y="165801"/>
                      <a:pt x="32771" y="167033"/>
                      <a:pt x="25055" y="176677"/>
                    </a:cubicBezTo>
                    <a:cubicBezTo>
                      <a:pt x="20321" y="195616"/>
                      <a:pt x="26324" y="176837"/>
                      <a:pt x="15530" y="195727"/>
                    </a:cubicBezTo>
                    <a:cubicBezTo>
                      <a:pt x="8451" y="208115"/>
                      <a:pt x="19562" y="198595"/>
                      <a:pt x="6005" y="207634"/>
                    </a:cubicBezTo>
                    <a:cubicBezTo>
                      <a:pt x="5211" y="210015"/>
                      <a:pt x="4314" y="212364"/>
                      <a:pt x="3624" y="214777"/>
                    </a:cubicBezTo>
                    <a:cubicBezTo>
                      <a:pt x="-1127" y="231404"/>
                      <a:pt x="-2042" y="241839"/>
                      <a:pt x="6005" y="262402"/>
                    </a:cubicBezTo>
                    <a:cubicBezTo>
                      <a:pt x="8868" y="269720"/>
                      <a:pt x="17118" y="273515"/>
                      <a:pt x="22674" y="279071"/>
                    </a:cubicBezTo>
                    <a:lnTo>
                      <a:pt x="29817" y="286215"/>
                    </a:lnTo>
                    <a:cubicBezTo>
                      <a:pt x="31754" y="292024"/>
                      <a:pt x="32346" y="295887"/>
                      <a:pt x="36961" y="300502"/>
                    </a:cubicBezTo>
                    <a:cubicBezTo>
                      <a:pt x="38985" y="302526"/>
                      <a:pt x="41724" y="303677"/>
                      <a:pt x="44105" y="305265"/>
                    </a:cubicBezTo>
                    <a:cubicBezTo>
                      <a:pt x="45692" y="310821"/>
                      <a:pt x="45662" y="317126"/>
                      <a:pt x="48867" y="321934"/>
                    </a:cubicBezTo>
                    <a:cubicBezTo>
                      <a:pt x="50836" y="324888"/>
                      <a:pt x="55348" y="324870"/>
                      <a:pt x="58392" y="326696"/>
                    </a:cubicBezTo>
                    <a:cubicBezTo>
                      <a:pt x="63300" y="329641"/>
                      <a:pt x="67250" y="334411"/>
                      <a:pt x="72680" y="336221"/>
                    </a:cubicBezTo>
                    <a:cubicBezTo>
                      <a:pt x="85444" y="340475"/>
                      <a:pt x="74493" y="337153"/>
                      <a:pt x="91730" y="340984"/>
                    </a:cubicBezTo>
                    <a:cubicBezTo>
                      <a:pt x="94925" y="341694"/>
                      <a:pt x="98038" y="342762"/>
                      <a:pt x="101255" y="343365"/>
                    </a:cubicBezTo>
                    <a:cubicBezTo>
                      <a:pt x="110746" y="345144"/>
                      <a:pt x="129830" y="348127"/>
                      <a:pt x="129830" y="348127"/>
                    </a:cubicBezTo>
                    <a:cubicBezTo>
                      <a:pt x="132211" y="348921"/>
                      <a:pt x="134667" y="349520"/>
                      <a:pt x="136974" y="350509"/>
                    </a:cubicBezTo>
                    <a:cubicBezTo>
                      <a:pt x="149673" y="355952"/>
                      <a:pt x="142474" y="354461"/>
                      <a:pt x="153642" y="357652"/>
                    </a:cubicBezTo>
                    <a:cubicBezTo>
                      <a:pt x="157197" y="358668"/>
                      <a:pt x="166508" y="360514"/>
                      <a:pt x="170311" y="362415"/>
                    </a:cubicBezTo>
                    <a:cubicBezTo>
                      <a:pt x="184224" y="369371"/>
                      <a:pt x="170634" y="365569"/>
                      <a:pt x="184599" y="369559"/>
                    </a:cubicBezTo>
                    <a:cubicBezTo>
                      <a:pt x="197794" y="373329"/>
                      <a:pt x="211538" y="374768"/>
                      <a:pt x="225080" y="376702"/>
                    </a:cubicBezTo>
                    <a:cubicBezTo>
                      <a:pt x="227461" y="377496"/>
                      <a:pt x="229789" y="378475"/>
                      <a:pt x="232224" y="379084"/>
                    </a:cubicBezTo>
                    <a:cubicBezTo>
                      <a:pt x="255131" y="384811"/>
                      <a:pt x="258097" y="380767"/>
                      <a:pt x="291755" y="379084"/>
                    </a:cubicBezTo>
                    <a:cubicBezTo>
                      <a:pt x="294136" y="376703"/>
                      <a:pt x="297031" y="374742"/>
                      <a:pt x="298899" y="371940"/>
                    </a:cubicBezTo>
                    <a:cubicBezTo>
                      <a:pt x="312684" y="351262"/>
                      <a:pt x="285634" y="380442"/>
                      <a:pt x="308424" y="357652"/>
                    </a:cubicBezTo>
                    <a:cubicBezTo>
                      <a:pt x="309218" y="354477"/>
                      <a:pt x="309341" y="351054"/>
                      <a:pt x="310805" y="348127"/>
                    </a:cubicBezTo>
                    <a:cubicBezTo>
                      <a:pt x="312580" y="344577"/>
                      <a:pt x="316475" y="342287"/>
                      <a:pt x="317949" y="338602"/>
                    </a:cubicBezTo>
                    <a:cubicBezTo>
                      <a:pt x="319742" y="334119"/>
                      <a:pt x="319536" y="329077"/>
                      <a:pt x="320330" y="324315"/>
                    </a:cubicBezTo>
                    <a:cubicBezTo>
                      <a:pt x="319536" y="297327"/>
                      <a:pt x="319332" y="270316"/>
                      <a:pt x="317949" y="243352"/>
                    </a:cubicBezTo>
                    <a:cubicBezTo>
                      <a:pt x="317742" y="239310"/>
                      <a:pt x="316182" y="235446"/>
                      <a:pt x="315567" y="231446"/>
                    </a:cubicBezTo>
                    <a:cubicBezTo>
                      <a:pt x="314503" y="224530"/>
                      <a:pt x="312561" y="199551"/>
                      <a:pt x="308424" y="193346"/>
                    </a:cubicBezTo>
                    <a:lnTo>
                      <a:pt x="303661" y="186202"/>
                    </a:lnTo>
                    <a:cubicBezTo>
                      <a:pt x="298622" y="171084"/>
                      <a:pt x="304470" y="187506"/>
                      <a:pt x="294136" y="164771"/>
                    </a:cubicBezTo>
                    <a:cubicBezTo>
                      <a:pt x="292367" y="160880"/>
                      <a:pt x="291165" y="156746"/>
                      <a:pt x="289374" y="152865"/>
                    </a:cubicBezTo>
                    <a:cubicBezTo>
                      <a:pt x="272211" y="115677"/>
                      <a:pt x="285934" y="149025"/>
                      <a:pt x="275086" y="121909"/>
                    </a:cubicBezTo>
                    <a:cubicBezTo>
                      <a:pt x="270300" y="97974"/>
                      <a:pt x="276306" y="122576"/>
                      <a:pt x="265561" y="95715"/>
                    </a:cubicBezTo>
                    <a:cubicBezTo>
                      <a:pt x="264346" y="92676"/>
                      <a:pt x="264644" y="89117"/>
                      <a:pt x="263180" y="86190"/>
                    </a:cubicBezTo>
                    <a:cubicBezTo>
                      <a:pt x="260620" y="81070"/>
                      <a:pt x="256396" y="76927"/>
                      <a:pt x="253655" y="71902"/>
                    </a:cubicBezTo>
                    <a:cubicBezTo>
                      <a:pt x="238486" y="44093"/>
                      <a:pt x="256965" y="73992"/>
                      <a:pt x="246511" y="50471"/>
                    </a:cubicBezTo>
                    <a:cubicBezTo>
                      <a:pt x="244631" y="46242"/>
                      <a:pt x="241437" y="42705"/>
                      <a:pt x="239367" y="38565"/>
                    </a:cubicBezTo>
                    <a:cubicBezTo>
                      <a:pt x="220034" y="-102"/>
                      <a:pt x="245868" y="48969"/>
                      <a:pt x="232224" y="17134"/>
                    </a:cubicBezTo>
                    <a:cubicBezTo>
                      <a:pt x="231097" y="14503"/>
                      <a:pt x="229049" y="12371"/>
                      <a:pt x="227461" y="9990"/>
                    </a:cubicBezTo>
                    <a:cubicBezTo>
                      <a:pt x="226667" y="6815"/>
                      <a:pt x="226369" y="3473"/>
                      <a:pt x="225080" y="465"/>
                    </a:cubicBezTo>
                    <a:cubicBezTo>
                      <a:pt x="223061" y="-4247"/>
                      <a:pt x="209205" y="28246"/>
                      <a:pt x="206030" y="33802"/>
                    </a:cubicBezTo>
                    <a:close/>
                  </a:path>
                </a:pathLst>
              </a:custGeom>
              <a:solidFill>
                <a:sysClr val="window" lastClr="FFFFFF"/>
              </a:solidFill>
              <a:ln w="12700" cap="flat" cmpd="sng" algn="ctr">
                <a:solidFill>
                  <a:sysClr val="window" lastClr="FFFFFF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6858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de-DE" sz="1350" b="0" i="0" u="none" strike="noStrike" kern="0" cap="none" spc="0" normalizeH="0" baseline="0" noProof="1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Bahnschrift" panose="020B0502040204020203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626" name="Bolt3" descr="{&quot;Key&quot;:&quot;POWER_USER_SHAPE_ICON&quot;,&quot;Value&quot;:&quot;POWER_USER_SHAPE_ICON_STYLE_1&quot;}">
                <a:extLst>
                  <a:ext uri="{FF2B5EF4-FFF2-40B4-BE49-F238E27FC236}">
                    <a16:creationId xmlns:a16="http://schemas.microsoft.com/office/drawing/2014/main" id="{9ACA6EA6-F158-5577-96E5-292890BDFD05}"/>
                  </a:ext>
                </a:extLst>
              </p:cNvPr>
              <p:cNvSpPr>
                <a:spLocks noChangeAspect="1"/>
              </p:cNvSpPr>
              <p:nvPr>
                <p:custDataLst>
                  <p:tags r:id="rId16"/>
                </p:custDataLst>
              </p:nvPr>
            </p:nvSpPr>
            <p:spPr bwMode="auto">
              <a:xfrm>
                <a:off x="234737" y="3127907"/>
                <a:ext cx="197755" cy="316407"/>
              </a:xfrm>
              <a:custGeom>
                <a:avLst/>
                <a:gdLst>
                  <a:gd name="T0" fmla="*/ 132 w 511"/>
                  <a:gd name="T1" fmla="*/ 773 h 815"/>
                  <a:gd name="T2" fmla="*/ 212 w 511"/>
                  <a:gd name="T3" fmla="*/ 474 h 815"/>
                  <a:gd name="T4" fmla="*/ 32 w 511"/>
                  <a:gd name="T5" fmla="*/ 474 h 815"/>
                  <a:gd name="T6" fmla="*/ 13 w 511"/>
                  <a:gd name="T7" fmla="*/ 435 h 815"/>
                  <a:gd name="T8" fmla="*/ 336 w 511"/>
                  <a:gd name="T9" fmla="*/ 21 h 815"/>
                  <a:gd name="T10" fmla="*/ 379 w 511"/>
                  <a:gd name="T11" fmla="*/ 42 h 815"/>
                  <a:gd name="T12" fmla="*/ 299 w 511"/>
                  <a:gd name="T13" fmla="*/ 341 h 815"/>
                  <a:gd name="T14" fmla="*/ 479 w 511"/>
                  <a:gd name="T15" fmla="*/ 341 h 815"/>
                  <a:gd name="T16" fmla="*/ 499 w 511"/>
                  <a:gd name="T17" fmla="*/ 380 h 815"/>
                  <a:gd name="T18" fmla="*/ 176 w 511"/>
                  <a:gd name="T19" fmla="*/ 794 h 815"/>
                  <a:gd name="T20" fmla="*/ 132 w 511"/>
                  <a:gd name="T21" fmla="*/ 773 h 81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511" h="815">
                    <a:moveTo>
                      <a:pt x="132" y="773"/>
                    </a:moveTo>
                    <a:lnTo>
                      <a:pt x="212" y="474"/>
                    </a:lnTo>
                    <a:lnTo>
                      <a:pt x="32" y="474"/>
                    </a:lnTo>
                    <a:cubicBezTo>
                      <a:pt x="12" y="474"/>
                      <a:pt x="0" y="450"/>
                      <a:pt x="13" y="435"/>
                    </a:cubicBezTo>
                    <a:lnTo>
                      <a:pt x="336" y="21"/>
                    </a:lnTo>
                    <a:cubicBezTo>
                      <a:pt x="352" y="0"/>
                      <a:pt x="386" y="17"/>
                      <a:pt x="379" y="42"/>
                    </a:cubicBezTo>
                    <a:lnTo>
                      <a:pt x="299" y="341"/>
                    </a:lnTo>
                    <a:lnTo>
                      <a:pt x="479" y="341"/>
                    </a:lnTo>
                    <a:cubicBezTo>
                      <a:pt x="500" y="341"/>
                      <a:pt x="511" y="365"/>
                      <a:pt x="499" y="380"/>
                    </a:cubicBezTo>
                    <a:lnTo>
                      <a:pt x="176" y="794"/>
                    </a:lnTo>
                    <a:cubicBezTo>
                      <a:pt x="159" y="815"/>
                      <a:pt x="125" y="798"/>
                      <a:pt x="132" y="773"/>
                    </a:cubicBezTo>
                    <a:close/>
                  </a:path>
                </a:pathLst>
              </a:custGeom>
              <a:solidFill>
                <a:srgbClr val="9954CC"/>
              </a:solidFill>
              <a:ln>
                <a:noFill/>
              </a:ln>
            </p:spPr>
            <p:txBody>
              <a:bodyPr vert="horz" wrap="square" lIns="68580" tIns="34290" rIns="68580" bIns="3429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6858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de-DE" sz="1350" b="0" i="0" u="none" strike="noStrike" kern="0" cap="none" spc="0" normalizeH="0" baseline="0" noProof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Bahnschrift" panose="020B0502040204020203" pitchFamily="34" charset="0"/>
                  <a:ea typeface="+mn-ea"/>
                  <a:cs typeface="+mn-cs"/>
                </a:endParaRPr>
              </a:p>
            </p:txBody>
          </p:sp>
        </p:grpSp>
        <p:grpSp>
          <p:nvGrpSpPr>
            <p:cNvPr id="621" name="Gruppieren 620" descr="{&quot;Key&quot;:&quot;POWER_USER_SHAPE_ICON&quot;,&quot;Value&quot;:&quot;POWER_USER_SHAPE_ICON_STYLE_2&quot;}">
              <a:extLst>
                <a:ext uri="{FF2B5EF4-FFF2-40B4-BE49-F238E27FC236}">
                  <a16:creationId xmlns:a16="http://schemas.microsoft.com/office/drawing/2014/main" id="{9286CD04-9C40-4F60-CC22-BD0AD73436B6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9163525" y="3777549"/>
              <a:ext cx="328332" cy="328332"/>
              <a:chOff x="7786650" y="4317126"/>
              <a:chExt cx="762000" cy="762000"/>
            </a:xfrm>
            <a:noFill/>
          </p:grpSpPr>
          <p:sp>
            <p:nvSpPr>
              <p:cNvPr id="622" name="POWER_USER_SHAPE_ICON_STYLE_2">
                <a:extLst>
                  <a:ext uri="{FF2B5EF4-FFF2-40B4-BE49-F238E27FC236}">
                    <a16:creationId xmlns:a16="http://schemas.microsoft.com/office/drawing/2014/main" id="{FC71694D-49C8-BE1B-6782-099EFFD5DCF7}"/>
                  </a:ext>
                </a:extLst>
              </p:cNvPr>
              <p:cNvSpPr/>
              <p:nvPr/>
            </p:nvSpPr>
            <p:spPr>
              <a:xfrm>
                <a:off x="7786650" y="4317126"/>
                <a:ext cx="762000" cy="762000"/>
              </a:xfrm>
              <a:prstGeom prst="ellipse">
                <a:avLst/>
              </a:prstGeom>
              <a:solidFill>
                <a:sysClr val="window" lastClr="FFFFFF"/>
              </a:solidFill>
              <a:ln w="28575" cap="flat" cmpd="sng" algn="ctr">
                <a:solidFill>
                  <a:srgbClr val="9954CC"/>
                </a:solidFill>
                <a:prstDash val="sysDot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6858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de-DE" sz="1350" b="0" i="0" u="none" strike="noStrike" kern="0" cap="none" spc="0" normalizeH="0" baseline="0" noProof="1">
                  <a:ln>
                    <a:noFill/>
                  </a:ln>
                  <a:solidFill>
                    <a:srgbClr val="9954CC"/>
                  </a:solidFill>
                  <a:effectLst/>
                  <a:uLnTx/>
                  <a:uFillTx/>
                  <a:latin typeface="Bahnschrift" panose="020B0502040204020203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623" name="Building5" descr="{&quot;Key&quot;:&quot;POWER_USER_SHAPE_ICON&quot;,&quot;Value&quot;:&quot;POWER_USER_SHAPE_ICON_STYLE_1&quot;}">
                <a:extLst>
                  <a:ext uri="{FF2B5EF4-FFF2-40B4-BE49-F238E27FC236}">
                    <a16:creationId xmlns:a16="http://schemas.microsoft.com/office/drawing/2014/main" id="{1B2A083E-3AE1-78E7-0B11-8A771435D8A4}"/>
                  </a:ext>
                </a:extLst>
              </p:cNvPr>
              <p:cNvSpPr>
                <a:spLocks noChangeAspect="1" noEditPoints="1"/>
              </p:cNvSpPr>
              <p:nvPr>
                <p:custDataLst>
                  <p:tags r:id="rId14"/>
                </p:custDataLst>
              </p:nvPr>
            </p:nvSpPr>
            <p:spPr bwMode="auto">
              <a:xfrm>
                <a:off x="7913650" y="4456556"/>
                <a:ext cx="508000" cy="483141"/>
              </a:xfrm>
              <a:custGeom>
                <a:avLst/>
                <a:gdLst>
                  <a:gd name="T0" fmla="*/ 915 w 1250"/>
                  <a:gd name="T1" fmla="*/ 250 h 1187"/>
                  <a:gd name="T2" fmla="*/ 915 w 1250"/>
                  <a:gd name="T3" fmla="*/ 1053 h 1187"/>
                  <a:gd name="T4" fmla="*/ 848 w 1250"/>
                  <a:gd name="T5" fmla="*/ 1053 h 1187"/>
                  <a:gd name="T6" fmla="*/ 850 w 1250"/>
                  <a:gd name="T7" fmla="*/ 0 h 1187"/>
                  <a:gd name="T8" fmla="*/ 448 w 1250"/>
                  <a:gd name="T9" fmla="*/ 0 h 1187"/>
                  <a:gd name="T10" fmla="*/ 446 w 1250"/>
                  <a:gd name="T11" fmla="*/ 1053 h 1187"/>
                  <a:gd name="T12" fmla="*/ 379 w 1250"/>
                  <a:gd name="T13" fmla="*/ 1053 h 1187"/>
                  <a:gd name="T14" fmla="*/ 379 w 1250"/>
                  <a:gd name="T15" fmla="*/ 361 h 1187"/>
                  <a:gd name="T16" fmla="*/ 0 w 1250"/>
                  <a:gd name="T17" fmla="*/ 361 h 1187"/>
                  <a:gd name="T18" fmla="*/ 0 w 1250"/>
                  <a:gd name="T19" fmla="*/ 1187 h 1187"/>
                  <a:gd name="T20" fmla="*/ 1250 w 1250"/>
                  <a:gd name="T21" fmla="*/ 1187 h 1187"/>
                  <a:gd name="T22" fmla="*/ 1250 w 1250"/>
                  <a:gd name="T23" fmla="*/ 250 h 1187"/>
                  <a:gd name="T24" fmla="*/ 915 w 1250"/>
                  <a:gd name="T25" fmla="*/ 250 h 1187"/>
                  <a:gd name="T26" fmla="*/ 982 w 1250"/>
                  <a:gd name="T27" fmla="*/ 339 h 1187"/>
                  <a:gd name="T28" fmla="*/ 1183 w 1250"/>
                  <a:gd name="T29" fmla="*/ 339 h 1187"/>
                  <a:gd name="T30" fmla="*/ 1183 w 1250"/>
                  <a:gd name="T31" fmla="*/ 584 h 1187"/>
                  <a:gd name="T32" fmla="*/ 982 w 1250"/>
                  <a:gd name="T33" fmla="*/ 584 h 1187"/>
                  <a:gd name="T34" fmla="*/ 982 w 1250"/>
                  <a:gd name="T35" fmla="*/ 339 h 1187"/>
                  <a:gd name="T36" fmla="*/ 982 w 1250"/>
                  <a:gd name="T37" fmla="*/ 674 h 1187"/>
                  <a:gd name="T38" fmla="*/ 1183 w 1250"/>
                  <a:gd name="T39" fmla="*/ 674 h 1187"/>
                  <a:gd name="T40" fmla="*/ 1183 w 1250"/>
                  <a:gd name="T41" fmla="*/ 919 h 1187"/>
                  <a:gd name="T42" fmla="*/ 982 w 1250"/>
                  <a:gd name="T43" fmla="*/ 919 h 1187"/>
                  <a:gd name="T44" fmla="*/ 982 w 1250"/>
                  <a:gd name="T45" fmla="*/ 674 h 1187"/>
                  <a:gd name="T46" fmla="*/ 513 w 1250"/>
                  <a:gd name="T47" fmla="*/ 71 h 1187"/>
                  <a:gd name="T48" fmla="*/ 781 w 1250"/>
                  <a:gd name="T49" fmla="*/ 71 h 1187"/>
                  <a:gd name="T50" fmla="*/ 781 w 1250"/>
                  <a:gd name="T51" fmla="*/ 183 h 1187"/>
                  <a:gd name="T52" fmla="*/ 513 w 1250"/>
                  <a:gd name="T53" fmla="*/ 183 h 1187"/>
                  <a:gd name="T54" fmla="*/ 513 w 1250"/>
                  <a:gd name="T55" fmla="*/ 71 h 1187"/>
                  <a:gd name="T56" fmla="*/ 513 w 1250"/>
                  <a:gd name="T57" fmla="*/ 294 h 1187"/>
                  <a:gd name="T58" fmla="*/ 781 w 1250"/>
                  <a:gd name="T59" fmla="*/ 294 h 1187"/>
                  <a:gd name="T60" fmla="*/ 781 w 1250"/>
                  <a:gd name="T61" fmla="*/ 406 h 1187"/>
                  <a:gd name="T62" fmla="*/ 513 w 1250"/>
                  <a:gd name="T63" fmla="*/ 406 h 1187"/>
                  <a:gd name="T64" fmla="*/ 513 w 1250"/>
                  <a:gd name="T65" fmla="*/ 294 h 1187"/>
                  <a:gd name="T66" fmla="*/ 513 w 1250"/>
                  <a:gd name="T67" fmla="*/ 517 h 1187"/>
                  <a:gd name="T68" fmla="*/ 781 w 1250"/>
                  <a:gd name="T69" fmla="*/ 517 h 1187"/>
                  <a:gd name="T70" fmla="*/ 781 w 1250"/>
                  <a:gd name="T71" fmla="*/ 629 h 1187"/>
                  <a:gd name="T72" fmla="*/ 513 w 1250"/>
                  <a:gd name="T73" fmla="*/ 629 h 1187"/>
                  <a:gd name="T74" fmla="*/ 513 w 1250"/>
                  <a:gd name="T75" fmla="*/ 517 h 1187"/>
                  <a:gd name="T76" fmla="*/ 513 w 1250"/>
                  <a:gd name="T77" fmla="*/ 741 h 1187"/>
                  <a:gd name="T78" fmla="*/ 781 w 1250"/>
                  <a:gd name="T79" fmla="*/ 741 h 1187"/>
                  <a:gd name="T80" fmla="*/ 781 w 1250"/>
                  <a:gd name="T81" fmla="*/ 852 h 1187"/>
                  <a:gd name="T82" fmla="*/ 513 w 1250"/>
                  <a:gd name="T83" fmla="*/ 852 h 1187"/>
                  <a:gd name="T84" fmla="*/ 513 w 1250"/>
                  <a:gd name="T85" fmla="*/ 741 h 1187"/>
                  <a:gd name="T86" fmla="*/ 67 w 1250"/>
                  <a:gd name="T87" fmla="*/ 450 h 1187"/>
                  <a:gd name="T88" fmla="*/ 156 w 1250"/>
                  <a:gd name="T89" fmla="*/ 450 h 1187"/>
                  <a:gd name="T90" fmla="*/ 156 w 1250"/>
                  <a:gd name="T91" fmla="*/ 607 h 1187"/>
                  <a:gd name="T92" fmla="*/ 67 w 1250"/>
                  <a:gd name="T93" fmla="*/ 607 h 1187"/>
                  <a:gd name="T94" fmla="*/ 67 w 1250"/>
                  <a:gd name="T95" fmla="*/ 450 h 1187"/>
                  <a:gd name="T96" fmla="*/ 223 w 1250"/>
                  <a:gd name="T97" fmla="*/ 450 h 1187"/>
                  <a:gd name="T98" fmla="*/ 313 w 1250"/>
                  <a:gd name="T99" fmla="*/ 450 h 1187"/>
                  <a:gd name="T100" fmla="*/ 313 w 1250"/>
                  <a:gd name="T101" fmla="*/ 607 h 1187"/>
                  <a:gd name="T102" fmla="*/ 223 w 1250"/>
                  <a:gd name="T103" fmla="*/ 607 h 1187"/>
                  <a:gd name="T104" fmla="*/ 223 w 1250"/>
                  <a:gd name="T105" fmla="*/ 450 h 1187"/>
                  <a:gd name="T106" fmla="*/ 67 w 1250"/>
                  <a:gd name="T107" fmla="*/ 718 h 1187"/>
                  <a:gd name="T108" fmla="*/ 156 w 1250"/>
                  <a:gd name="T109" fmla="*/ 718 h 1187"/>
                  <a:gd name="T110" fmla="*/ 156 w 1250"/>
                  <a:gd name="T111" fmla="*/ 875 h 1187"/>
                  <a:gd name="T112" fmla="*/ 67 w 1250"/>
                  <a:gd name="T113" fmla="*/ 875 h 1187"/>
                  <a:gd name="T114" fmla="*/ 67 w 1250"/>
                  <a:gd name="T115" fmla="*/ 718 h 1187"/>
                  <a:gd name="T116" fmla="*/ 223 w 1250"/>
                  <a:gd name="T117" fmla="*/ 718 h 1187"/>
                  <a:gd name="T118" fmla="*/ 313 w 1250"/>
                  <a:gd name="T119" fmla="*/ 718 h 1187"/>
                  <a:gd name="T120" fmla="*/ 313 w 1250"/>
                  <a:gd name="T121" fmla="*/ 875 h 1187"/>
                  <a:gd name="T122" fmla="*/ 223 w 1250"/>
                  <a:gd name="T123" fmla="*/ 875 h 1187"/>
                  <a:gd name="T124" fmla="*/ 223 w 1250"/>
                  <a:gd name="T125" fmla="*/ 718 h 118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  <a:cxn ang="0">
                    <a:pos x="T122" y="T123"/>
                  </a:cxn>
                  <a:cxn ang="0">
                    <a:pos x="T124" y="T125"/>
                  </a:cxn>
                </a:cxnLst>
                <a:rect l="0" t="0" r="r" b="b"/>
                <a:pathLst>
                  <a:path w="1250" h="1187">
                    <a:moveTo>
                      <a:pt x="915" y="250"/>
                    </a:moveTo>
                    <a:lnTo>
                      <a:pt x="915" y="1053"/>
                    </a:lnTo>
                    <a:lnTo>
                      <a:pt x="848" y="1053"/>
                    </a:lnTo>
                    <a:lnTo>
                      <a:pt x="850" y="0"/>
                    </a:lnTo>
                    <a:lnTo>
                      <a:pt x="448" y="0"/>
                    </a:lnTo>
                    <a:lnTo>
                      <a:pt x="446" y="1053"/>
                    </a:lnTo>
                    <a:lnTo>
                      <a:pt x="379" y="1053"/>
                    </a:lnTo>
                    <a:lnTo>
                      <a:pt x="379" y="361"/>
                    </a:lnTo>
                    <a:lnTo>
                      <a:pt x="0" y="361"/>
                    </a:lnTo>
                    <a:lnTo>
                      <a:pt x="0" y="1187"/>
                    </a:lnTo>
                    <a:lnTo>
                      <a:pt x="1250" y="1187"/>
                    </a:lnTo>
                    <a:lnTo>
                      <a:pt x="1250" y="250"/>
                    </a:lnTo>
                    <a:lnTo>
                      <a:pt x="915" y="250"/>
                    </a:lnTo>
                    <a:close/>
                    <a:moveTo>
                      <a:pt x="982" y="339"/>
                    </a:moveTo>
                    <a:lnTo>
                      <a:pt x="1183" y="339"/>
                    </a:lnTo>
                    <a:lnTo>
                      <a:pt x="1183" y="584"/>
                    </a:lnTo>
                    <a:lnTo>
                      <a:pt x="982" y="584"/>
                    </a:lnTo>
                    <a:lnTo>
                      <a:pt x="982" y="339"/>
                    </a:lnTo>
                    <a:close/>
                    <a:moveTo>
                      <a:pt x="982" y="674"/>
                    </a:moveTo>
                    <a:lnTo>
                      <a:pt x="1183" y="674"/>
                    </a:lnTo>
                    <a:lnTo>
                      <a:pt x="1183" y="919"/>
                    </a:lnTo>
                    <a:lnTo>
                      <a:pt x="982" y="919"/>
                    </a:lnTo>
                    <a:lnTo>
                      <a:pt x="982" y="674"/>
                    </a:lnTo>
                    <a:close/>
                    <a:moveTo>
                      <a:pt x="513" y="71"/>
                    </a:moveTo>
                    <a:lnTo>
                      <a:pt x="781" y="71"/>
                    </a:lnTo>
                    <a:lnTo>
                      <a:pt x="781" y="183"/>
                    </a:lnTo>
                    <a:lnTo>
                      <a:pt x="513" y="183"/>
                    </a:lnTo>
                    <a:lnTo>
                      <a:pt x="513" y="71"/>
                    </a:lnTo>
                    <a:close/>
                    <a:moveTo>
                      <a:pt x="513" y="294"/>
                    </a:moveTo>
                    <a:lnTo>
                      <a:pt x="781" y="294"/>
                    </a:lnTo>
                    <a:lnTo>
                      <a:pt x="781" y="406"/>
                    </a:lnTo>
                    <a:lnTo>
                      <a:pt x="513" y="406"/>
                    </a:lnTo>
                    <a:lnTo>
                      <a:pt x="513" y="294"/>
                    </a:lnTo>
                    <a:close/>
                    <a:moveTo>
                      <a:pt x="513" y="517"/>
                    </a:moveTo>
                    <a:lnTo>
                      <a:pt x="781" y="517"/>
                    </a:lnTo>
                    <a:lnTo>
                      <a:pt x="781" y="629"/>
                    </a:lnTo>
                    <a:lnTo>
                      <a:pt x="513" y="629"/>
                    </a:lnTo>
                    <a:lnTo>
                      <a:pt x="513" y="517"/>
                    </a:lnTo>
                    <a:close/>
                    <a:moveTo>
                      <a:pt x="513" y="741"/>
                    </a:moveTo>
                    <a:lnTo>
                      <a:pt x="781" y="741"/>
                    </a:lnTo>
                    <a:lnTo>
                      <a:pt x="781" y="852"/>
                    </a:lnTo>
                    <a:lnTo>
                      <a:pt x="513" y="852"/>
                    </a:lnTo>
                    <a:lnTo>
                      <a:pt x="513" y="741"/>
                    </a:lnTo>
                    <a:close/>
                    <a:moveTo>
                      <a:pt x="67" y="450"/>
                    </a:moveTo>
                    <a:lnTo>
                      <a:pt x="156" y="450"/>
                    </a:lnTo>
                    <a:lnTo>
                      <a:pt x="156" y="607"/>
                    </a:lnTo>
                    <a:lnTo>
                      <a:pt x="67" y="607"/>
                    </a:lnTo>
                    <a:lnTo>
                      <a:pt x="67" y="450"/>
                    </a:lnTo>
                    <a:close/>
                    <a:moveTo>
                      <a:pt x="223" y="450"/>
                    </a:moveTo>
                    <a:lnTo>
                      <a:pt x="313" y="450"/>
                    </a:lnTo>
                    <a:lnTo>
                      <a:pt x="313" y="607"/>
                    </a:lnTo>
                    <a:lnTo>
                      <a:pt x="223" y="607"/>
                    </a:lnTo>
                    <a:lnTo>
                      <a:pt x="223" y="450"/>
                    </a:lnTo>
                    <a:close/>
                    <a:moveTo>
                      <a:pt x="67" y="718"/>
                    </a:moveTo>
                    <a:lnTo>
                      <a:pt x="156" y="718"/>
                    </a:lnTo>
                    <a:lnTo>
                      <a:pt x="156" y="875"/>
                    </a:lnTo>
                    <a:lnTo>
                      <a:pt x="67" y="875"/>
                    </a:lnTo>
                    <a:lnTo>
                      <a:pt x="67" y="718"/>
                    </a:lnTo>
                    <a:close/>
                    <a:moveTo>
                      <a:pt x="223" y="718"/>
                    </a:moveTo>
                    <a:lnTo>
                      <a:pt x="313" y="718"/>
                    </a:lnTo>
                    <a:lnTo>
                      <a:pt x="313" y="875"/>
                    </a:lnTo>
                    <a:lnTo>
                      <a:pt x="223" y="875"/>
                    </a:lnTo>
                    <a:lnTo>
                      <a:pt x="223" y="718"/>
                    </a:lnTo>
                    <a:close/>
                  </a:path>
                </a:pathLst>
              </a:custGeom>
              <a:solidFill>
                <a:srgbClr val="9954CC"/>
              </a:solidFill>
              <a:ln>
                <a:noFill/>
              </a:ln>
            </p:spPr>
            <p:txBody>
              <a:bodyPr vert="horz" wrap="square" lIns="68580" tIns="34290" rIns="68580" bIns="3429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6858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de-DE" sz="1350" b="0" i="0" u="none" strike="noStrike" kern="0" cap="none" spc="0" normalizeH="0" baseline="0" noProof="1">
                  <a:ln>
                    <a:noFill/>
                  </a:ln>
                  <a:solidFill>
                    <a:srgbClr val="9954CC"/>
                  </a:solidFill>
                  <a:effectLst/>
                  <a:uLnTx/>
                  <a:uFillTx/>
                  <a:latin typeface="Bahnschrift" panose="020B0502040204020203" pitchFamily="34" charset="0"/>
                  <a:ea typeface="+mn-ea"/>
                  <a:cs typeface="+mn-cs"/>
                </a:endParaRPr>
              </a:p>
            </p:txBody>
          </p:sp>
        </p:grpSp>
      </p:grpSp>
      <p:sp>
        <p:nvSpPr>
          <p:cNvPr id="630" name="Rechteck 629">
            <a:extLst>
              <a:ext uri="{FF2B5EF4-FFF2-40B4-BE49-F238E27FC236}">
                <a16:creationId xmlns:a16="http://schemas.microsoft.com/office/drawing/2014/main" id="{8EF5859D-FCAE-85DC-99AB-A07B4589B56A}"/>
              </a:ext>
            </a:extLst>
          </p:cNvPr>
          <p:cNvSpPr/>
          <p:nvPr/>
        </p:nvSpPr>
        <p:spPr bwMode="auto">
          <a:xfrm>
            <a:off x="9721248" y="3527616"/>
            <a:ext cx="854452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1000" b="0" i="0" u="none" strike="noStrike" kern="1200" cap="none" spc="0" normalizeH="0" baseline="0" noProof="1">
                <a:ln>
                  <a:noFill/>
                </a:ln>
                <a:solidFill>
                  <a:srgbClr val="5FB564"/>
                </a:solidFill>
                <a:effectLst/>
                <a:uLnTx/>
                <a:uFillTx/>
                <a:latin typeface="Bahnschrift" panose="020B0502040204020203" pitchFamily="34" charset="0"/>
                <a:ea typeface="+mn-ea"/>
                <a:cs typeface="+mn-cs"/>
              </a:rPr>
              <a:t>Gebäude-Betrieb </a:t>
            </a: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1000" b="0" i="0" u="none" strike="noStrike" kern="1200" cap="none" spc="0" normalizeH="0" baseline="0" noProof="1">
                <a:ln>
                  <a:noFill/>
                </a:ln>
                <a:solidFill>
                  <a:srgbClr val="5FB564"/>
                </a:solidFill>
                <a:effectLst/>
                <a:uLnTx/>
                <a:uFillTx/>
                <a:latin typeface="Bahnschrift" panose="020B0502040204020203" pitchFamily="34" charset="0"/>
                <a:ea typeface="+mn-ea"/>
                <a:cs typeface="+mn-cs"/>
              </a:rPr>
              <a:t>und -Nutzung</a:t>
            </a:r>
          </a:p>
        </p:txBody>
      </p:sp>
      <p:sp>
        <p:nvSpPr>
          <p:cNvPr id="631" name="Rechteck 630">
            <a:extLst>
              <a:ext uri="{FF2B5EF4-FFF2-40B4-BE49-F238E27FC236}">
                <a16:creationId xmlns:a16="http://schemas.microsoft.com/office/drawing/2014/main" id="{53435934-9171-C8FE-F7A7-A3C81F33504A}"/>
              </a:ext>
            </a:extLst>
          </p:cNvPr>
          <p:cNvSpPr/>
          <p:nvPr/>
        </p:nvSpPr>
        <p:spPr bwMode="auto">
          <a:xfrm>
            <a:off x="10843169" y="3553830"/>
            <a:ext cx="868590" cy="86177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1000" b="0" i="0" u="none" strike="noStrike" kern="1200" cap="none" spc="0" normalizeH="0" baseline="0" noProof="1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Bahnschrift" panose="020B0502040204020203" pitchFamily="34" charset="0"/>
                <a:ea typeface="+mn-ea"/>
                <a:cs typeface="+mn-cs"/>
              </a:rPr>
              <a:t>Lokale </a:t>
            </a: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1000" b="0" i="0" u="none" strike="noStrike" kern="1200" cap="none" spc="0" normalizeH="0" baseline="0" noProof="1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Bahnschrift" panose="020B0502040204020203" pitchFamily="34" charset="0"/>
                <a:ea typeface="+mn-ea"/>
                <a:cs typeface="+mn-cs"/>
              </a:rPr>
              <a:t>Erneuer-bare</a:t>
            </a: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1000" b="0" i="0" u="none" strike="noStrike" kern="1200" cap="none" spc="0" normalizeH="0" baseline="0" noProof="1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Bahnschrift" panose="020B0502040204020203" pitchFamily="34" charset="0"/>
                <a:ea typeface="+mn-ea"/>
                <a:cs typeface="+mn-cs"/>
              </a:rPr>
              <a:t>Energie-Quelle</a:t>
            </a:r>
          </a:p>
        </p:txBody>
      </p:sp>
      <p:sp>
        <p:nvSpPr>
          <p:cNvPr id="632" name="Rechteck 631">
            <a:extLst>
              <a:ext uri="{FF2B5EF4-FFF2-40B4-BE49-F238E27FC236}">
                <a16:creationId xmlns:a16="http://schemas.microsoft.com/office/drawing/2014/main" id="{3111ECA0-DBA1-894B-0B3B-C2B963A1C1F5}"/>
              </a:ext>
            </a:extLst>
          </p:cNvPr>
          <p:cNvSpPr/>
          <p:nvPr/>
        </p:nvSpPr>
        <p:spPr bwMode="auto">
          <a:xfrm>
            <a:off x="7780560" y="3358630"/>
            <a:ext cx="935231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1000" b="0" i="0" u="none" strike="noStrike" kern="1200" cap="none" spc="0" normalizeH="0" baseline="0" noProof="1">
                <a:ln>
                  <a:noFill/>
                </a:ln>
                <a:solidFill>
                  <a:srgbClr val="5FB564"/>
                </a:solidFill>
                <a:effectLst/>
                <a:uLnTx/>
                <a:uFillTx/>
                <a:latin typeface="Bahnschrift" panose="020B0502040204020203" pitchFamily="34" charset="0"/>
                <a:ea typeface="+mn-ea"/>
                <a:cs typeface="+mn-cs"/>
              </a:rPr>
              <a:t>Gebäude-Betrieb </a:t>
            </a: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1000" b="0" i="0" u="none" strike="noStrike" kern="1200" cap="none" spc="0" normalizeH="0" baseline="0" noProof="1">
                <a:ln>
                  <a:noFill/>
                </a:ln>
                <a:solidFill>
                  <a:srgbClr val="5FB564"/>
                </a:solidFill>
                <a:effectLst/>
                <a:uLnTx/>
                <a:uFillTx/>
                <a:latin typeface="Bahnschrift" panose="020B0502040204020203" pitchFamily="34" charset="0"/>
                <a:ea typeface="+mn-ea"/>
                <a:cs typeface="+mn-cs"/>
              </a:rPr>
              <a:t>und -Nutzung</a:t>
            </a:r>
          </a:p>
        </p:txBody>
      </p:sp>
      <p:sp>
        <p:nvSpPr>
          <p:cNvPr id="633" name="Rechteck 632">
            <a:extLst>
              <a:ext uri="{FF2B5EF4-FFF2-40B4-BE49-F238E27FC236}">
                <a16:creationId xmlns:a16="http://schemas.microsoft.com/office/drawing/2014/main" id="{B5D9A6AA-F7BA-D440-2F5F-0F664E7ED786}"/>
              </a:ext>
            </a:extLst>
          </p:cNvPr>
          <p:cNvSpPr/>
          <p:nvPr/>
        </p:nvSpPr>
        <p:spPr bwMode="auto">
          <a:xfrm>
            <a:off x="8931897" y="3315851"/>
            <a:ext cx="931012" cy="86177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1000" b="0" i="0" u="none" strike="noStrike" kern="1200" cap="none" spc="0" normalizeH="0" baseline="0" noProof="1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Bahnschrift" panose="020B0502040204020203" pitchFamily="34" charset="0"/>
                <a:ea typeface="+mn-ea"/>
                <a:cs typeface="+mn-cs"/>
              </a:rPr>
              <a:t>Lokale </a:t>
            </a: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1000" b="0" i="0" u="none" strike="noStrike" kern="1200" cap="none" spc="0" normalizeH="0" baseline="0" noProof="1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Bahnschrift" panose="020B0502040204020203" pitchFamily="34" charset="0"/>
                <a:ea typeface="+mn-ea"/>
                <a:cs typeface="+mn-cs"/>
              </a:rPr>
              <a:t>Erneuer-bare</a:t>
            </a: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1000" b="0" i="0" u="none" strike="noStrike" kern="1200" cap="none" spc="0" normalizeH="0" baseline="0" noProof="1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Bahnschrift" panose="020B0502040204020203" pitchFamily="34" charset="0"/>
                <a:ea typeface="+mn-ea"/>
                <a:cs typeface="+mn-cs"/>
              </a:rPr>
              <a:t>Energie-Quelle</a:t>
            </a:r>
          </a:p>
        </p:txBody>
      </p:sp>
      <p:sp>
        <p:nvSpPr>
          <p:cNvPr id="634" name="Rechteck 633">
            <a:extLst>
              <a:ext uri="{FF2B5EF4-FFF2-40B4-BE49-F238E27FC236}">
                <a16:creationId xmlns:a16="http://schemas.microsoft.com/office/drawing/2014/main" id="{64DB7BA8-7431-7290-C0FC-1ADD9B0EC7E8}"/>
              </a:ext>
            </a:extLst>
          </p:cNvPr>
          <p:cNvSpPr/>
          <p:nvPr/>
        </p:nvSpPr>
        <p:spPr bwMode="auto">
          <a:xfrm>
            <a:off x="7822920" y="4343248"/>
            <a:ext cx="943409" cy="4154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1050" b="0" i="0" u="none" strike="noStrike" kern="1200" cap="none" spc="0" normalizeH="0" baseline="0" noProof="1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Bahnschrift" panose="020B0502040204020203" pitchFamily="34" charset="0"/>
                <a:ea typeface="+mn-ea"/>
                <a:cs typeface="+mn-cs"/>
              </a:rPr>
              <a:t>MIV</a:t>
            </a: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050" b="0" i="0" u="none" strike="noStrike" kern="1200" cap="none" spc="0" normalizeH="0" baseline="0" noProof="1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Bahnschrift" panose="020B0502040204020203" pitchFamily="34" charset="0"/>
              <a:ea typeface="+mn-ea"/>
              <a:cs typeface="+mn-cs"/>
            </a:endParaRPr>
          </a:p>
        </p:txBody>
      </p:sp>
      <p:sp>
        <p:nvSpPr>
          <p:cNvPr id="635" name="Band: nach unten gekippt 634">
            <a:extLst>
              <a:ext uri="{FF2B5EF4-FFF2-40B4-BE49-F238E27FC236}">
                <a16:creationId xmlns:a16="http://schemas.microsoft.com/office/drawing/2014/main" id="{662E44A4-9832-BDEA-C346-A83532DE3C06}"/>
              </a:ext>
            </a:extLst>
          </p:cNvPr>
          <p:cNvSpPr/>
          <p:nvPr/>
        </p:nvSpPr>
        <p:spPr bwMode="auto">
          <a:xfrm>
            <a:off x="7832160" y="2770796"/>
            <a:ext cx="1728000" cy="540000"/>
          </a:xfrm>
          <a:prstGeom prst="ribbon">
            <a:avLst>
              <a:gd name="adj1" fmla="val 15670"/>
              <a:gd name="adj2" fmla="val 75000"/>
            </a:avLst>
          </a:prstGeom>
          <a:solidFill>
            <a:srgbClr val="3BACBE">
              <a:lumMod val="60000"/>
              <a:lumOff val="40000"/>
            </a:srgbClr>
          </a:solidFill>
          <a:ln w="635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2133" b="0" i="0" u="none" strike="noStrike" kern="0" cap="none" spc="0" normalizeH="0" baseline="0" noProof="1">
              <a:ln>
                <a:noFill/>
              </a:ln>
              <a:solidFill>
                <a:srgbClr val="E6EFF3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36" name="Band: nach unten gekippt 635">
            <a:extLst>
              <a:ext uri="{FF2B5EF4-FFF2-40B4-BE49-F238E27FC236}">
                <a16:creationId xmlns:a16="http://schemas.microsoft.com/office/drawing/2014/main" id="{70C3AA94-A184-62C6-F86E-B122B7F9620F}"/>
              </a:ext>
            </a:extLst>
          </p:cNvPr>
          <p:cNvSpPr/>
          <p:nvPr/>
        </p:nvSpPr>
        <p:spPr bwMode="auto">
          <a:xfrm>
            <a:off x="5951251" y="3080300"/>
            <a:ext cx="1728000" cy="540000"/>
          </a:xfrm>
          <a:prstGeom prst="ribbon">
            <a:avLst>
              <a:gd name="adj1" fmla="val 17116"/>
              <a:gd name="adj2" fmla="val 75000"/>
            </a:avLst>
          </a:prstGeom>
          <a:solidFill>
            <a:srgbClr val="950F53"/>
          </a:solidFill>
          <a:ln w="635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400" b="0" i="0" u="none" strike="noStrike" kern="0" cap="none" spc="0" normalizeH="0" baseline="0" noProof="1">
              <a:ln>
                <a:noFill/>
              </a:ln>
              <a:solidFill>
                <a:srgbClr val="E6EFF3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37" name="Rechteck 636">
            <a:extLst>
              <a:ext uri="{FF2B5EF4-FFF2-40B4-BE49-F238E27FC236}">
                <a16:creationId xmlns:a16="http://schemas.microsoft.com/office/drawing/2014/main" id="{F5C4E84D-C1FF-4E5D-1AB1-D163536B4BA4}"/>
              </a:ext>
            </a:extLst>
          </p:cNvPr>
          <p:cNvSpPr/>
          <p:nvPr/>
        </p:nvSpPr>
        <p:spPr bwMode="auto">
          <a:xfrm>
            <a:off x="6165119" y="3190868"/>
            <a:ext cx="1333351" cy="4154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1050" b="1" i="0" u="none" strike="noStrike" kern="1200" cap="none" spc="0" normalizeH="0" baseline="0" noProof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Bahnschrift" panose="020B0502040204020203" pitchFamily="34" charset="0"/>
                <a:ea typeface="+mn-ea"/>
                <a:cs typeface="+mn-cs"/>
              </a:rPr>
              <a:t>Plus-Energie-Quartier</a:t>
            </a:r>
          </a:p>
        </p:txBody>
      </p:sp>
      <p:grpSp>
        <p:nvGrpSpPr>
          <p:cNvPr id="638" name="Gruppieren 637">
            <a:extLst>
              <a:ext uri="{FF2B5EF4-FFF2-40B4-BE49-F238E27FC236}">
                <a16:creationId xmlns:a16="http://schemas.microsoft.com/office/drawing/2014/main" id="{986E2C7F-3B06-CE33-F071-C077764E2059}"/>
              </a:ext>
            </a:extLst>
          </p:cNvPr>
          <p:cNvGrpSpPr/>
          <p:nvPr/>
        </p:nvGrpSpPr>
        <p:grpSpPr>
          <a:xfrm>
            <a:off x="6558951" y="2748104"/>
            <a:ext cx="483327" cy="460448"/>
            <a:chOff x="640424" y="760723"/>
            <a:chExt cx="730208" cy="730206"/>
          </a:xfrm>
          <a:solidFill>
            <a:srgbClr val="1F00CC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639" name="Stern: 12 Zacken 638">
              <a:extLst>
                <a:ext uri="{FF2B5EF4-FFF2-40B4-BE49-F238E27FC236}">
                  <a16:creationId xmlns:a16="http://schemas.microsoft.com/office/drawing/2014/main" id="{E88CE428-EAEE-9110-D4AD-EA924FD421DA}"/>
                </a:ext>
              </a:extLst>
            </p:cNvPr>
            <p:cNvSpPr/>
            <p:nvPr/>
          </p:nvSpPr>
          <p:spPr>
            <a:xfrm>
              <a:off x="640424" y="760723"/>
              <a:ext cx="730208" cy="730206"/>
            </a:xfrm>
            <a:prstGeom prst="star12">
              <a:avLst>
                <a:gd name="adj" fmla="val 44170"/>
              </a:avLst>
            </a:prstGeom>
            <a:solidFill>
              <a:srgbClr val="950F53"/>
            </a:solidFill>
            <a:ln w="12700" cap="flat" cmpd="sng" algn="ctr">
              <a:solidFill>
                <a:srgbClr val="950F53"/>
              </a:solidFill>
              <a:prstDash val="solid"/>
              <a:miter lim="800000"/>
            </a:ln>
            <a:effectLst>
              <a:innerShdw blurRad="63500" dist="50800" dir="13500000">
                <a:srgbClr val="F59C00">
                  <a:lumMod val="20000"/>
                  <a:lumOff val="80000"/>
                  <a:alpha val="72000"/>
                </a:srgbClr>
              </a:innerShdw>
            </a:effectLst>
          </p:spPr>
          <p:txBody>
            <a:bodyPr rtlCol="0" anchor="ctr"/>
            <a:lstStyle/>
            <a:p>
              <a:pPr marL="0" marR="0" lvl="0" indent="0" algn="ctr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de-DE" sz="1400" b="0" i="0" u="none" strike="noStrike" kern="0" cap="none" spc="0" normalizeH="0" baseline="0" noProof="1">
                <a:ln>
                  <a:noFill/>
                </a:ln>
                <a:solidFill>
                  <a:srgbClr val="E6EFF3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640" name="Building5" descr="{&quot;Key&quot;:&quot;POWER_USER_SHAPE_ICON&quot;,&quot;Value&quot;:&quot;POWER_USER_SHAPE_ICON_STYLE_1&quot;}">
              <a:extLst>
                <a:ext uri="{FF2B5EF4-FFF2-40B4-BE49-F238E27FC236}">
                  <a16:creationId xmlns:a16="http://schemas.microsoft.com/office/drawing/2014/main" id="{5EF72BC5-4F56-851E-F26F-F72C2E7467D3}"/>
                </a:ext>
              </a:extLst>
            </p:cNvPr>
            <p:cNvSpPr>
              <a:spLocks noChangeAspect="1" noEditPoints="1"/>
            </p:cNvSpPr>
            <p:nvPr>
              <p:custDataLst>
                <p:tags r:id="rId13"/>
              </p:custDataLst>
            </p:nvPr>
          </p:nvSpPr>
          <p:spPr bwMode="auto">
            <a:xfrm>
              <a:off x="757342" y="875488"/>
              <a:ext cx="490330" cy="436778"/>
            </a:xfrm>
            <a:custGeom>
              <a:avLst/>
              <a:gdLst>
                <a:gd name="T0" fmla="*/ 915 w 1250"/>
                <a:gd name="T1" fmla="*/ 250 h 1187"/>
                <a:gd name="T2" fmla="*/ 915 w 1250"/>
                <a:gd name="T3" fmla="*/ 1053 h 1187"/>
                <a:gd name="T4" fmla="*/ 848 w 1250"/>
                <a:gd name="T5" fmla="*/ 1053 h 1187"/>
                <a:gd name="T6" fmla="*/ 850 w 1250"/>
                <a:gd name="T7" fmla="*/ 0 h 1187"/>
                <a:gd name="T8" fmla="*/ 448 w 1250"/>
                <a:gd name="T9" fmla="*/ 0 h 1187"/>
                <a:gd name="T10" fmla="*/ 446 w 1250"/>
                <a:gd name="T11" fmla="*/ 1053 h 1187"/>
                <a:gd name="T12" fmla="*/ 379 w 1250"/>
                <a:gd name="T13" fmla="*/ 1053 h 1187"/>
                <a:gd name="T14" fmla="*/ 379 w 1250"/>
                <a:gd name="T15" fmla="*/ 361 h 1187"/>
                <a:gd name="T16" fmla="*/ 0 w 1250"/>
                <a:gd name="T17" fmla="*/ 361 h 1187"/>
                <a:gd name="T18" fmla="*/ 0 w 1250"/>
                <a:gd name="T19" fmla="*/ 1187 h 1187"/>
                <a:gd name="T20" fmla="*/ 1250 w 1250"/>
                <a:gd name="T21" fmla="*/ 1187 h 1187"/>
                <a:gd name="T22" fmla="*/ 1250 w 1250"/>
                <a:gd name="T23" fmla="*/ 250 h 1187"/>
                <a:gd name="T24" fmla="*/ 915 w 1250"/>
                <a:gd name="T25" fmla="*/ 250 h 1187"/>
                <a:gd name="T26" fmla="*/ 982 w 1250"/>
                <a:gd name="T27" fmla="*/ 339 h 1187"/>
                <a:gd name="T28" fmla="*/ 1183 w 1250"/>
                <a:gd name="T29" fmla="*/ 339 h 1187"/>
                <a:gd name="T30" fmla="*/ 1183 w 1250"/>
                <a:gd name="T31" fmla="*/ 584 h 1187"/>
                <a:gd name="T32" fmla="*/ 982 w 1250"/>
                <a:gd name="T33" fmla="*/ 584 h 1187"/>
                <a:gd name="T34" fmla="*/ 982 w 1250"/>
                <a:gd name="T35" fmla="*/ 339 h 1187"/>
                <a:gd name="T36" fmla="*/ 982 w 1250"/>
                <a:gd name="T37" fmla="*/ 674 h 1187"/>
                <a:gd name="T38" fmla="*/ 1183 w 1250"/>
                <a:gd name="T39" fmla="*/ 674 h 1187"/>
                <a:gd name="T40" fmla="*/ 1183 w 1250"/>
                <a:gd name="T41" fmla="*/ 919 h 1187"/>
                <a:gd name="T42" fmla="*/ 982 w 1250"/>
                <a:gd name="T43" fmla="*/ 919 h 1187"/>
                <a:gd name="T44" fmla="*/ 982 w 1250"/>
                <a:gd name="T45" fmla="*/ 674 h 1187"/>
                <a:gd name="T46" fmla="*/ 513 w 1250"/>
                <a:gd name="T47" fmla="*/ 71 h 1187"/>
                <a:gd name="T48" fmla="*/ 781 w 1250"/>
                <a:gd name="T49" fmla="*/ 71 h 1187"/>
                <a:gd name="T50" fmla="*/ 781 w 1250"/>
                <a:gd name="T51" fmla="*/ 183 h 1187"/>
                <a:gd name="T52" fmla="*/ 513 w 1250"/>
                <a:gd name="T53" fmla="*/ 183 h 1187"/>
                <a:gd name="T54" fmla="*/ 513 w 1250"/>
                <a:gd name="T55" fmla="*/ 71 h 1187"/>
                <a:gd name="T56" fmla="*/ 513 w 1250"/>
                <a:gd name="T57" fmla="*/ 294 h 1187"/>
                <a:gd name="T58" fmla="*/ 781 w 1250"/>
                <a:gd name="T59" fmla="*/ 294 h 1187"/>
                <a:gd name="T60" fmla="*/ 781 w 1250"/>
                <a:gd name="T61" fmla="*/ 406 h 1187"/>
                <a:gd name="T62" fmla="*/ 513 w 1250"/>
                <a:gd name="T63" fmla="*/ 406 h 1187"/>
                <a:gd name="T64" fmla="*/ 513 w 1250"/>
                <a:gd name="T65" fmla="*/ 294 h 1187"/>
                <a:gd name="T66" fmla="*/ 513 w 1250"/>
                <a:gd name="T67" fmla="*/ 517 h 1187"/>
                <a:gd name="T68" fmla="*/ 781 w 1250"/>
                <a:gd name="T69" fmla="*/ 517 h 1187"/>
                <a:gd name="T70" fmla="*/ 781 w 1250"/>
                <a:gd name="T71" fmla="*/ 629 h 1187"/>
                <a:gd name="T72" fmla="*/ 513 w 1250"/>
                <a:gd name="T73" fmla="*/ 629 h 1187"/>
                <a:gd name="T74" fmla="*/ 513 w 1250"/>
                <a:gd name="T75" fmla="*/ 517 h 1187"/>
                <a:gd name="T76" fmla="*/ 513 w 1250"/>
                <a:gd name="T77" fmla="*/ 741 h 1187"/>
                <a:gd name="T78" fmla="*/ 781 w 1250"/>
                <a:gd name="T79" fmla="*/ 741 h 1187"/>
                <a:gd name="T80" fmla="*/ 781 w 1250"/>
                <a:gd name="T81" fmla="*/ 852 h 1187"/>
                <a:gd name="T82" fmla="*/ 513 w 1250"/>
                <a:gd name="T83" fmla="*/ 852 h 1187"/>
                <a:gd name="T84" fmla="*/ 513 w 1250"/>
                <a:gd name="T85" fmla="*/ 741 h 1187"/>
                <a:gd name="T86" fmla="*/ 67 w 1250"/>
                <a:gd name="T87" fmla="*/ 450 h 1187"/>
                <a:gd name="T88" fmla="*/ 156 w 1250"/>
                <a:gd name="T89" fmla="*/ 450 h 1187"/>
                <a:gd name="T90" fmla="*/ 156 w 1250"/>
                <a:gd name="T91" fmla="*/ 607 h 1187"/>
                <a:gd name="T92" fmla="*/ 67 w 1250"/>
                <a:gd name="T93" fmla="*/ 607 h 1187"/>
                <a:gd name="T94" fmla="*/ 67 w 1250"/>
                <a:gd name="T95" fmla="*/ 450 h 1187"/>
                <a:gd name="T96" fmla="*/ 223 w 1250"/>
                <a:gd name="T97" fmla="*/ 450 h 1187"/>
                <a:gd name="T98" fmla="*/ 313 w 1250"/>
                <a:gd name="T99" fmla="*/ 450 h 1187"/>
                <a:gd name="T100" fmla="*/ 313 w 1250"/>
                <a:gd name="T101" fmla="*/ 607 h 1187"/>
                <a:gd name="T102" fmla="*/ 223 w 1250"/>
                <a:gd name="T103" fmla="*/ 607 h 1187"/>
                <a:gd name="T104" fmla="*/ 223 w 1250"/>
                <a:gd name="T105" fmla="*/ 450 h 1187"/>
                <a:gd name="T106" fmla="*/ 67 w 1250"/>
                <a:gd name="T107" fmla="*/ 718 h 1187"/>
                <a:gd name="T108" fmla="*/ 156 w 1250"/>
                <a:gd name="T109" fmla="*/ 718 h 1187"/>
                <a:gd name="T110" fmla="*/ 156 w 1250"/>
                <a:gd name="T111" fmla="*/ 875 h 1187"/>
                <a:gd name="T112" fmla="*/ 67 w 1250"/>
                <a:gd name="T113" fmla="*/ 875 h 1187"/>
                <a:gd name="T114" fmla="*/ 67 w 1250"/>
                <a:gd name="T115" fmla="*/ 718 h 1187"/>
                <a:gd name="T116" fmla="*/ 223 w 1250"/>
                <a:gd name="T117" fmla="*/ 718 h 1187"/>
                <a:gd name="T118" fmla="*/ 313 w 1250"/>
                <a:gd name="T119" fmla="*/ 718 h 1187"/>
                <a:gd name="T120" fmla="*/ 313 w 1250"/>
                <a:gd name="T121" fmla="*/ 875 h 1187"/>
                <a:gd name="T122" fmla="*/ 223 w 1250"/>
                <a:gd name="T123" fmla="*/ 875 h 1187"/>
                <a:gd name="T124" fmla="*/ 223 w 1250"/>
                <a:gd name="T125" fmla="*/ 718 h 11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1250" h="1187">
                  <a:moveTo>
                    <a:pt x="915" y="250"/>
                  </a:moveTo>
                  <a:lnTo>
                    <a:pt x="915" y="1053"/>
                  </a:lnTo>
                  <a:lnTo>
                    <a:pt x="848" y="1053"/>
                  </a:lnTo>
                  <a:lnTo>
                    <a:pt x="850" y="0"/>
                  </a:lnTo>
                  <a:lnTo>
                    <a:pt x="448" y="0"/>
                  </a:lnTo>
                  <a:lnTo>
                    <a:pt x="446" y="1053"/>
                  </a:lnTo>
                  <a:lnTo>
                    <a:pt x="379" y="1053"/>
                  </a:lnTo>
                  <a:lnTo>
                    <a:pt x="379" y="361"/>
                  </a:lnTo>
                  <a:lnTo>
                    <a:pt x="0" y="361"/>
                  </a:lnTo>
                  <a:lnTo>
                    <a:pt x="0" y="1187"/>
                  </a:lnTo>
                  <a:lnTo>
                    <a:pt x="1250" y="1187"/>
                  </a:lnTo>
                  <a:lnTo>
                    <a:pt x="1250" y="250"/>
                  </a:lnTo>
                  <a:lnTo>
                    <a:pt x="915" y="250"/>
                  </a:lnTo>
                  <a:close/>
                  <a:moveTo>
                    <a:pt x="982" y="339"/>
                  </a:moveTo>
                  <a:lnTo>
                    <a:pt x="1183" y="339"/>
                  </a:lnTo>
                  <a:lnTo>
                    <a:pt x="1183" y="584"/>
                  </a:lnTo>
                  <a:lnTo>
                    <a:pt x="982" y="584"/>
                  </a:lnTo>
                  <a:lnTo>
                    <a:pt x="982" y="339"/>
                  </a:lnTo>
                  <a:close/>
                  <a:moveTo>
                    <a:pt x="982" y="674"/>
                  </a:moveTo>
                  <a:lnTo>
                    <a:pt x="1183" y="674"/>
                  </a:lnTo>
                  <a:lnTo>
                    <a:pt x="1183" y="919"/>
                  </a:lnTo>
                  <a:lnTo>
                    <a:pt x="982" y="919"/>
                  </a:lnTo>
                  <a:lnTo>
                    <a:pt x="982" y="674"/>
                  </a:lnTo>
                  <a:close/>
                  <a:moveTo>
                    <a:pt x="513" y="71"/>
                  </a:moveTo>
                  <a:lnTo>
                    <a:pt x="781" y="71"/>
                  </a:lnTo>
                  <a:lnTo>
                    <a:pt x="781" y="183"/>
                  </a:lnTo>
                  <a:lnTo>
                    <a:pt x="513" y="183"/>
                  </a:lnTo>
                  <a:lnTo>
                    <a:pt x="513" y="71"/>
                  </a:lnTo>
                  <a:close/>
                  <a:moveTo>
                    <a:pt x="513" y="294"/>
                  </a:moveTo>
                  <a:lnTo>
                    <a:pt x="781" y="294"/>
                  </a:lnTo>
                  <a:lnTo>
                    <a:pt x="781" y="406"/>
                  </a:lnTo>
                  <a:lnTo>
                    <a:pt x="513" y="406"/>
                  </a:lnTo>
                  <a:lnTo>
                    <a:pt x="513" y="294"/>
                  </a:lnTo>
                  <a:close/>
                  <a:moveTo>
                    <a:pt x="513" y="517"/>
                  </a:moveTo>
                  <a:lnTo>
                    <a:pt x="781" y="517"/>
                  </a:lnTo>
                  <a:lnTo>
                    <a:pt x="781" y="629"/>
                  </a:lnTo>
                  <a:lnTo>
                    <a:pt x="513" y="629"/>
                  </a:lnTo>
                  <a:lnTo>
                    <a:pt x="513" y="517"/>
                  </a:lnTo>
                  <a:close/>
                  <a:moveTo>
                    <a:pt x="513" y="741"/>
                  </a:moveTo>
                  <a:lnTo>
                    <a:pt x="781" y="741"/>
                  </a:lnTo>
                  <a:lnTo>
                    <a:pt x="781" y="852"/>
                  </a:lnTo>
                  <a:lnTo>
                    <a:pt x="513" y="852"/>
                  </a:lnTo>
                  <a:lnTo>
                    <a:pt x="513" y="741"/>
                  </a:lnTo>
                  <a:close/>
                  <a:moveTo>
                    <a:pt x="67" y="450"/>
                  </a:moveTo>
                  <a:lnTo>
                    <a:pt x="156" y="450"/>
                  </a:lnTo>
                  <a:lnTo>
                    <a:pt x="156" y="607"/>
                  </a:lnTo>
                  <a:lnTo>
                    <a:pt x="67" y="607"/>
                  </a:lnTo>
                  <a:lnTo>
                    <a:pt x="67" y="450"/>
                  </a:lnTo>
                  <a:close/>
                  <a:moveTo>
                    <a:pt x="223" y="450"/>
                  </a:moveTo>
                  <a:lnTo>
                    <a:pt x="313" y="450"/>
                  </a:lnTo>
                  <a:lnTo>
                    <a:pt x="313" y="607"/>
                  </a:lnTo>
                  <a:lnTo>
                    <a:pt x="223" y="607"/>
                  </a:lnTo>
                  <a:lnTo>
                    <a:pt x="223" y="450"/>
                  </a:lnTo>
                  <a:close/>
                  <a:moveTo>
                    <a:pt x="67" y="718"/>
                  </a:moveTo>
                  <a:lnTo>
                    <a:pt x="156" y="718"/>
                  </a:lnTo>
                  <a:lnTo>
                    <a:pt x="156" y="875"/>
                  </a:lnTo>
                  <a:lnTo>
                    <a:pt x="67" y="875"/>
                  </a:lnTo>
                  <a:lnTo>
                    <a:pt x="67" y="718"/>
                  </a:lnTo>
                  <a:close/>
                  <a:moveTo>
                    <a:pt x="223" y="718"/>
                  </a:moveTo>
                  <a:lnTo>
                    <a:pt x="313" y="718"/>
                  </a:lnTo>
                  <a:lnTo>
                    <a:pt x="313" y="875"/>
                  </a:lnTo>
                  <a:lnTo>
                    <a:pt x="223" y="875"/>
                  </a:lnTo>
                  <a:lnTo>
                    <a:pt x="223" y="718"/>
                  </a:lnTo>
                  <a:close/>
                </a:path>
              </a:pathLst>
            </a:custGeom>
            <a:solidFill>
              <a:srgbClr val="950F53"/>
            </a:solidFill>
            <a:ln>
              <a:noFill/>
            </a:ln>
            <a:effectLst>
              <a:glow rad="38100">
                <a:srgbClr val="F59C00">
                  <a:lumMod val="20000"/>
                  <a:lumOff val="80000"/>
                  <a:alpha val="68000"/>
                </a:srgbClr>
              </a:glow>
            </a:effec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377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de-DE" sz="1200" b="0" i="0" u="none" strike="noStrike" kern="0" cap="none" spc="0" normalizeH="0" baseline="0" noProof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641" name="Band: nach unten gekippt 640">
            <a:extLst>
              <a:ext uri="{FF2B5EF4-FFF2-40B4-BE49-F238E27FC236}">
                <a16:creationId xmlns:a16="http://schemas.microsoft.com/office/drawing/2014/main" id="{AE21AF56-AA1B-7846-912A-477DE1B69B35}"/>
              </a:ext>
            </a:extLst>
          </p:cNvPr>
          <p:cNvSpPr/>
          <p:nvPr/>
        </p:nvSpPr>
        <p:spPr bwMode="auto">
          <a:xfrm>
            <a:off x="9707326" y="2955465"/>
            <a:ext cx="1775199" cy="540000"/>
          </a:xfrm>
          <a:prstGeom prst="ribbon">
            <a:avLst>
              <a:gd name="adj1" fmla="val 19017"/>
              <a:gd name="adj2" fmla="val 75000"/>
            </a:avLst>
          </a:prstGeom>
          <a:solidFill>
            <a:srgbClr val="F59C00">
              <a:lumMod val="60000"/>
              <a:lumOff val="40000"/>
            </a:srgbClr>
          </a:solidFill>
          <a:ln w="635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400" b="0" i="0" u="none" strike="noStrike" kern="0" cap="none" spc="0" normalizeH="0" baseline="0" noProof="1">
              <a:ln>
                <a:noFill/>
              </a:ln>
              <a:solidFill>
                <a:srgbClr val="E6EFF3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42" name="Rechteck 641">
            <a:extLst>
              <a:ext uri="{FF2B5EF4-FFF2-40B4-BE49-F238E27FC236}">
                <a16:creationId xmlns:a16="http://schemas.microsoft.com/office/drawing/2014/main" id="{9D02CFAD-6E30-004D-A48A-E6FD3314CA71}"/>
              </a:ext>
            </a:extLst>
          </p:cNvPr>
          <p:cNvSpPr/>
          <p:nvPr/>
        </p:nvSpPr>
        <p:spPr bwMode="auto">
          <a:xfrm>
            <a:off x="9770276" y="3108951"/>
            <a:ext cx="1784392" cy="4154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1050" b="1" i="0" u="none" strike="noStrike" kern="1200" cap="none" spc="0" normalizeH="0" baseline="0" noProof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" panose="020B0502040204020203" pitchFamily="34" charset="0"/>
                <a:ea typeface="+mn-ea"/>
                <a:cs typeface="+mn-cs"/>
              </a:rPr>
              <a:t>Plus-Energie-Quartier</a:t>
            </a:r>
          </a:p>
          <a:p>
            <a:pPr marL="0" marR="0" lvl="0" indent="0" algn="ctr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1050" b="1" i="0" u="none" strike="noStrike" kern="1200" cap="none" spc="0" normalizeH="0" baseline="0" noProof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" panose="020B0502040204020203" pitchFamily="34" charset="0"/>
                <a:ea typeface="+mn-ea"/>
                <a:cs typeface="+mn-cs"/>
              </a:rPr>
              <a:t>Mit Mobilität</a:t>
            </a:r>
          </a:p>
        </p:txBody>
      </p:sp>
      <p:grpSp>
        <p:nvGrpSpPr>
          <p:cNvPr id="643" name="Gruppieren 642">
            <a:extLst>
              <a:ext uri="{FF2B5EF4-FFF2-40B4-BE49-F238E27FC236}">
                <a16:creationId xmlns:a16="http://schemas.microsoft.com/office/drawing/2014/main" id="{64AA4B88-C21E-8461-1106-1B38724DBAA6}"/>
              </a:ext>
            </a:extLst>
          </p:cNvPr>
          <p:cNvGrpSpPr/>
          <p:nvPr/>
        </p:nvGrpSpPr>
        <p:grpSpPr>
          <a:xfrm>
            <a:off x="10244133" y="2430231"/>
            <a:ext cx="700101" cy="694145"/>
            <a:chOff x="4399640" y="1143095"/>
            <a:chExt cx="785172" cy="778492"/>
          </a:xfrm>
          <a:solidFill>
            <a:srgbClr val="F59C00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644" name="Stern: 10 Zacken 643">
              <a:extLst>
                <a:ext uri="{FF2B5EF4-FFF2-40B4-BE49-F238E27FC236}">
                  <a16:creationId xmlns:a16="http://schemas.microsoft.com/office/drawing/2014/main" id="{F06206CF-B670-4652-D1A3-E7FB431102C6}"/>
                </a:ext>
              </a:extLst>
            </p:cNvPr>
            <p:cNvSpPr/>
            <p:nvPr/>
          </p:nvSpPr>
          <p:spPr>
            <a:xfrm>
              <a:off x="4399640" y="1143095"/>
              <a:ext cx="785172" cy="778492"/>
            </a:xfrm>
            <a:prstGeom prst="star10">
              <a:avLst>
                <a:gd name="adj" fmla="val 44491"/>
                <a:gd name="hf" fmla="val 105146"/>
              </a:avLst>
            </a:prstGeom>
            <a:grpFill/>
            <a:ln w="19050" cap="flat" cmpd="sng" algn="ctr">
              <a:solidFill>
                <a:srgbClr val="F59C00"/>
              </a:solidFill>
              <a:prstDash val="solid"/>
              <a:miter lim="800000"/>
            </a:ln>
            <a:effectLst>
              <a:innerShdw blurRad="63500" dist="50800" dir="13500000">
                <a:srgbClr val="F59C00">
                  <a:alpha val="77000"/>
                </a:srgbClr>
              </a:innerShdw>
            </a:effectLst>
          </p:spPr>
          <p:txBody>
            <a:bodyPr rtlCol="0" anchor="ctr"/>
            <a:lstStyle/>
            <a:p>
              <a:pPr marL="0" marR="0" lvl="0" indent="0" algn="ctr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de-DE" sz="1400" b="0" i="0" u="none" strike="noStrike" kern="0" cap="none" spc="0" normalizeH="0" baseline="0" noProof="1">
                <a:ln>
                  <a:noFill/>
                </a:ln>
                <a:solidFill>
                  <a:srgbClr val="E6EFF3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645" name="Zehneck 644">
              <a:extLst>
                <a:ext uri="{FF2B5EF4-FFF2-40B4-BE49-F238E27FC236}">
                  <a16:creationId xmlns:a16="http://schemas.microsoft.com/office/drawing/2014/main" id="{F7545105-7495-8428-1C68-40A57FEE7AD3}"/>
                </a:ext>
              </a:extLst>
            </p:cNvPr>
            <p:cNvSpPr/>
            <p:nvPr/>
          </p:nvSpPr>
          <p:spPr>
            <a:xfrm>
              <a:off x="4476265" y="1217862"/>
              <a:ext cx="620528" cy="620529"/>
            </a:xfrm>
            <a:prstGeom prst="decagon">
              <a:avLst/>
            </a:prstGeom>
            <a:solidFill>
              <a:srgbClr val="950F53"/>
            </a:solidFill>
            <a:ln w="12700" cap="flat" cmpd="sng" algn="ctr">
              <a:solidFill>
                <a:srgbClr val="950F53"/>
              </a:solidFill>
              <a:prstDash val="solid"/>
              <a:miter lim="800000"/>
            </a:ln>
            <a:effectLst>
              <a:innerShdw blurRad="63500" dist="50800" dir="13500000">
                <a:srgbClr val="F59C00">
                  <a:lumMod val="20000"/>
                  <a:lumOff val="80000"/>
                  <a:alpha val="72000"/>
                </a:srgbClr>
              </a:innerShdw>
            </a:effectLst>
          </p:spPr>
          <p:txBody>
            <a:bodyPr rtlCol="0" anchor="ctr"/>
            <a:lstStyle/>
            <a:p>
              <a:pPr marL="0" marR="0" lvl="0" indent="0" algn="ctr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de-DE" sz="1400" b="0" i="0" u="none" strike="noStrike" kern="0" cap="none" spc="0" normalizeH="0" baseline="0" noProof="1">
                <a:ln>
                  <a:noFill/>
                </a:ln>
                <a:solidFill>
                  <a:srgbClr val="E6EFF3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646" name="Building5" descr="{&quot;Key&quot;:&quot;POWER_USER_SHAPE_ICON&quot;,&quot;Value&quot;:&quot;POWER_USER_SHAPE_ICON_STYLE_1&quot;}">
              <a:extLst>
                <a:ext uri="{FF2B5EF4-FFF2-40B4-BE49-F238E27FC236}">
                  <a16:creationId xmlns:a16="http://schemas.microsoft.com/office/drawing/2014/main" id="{5887837E-EE41-C131-FD12-B24B22307EA5}"/>
                </a:ext>
              </a:extLst>
            </p:cNvPr>
            <p:cNvSpPr>
              <a:spLocks noChangeAspect="1" noEditPoints="1"/>
            </p:cNvSpPr>
            <p:nvPr>
              <p:custDataLst>
                <p:tags r:id="rId12"/>
              </p:custDataLst>
            </p:nvPr>
          </p:nvSpPr>
          <p:spPr bwMode="auto">
            <a:xfrm>
              <a:off x="4550947" y="1301271"/>
              <a:ext cx="461320" cy="410937"/>
            </a:xfrm>
            <a:custGeom>
              <a:avLst/>
              <a:gdLst>
                <a:gd name="T0" fmla="*/ 915 w 1250"/>
                <a:gd name="T1" fmla="*/ 250 h 1187"/>
                <a:gd name="T2" fmla="*/ 915 w 1250"/>
                <a:gd name="T3" fmla="*/ 1053 h 1187"/>
                <a:gd name="T4" fmla="*/ 848 w 1250"/>
                <a:gd name="T5" fmla="*/ 1053 h 1187"/>
                <a:gd name="T6" fmla="*/ 850 w 1250"/>
                <a:gd name="T7" fmla="*/ 0 h 1187"/>
                <a:gd name="T8" fmla="*/ 448 w 1250"/>
                <a:gd name="T9" fmla="*/ 0 h 1187"/>
                <a:gd name="T10" fmla="*/ 446 w 1250"/>
                <a:gd name="T11" fmla="*/ 1053 h 1187"/>
                <a:gd name="T12" fmla="*/ 379 w 1250"/>
                <a:gd name="T13" fmla="*/ 1053 h 1187"/>
                <a:gd name="T14" fmla="*/ 379 w 1250"/>
                <a:gd name="T15" fmla="*/ 361 h 1187"/>
                <a:gd name="T16" fmla="*/ 0 w 1250"/>
                <a:gd name="T17" fmla="*/ 361 h 1187"/>
                <a:gd name="T18" fmla="*/ 0 w 1250"/>
                <a:gd name="T19" fmla="*/ 1187 h 1187"/>
                <a:gd name="T20" fmla="*/ 1250 w 1250"/>
                <a:gd name="T21" fmla="*/ 1187 h 1187"/>
                <a:gd name="T22" fmla="*/ 1250 w 1250"/>
                <a:gd name="T23" fmla="*/ 250 h 1187"/>
                <a:gd name="T24" fmla="*/ 915 w 1250"/>
                <a:gd name="T25" fmla="*/ 250 h 1187"/>
                <a:gd name="T26" fmla="*/ 982 w 1250"/>
                <a:gd name="T27" fmla="*/ 339 h 1187"/>
                <a:gd name="T28" fmla="*/ 1183 w 1250"/>
                <a:gd name="T29" fmla="*/ 339 h 1187"/>
                <a:gd name="T30" fmla="*/ 1183 w 1250"/>
                <a:gd name="T31" fmla="*/ 584 h 1187"/>
                <a:gd name="T32" fmla="*/ 982 w 1250"/>
                <a:gd name="T33" fmla="*/ 584 h 1187"/>
                <a:gd name="T34" fmla="*/ 982 w 1250"/>
                <a:gd name="T35" fmla="*/ 339 h 1187"/>
                <a:gd name="T36" fmla="*/ 982 w 1250"/>
                <a:gd name="T37" fmla="*/ 674 h 1187"/>
                <a:gd name="T38" fmla="*/ 1183 w 1250"/>
                <a:gd name="T39" fmla="*/ 674 h 1187"/>
                <a:gd name="T40" fmla="*/ 1183 w 1250"/>
                <a:gd name="T41" fmla="*/ 919 h 1187"/>
                <a:gd name="T42" fmla="*/ 982 w 1250"/>
                <a:gd name="T43" fmla="*/ 919 h 1187"/>
                <a:gd name="T44" fmla="*/ 982 w 1250"/>
                <a:gd name="T45" fmla="*/ 674 h 1187"/>
                <a:gd name="T46" fmla="*/ 513 w 1250"/>
                <a:gd name="T47" fmla="*/ 71 h 1187"/>
                <a:gd name="T48" fmla="*/ 781 w 1250"/>
                <a:gd name="T49" fmla="*/ 71 h 1187"/>
                <a:gd name="T50" fmla="*/ 781 w 1250"/>
                <a:gd name="T51" fmla="*/ 183 h 1187"/>
                <a:gd name="T52" fmla="*/ 513 w 1250"/>
                <a:gd name="T53" fmla="*/ 183 h 1187"/>
                <a:gd name="T54" fmla="*/ 513 w 1250"/>
                <a:gd name="T55" fmla="*/ 71 h 1187"/>
                <a:gd name="T56" fmla="*/ 513 w 1250"/>
                <a:gd name="T57" fmla="*/ 294 h 1187"/>
                <a:gd name="T58" fmla="*/ 781 w 1250"/>
                <a:gd name="T59" fmla="*/ 294 h 1187"/>
                <a:gd name="T60" fmla="*/ 781 w 1250"/>
                <a:gd name="T61" fmla="*/ 406 h 1187"/>
                <a:gd name="T62" fmla="*/ 513 w 1250"/>
                <a:gd name="T63" fmla="*/ 406 h 1187"/>
                <a:gd name="T64" fmla="*/ 513 w 1250"/>
                <a:gd name="T65" fmla="*/ 294 h 1187"/>
                <a:gd name="T66" fmla="*/ 513 w 1250"/>
                <a:gd name="T67" fmla="*/ 517 h 1187"/>
                <a:gd name="T68" fmla="*/ 781 w 1250"/>
                <a:gd name="T69" fmla="*/ 517 h 1187"/>
                <a:gd name="T70" fmla="*/ 781 w 1250"/>
                <a:gd name="T71" fmla="*/ 629 h 1187"/>
                <a:gd name="T72" fmla="*/ 513 w 1250"/>
                <a:gd name="T73" fmla="*/ 629 h 1187"/>
                <a:gd name="T74" fmla="*/ 513 w 1250"/>
                <a:gd name="T75" fmla="*/ 517 h 1187"/>
                <a:gd name="T76" fmla="*/ 513 w 1250"/>
                <a:gd name="T77" fmla="*/ 741 h 1187"/>
                <a:gd name="T78" fmla="*/ 781 w 1250"/>
                <a:gd name="T79" fmla="*/ 741 h 1187"/>
                <a:gd name="T80" fmla="*/ 781 w 1250"/>
                <a:gd name="T81" fmla="*/ 852 h 1187"/>
                <a:gd name="T82" fmla="*/ 513 w 1250"/>
                <a:gd name="T83" fmla="*/ 852 h 1187"/>
                <a:gd name="T84" fmla="*/ 513 w 1250"/>
                <a:gd name="T85" fmla="*/ 741 h 1187"/>
                <a:gd name="T86" fmla="*/ 67 w 1250"/>
                <a:gd name="T87" fmla="*/ 450 h 1187"/>
                <a:gd name="T88" fmla="*/ 156 w 1250"/>
                <a:gd name="T89" fmla="*/ 450 h 1187"/>
                <a:gd name="T90" fmla="*/ 156 w 1250"/>
                <a:gd name="T91" fmla="*/ 607 h 1187"/>
                <a:gd name="T92" fmla="*/ 67 w 1250"/>
                <a:gd name="T93" fmla="*/ 607 h 1187"/>
                <a:gd name="T94" fmla="*/ 67 w 1250"/>
                <a:gd name="T95" fmla="*/ 450 h 1187"/>
                <a:gd name="T96" fmla="*/ 223 w 1250"/>
                <a:gd name="T97" fmla="*/ 450 h 1187"/>
                <a:gd name="T98" fmla="*/ 313 w 1250"/>
                <a:gd name="T99" fmla="*/ 450 h 1187"/>
                <a:gd name="T100" fmla="*/ 313 w 1250"/>
                <a:gd name="T101" fmla="*/ 607 h 1187"/>
                <a:gd name="T102" fmla="*/ 223 w 1250"/>
                <a:gd name="T103" fmla="*/ 607 h 1187"/>
                <a:gd name="T104" fmla="*/ 223 w 1250"/>
                <a:gd name="T105" fmla="*/ 450 h 1187"/>
                <a:gd name="T106" fmla="*/ 67 w 1250"/>
                <a:gd name="T107" fmla="*/ 718 h 1187"/>
                <a:gd name="T108" fmla="*/ 156 w 1250"/>
                <a:gd name="T109" fmla="*/ 718 h 1187"/>
                <a:gd name="T110" fmla="*/ 156 w 1250"/>
                <a:gd name="T111" fmla="*/ 875 h 1187"/>
                <a:gd name="T112" fmla="*/ 67 w 1250"/>
                <a:gd name="T113" fmla="*/ 875 h 1187"/>
                <a:gd name="T114" fmla="*/ 67 w 1250"/>
                <a:gd name="T115" fmla="*/ 718 h 1187"/>
                <a:gd name="T116" fmla="*/ 223 w 1250"/>
                <a:gd name="T117" fmla="*/ 718 h 1187"/>
                <a:gd name="T118" fmla="*/ 313 w 1250"/>
                <a:gd name="T119" fmla="*/ 718 h 1187"/>
                <a:gd name="T120" fmla="*/ 313 w 1250"/>
                <a:gd name="T121" fmla="*/ 875 h 1187"/>
                <a:gd name="T122" fmla="*/ 223 w 1250"/>
                <a:gd name="T123" fmla="*/ 875 h 1187"/>
                <a:gd name="T124" fmla="*/ 223 w 1250"/>
                <a:gd name="T125" fmla="*/ 718 h 11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1250" h="1187">
                  <a:moveTo>
                    <a:pt x="915" y="250"/>
                  </a:moveTo>
                  <a:lnTo>
                    <a:pt x="915" y="1053"/>
                  </a:lnTo>
                  <a:lnTo>
                    <a:pt x="848" y="1053"/>
                  </a:lnTo>
                  <a:lnTo>
                    <a:pt x="850" y="0"/>
                  </a:lnTo>
                  <a:lnTo>
                    <a:pt x="448" y="0"/>
                  </a:lnTo>
                  <a:lnTo>
                    <a:pt x="446" y="1053"/>
                  </a:lnTo>
                  <a:lnTo>
                    <a:pt x="379" y="1053"/>
                  </a:lnTo>
                  <a:lnTo>
                    <a:pt x="379" y="361"/>
                  </a:lnTo>
                  <a:lnTo>
                    <a:pt x="0" y="361"/>
                  </a:lnTo>
                  <a:lnTo>
                    <a:pt x="0" y="1187"/>
                  </a:lnTo>
                  <a:lnTo>
                    <a:pt x="1250" y="1187"/>
                  </a:lnTo>
                  <a:lnTo>
                    <a:pt x="1250" y="250"/>
                  </a:lnTo>
                  <a:lnTo>
                    <a:pt x="915" y="250"/>
                  </a:lnTo>
                  <a:close/>
                  <a:moveTo>
                    <a:pt x="982" y="339"/>
                  </a:moveTo>
                  <a:lnTo>
                    <a:pt x="1183" y="339"/>
                  </a:lnTo>
                  <a:lnTo>
                    <a:pt x="1183" y="584"/>
                  </a:lnTo>
                  <a:lnTo>
                    <a:pt x="982" y="584"/>
                  </a:lnTo>
                  <a:lnTo>
                    <a:pt x="982" y="339"/>
                  </a:lnTo>
                  <a:close/>
                  <a:moveTo>
                    <a:pt x="982" y="674"/>
                  </a:moveTo>
                  <a:lnTo>
                    <a:pt x="1183" y="674"/>
                  </a:lnTo>
                  <a:lnTo>
                    <a:pt x="1183" y="919"/>
                  </a:lnTo>
                  <a:lnTo>
                    <a:pt x="982" y="919"/>
                  </a:lnTo>
                  <a:lnTo>
                    <a:pt x="982" y="674"/>
                  </a:lnTo>
                  <a:close/>
                  <a:moveTo>
                    <a:pt x="513" y="71"/>
                  </a:moveTo>
                  <a:lnTo>
                    <a:pt x="781" y="71"/>
                  </a:lnTo>
                  <a:lnTo>
                    <a:pt x="781" y="183"/>
                  </a:lnTo>
                  <a:lnTo>
                    <a:pt x="513" y="183"/>
                  </a:lnTo>
                  <a:lnTo>
                    <a:pt x="513" y="71"/>
                  </a:lnTo>
                  <a:close/>
                  <a:moveTo>
                    <a:pt x="513" y="294"/>
                  </a:moveTo>
                  <a:lnTo>
                    <a:pt x="781" y="294"/>
                  </a:lnTo>
                  <a:lnTo>
                    <a:pt x="781" y="406"/>
                  </a:lnTo>
                  <a:lnTo>
                    <a:pt x="513" y="406"/>
                  </a:lnTo>
                  <a:lnTo>
                    <a:pt x="513" y="294"/>
                  </a:lnTo>
                  <a:close/>
                  <a:moveTo>
                    <a:pt x="513" y="517"/>
                  </a:moveTo>
                  <a:lnTo>
                    <a:pt x="781" y="517"/>
                  </a:lnTo>
                  <a:lnTo>
                    <a:pt x="781" y="629"/>
                  </a:lnTo>
                  <a:lnTo>
                    <a:pt x="513" y="629"/>
                  </a:lnTo>
                  <a:lnTo>
                    <a:pt x="513" y="517"/>
                  </a:lnTo>
                  <a:close/>
                  <a:moveTo>
                    <a:pt x="513" y="741"/>
                  </a:moveTo>
                  <a:lnTo>
                    <a:pt x="781" y="741"/>
                  </a:lnTo>
                  <a:lnTo>
                    <a:pt x="781" y="852"/>
                  </a:lnTo>
                  <a:lnTo>
                    <a:pt x="513" y="852"/>
                  </a:lnTo>
                  <a:lnTo>
                    <a:pt x="513" y="741"/>
                  </a:lnTo>
                  <a:close/>
                  <a:moveTo>
                    <a:pt x="67" y="450"/>
                  </a:moveTo>
                  <a:lnTo>
                    <a:pt x="156" y="450"/>
                  </a:lnTo>
                  <a:lnTo>
                    <a:pt x="156" y="607"/>
                  </a:lnTo>
                  <a:lnTo>
                    <a:pt x="67" y="607"/>
                  </a:lnTo>
                  <a:lnTo>
                    <a:pt x="67" y="450"/>
                  </a:lnTo>
                  <a:close/>
                  <a:moveTo>
                    <a:pt x="223" y="450"/>
                  </a:moveTo>
                  <a:lnTo>
                    <a:pt x="313" y="450"/>
                  </a:lnTo>
                  <a:lnTo>
                    <a:pt x="313" y="607"/>
                  </a:lnTo>
                  <a:lnTo>
                    <a:pt x="223" y="607"/>
                  </a:lnTo>
                  <a:lnTo>
                    <a:pt x="223" y="450"/>
                  </a:lnTo>
                  <a:close/>
                  <a:moveTo>
                    <a:pt x="67" y="718"/>
                  </a:moveTo>
                  <a:lnTo>
                    <a:pt x="156" y="718"/>
                  </a:lnTo>
                  <a:lnTo>
                    <a:pt x="156" y="875"/>
                  </a:lnTo>
                  <a:lnTo>
                    <a:pt x="67" y="875"/>
                  </a:lnTo>
                  <a:lnTo>
                    <a:pt x="67" y="718"/>
                  </a:lnTo>
                  <a:close/>
                  <a:moveTo>
                    <a:pt x="223" y="718"/>
                  </a:moveTo>
                  <a:lnTo>
                    <a:pt x="313" y="718"/>
                  </a:lnTo>
                  <a:lnTo>
                    <a:pt x="313" y="875"/>
                  </a:lnTo>
                  <a:lnTo>
                    <a:pt x="223" y="875"/>
                  </a:lnTo>
                  <a:lnTo>
                    <a:pt x="223" y="718"/>
                  </a:lnTo>
                  <a:close/>
                </a:path>
              </a:pathLst>
            </a:custGeom>
            <a:solidFill>
              <a:srgbClr val="F59C00"/>
            </a:solidFill>
            <a:ln>
              <a:noFill/>
            </a:ln>
            <a:effectLst>
              <a:glow rad="76200">
                <a:srgbClr val="F59C00">
                  <a:lumMod val="20000"/>
                  <a:lumOff val="80000"/>
                  <a:alpha val="88000"/>
                </a:srgbClr>
              </a:glow>
            </a:effec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377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de-DE" sz="1200" b="0" i="0" u="none" strike="noStrike" kern="0" cap="none" spc="0" normalizeH="0" baseline="0" noProof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647" name="Stern: 12 Zacken 646">
            <a:extLst>
              <a:ext uri="{FF2B5EF4-FFF2-40B4-BE49-F238E27FC236}">
                <a16:creationId xmlns:a16="http://schemas.microsoft.com/office/drawing/2014/main" id="{53C1C1CD-7C92-5D18-3C11-9667EA166026}"/>
              </a:ext>
            </a:extLst>
          </p:cNvPr>
          <p:cNvSpPr/>
          <p:nvPr/>
        </p:nvSpPr>
        <p:spPr bwMode="auto">
          <a:xfrm>
            <a:off x="8287366" y="2094754"/>
            <a:ext cx="887815" cy="852252"/>
          </a:xfrm>
          <a:prstGeom prst="star12">
            <a:avLst>
              <a:gd name="adj" fmla="val 47681"/>
            </a:avLst>
          </a:prstGeom>
          <a:solidFill>
            <a:srgbClr val="3BACBE"/>
          </a:solidFill>
          <a:ln w="19050" cap="flat" cmpd="sng" algn="ctr">
            <a:solidFill>
              <a:srgbClr val="3BACBE"/>
            </a:solidFill>
            <a:prstDash val="solid"/>
            <a:miter lim="800000"/>
          </a:ln>
          <a:effectLst>
            <a:innerShdw blurRad="63500" dist="50800" dir="13500000">
              <a:srgbClr val="5FB564">
                <a:lumMod val="20000"/>
                <a:lumOff val="80000"/>
                <a:alpha val="86000"/>
              </a:srgbClr>
            </a:innerShdw>
          </a:effectLst>
        </p:spPr>
        <p:txBody>
          <a:bodyPr rtlCol="0" anchor="ctr"/>
          <a:lstStyle/>
          <a:p>
            <a:pPr marL="0" marR="0" lvl="0" indent="0" algn="ctr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400" b="0" i="0" u="none" strike="noStrike" kern="0" cap="none" spc="0" normalizeH="0" baseline="0" noProof="1">
              <a:ln>
                <a:noFill/>
              </a:ln>
              <a:solidFill>
                <a:srgbClr val="E6EFF3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48" name="Textfeld 647">
            <a:extLst>
              <a:ext uri="{FF2B5EF4-FFF2-40B4-BE49-F238E27FC236}">
                <a16:creationId xmlns:a16="http://schemas.microsoft.com/office/drawing/2014/main" id="{84568243-3393-1B77-CF39-B498C73F0A15}"/>
              </a:ext>
            </a:extLst>
          </p:cNvPr>
          <p:cNvSpPr txBox="1"/>
          <p:nvPr/>
        </p:nvSpPr>
        <p:spPr bwMode="auto">
          <a:xfrm>
            <a:off x="7662879" y="2885948"/>
            <a:ext cx="2085163" cy="4154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1050" b="1" i="0" u="none" strike="noStrike" kern="1200" cap="none" spc="0" normalizeH="0" baseline="0" noProof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" panose="020B0502040204020203" pitchFamily="34" charset="0"/>
                <a:ea typeface="+mn-ea"/>
                <a:cs typeface="+mn-cs"/>
              </a:rPr>
              <a:t>Klimaneutrales</a:t>
            </a:r>
          </a:p>
          <a:p>
            <a:pPr marL="0" marR="0" lvl="0" indent="0" algn="ctr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1050" b="1" i="0" u="none" strike="noStrike" kern="1200" cap="none" spc="0" normalizeH="0" baseline="0" noProof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" panose="020B0502040204020203" pitchFamily="34" charset="0"/>
                <a:ea typeface="+mn-ea"/>
                <a:cs typeface="+mn-cs"/>
              </a:rPr>
              <a:t>Plus-Energie-Quartier</a:t>
            </a:r>
          </a:p>
        </p:txBody>
      </p:sp>
      <p:sp>
        <p:nvSpPr>
          <p:cNvPr id="649" name="Stern: 10 Zacken 648">
            <a:extLst>
              <a:ext uri="{FF2B5EF4-FFF2-40B4-BE49-F238E27FC236}">
                <a16:creationId xmlns:a16="http://schemas.microsoft.com/office/drawing/2014/main" id="{9FE76D16-01C9-0EE9-D7E7-987F96897603}"/>
              </a:ext>
            </a:extLst>
          </p:cNvPr>
          <p:cNvSpPr/>
          <p:nvPr/>
        </p:nvSpPr>
        <p:spPr bwMode="auto">
          <a:xfrm>
            <a:off x="8337866" y="2134167"/>
            <a:ext cx="785429" cy="778749"/>
          </a:xfrm>
          <a:prstGeom prst="star10">
            <a:avLst>
              <a:gd name="adj" fmla="val 44491"/>
              <a:gd name="hf" fmla="val 105146"/>
            </a:avLst>
          </a:prstGeom>
          <a:solidFill>
            <a:srgbClr val="F59C00"/>
          </a:solidFill>
          <a:ln w="19050" cap="flat" cmpd="sng" algn="ctr">
            <a:solidFill>
              <a:srgbClr val="F59C00"/>
            </a:solidFill>
            <a:prstDash val="solid"/>
            <a:miter lim="800000"/>
          </a:ln>
          <a:effectLst>
            <a:innerShdw blurRad="63500" dist="50800" dir="13500000">
              <a:srgbClr val="F59C00">
                <a:alpha val="77000"/>
              </a:srgbClr>
            </a:innerShdw>
          </a:effectLst>
        </p:spPr>
        <p:txBody>
          <a:bodyPr rtlCol="0" anchor="ctr"/>
          <a:lstStyle/>
          <a:p>
            <a:pPr marL="0" marR="0" lvl="0" indent="0" algn="ctr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400" b="0" i="0" u="none" strike="noStrike" kern="0" cap="none" spc="0" normalizeH="0" baseline="0" noProof="1">
              <a:ln>
                <a:noFill/>
              </a:ln>
              <a:solidFill>
                <a:srgbClr val="E6EFF3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50" name="Zehneck 649">
            <a:extLst>
              <a:ext uri="{FF2B5EF4-FFF2-40B4-BE49-F238E27FC236}">
                <a16:creationId xmlns:a16="http://schemas.microsoft.com/office/drawing/2014/main" id="{136BB3FE-6479-7D09-B773-9AA8C9FFDB72}"/>
              </a:ext>
            </a:extLst>
          </p:cNvPr>
          <p:cNvSpPr/>
          <p:nvPr/>
        </p:nvSpPr>
        <p:spPr bwMode="auto">
          <a:xfrm>
            <a:off x="8416146" y="2211293"/>
            <a:ext cx="620731" cy="620735"/>
          </a:xfrm>
          <a:prstGeom prst="decagon">
            <a:avLst/>
          </a:prstGeom>
          <a:solidFill>
            <a:srgbClr val="950F53"/>
          </a:solidFill>
          <a:ln w="12700" cap="flat" cmpd="sng" algn="ctr">
            <a:solidFill>
              <a:srgbClr val="950F53"/>
            </a:solidFill>
            <a:prstDash val="solid"/>
            <a:miter lim="800000"/>
          </a:ln>
          <a:effectLst>
            <a:innerShdw blurRad="63500" dist="50800" dir="13500000">
              <a:srgbClr val="F59C00">
                <a:lumMod val="20000"/>
                <a:lumOff val="80000"/>
                <a:alpha val="72000"/>
              </a:srgbClr>
            </a:innerShdw>
          </a:effectLst>
        </p:spPr>
        <p:txBody>
          <a:bodyPr rtlCol="0" anchor="ctr"/>
          <a:lstStyle/>
          <a:p>
            <a:pPr marL="0" marR="0" lvl="0" indent="0" algn="ctr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400" b="0" i="0" u="none" strike="noStrike" kern="0" cap="none" spc="0" normalizeH="0" baseline="0" noProof="1">
              <a:ln>
                <a:noFill/>
              </a:ln>
              <a:solidFill>
                <a:srgbClr val="E6EFF3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51" name="Building5" descr="{&quot;Key&quot;:&quot;POWER_USER_SHAPE_ICON&quot;,&quot;Value&quot;:&quot;POWER_USER_SHAPE_ICON_STYLE_1&quot;}">
            <a:extLst>
              <a:ext uri="{FF2B5EF4-FFF2-40B4-BE49-F238E27FC236}">
                <a16:creationId xmlns:a16="http://schemas.microsoft.com/office/drawing/2014/main" id="{BFEA427A-CA86-9554-D399-1F954F2C5B76}"/>
              </a:ext>
            </a:extLst>
          </p:cNvPr>
          <p:cNvSpPr>
            <a:spLocks noChangeAspect="1" noEditPoints="1"/>
          </p:cNvSpPr>
          <p:nvPr>
            <p:custDataLst>
              <p:tags r:id="rId4"/>
            </p:custDataLst>
          </p:nvPr>
        </p:nvSpPr>
        <p:spPr bwMode="auto">
          <a:xfrm>
            <a:off x="8517708" y="2323854"/>
            <a:ext cx="411337" cy="366413"/>
          </a:xfrm>
          <a:custGeom>
            <a:avLst/>
            <a:gdLst>
              <a:gd name="T0" fmla="*/ 915 w 1250"/>
              <a:gd name="T1" fmla="*/ 250 h 1187"/>
              <a:gd name="T2" fmla="*/ 915 w 1250"/>
              <a:gd name="T3" fmla="*/ 1053 h 1187"/>
              <a:gd name="T4" fmla="*/ 848 w 1250"/>
              <a:gd name="T5" fmla="*/ 1053 h 1187"/>
              <a:gd name="T6" fmla="*/ 850 w 1250"/>
              <a:gd name="T7" fmla="*/ 0 h 1187"/>
              <a:gd name="T8" fmla="*/ 448 w 1250"/>
              <a:gd name="T9" fmla="*/ 0 h 1187"/>
              <a:gd name="T10" fmla="*/ 446 w 1250"/>
              <a:gd name="T11" fmla="*/ 1053 h 1187"/>
              <a:gd name="T12" fmla="*/ 379 w 1250"/>
              <a:gd name="T13" fmla="*/ 1053 h 1187"/>
              <a:gd name="T14" fmla="*/ 379 w 1250"/>
              <a:gd name="T15" fmla="*/ 361 h 1187"/>
              <a:gd name="T16" fmla="*/ 0 w 1250"/>
              <a:gd name="T17" fmla="*/ 361 h 1187"/>
              <a:gd name="T18" fmla="*/ 0 w 1250"/>
              <a:gd name="T19" fmla="*/ 1187 h 1187"/>
              <a:gd name="T20" fmla="*/ 1250 w 1250"/>
              <a:gd name="T21" fmla="*/ 1187 h 1187"/>
              <a:gd name="T22" fmla="*/ 1250 w 1250"/>
              <a:gd name="T23" fmla="*/ 250 h 1187"/>
              <a:gd name="T24" fmla="*/ 915 w 1250"/>
              <a:gd name="T25" fmla="*/ 250 h 1187"/>
              <a:gd name="T26" fmla="*/ 982 w 1250"/>
              <a:gd name="T27" fmla="*/ 339 h 1187"/>
              <a:gd name="T28" fmla="*/ 1183 w 1250"/>
              <a:gd name="T29" fmla="*/ 339 h 1187"/>
              <a:gd name="T30" fmla="*/ 1183 w 1250"/>
              <a:gd name="T31" fmla="*/ 584 h 1187"/>
              <a:gd name="T32" fmla="*/ 982 w 1250"/>
              <a:gd name="T33" fmla="*/ 584 h 1187"/>
              <a:gd name="T34" fmla="*/ 982 w 1250"/>
              <a:gd name="T35" fmla="*/ 339 h 1187"/>
              <a:gd name="T36" fmla="*/ 982 w 1250"/>
              <a:gd name="T37" fmla="*/ 674 h 1187"/>
              <a:gd name="T38" fmla="*/ 1183 w 1250"/>
              <a:gd name="T39" fmla="*/ 674 h 1187"/>
              <a:gd name="T40" fmla="*/ 1183 w 1250"/>
              <a:gd name="T41" fmla="*/ 919 h 1187"/>
              <a:gd name="T42" fmla="*/ 982 w 1250"/>
              <a:gd name="T43" fmla="*/ 919 h 1187"/>
              <a:gd name="T44" fmla="*/ 982 w 1250"/>
              <a:gd name="T45" fmla="*/ 674 h 1187"/>
              <a:gd name="T46" fmla="*/ 513 w 1250"/>
              <a:gd name="T47" fmla="*/ 71 h 1187"/>
              <a:gd name="T48" fmla="*/ 781 w 1250"/>
              <a:gd name="T49" fmla="*/ 71 h 1187"/>
              <a:gd name="T50" fmla="*/ 781 w 1250"/>
              <a:gd name="T51" fmla="*/ 183 h 1187"/>
              <a:gd name="T52" fmla="*/ 513 w 1250"/>
              <a:gd name="T53" fmla="*/ 183 h 1187"/>
              <a:gd name="T54" fmla="*/ 513 w 1250"/>
              <a:gd name="T55" fmla="*/ 71 h 1187"/>
              <a:gd name="T56" fmla="*/ 513 w 1250"/>
              <a:gd name="T57" fmla="*/ 294 h 1187"/>
              <a:gd name="T58" fmla="*/ 781 w 1250"/>
              <a:gd name="T59" fmla="*/ 294 h 1187"/>
              <a:gd name="T60" fmla="*/ 781 w 1250"/>
              <a:gd name="T61" fmla="*/ 406 h 1187"/>
              <a:gd name="T62" fmla="*/ 513 w 1250"/>
              <a:gd name="T63" fmla="*/ 406 h 1187"/>
              <a:gd name="T64" fmla="*/ 513 w 1250"/>
              <a:gd name="T65" fmla="*/ 294 h 1187"/>
              <a:gd name="T66" fmla="*/ 513 w 1250"/>
              <a:gd name="T67" fmla="*/ 517 h 1187"/>
              <a:gd name="T68" fmla="*/ 781 w 1250"/>
              <a:gd name="T69" fmla="*/ 517 h 1187"/>
              <a:gd name="T70" fmla="*/ 781 w 1250"/>
              <a:gd name="T71" fmla="*/ 629 h 1187"/>
              <a:gd name="T72" fmla="*/ 513 w 1250"/>
              <a:gd name="T73" fmla="*/ 629 h 1187"/>
              <a:gd name="T74" fmla="*/ 513 w 1250"/>
              <a:gd name="T75" fmla="*/ 517 h 1187"/>
              <a:gd name="T76" fmla="*/ 513 w 1250"/>
              <a:gd name="T77" fmla="*/ 741 h 1187"/>
              <a:gd name="T78" fmla="*/ 781 w 1250"/>
              <a:gd name="T79" fmla="*/ 741 h 1187"/>
              <a:gd name="T80" fmla="*/ 781 w 1250"/>
              <a:gd name="T81" fmla="*/ 852 h 1187"/>
              <a:gd name="T82" fmla="*/ 513 w 1250"/>
              <a:gd name="T83" fmla="*/ 852 h 1187"/>
              <a:gd name="T84" fmla="*/ 513 w 1250"/>
              <a:gd name="T85" fmla="*/ 741 h 1187"/>
              <a:gd name="T86" fmla="*/ 67 w 1250"/>
              <a:gd name="T87" fmla="*/ 450 h 1187"/>
              <a:gd name="T88" fmla="*/ 156 w 1250"/>
              <a:gd name="T89" fmla="*/ 450 h 1187"/>
              <a:gd name="T90" fmla="*/ 156 w 1250"/>
              <a:gd name="T91" fmla="*/ 607 h 1187"/>
              <a:gd name="T92" fmla="*/ 67 w 1250"/>
              <a:gd name="T93" fmla="*/ 607 h 1187"/>
              <a:gd name="T94" fmla="*/ 67 w 1250"/>
              <a:gd name="T95" fmla="*/ 450 h 1187"/>
              <a:gd name="T96" fmla="*/ 223 w 1250"/>
              <a:gd name="T97" fmla="*/ 450 h 1187"/>
              <a:gd name="T98" fmla="*/ 313 w 1250"/>
              <a:gd name="T99" fmla="*/ 450 h 1187"/>
              <a:gd name="T100" fmla="*/ 313 w 1250"/>
              <a:gd name="T101" fmla="*/ 607 h 1187"/>
              <a:gd name="T102" fmla="*/ 223 w 1250"/>
              <a:gd name="T103" fmla="*/ 607 h 1187"/>
              <a:gd name="T104" fmla="*/ 223 w 1250"/>
              <a:gd name="T105" fmla="*/ 450 h 1187"/>
              <a:gd name="T106" fmla="*/ 67 w 1250"/>
              <a:gd name="T107" fmla="*/ 718 h 1187"/>
              <a:gd name="T108" fmla="*/ 156 w 1250"/>
              <a:gd name="T109" fmla="*/ 718 h 1187"/>
              <a:gd name="T110" fmla="*/ 156 w 1250"/>
              <a:gd name="T111" fmla="*/ 875 h 1187"/>
              <a:gd name="T112" fmla="*/ 67 w 1250"/>
              <a:gd name="T113" fmla="*/ 875 h 1187"/>
              <a:gd name="T114" fmla="*/ 67 w 1250"/>
              <a:gd name="T115" fmla="*/ 718 h 1187"/>
              <a:gd name="T116" fmla="*/ 223 w 1250"/>
              <a:gd name="T117" fmla="*/ 718 h 1187"/>
              <a:gd name="T118" fmla="*/ 313 w 1250"/>
              <a:gd name="T119" fmla="*/ 718 h 1187"/>
              <a:gd name="T120" fmla="*/ 313 w 1250"/>
              <a:gd name="T121" fmla="*/ 875 h 1187"/>
              <a:gd name="T122" fmla="*/ 223 w 1250"/>
              <a:gd name="T123" fmla="*/ 875 h 1187"/>
              <a:gd name="T124" fmla="*/ 223 w 1250"/>
              <a:gd name="T125" fmla="*/ 718 h 118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  <a:cxn ang="0">
                <a:pos x="T124" y="T125"/>
              </a:cxn>
            </a:cxnLst>
            <a:rect l="0" t="0" r="r" b="b"/>
            <a:pathLst>
              <a:path w="1250" h="1187">
                <a:moveTo>
                  <a:pt x="915" y="250"/>
                </a:moveTo>
                <a:lnTo>
                  <a:pt x="915" y="1053"/>
                </a:lnTo>
                <a:lnTo>
                  <a:pt x="848" y="1053"/>
                </a:lnTo>
                <a:lnTo>
                  <a:pt x="850" y="0"/>
                </a:lnTo>
                <a:lnTo>
                  <a:pt x="448" y="0"/>
                </a:lnTo>
                <a:lnTo>
                  <a:pt x="446" y="1053"/>
                </a:lnTo>
                <a:lnTo>
                  <a:pt x="379" y="1053"/>
                </a:lnTo>
                <a:lnTo>
                  <a:pt x="379" y="361"/>
                </a:lnTo>
                <a:lnTo>
                  <a:pt x="0" y="361"/>
                </a:lnTo>
                <a:lnTo>
                  <a:pt x="0" y="1187"/>
                </a:lnTo>
                <a:lnTo>
                  <a:pt x="1250" y="1187"/>
                </a:lnTo>
                <a:lnTo>
                  <a:pt x="1250" y="250"/>
                </a:lnTo>
                <a:lnTo>
                  <a:pt x="915" y="250"/>
                </a:lnTo>
                <a:close/>
                <a:moveTo>
                  <a:pt x="982" y="339"/>
                </a:moveTo>
                <a:lnTo>
                  <a:pt x="1183" y="339"/>
                </a:lnTo>
                <a:lnTo>
                  <a:pt x="1183" y="584"/>
                </a:lnTo>
                <a:lnTo>
                  <a:pt x="982" y="584"/>
                </a:lnTo>
                <a:lnTo>
                  <a:pt x="982" y="339"/>
                </a:lnTo>
                <a:close/>
                <a:moveTo>
                  <a:pt x="982" y="674"/>
                </a:moveTo>
                <a:lnTo>
                  <a:pt x="1183" y="674"/>
                </a:lnTo>
                <a:lnTo>
                  <a:pt x="1183" y="919"/>
                </a:lnTo>
                <a:lnTo>
                  <a:pt x="982" y="919"/>
                </a:lnTo>
                <a:lnTo>
                  <a:pt x="982" y="674"/>
                </a:lnTo>
                <a:close/>
                <a:moveTo>
                  <a:pt x="513" y="71"/>
                </a:moveTo>
                <a:lnTo>
                  <a:pt x="781" y="71"/>
                </a:lnTo>
                <a:lnTo>
                  <a:pt x="781" y="183"/>
                </a:lnTo>
                <a:lnTo>
                  <a:pt x="513" y="183"/>
                </a:lnTo>
                <a:lnTo>
                  <a:pt x="513" y="71"/>
                </a:lnTo>
                <a:close/>
                <a:moveTo>
                  <a:pt x="513" y="294"/>
                </a:moveTo>
                <a:lnTo>
                  <a:pt x="781" y="294"/>
                </a:lnTo>
                <a:lnTo>
                  <a:pt x="781" y="406"/>
                </a:lnTo>
                <a:lnTo>
                  <a:pt x="513" y="406"/>
                </a:lnTo>
                <a:lnTo>
                  <a:pt x="513" y="294"/>
                </a:lnTo>
                <a:close/>
                <a:moveTo>
                  <a:pt x="513" y="517"/>
                </a:moveTo>
                <a:lnTo>
                  <a:pt x="781" y="517"/>
                </a:lnTo>
                <a:lnTo>
                  <a:pt x="781" y="629"/>
                </a:lnTo>
                <a:lnTo>
                  <a:pt x="513" y="629"/>
                </a:lnTo>
                <a:lnTo>
                  <a:pt x="513" y="517"/>
                </a:lnTo>
                <a:close/>
                <a:moveTo>
                  <a:pt x="513" y="741"/>
                </a:moveTo>
                <a:lnTo>
                  <a:pt x="781" y="741"/>
                </a:lnTo>
                <a:lnTo>
                  <a:pt x="781" y="852"/>
                </a:lnTo>
                <a:lnTo>
                  <a:pt x="513" y="852"/>
                </a:lnTo>
                <a:lnTo>
                  <a:pt x="513" y="741"/>
                </a:lnTo>
                <a:close/>
                <a:moveTo>
                  <a:pt x="67" y="450"/>
                </a:moveTo>
                <a:lnTo>
                  <a:pt x="156" y="450"/>
                </a:lnTo>
                <a:lnTo>
                  <a:pt x="156" y="607"/>
                </a:lnTo>
                <a:lnTo>
                  <a:pt x="67" y="607"/>
                </a:lnTo>
                <a:lnTo>
                  <a:pt x="67" y="450"/>
                </a:lnTo>
                <a:close/>
                <a:moveTo>
                  <a:pt x="223" y="450"/>
                </a:moveTo>
                <a:lnTo>
                  <a:pt x="313" y="450"/>
                </a:lnTo>
                <a:lnTo>
                  <a:pt x="313" y="607"/>
                </a:lnTo>
                <a:lnTo>
                  <a:pt x="223" y="607"/>
                </a:lnTo>
                <a:lnTo>
                  <a:pt x="223" y="450"/>
                </a:lnTo>
                <a:close/>
                <a:moveTo>
                  <a:pt x="67" y="718"/>
                </a:moveTo>
                <a:lnTo>
                  <a:pt x="156" y="718"/>
                </a:lnTo>
                <a:lnTo>
                  <a:pt x="156" y="875"/>
                </a:lnTo>
                <a:lnTo>
                  <a:pt x="67" y="875"/>
                </a:lnTo>
                <a:lnTo>
                  <a:pt x="67" y="718"/>
                </a:lnTo>
                <a:close/>
                <a:moveTo>
                  <a:pt x="223" y="718"/>
                </a:moveTo>
                <a:lnTo>
                  <a:pt x="313" y="718"/>
                </a:lnTo>
                <a:lnTo>
                  <a:pt x="313" y="875"/>
                </a:lnTo>
                <a:lnTo>
                  <a:pt x="223" y="875"/>
                </a:lnTo>
                <a:lnTo>
                  <a:pt x="223" y="718"/>
                </a:lnTo>
                <a:close/>
              </a:path>
            </a:pathLst>
          </a:custGeom>
          <a:solidFill>
            <a:srgbClr val="3BACBE"/>
          </a:solidFill>
          <a:ln>
            <a:noFill/>
          </a:ln>
          <a:effectLst>
            <a:glow rad="101600">
              <a:srgbClr val="F59C00">
                <a:lumMod val="20000"/>
                <a:lumOff val="80000"/>
                <a:alpha val="86000"/>
              </a:srgbClr>
            </a:glow>
            <a:innerShdw blurRad="63500" dist="50800" dir="13500000">
              <a:srgbClr val="61FFA8">
                <a:alpha val="38000"/>
              </a:srgbClr>
            </a:innerShdw>
          </a:effec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200" b="0" i="0" u="none" strike="noStrike" kern="0" cap="none" spc="0" normalizeH="0" baseline="0" noProof="1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pSp>
        <p:nvGrpSpPr>
          <p:cNvPr id="652" name="Gruppieren 651">
            <a:extLst>
              <a:ext uri="{FF2B5EF4-FFF2-40B4-BE49-F238E27FC236}">
                <a16:creationId xmlns:a16="http://schemas.microsoft.com/office/drawing/2014/main" id="{FA489A41-7F7E-D99A-BA15-A7B082963A39}"/>
              </a:ext>
            </a:extLst>
          </p:cNvPr>
          <p:cNvGrpSpPr/>
          <p:nvPr/>
        </p:nvGrpSpPr>
        <p:grpSpPr>
          <a:xfrm>
            <a:off x="9088454" y="5114606"/>
            <a:ext cx="289932" cy="380068"/>
            <a:chOff x="9018358" y="3729507"/>
            <a:chExt cx="512820" cy="672248"/>
          </a:xfrm>
        </p:grpSpPr>
        <p:grpSp>
          <p:nvGrpSpPr>
            <p:cNvPr id="653" name="Gruppieren 652">
              <a:extLst>
                <a:ext uri="{FF2B5EF4-FFF2-40B4-BE49-F238E27FC236}">
                  <a16:creationId xmlns:a16="http://schemas.microsoft.com/office/drawing/2014/main" id="{8D2F06FC-8BEC-222E-8B0D-1DBDC07A8DE9}"/>
                </a:ext>
              </a:extLst>
            </p:cNvPr>
            <p:cNvGrpSpPr/>
            <p:nvPr/>
          </p:nvGrpSpPr>
          <p:grpSpPr>
            <a:xfrm>
              <a:off x="9018358" y="3729507"/>
              <a:ext cx="512820" cy="672248"/>
              <a:chOff x="0" y="3078492"/>
              <a:chExt cx="545343" cy="621971"/>
            </a:xfrm>
          </p:grpSpPr>
          <p:grpSp>
            <p:nvGrpSpPr>
              <p:cNvPr id="657" name="Gruppieren 656">
                <a:extLst>
                  <a:ext uri="{FF2B5EF4-FFF2-40B4-BE49-F238E27FC236}">
                    <a16:creationId xmlns:a16="http://schemas.microsoft.com/office/drawing/2014/main" id="{EFECBC4E-59D2-4EFD-E583-44CE2E2983D8}"/>
                  </a:ext>
                </a:extLst>
              </p:cNvPr>
              <p:cNvGrpSpPr/>
              <p:nvPr>
                <p:custDataLst>
                  <p:tags r:id="rId10"/>
                </p:custDataLst>
              </p:nvPr>
            </p:nvGrpSpPr>
            <p:grpSpPr>
              <a:xfrm>
                <a:off x="0" y="3157538"/>
                <a:ext cx="545343" cy="542925"/>
                <a:chOff x="0" y="3157538"/>
                <a:chExt cx="545343" cy="542925"/>
              </a:xfrm>
              <a:solidFill>
                <a:srgbClr val="9954CC"/>
              </a:solidFill>
            </p:grpSpPr>
            <p:sp>
              <p:nvSpPr>
                <p:cNvPr id="660" name="Freeform 203">
                  <a:extLst>
                    <a:ext uri="{FF2B5EF4-FFF2-40B4-BE49-F238E27FC236}">
                      <a16:creationId xmlns:a16="http://schemas.microsoft.com/office/drawing/2014/main" id="{C2FFE203-8C7C-66E0-0195-0413959A39BA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81015" y="3392120"/>
                  <a:ext cx="464328" cy="222490"/>
                </a:xfrm>
                <a:custGeom>
                  <a:avLst/>
                  <a:gdLst>
                    <a:gd name="T0" fmla="*/ 776 w 800"/>
                    <a:gd name="T1" fmla="*/ 20 h 382"/>
                    <a:gd name="T2" fmla="*/ 636 w 800"/>
                    <a:gd name="T3" fmla="*/ 80 h 382"/>
                    <a:gd name="T4" fmla="*/ 624 w 800"/>
                    <a:gd name="T5" fmla="*/ 108 h 382"/>
                    <a:gd name="T6" fmla="*/ 537 w 800"/>
                    <a:gd name="T7" fmla="*/ 166 h 382"/>
                    <a:gd name="T8" fmla="*/ 485 w 800"/>
                    <a:gd name="T9" fmla="*/ 126 h 382"/>
                    <a:gd name="T10" fmla="*/ 360 w 800"/>
                    <a:gd name="T11" fmla="*/ 122 h 382"/>
                    <a:gd name="T12" fmla="*/ 332 w 800"/>
                    <a:gd name="T13" fmla="*/ 108 h 382"/>
                    <a:gd name="T14" fmla="*/ 91 w 800"/>
                    <a:gd name="T15" fmla="*/ 118 h 382"/>
                    <a:gd name="T16" fmla="*/ 0 w 800"/>
                    <a:gd name="T17" fmla="*/ 209 h 382"/>
                    <a:gd name="T18" fmla="*/ 173 w 800"/>
                    <a:gd name="T19" fmla="*/ 382 h 382"/>
                    <a:gd name="T20" fmla="*/ 201 w 800"/>
                    <a:gd name="T21" fmla="*/ 354 h 382"/>
                    <a:gd name="T22" fmla="*/ 495 w 800"/>
                    <a:gd name="T23" fmla="*/ 354 h 382"/>
                    <a:gd name="T24" fmla="*/ 557 w 800"/>
                    <a:gd name="T25" fmla="*/ 332 h 382"/>
                    <a:gd name="T26" fmla="*/ 633 w 800"/>
                    <a:gd name="T27" fmla="*/ 267 h 382"/>
                    <a:gd name="T28" fmla="*/ 723 w 800"/>
                    <a:gd name="T29" fmla="*/ 165 h 382"/>
                    <a:gd name="T30" fmla="*/ 790 w 800"/>
                    <a:gd name="T31" fmla="*/ 61 h 382"/>
                    <a:gd name="T32" fmla="*/ 776 w 800"/>
                    <a:gd name="T33" fmla="*/ 20 h 38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</a:cxnLst>
                  <a:rect l="0" t="0" r="r" b="b"/>
                  <a:pathLst>
                    <a:path w="800" h="382">
                      <a:moveTo>
                        <a:pt x="776" y="20"/>
                      </a:moveTo>
                      <a:cubicBezTo>
                        <a:pt x="720" y="0"/>
                        <a:pt x="660" y="27"/>
                        <a:pt x="636" y="80"/>
                      </a:cubicBezTo>
                      <a:lnTo>
                        <a:pt x="624" y="108"/>
                      </a:lnTo>
                      <a:lnTo>
                        <a:pt x="537" y="166"/>
                      </a:lnTo>
                      <a:cubicBezTo>
                        <a:pt x="530" y="143"/>
                        <a:pt x="510" y="126"/>
                        <a:pt x="485" y="126"/>
                      </a:cubicBezTo>
                      <a:lnTo>
                        <a:pt x="360" y="122"/>
                      </a:lnTo>
                      <a:cubicBezTo>
                        <a:pt x="349" y="122"/>
                        <a:pt x="337" y="113"/>
                        <a:pt x="332" y="108"/>
                      </a:cubicBezTo>
                      <a:cubicBezTo>
                        <a:pt x="278" y="54"/>
                        <a:pt x="160" y="49"/>
                        <a:pt x="91" y="118"/>
                      </a:cubicBezTo>
                      <a:lnTo>
                        <a:pt x="0" y="209"/>
                      </a:lnTo>
                      <a:lnTo>
                        <a:pt x="173" y="382"/>
                      </a:lnTo>
                      <a:lnTo>
                        <a:pt x="201" y="354"/>
                      </a:lnTo>
                      <a:lnTo>
                        <a:pt x="495" y="354"/>
                      </a:lnTo>
                      <a:cubicBezTo>
                        <a:pt x="517" y="354"/>
                        <a:pt x="539" y="346"/>
                        <a:pt x="557" y="332"/>
                      </a:cubicBezTo>
                      <a:lnTo>
                        <a:pt x="633" y="267"/>
                      </a:lnTo>
                      <a:cubicBezTo>
                        <a:pt x="668" y="238"/>
                        <a:pt x="698" y="203"/>
                        <a:pt x="723" y="165"/>
                      </a:cubicBezTo>
                      <a:lnTo>
                        <a:pt x="790" y="61"/>
                      </a:lnTo>
                      <a:cubicBezTo>
                        <a:pt x="800" y="46"/>
                        <a:pt x="793" y="25"/>
                        <a:pt x="776" y="20"/>
                      </a:cubicBezTo>
                    </a:path>
                  </a:pathLst>
                </a:custGeom>
                <a:grpFill/>
                <a:ln w="9525">
                  <a:noFill/>
                  <a:round/>
                  <a:headEnd/>
                  <a:tailEnd/>
                </a:ln>
              </p:spPr>
              <p:txBody>
                <a:bodyPr vert="horz" wrap="square" lIns="68580" tIns="34290" rIns="68580" bIns="3429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6858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de-DE" sz="1350" b="0" i="0" u="none" strike="noStrike" kern="0" cap="none" spc="0" normalizeH="0" baseline="0" noProof="1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661" name="Freeform 204">
                  <a:extLst>
                    <a:ext uri="{FF2B5EF4-FFF2-40B4-BE49-F238E27FC236}">
                      <a16:creationId xmlns:a16="http://schemas.microsoft.com/office/drawing/2014/main" id="{6DA60BF8-C414-00AC-E073-294438ED64A5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0" y="3514248"/>
                  <a:ext cx="187424" cy="186215"/>
                </a:xfrm>
                <a:custGeom>
                  <a:avLst/>
                  <a:gdLst>
                    <a:gd name="T0" fmla="*/ 232 w 322"/>
                    <a:gd name="T1" fmla="*/ 206 h 322"/>
                    <a:gd name="T2" fmla="*/ 256 w 322"/>
                    <a:gd name="T3" fmla="*/ 230 h 322"/>
                    <a:gd name="T4" fmla="*/ 232 w 322"/>
                    <a:gd name="T5" fmla="*/ 253 h 322"/>
                    <a:gd name="T6" fmla="*/ 209 w 322"/>
                    <a:gd name="T7" fmla="*/ 230 h 322"/>
                    <a:gd name="T8" fmla="*/ 232 w 322"/>
                    <a:gd name="T9" fmla="*/ 206 h 322"/>
                    <a:gd name="T10" fmla="*/ 0 w 322"/>
                    <a:gd name="T11" fmla="*/ 92 h 322"/>
                    <a:gd name="T12" fmla="*/ 230 w 322"/>
                    <a:gd name="T13" fmla="*/ 322 h 322"/>
                    <a:gd name="T14" fmla="*/ 322 w 322"/>
                    <a:gd name="T15" fmla="*/ 230 h 322"/>
                    <a:gd name="T16" fmla="*/ 93 w 322"/>
                    <a:gd name="T17" fmla="*/ 0 h 322"/>
                    <a:gd name="T18" fmla="*/ 0 w 322"/>
                    <a:gd name="T19" fmla="*/ 92 h 32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322" h="322">
                      <a:moveTo>
                        <a:pt x="232" y="206"/>
                      </a:moveTo>
                      <a:lnTo>
                        <a:pt x="256" y="230"/>
                      </a:lnTo>
                      <a:lnTo>
                        <a:pt x="232" y="253"/>
                      </a:lnTo>
                      <a:lnTo>
                        <a:pt x="209" y="230"/>
                      </a:lnTo>
                      <a:lnTo>
                        <a:pt x="232" y="206"/>
                      </a:lnTo>
                      <a:close/>
                      <a:moveTo>
                        <a:pt x="0" y="92"/>
                      </a:moveTo>
                      <a:lnTo>
                        <a:pt x="230" y="322"/>
                      </a:lnTo>
                      <a:lnTo>
                        <a:pt x="322" y="230"/>
                      </a:lnTo>
                      <a:lnTo>
                        <a:pt x="93" y="0"/>
                      </a:lnTo>
                      <a:lnTo>
                        <a:pt x="0" y="92"/>
                      </a:lnTo>
                      <a:close/>
                    </a:path>
                  </a:pathLst>
                </a:custGeom>
                <a:grpFill/>
                <a:ln w="9525">
                  <a:noFill/>
                  <a:round/>
                  <a:headEnd/>
                  <a:tailEnd/>
                </a:ln>
              </p:spPr>
              <p:txBody>
                <a:bodyPr vert="horz" wrap="square" lIns="68580" tIns="34290" rIns="68580" bIns="3429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6858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de-DE" sz="1350" b="0" i="0" u="none" strike="noStrike" kern="0" cap="none" spc="0" normalizeH="0" baseline="0" noProof="1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662" name="Freeform 206">
                  <a:extLst>
                    <a:ext uri="{FF2B5EF4-FFF2-40B4-BE49-F238E27FC236}">
                      <a16:creationId xmlns:a16="http://schemas.microsoft.com/office/drawing/2014/main" id="{4C7671F3-0914-89B4-4E05-4313B6C95C88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192260" y="3157538"/>
                  <a:ext cx="257557" cy="303506"/>
                </a:xfrm>
                <a:custGeom>
                  <a:avLst/>
                  <a:gdLst>
                    <a:gd name="T0" fmla="*/ 222 w 444"/>
                    <a:gd name="T1" fmla="*/ 355 h 524"/>
                    <a:gd name="T2" fmla="*/ 159 w 444"/>
                    <a:gd name="T3" fmla="*/ 299 h 524"/>
                    <a:gd name="T4" fmla="*/ 204 w 444"/>
                    <a:gd name="T5" fmla="*/ 246 h 524"/>
                    <a:gd name="T6" fmla="*/ 204 w 444"/>
                    <a:gd name="T7" fmla="*/ 229 h 524"/>
                    <a:gd name="T8" fmla="*/ 240 w 444"/>
                    <a:gd name="T9" fmla="*/ 229 h 524"/>
                    <a:gd name="T10" fmla="*/ 240 w 444"/>
                    <a:gd name="T11" fmla="*/ 246 h 524"/>
                    <a:gd name="T12" fmla="*/ 285 w 444"/>
                    <a:gd name="T13" fmla="*/ 299 h 524"/>
                    <a:gd name="T14" fmla="*/ 249 w 444"/>
                    <a:gd name="T15" fmla="*/ 299 h 524"/>
                    <a:gd name="T16" fmla="*/ 222 w 444"/>
                    <a:gd name="T17" fmla="*/ 280 h 524"/>
                    <a:gd name="T18" fmla="*/ 195 w 444"/>
                    <a:gd name="T19" fmla="*/ 299 h 524"/>
                    <a:gd name="T20" fmla="*/ 222 w 444"/>
                    <a:gd name="T21" fmla="*/ 319 h 524"/>
                    <a:gd name="T22" fmla="*/ 285 w 444"/>
                    <a:gd name="T23" fmla="*/ 375 h 524"/>
                    <a:gd name="T24" fmla="*/ 240 w 444"/>
                    <a:gd name="T25" fmla="*/ 428 h 524"/>
                    <a:gd name="T26" fmla="*/ 240 w 444"/>
                    <a:gd name="T27" fmla="*/ 446 h 524"/>
                    <a:gd name="T28" fmla="*/ 204 w 444"/>
                    <a:gd name="T29" fmla="*/ 446 h 524"/>
                    <a:gd name="T30" fmla="*/ 204 w 444"/>
                    <a:gd name="T31" fmla="*/ 428 h 524"/>
                    <a:gd name="T32" fmla="*/ 159 w 444"/>
                    <a:gd name="T33" fmla="*/ 375 h 524"/>
                    <a:gd name="T34" fmla="*/ 195 w 444"/>
                    <a:gd name="T35" fmla="*/ 375 h 524"/>
                    <a:gd name="T36" fmla="*/ 222 w 444"/>
                    <a:gd name="T37" fmla="*/ 394 h 524"/>
                    <a:gd name="T38" fmla="*/ 249 w 444"/>
                    <a:gd name="T39" fmla="*/ 375 h 524"/>
                    <a:gd name="T40" fmla="*/ 222 w 444"/>
                    <a:gd name="T41" fmla="*/ 355 h 524"/>
                    <a:gd name="T42" fmla="*/ 165 w 444"/>
                    <a:gd name="T43" fmla="*/ 489 h 524"/>
                    <a:gd name="T44" fmla="*/ 172 w 444"/>
                    <a:gd name="T45" fmla="*/ 494 h 524"/>
                    <a:gd name="T46" fmla="*/ 296 w 444"/>
                    <a:gd name="T47" fmla="*/ 497 h 524"/>
                    <a:gd name="T48" fmla="*/ 357 w 444"/>
                    <a:gd name="T49" fmla="*/ 524 h 524"/>
                    <a:gd name="T50" fmla="*/ 407 w 444"/>
                    <a:gd name="T51" fmla="*/ 491 h 524"/>
                    <a:gd name="T52" fmla="*/ 415 w 444"/>
                    <a:gd name="T53" fmla="*/ 472 h 524"/>
                    <a:gd name="T54" fmla="*/ 444 w 444"/>
                    <a:gd name="T55" fmla="*/ 430 h 524"/>
                    <a:gd name="T56" fmla="*/ 444 w 444"/>
                    <a:gd name="T57" fmla="*/ 430 h 524"/>
                    <a:gd name="T58" fmla="*/ 444 w 444"/>
                    <a:gd name="T59" fmla="*/ 428 h 524"/>
                    <a:gd name="T60" fmla="*/ 286 w 444"/>
                    <a:gd name="T61" fmla="*/ 162 h 524"/>
                    <a:gd name="T62" fmla="*/ 286 w 444"/>
                    <a:gd name="T63" fmla="*/ 104 h 524"/>
                    <a:gd name="T64" fmla="*/ 310 w 444"/>
                    <a:gd name="T65" fmla="*/ 30 h 524"/>
                    <a:gd name="T66" fmla="*/ 293 w 444"/>
                    <a:gd name="T67" fmla="*/ 0 h 524"/>
                    <a:gd name="T68" fmla="*/ 293 w 444"/>
                    <a:gd name="T69" fmla="*/ 0 h 524"/>
                    <a:gd name="T70" fmla="*/ 274 w 444"/>
                    <a:gd name="T71" fmla="*/ 5 h 524"/>
                    <a:gd name="T72" fmla="*/ 265 w 444"/>
                    <a:gd name="T73" fmla="*/ 5 h 524"/>
                    <a:gd name="T74" fmla="*/ 246 w 444"/>
                    <a:gd name="T75" fmla="*/ 0 h 524"/>
                    <a:gd name="T76" fmla="*/ 227 w 444"/>
                    <a:gd name="T77" fmla="*/ 5 h 524"/>
                    <a:gd name="T78" fmla="*/ 217 w 444"/>
                    <a:gd name="T79" fmla="*/ 5 h 524"/>
                    <a:gd name="T80" fmla="*/ 198 w 444"/>
                    <a:gd name="T81" fmla="*/ 0 h 524"/>
                    <a:gd name="T82" fmla="*/ 179 w 444"/>
                    <a:gd name="T83" fmla="*/ 5 h 524"/>
                    <a:gd name="T84" fmla="*/ 170 w 444"/>
                    <a:gd name="T85" fmla="*/ 5 h 524"/>
                    <a:gd name="T86" fmla="*/ 151 w 444"/>
                    <a:gd name="T87" fmla="*/ 0 h 524"/>
                    <a:gd name="T88" fmla="*/ 151 w 444"/>
                    <a:gd name="T89" fmla="*/ 0 h 524"/>
                    <a:gd name="T90" fmla="*/ 134 w 444"/>
                    <a:gd name="T91" fmla="*/ 30 h 524"/>
                    <a:gd name="T92" fmla="*/ 158 w 444"/>
                    <a:gd name="T93" fmla="*/ 104 h 524"/>
                    <a:gd name="T94" fmla="*/ 158 w 444"/>
                    <a:gd name="T95" fmla="*/ 162 h 524"/>
                    <a:gd name="T96" fmla="*/ 0 w 444"/>
                    <a:gd name="T97" fmla="*/ 428 h 524"/>
                    <a:gd name="T98" fmla="*/ 0 w 444"/>
                    <a:gd name="T99" fmla="*/ 441 h 524"/>
                    <a:gd name="T100" fmla="*/ 30 w 444"/>
                    <a:gd name="T101" fmla="*/ 438 h 524"/>
                    <a:gd name="T102" fmla="*/ 165 w 444"/>
                    <a:gd name="T103" fmla="*/ 489 h 52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</a:cxnLst>
                  <a:rect l="0" t="0" r="r" b="b"/>
                  <a:pathLst>
                    <a:path w="444" h="524">
                      <a:moveTo>
                        <a:pt x="222" y="355"/>
                      </a:moveTo>
                      <a:cubicBezTo>
                        <a:pt x="178" y="355"/>
                        <a:pt x="159" y="327"/>
                        <a:pt x="159" y="299"/>
                      </a:cubicBezTo>
                      <a:cubicBezTo>
                        <a:pt x="159" y="274"/>
                        <a:pt x="178" y="253"/>
                        <a:pt x="204" y="246"/>
                      </a:cubicBezTo>
                      <a:lnTo>
                        <a:pt x="204" y="229"/>
                      </a:lnTo>
                      <a:lnTo>
                        <a:pt x="240" y="229"/>
                      </a:lnTo>
                      <a:lnTo>
                        <a:pt x="240" y="246"/>
                      </a:lnTo>
                      <a:cubicBezTo>
                        <a:pt x="266" y="253"/>
                        <a:pt x="285" y="274"/>
                        <a:pt x="285" y="299"/>
                      </a:cubicBezTo>
                      <a:lnTo>
                        <a:pt x="249" y="299"/>
                      </a:lnTo>
                      <a:cubicBezTo>
                        <a:pt x="249" y="289"/>
                        <a:pt x="236" y="280"/>
                        <a:pt x="222" y="280"/>
                      </a:cubicBezTo>
                      <a:cubicBezTo>
                        <a:pt x="208" y="280"/>
                        <a:pt x="195" y="289"/>
                        <a:pt x="195" y="299"/>
                      </a:cubicBezTo>
                      <a:cubicBezTo>
                        <a:pt x="195" y="316"/>
                        <a:pt x="212" y="319"/>
                        <a:pt x="222" y="319"/>
                      </a:cubicBezTo>
                      <a:cubicBezTo>
                        <a:pt x="259" y="319"/>
                        <a:pt x="285" y="342"/>
                        <a:pt x="285" y="375"/>
                      </a:cubicBezTo>
                      <a:cubicBezTo>
                        <a:pt x="285" y="400"/>
                        <a:pt x="266" y="421"/>
                        <a:pt x="240" y="428"/>
                      </a:cubicBezTo>
                      <a:lnTo>
                        <a:pt x="240" y="446"/>
                      </a:lnTo>
                      <a:lnTo>
                        <a:pt x="204" y="446"/>
                      </a:lnTo>
                      <a:lnTo>
                        <a:pt x="204" y="428"/>
                      </a:lnTo>
                      <a:cubicBezTo>
                        <a:pt x="178" y="421"/>
                        <a:pt x="159" y="400"/>
                        <a:pt x="159" y="375"/>
                      </a:cubicBezTo>
                      <a:lnTo>
                        <a:pt x="195" y="375"/>
                      </a:lnTo>
                      <a:cubicBezTo>
                        <a:pt x="195" y="385"/>
                        <a:pt x="208" y="394"/>
                        <a:pt x="222" y="394"/>
                      </a:cubicBezTo>
                      <a:cubicBezTo>
                        <a:pt x="236" y="394"/>
                        <a:pt x="249" y="385"/>
                        <a:pt x="249" y="375"/>
                      </a:cubicBezTo>
                      <a:cubicBezTo>
                        <a:pt x="249" y="363"/>
                        <a:pt x="239" y="355"/>
                        <a:pt x="222" y="355"/>
                      </a:cubicBezTo>
                      <a:close/>
                      <a:moveTo>
                        <a:pt x="165" y="489"/>
                      </a:moveTo>
                      <a:cubicBezTo>
                        <a:pt x="167" y="491"/>
                        <a:pt x="171" y="493"/>
                        <a:pt x="172" y="494"/>
                      </a:cubicBezTo>
                      <a:lnTo>
                        <a:pt x="296" y="497"/>
                      </a:lnTo>
                      <a:cubicBezTo>
                        <a:pt x="320" y="498"/>
                        <a:pt x="341" y="508"/>
                        <a:pt x="357" y="524"/>
                      </a:cubicBezTo>
                      <a:lnTo>
                        <a:pt x="407" y="491"/>
                      </a:lnTo>
                      <a:lnTo>
                        <a:pt x="415" y="472"/>
                      </a:lnTo>
                      <a:cubicBezTo>
                        <a:pt x="422" y="456"/>
                        <a:pt x="432" y="442"/>
                        <a:pt x="444" y="430"/>
                      </a:cubicBezTo>
                      <a:cubicBezTo>
                        <a:pt x="444" y="430"/>
                        <a:pt x="444" y="430"/>
                        <a:pt x="444" y="430"/>
                      </a:cubicBezTo>
                      <a:lnTo>
                        <a:pt x="444" y="428"/>
                      </a:lnTo>
                      <a:cubicBezTo>
                        <a:pt x="444" y="309"/>
                        <a:pt x="388" y="206"/>
                        <a:pt x="286" y="162"/>
                      </a:cubicBezTo>
                      <a:lnTo>
                        <a:pt x="286" y="104"/>
                      </a:lnTo>
                      <a:lnTo>
                        <a:pt x="310" y="30"/>
                      </a:lnTo>
                      <a:cubicBezTo>
                        <a:pt x="315" y="16"/>
                        <a:pt x="307" y="0"/>
                        <a:pt x="293" y="0"/>
                      </a:cubicBezTo>
                      <a:cubicBezTo>
                        <a:pt x="293" y="0"/>
                        <a:pt x="293" y="0"/>
                        <a:pt x="293" y="0"/>
                      </a:cubicBezTo>
                      <a:cubicBezTo>
                        <a:pt x="285" y="0"/>
                        <a:pt x="278" y="2"/>
                        <a:pt x="274" y="5"/>
                      </a:cubicBezTo>
                      <a:cubicBezTo>
                        <a:pt x="271" y="6"/>
                        <a:pt x="268" y="6"/>
                        <a:pt x="265" y="5"/>
                      </a:cubicBezTo>
                      <a:cubicBezTo>
                        <a:pt x="260" y="2"/>
                        <a:pt x="253" y="0"/>
                        <a:pt x="246" y="0"/>
                      </a:cubicBezTo>
                      <a:cubicBezTo>
                        <a:pt x="238" y="0"/>
                        <a:pt x="231" y="2"/>
                        <a:pt x="227" y="5"/>
                      </a:cubicBezTo>
                      <a:cubicBezTo>
                        <a:pt x="224" y="6"/>
                        <a:pt x="220" y="6"/>
                        <a:pt x="217" y="5"/>
                      </a:cubicBezTo>
                      <a:cubicBezTo>
                        <a:pt x="213" y="2"/>
                        <a:pt x="206" y="0"/>
                        <a:pt x="198" y="0"/>
                      </a:cubicBezTo>
                      <a:cubicBezTo>
                        <a:pt x="191" y="0"/>
                        <a:pt x="184" y="2"/>
                        <a:pt x="179" y="5"/>
                      </a:cubicBezTo>
                      <a:cubicBezTo>
                        <a:pt x="176" y="6"/>
                        <a:pt x="173" y="6"/>
                        <a:pt x="170" y="5"/>
                      </a:cubicBezTo>
                      <a:cubicBezTo>
                        <a:pt x="166" y="2"/>
                        <a:pt x="159" y="0"/>
                        <a:pt x="151" y="0"/>
                      </a:cubicBezTo>
                      <a:cubicBezTo>
                        <a:pt x="151" y="0"/>
                        <a:pt x="151" y="0"/>
                        <a:pt x="151" y="0"/>
                      </a:cubicBezTo>
                      <a:cubicBezTo>
                        <a:pt x="138" y="0"/>
                        <a:pt x="129" y="16"/>
                        <a:pt x="134" y="30"/>
                      </a:cubicBezTo>
                      <a:lnTo>
                        <a:pt x="158" y="104"/>
                      </a:lnTo>
                      <a:lnTo>
                        <a:pt x="158" y="162"/>
                      </a:lnTo>
                      <a:cubicBezTo>
                        <a:pt x="56" y="206"/>
                        <a:pt x="0" y="309"/>
                        <a:pt x="0" y="428"/>
                      </a:cubicBezTo>
                      <a:lnTo>
                        <a:pt x="0" y="441"/>
                      </a:lnTo>
                      <a:cubicBezTo>
                        <a:pt x="10" y="439"/>
                        <a:pt x="20" y="438"/>
                        <a:pt x="30" y="438"/>
                      </a:cubicBezTo>
                      <a:cubicBezTo>
                        <a:pt x="84" y="438"/>
                        <a:pt x="133" y="457"/>
                        <a:pt x="165" y="489"/>
                      </a:cubicBezTo>
                    </a:path>
                  </a:pathLst>
                </a:custGeom>
                <a:grpFill/>
                <a:ln w="9525">
                  <a:noFill/>
                  <a:round/>
                  <a:headEnd/>
                  <a:tailEnd/>
                </a:ln>
              </p:spPr>
              <p:txBody>
                <a:bodyPr vert="horz" wrap="square" lIns="68580" tIns="34290" rIns="68580" bIns="3429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6858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de-DE" sz="1350" b="0" i="0" u="none" strike="noStrike" kern="0" cap="none" spc="0" normalizeH="0" baseline="0" noProof="1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  <p:sp>
            <p:nvSpPr>
              <p:cNvPr id="658" name="Freihandform 240">
                <a:extLst>
                  <a:ext uri="{FF2B5EF4-FFF2-40B4-BE49-F238E27FC236}">
                    <a16:creationId xmlns:a16="http://schemas.microsoft.com/office/drawing/2014/main" id="{1D7C6ECC-88F1-39C3-425F-5725DD540D75}"/>
                  </a:ext>
                </a:extLst>
              </p:cNvPr>
              <p:cNvSpPr/>
              <p:nvPr/>
            </p:nvSpPr>
            <p:spPr>
              <a:xfrm>
                <a:off x="132106" y="3078492"/>
                <a:ext cx="320330" cy="382046"/>
              </a:xfrm>
              <a:custGeom>
                <a:avLst/>
                <a:gdLst>
                  <a:gd name="connsiteX0" fmla="*/ 206030 w 320330"/>
                  <a:gd name="connsiteY0" fmla="*/ 33802 h 382046"/>
                  <a:gd name="connsiteX1" fmla="*/ 206030 w 320330"/>
                  <a:gd name="connsiteY1" fmla="*/ 33802 h 382046"/>
                  <a:gd name="connsiteX2" fmla="*/ 153642 w 320330"/>
                  <a:gd name="connsiteY2" fmla="*/ 36184 h 382046"/>
                  <a:gd name="connsiteX3" fmla="*/ 132211 w 320330"/>
                  <a:gd name="connsiteY3" fmla="*/ 48090 h 382046"/>
                  <a:gd name="connsiteX4" fmla="*/ 113161 w 320330"/>
                  <a:gd name="connsiteY4" fmla="*/ 59996 h 382046"/>
                  <a:gd name="connsiteX5" fmla="*/ 98874 w 320330"/>
                  <a:gd name="connsiteY5" fmla="*/ 74284 h 382046"/>
                  <a:gd name="connsiteX6" fmla="*/ 82205 w 320330"/>
                  <a:gd name="connsiteY6" fmla="*/ 86190 h 382046"/>
                  <a:gd name="connsiteX7" fmla="*/ 67917 w 320330"/>
                  <a:gd name="connsiteY7" fmla="*/ 105240 h 382046"/>
                  <a:gd name="connsiteX8" fmla="*/ 60774 w 320330"/>
                  <a:gd name="connsiteY8" fmla="*/ 112384 h 382046"/>
                  <a:gd name="connsiteX9" fmla="*/ 48867 w 320330"/>
                  <a:gd name="connsiteY9" fmla="*/ 131434 h 382046"/>
                  <a:gd name="connsiteX10" fmla="*/ 39342 w 320330"/>
                  <a:gd name="connsiteY10" fmla="*/ 155246 h 382046"/>
                  <a:gd name="connsiteX11" fmla="*/ 25055 w 320330"/>
                  <a:gd name="connsiteY11" fmla="*/ 176677 h 382046"/>
                  <a:gd name="connsiteX12" fmla="*/ 15530 w 320330"/>
                  <a:gd name="connsiteY12" fmla="*/ 195727 h 382046"/>
                  <a:gd name="connsiteX13" fmla="*/ 6005 w 320330"/>
                  <a:gd name="connsiteY13" fmla="*/ 207634 h 382046"/>
                  <a:gd name="connsiteX14" fmla="*/ 3624 w 320330"/>
                  <a:gd name="connsiteY14" fmla="*/ 214777 h 382046"/>
                  <a:gd name="connsiteX15" fmla="*/ 6005 w 320330"/>
                  <a:gd name="connsiteY15" fmla="*/ 262402 h 382046"/>
                  <a:gd name="connsiteX16" fmla="*/ 22674 w 320330"/>
                  <a:gd name="connsiteY16" fmla="*/ 279071 h 382046"/>
                  <a:gd name="connsiteX17" fmla="*/ 29817 w 320330"/>
                  <a:gd name="connsiteY17" fmla="*/ 286215 h 382046"/>
                  <a:gd name="connsiteX18" fmla="*/ 36961 w 320330"/>
                  <a:gd name="connsiteY18" fmla="*/ 300502 h 382046"/>
                  <a:gd name="connsiteX19" fmla="*/ 44105 w 320330"/>
                  <a:gd name="connsiteY19" fmla="*/ 305265 h 382046"/>
                  <a:gd name="connsiteX20" fmla="*/ 48867 w 320330"/>
                  <a:gd name="connsiteY20" fmla="*/ 321934 h 382046"/>
                  <a:gd name="connsiteX21" fmla="*/ 58392 w 320330"/>
                  <a:gd name="connsiteY21" fmla="*/ 326696 h 382046"/>
                  <a:gd name="connsiteX22" fmla="*/ 72680 w 320330"/>
                  <a:gd name="connsiteY22" fmla="*/ 336221 h 382046"/>
                  <a:gd name="connsiteX23" fmla="*/ 91730 w 320330"/>
                  <a:gd name="connsiteY23" fmla="*/ 340984 h 382046"/>
                  <a:gd name="connsiteX24" fmla="*/ 101255 w 320330"/>
                  <a:gd name="connsiteY24" fmla="*/ 343365 h 382046"/>
                  <a:gd name="connsiteX25" fmla="*/ 129830 w 320330"/>
                  <a:gd name="connsiteY25" fmla="*/ 348127 h 382046"/>
                  <a:gd name="connsiteX26" fmla="*/ 136974 w 320330"/>
                  <a:gd name="connsiteY26" fmla="*/ 350509 h 382046"/>
                  <a:gd name="connsiteX27" fmla="*/ 153642 w 320330"/>
                  <a:gd name="connsiteY27" fmla="*/ 357652 h 382046"/>
                  <a:gd name="connsiteX28" fmla="*/ 170311 w 320330"/>
                  <a:gd name="connsiteY28" fmla="*/ 362415 h 382046"/>
                  <a:gd name="connsiteX29" fmla="*/ 184599 w 320330"/>
                  <a:gd name="connsiteY29" fmla="*/ 369559 h 382046"/>
                  <a:gd name="connsiteX30" fmla="*/ 225080 w 320330"/>
                  <a:gd name="connsiteY30" fmla="*/ 376702 h 382046"/>
                  <a:gd name="connsiteX31" fmla="*/ 232224 w 320330"/>
                  <a:gd name="connsiteY31" fmla="*/ 379084 h 382046"/>
                  <a:gd name="connsiteX32" fmla="*/ 291755 w 320330"/>
                  <a:gd name="connsiteY32" fmla="*/ 379084 h 382046"/>
                  <a:gd name="connsiteX33" fmla="*/ 298899 w 320330"/>
                  <a:gd name="connsiteY33" fmla="*/ 371940 h 382046"/>
                  <a:gd name="connsiteX34" fmla="*/ 308424 w 320330"/>
                  <a:gd name="connsiteY34" fmla="*/ 357652 h 382046"/>
                  <a:gd name="connsiteX35" fmla="*/ 310805 w 320330"/>
                  <a:gd name="connsiteY35" fmla="*/ 348127 h 382046"/>
                  <a:gd name="connsiteX36" fmla="*/ 317949 w 320330"/>
                  <a:gd name="connsiteY36" fmla="*/ 338602 h 382046"/>
                  <a:gd name="connsiteX37" fmla="*/ 320330 w 320330"/>
                  <a:gd name="connsiteY37" fmla="*/ 324315 h 382046"/>
                  <a:gd name="connsiteX38" fmla="*/ 317949 w 320330"/>
                  <a:gd name="connsiteY38" fmla="*/ 243352 h 382046"/>
                  <a:gd name="connsiteX39" fmla="*/ 315567 w 320330"/>
                  <a:gd name="connsiteY39" fmla="*/ 231446 h 382046"/>
                  <a:gd name="connsiteX40" fmla="*/ 308424 w 320330"/>
                  <a:gd name="connsiteY40" fmla="*/ 193346 h 382046"/>
                  <a:gd name="connsiteX41" fmla="*/ 303661 w 320330"/>
                  <a:gd name="connsiteY41" fmla="*/ 186202 h 382046"/>
                  <a:gd name="connsiteX42" fmla="*/ 294136 w 320330"/>
                  <a:gd name="connsiteY42" fmla="*/ 164771 h 382046"/>
                  <a:gd name="connsiteX43" fmla="*/ 289374 w 320330"/>
                  <a:gd name="connsiteY43" fmla="*/ 152865 h 382046"/>
                  <a:gd name="connsiteX44" fmla="*/ 275086 w 320330"/>
                  <a:gd name="connsiteY44" fmla="*/ 121909 h 382046"/>
                  <a:gd name="connsiteX45" fmla="*/ 265561 w 320330"/>
                  <a:gd name="connsiteY45" fmla="*/ 95715 h 382046"/>
                  <a:gd name="connsiteX46" fmla="*/ 263180 w 320330"/>
                  <a:gd name="connsiteY46" fmla="*/ 86190 h 382046"/>
                  <a:gd name="connsiteX47" fmla="*/ 253655 w 320330"/>
                  <a:gd name="connsiteY47" fmla="*/ 71902 h 382046"/>
                  <a:gd name="connsiteX48" fmla="*/ 246511 w 320330"/>
                  <a:gd name="connsiteY48" fmla="*/ 50471 h 382046"/>
                  <a:gd name="connsiteX49" fmla="*/ 239367 w 320330"/>
                  <a:gd name="connsiteY49" fmla="*/ 38565 h 382046"/>
                  <a:gd name="connsiteX50" fmla="*/ 232224 w 320330"/>
                  <a:gd name="connsiteY50" fmla="*/ 17134 h 382046"/>
                  <a:gd name="connsiteX51" fmla="*/ 227461 w 320330"/>
                  <a:gd name="connsiteY51" fmla="*/ 9990 h 382046"/>
                  <a:gd name="connsiteX52" fmla="*/ 225080 w 320330"/>
                  <a:gd name="connsiteY52" fmla="*/ 465 h 382046"/>
                  <a:gd name="connsiteX53" fmla="*/ 206030 w 320330"/>
                  <a:gd name="connsiteY53" fmla="*/ 33802 h 38204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</a:cxnLst>
                <a:rect l="l" t="t" r="r" b="b"/>
                <a:pathLst>
                  <a:path w="320330" h="382046">
                    <a:moveTo>
                      <a:pt x="206030" y="33802"/>
                    </a:moveTo>
                    <a:lnTo>
                      <a:pt x="206030" y="33802"/>
                    </a:lnTo>
                    <a:cubicBezTo>
                      <a:pt x="188567" y="34596"/>
                      <a:pt x="171067" y="34790"/>
                      <a:pt x="153642" y="36184"/>
                    </a:cubicBezTo>
                    <a:cubicBezTo>
                      <a:pt x="146592" y="36748"/>
                      <a:pt x="135990" y="45445"/>
                      <a:pt x="132211" y="48090"/>
                    </a:cubicBezTo>
                    <a:cubicBezTo>
                      <a:pt x="116754" y="58910"/>
                      <a:pt x="129002" y="52077"/>
                      <a:pt x="113161" y="59996"/>
                    </a:cubicBezTo>
                    <a:cubicBezTo>
                      <a:pt x="101942" y="76827"/>
                      <a:pt x="116590" y="56569"/>
                      <a:pt x="98874" y="74284"/>
                    </a:cubicBezTo>
                    <a:cubicBezTo>
                      <a:pt x="85796" y="87361"/>
                      <a:pt x="105646" y="76813"/>
                      <a:pt x="82205" y="86190"/>
                    </a:cubicBezTo>
                    <a:cubicBezTo>
                      <a:pt x="77442" y="92540"/>
                      <a:pt x="73529" y="99627"/>
                      <a:pt x="67917" y="105240"/>
                    </a:cubicBezTo>
                    <a:cubicBezTo>
                      <a:pt x="65536" y="107621"/>
                      <a:pt x="62930" y="109797"/>
                      <a:pt x="60774" y="112384"/>
                    </a:cubicBezTo>
                    <a:cubicBezTo>
                      <a:pt x="58288" y="115367"/>
                      <a:pt x="49647" y="130030"/>
                      <a:pt x="48867" y="131434"/>
                    </a:cubicBezTo>
                    <a:cubicBezTo>
                      <a:pt x="40892" y="145789"/>
                      <a:pt x="46596" y="137111"/>
                      <a:pt x="39342" y="155246"/>
                    </a:cubicBezTo>
                    <a:cubicBezTo>
                      <a:pt x="35120" y="165801"/>
                      <a:pt x="32771" y="167033"/>
                      <a:pt x="25055" y="176677"/>
                    </a:cubicBezTo>
                    <a:cubicBezTo>
                      <a:pt x="20321" y="195616"/>
                      <a:pt x="26324" y="176837"/>
                      <a:pt x="15530" y="195727"/>
                    </a:cubicBezTo>
                    <a:cubicBezTo>
                      <a:pt x="8451" y="208115"/>
                      <a:pt x="19562" y="198595"/>
                      <a:pt x="6005" y="207634"/>
                    </a:cubicBezTo>
                    <a:cubicBezTo>
                      <a:pt x="5211" y="210015"/>
                      <a:pt x="4314" y="212364"/>
                      <a:pt x="3624" y="214777"/>
                    </a:cubicBezTo>
                    <a:cubicBezTo>
                      <a:pt x="-1127" y="231404"/>
                      <a:pt x="-2042" y="241839"/>
                      <a:pt x="6005" y="262402"/>
                    </a:cubicBezTo>
                    <a:cubicBezTo>
                      <a:pt x="8868" y="269720"/>
                      <a:pt x="17118" y="273515"/>
                      <a:pt x="22674" y="279071"/>
                    </a:cubicBezTo>
                    <a:lnTo>
                      <a:pt x="29817" y="286215"/>
                    </a:lnTo>
                    <a:cubicBezTo>
                      <a:pt x="31754" y="292024"/>
                      <a:pt x="32346" y="295887"/>
                      <a:pt x="36961" y="300502"/>
                    </a:cubicBezTo>
                    <a:cubicBezTo>
                      <a:pt x="38985" y="302526"/>
                      <a:pt x="41724" y="303677"/>
                      <a:pt x="44105" y="305265"/>
                    </a:cubicBezTo>
                    <a:cubicBezTo>
                      <a:pt x="45692" y="310821"/>
                      <a:pt x="45662" y="317126"/>
                      <a:pt x="48867" y="321934"/>
                    </a:cubicBezTo>
                    <a:cubicBezTo>
                      <a:pt x="50836" y="324888"/>
                      <a:pt x="55348" y="324870"/>
                      <a:pt x="58392" y="326696"/>
                    </a:cubicBezTo>
                    <a:cubicBezTo>
                      <a:pt x="63300" y="329641"/>
                      <a:pt x="67250" y="334411"/>
                      <a:pt x="72680" y="336221"/>
                    </a:cubicBezTo>
                    <a:cubicBezTo>
                      <a:pt x="85444" y="340475"/>
                      <a:pt x="74493" y="337153"/>
                      <a:pt x="91730" y="340984"/>
                    </a:cubicBezTo>
                    <a:cubicBezTo>
                      <a:pt x="94925" y="341694"/>
                      <a:pt x="98038" y="342762"/>
                      <a:pt x="101255" y="343365"/>
                    </a:cubicBezTo>
                    <a:cubicBezTo>
                      <a:pt x="110746" y="345144"/>
                      <a:pt x="129830" y="348127"/>
                      <a:pt x="129830" y="348127"/>
                    </a:cubicBezTo>
                    <a:cubicBezTo>
                      <a:pt x="132211" y="348921"/>
                      <a:pt x="134667" y="349520"/>
                      <a:pt x="136974" y="350509"/>
                    </a:cubicBezTo>
                    <a:cubicBezTo>
                      <a:pt x="149673" y="355952"/>
                      <a:pt x="142474" y="354461"/>
                      <a:pt x="153642" y="357652"/>
                    </a:cubicBezTo>
                    <a:cubicBezTo>
                      <a:pt x="157197" y="358668"/>
                      <a:pt x="166508" y="360514"/>
                      <a:pt x="170311" y="362415"/>
                    </a:cubicBezTo>
                    <a:cubicBezTo>
                      <a:pt x="184224" y="369371"/>
                      <a:pt x="170634" y="365569"/>
                      <a:pt x="184599" y="369559"/>
                    </a:cubicBezTo>
                    <a:cubicBezTo>
                      <a:pt x="197794" y="373329"/>
                      <a:pt x="211538" y="374768"/>
                      <a:pt x="225080" y="376702"/>
                    </a:cubicBezTo>
                    <a:cubicBezTo>
                      <a:pt x="227461" y="377496"/>
                      <a:pt x="229789" y="378475"/>
                      <a:pt x="232224" y="379084"/>
                    </a:cubicBezTo>
                    <a:cubicBezTo>
                      <a:pt x="255131" y="384811"/>
                      <a:pt x="258097" y="380767"/>
                      <a:pt x="291755" y="379084"/>
                    </a:cubicBezTo>
                    <a:cubicBezTo>
                      <a:pt x="294136" y="376703"/>
                      <a:pt x="297031" y="374742"/>
                      <a:pt x="298899" y="371940"/>
                    </a:cubicBezTo>
                    <a:cubicBezTo>
                      <a:pt x="312684" y="351262"/>
                      <a:pt x="285634" y="380442"/>
                      <a:pt x="308424" y="357652"/>
                    </a:cubicBezTo>
                    <a:cubicBezTo>
                      <a:pt x="309218" y="354477"/>
                      <a:pt x="309341" y="351054"/>
                      <a:pt x="310805" y="348127"/>
                    </a:cubicBezTo>
                    <a:cubicBezTo>
                      <a:pt x="312580" y="344577"/>
                      <a:pt x="316475" y="342287"/>
                      <a:pt x="317949" y="338602"/>
                    </a:cubicBezTo>
                    <a:cubicBezTo>
                      <a:pt x="319742" y="334119"/>
                      <a:pt x="319536" y="329077"/>
                      <a:pt x="320330" y="324315"/>
                    </a:cubicBezTo>
                    <a:cubicBezTo>
                      <a:pt x="319536" y="297327"/>
                      <a:pt x="319332" y="270316"/>
                      <a:pt x="317949" y="243352"/>
                    </a:cubicBezTo>
                    <a:cubicBezTo>
                      <a:pt x="317742" y="239310"/>
                      <a:pt x="316182" y="235446"/>
                      <a:pt x="315567" y="231446"/>
                    </a:cubicBezTo>
                    <a:cubicBezTo>
                      <a:pt x="314503" y="224530"/>
                      <a:pt x="312561" y="199551"/>
                      <a:pt x="308424" y="193346"/>
                    </a:cubicBezTo>
                    <a:lnTo>
                      <a:pt x="303661" y="186202"/>
                    </a:lnTo>
                    <a:cubicBezTo>
                      <a:pt x="298622" y="171084"/>
                      <a:pt x="304470" y="187506"/>
                      <a:pt x="294136" y="164771"/>
                    </a:cubicBezTo>
                    <a:cubicBezTo>
                      <a:pt x="292367" y="160880"/>
                      <a:pt x="291165" y="156746"/>
                      <a:pt x="289374" y="152865"/>
                    </a:cubicBezTo>
                    <a:cubicBezTo>
                      <a:pt x="272211" y="115677"/>
                      <a:pt x="285934" y="149025"/>
                      <a:pt x="275086" y="121909"/>
                    </a:cubicBezTo>
                    <a:cubicBezTo>
                      <a:pt x="270300" y="97974"/>
                      <a:pt x="276306" y="122576"/>
                      <a:pt x="265561" y="95715"/>
                    </a:cubicBezTo>
                    <a:cubicBezTo>
                      <a:pt x="264346" y="92676"/>
                      <a:pt x="264644" y="89117"/>
                      <a:pt x="263180" y="86190"/>
                    </a:cubicBezTo>
                    <a:cubicBezTo>
                      <a:pt x="260620" y="81070"/>
                      <a:pt x="256396" y="76927"/>
                      <a:pt x="253655" y="71902"/>
                    </a:cubicBezTo>
                    <a:cubicBezTo>
                      <a:pt x="238486" y="44093"/>
                      <a:pt x="256965" y="73992"/>
                      <a:pt x="246511" y="50471"/>
                    </a:cubicBezTo>
                    <a:cubicBezTo>
                      <a:pt x="244631" y="46242"/>
                      <a:pt x="241437" y="42705"/>
                      <a:pt x="239367" y="38565"/>
                    </a:cubicBezTo>
                    <a:cubicBezTo>
                      <a:pt x="220034" y="-102"/>
                      <a:pt x="245868" y="48969"/>
                      <a:pt x="232224" y="17134"/>
                    </a:cubicBezTo>
                    <a:cubicBezTo>
                      <a:pt x="231097" y="14503"/>
                      <a:pt x="229049" y="12371"/>
                      <a:pt x="227461" y="9990"/>
                    </a:cubicBezTo>
                    <a:cubicBezTo>
                      <a:pt x="226667" y="6815"/>
                      <a:pt x="226369" y="3473"/>
                      <a:pt x="225080" y="465"/>
                    </a:cubicBezTo>
                    <a:cubicBezTo>
                      <a:pt x="223061" y="-4247"/>
                      <a:pt x="209205" y="28246"/>
                      <a:pt x="206030" y="33802"/>
                    </a:cubicBezTo>
                    <a:close/>
                  </a:path>
                </a:pathLst>
              </a:custGeom>
              <a:solidFill>
                <a:sysClr val="window" lastClr="FFFFFF"/>
              </a:solidFill>
              <a:ln w="12700" cap="flat" cmpd="sng" algn="ctr">
                <a:solidFill>
                  <a:sysClr val="window" lastClr="FFFFFF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6858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de-DE" sz="1350" b="0" i="0" u="none" strike="noStrike" kern="0" cap="none" spc="0" normalizeH="0" baseline="0" noProof="1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659" name="Bolt3" descr="{&quot;Key&quot;:&quot;POWER_USER_SHAPE_ICON&quot;,&quot;Value&quot;:&quot;POWER_USER_SHAPE_ICON_STYLE_1&quot;}">
                <a:extLst>
                  <a:ext uri="{FF2B5EF4-FFF2-40B4-BE49-F238E27FC236}">
                    <a16:creationId xmlns:a16="http://schemas.microsoft.com/office/drawing/2014/main" id="{F383415F-52AD-5FE0-0C5C-FE39AA2E3CCA}"/>
                  </a:ext>
                </a:extLst>
              </p:cNvPr>
              <p:cNvSpPr>
                <a:spLocks noChangeAspect="1"/>
              </p:cNvSpPr>
              <p:nvPr>
                <p:custDataLst>
                  <p:tags r:id="rId11"/>
                </p:custDataLst>
              </p:nvPr>
            </p:nvSpPr>
            <p:spPr bwMode="auto">
              <a:xfrm>
                <a:off x="234737" y="3127907"/>
                <a:ext cx="197755" cy="316407"/>
              </a:xfrm>
              <a:custGeom>
                <a:avLst/>
                <a:gdLst>
                  <a:gd name="T0" fmla="*/ 132 w 511"/>
                  <a:gd name="T1" fmla="*/ 773 h 815"/>
                  <a:gd name="T2" fmla="*/ 212 w 511"/>
                  <a:gd name="T3" fmla="*/ 474 h 815"/>
                  <a:gd name="T4" fmla="*/ 32 w 511"/>
                  <a:gd name="T5" fmla="*/ 474 h 815"/>
                  <a:gd name="T6" fmla="*/ 13 w 511"/>
                  <a:gd name="T7" fmla="*/ 435 h 815"/>
                  <a:gd name="T8" fmla="*/ 336 w 511"/>
                  <a:gd name="T9" fmla="*/ 21 h 815"/>
                  <a:gd name="T10" fmla="*/ 379 w 511"/>
                  <a:gd name="T11" fmla="*/ 42 h 815"/>
                  <a:gd name="T12" fmla="*/ 299 w 511"/>
                  <a:gd name="T13" fmla="*/ 341 h 815"/>
                  <a:gd name="T14" fmla="*/ 479 w 511"/>
                  <a:gd name="T15" fmla="*/ 341 h 815"/>
                  <a:gd name="T16" fmla="*/ 499 w 511"/>
                  <a:gd name="T17" fmla="*/ 380 h 815"/>
                  <a:gd name="T18" fmla="*/ 176 w 511"/>
                  <a:gd name="T19" fmla="*/ 794 h 815"/>
                  <a:gd name="T20" fmla="*/ 132 w 511"/>
                  <a:gd name="T21" fmla="*/ 773 h 81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511" h="815">
                    <a:moveTo>
                      <a:pt x="132" y="773"/>
                    </a:moveTo>
                    <a:lnTo>
                      <a:pt x="212" y="474"/>
                    </a:lnTo>
                    <a:lnTo>
                      <a:pt x="32" y="474"/>
                    </a:lnTo>
                    <a:cubicBezTo>
                      <a:pt x="12" y="474"/>
                      <a:pt x="0" y="450"/>
                      <a:pt x="13" y="435"/>
                    </a:cubicBezTo>
                    <a:lnTo>
                      <a:pt x="336" y="21"/>
                    </a:lnTo>
                    <a:cubicBezTo>
                      <a:pt x="352" y="0"/>
                      <a:pt x="386" y="17"/>
                      <a:pt x="379" y="42"/>
                    </a:cubicBezTo>
                    <a:lnTo>
                      <a:pt x="299" y="341"/>
                    </a:lnTo>
                    <a:lnTo>
                      <a:pt x="479" y="341"/>
                    </a:lnTo>
                    <a:cubicBezTo>
                      <a:pt x="500" y="341"/>
                      <a:pt x="511" y="365"/>
                      <a:pt x="499" y="380"/>
                    </a:cubicBezTo>
                    <a:lnTo>
                      <a:pt x="176" y="794"/>
                    </a:lnTo>
                    <a:cubicBezTo>
                      <a:pt x="159" y="815"/>
                      <a:pt x="125" y="798"/>
                      <a:pt x="132" y="773"/>
                    </a:cubicBezTo>
                    <a:close/>
                  </a:path>
                </a:pathLst>
              </a:custGeom>
              <a:solidFill>
                <a:srgbClr val="9954CC"/>
              </a:solidFill>
              <a:ln>
                <a:noFill/>
              </a:ln>
            </p:spPr>
            <p:txBody>
              <a:bodyPr vert="horz" wrap="square" lIns="68580" tIns="34290" rIns="68580" bIns="3429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6858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de-DE" sz="1350" b="0" i="0" u="none" strike="noStrike" kern="0" cap="none" spc="0" normalizeH="0" baseline="0" noProof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  <p:grpSp>
          <p:nvGrpSpPr>
            <p:cNvPr id="654" name="Gruppieren 653" descr="{&quot;Key&quot;:&quot;POWER_USER_SHAPE_ICON&quot;,&quot;Value&quot;:&quot;POWER_USER_SHAPE_ICON_STYLE_2&quot;}">
              <a:extLst>
                <a:ext uri="{FF2B5EF4-FFF2-40B4-BE49-F238E27FC236}">
                  <a16:creationId xmlns:a16="http://schemas.microsoft.com/office/drawing/2014/main" id="{9CBAAFA2-9CBF-0076-8E59-66B865907F54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9163525" y="3777549"/>
              <a:ext cx="328332" cy="328332"/>
              <a:chOff x="7786650" y="4317126"/>
              <a:chExt cx="762000" cy="762000"/>
            </a:xfrm>
            <a:noFill/>
          </p:grpSpPr>
          <p:sp>
            <p:nvSpPr>
              <p:cNvPr id="655" name="POWER_USER_SHAPE_ICON_STYLE_2">
                <a:extLst>
                  <a:ext uri="{FF2B5EF4-FFF2-40B4-BE49-F238E27FC236}">
                    <a16:creationId xmlns:a16="http://schemas.microsoft.com/office/drawing/2014/main" id="{310B72DB-CD3D-1423-1085-A3A6746F29DE}"/>
                  </a:ext>
                </a:extLst>
              </p:cNvPr>
              <p:cNvSpPr/>
              <p:nvPr/>
            </p:nvSpPr>
            <p:spPr>
              <a:xfrm>
                <a:off x="7786650" y="4317126"/>
                <a:ext cx="762000" cy="762000"/>
              </a:xfrm>
              <a:prstGeom prst="ellipse">
                <a:avLst/>
              </a:prstGeom>
              <a:solidFill>
                <a:sysClr val="window" lastClr="FFFFFF"/>
              </a:solidFill>
              <a:ln w="28575" cap="flat" cmpd="sng" algn="ctr">
                <a:solidFill>
                  <a:srgbClr val="9954CC"/>
                </a:solidFill>
                <a:prstDash val="sysDot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6858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de-DE" sz="1350" b="0" i="0" u="none" strike="noStrike" kern="0" cap="none" spc="0" normalizeH="0" baseline="0" noProof="1">
                  <a:ln>
                    <a:noFill/>
                  </a:ln>
                  <a:solidFill>
                    <a:srgbClr val="9954CC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656" name="Building5" descr="{&quot;Key&quot;:&quot;POWER_USER_SHAPE_ICON&quot;,&quot;Value&quot;:&quot;POWER_USER_SHAPE_ICON_STYLE_1&quot;}">
                <a:extLst>
                  <a:ext uri="{FF2B5EF4-FFF2-40B4-BE49-F238E27FC236}">
                    <a16:creationId xmlns:a16="http://schemas.microsoft.com/office/drawing/2014/main" id="{3381AF89-8469-F8A6-EC35-AD8EBDF25574}"/>
                  </a:ext>
                </a:extLst>
              </p:cNvPr>
              <p:cNvSpPr>
                <a:spLocks noChangeAspect="1" noEditPoints="1"/>
              </p:cNvSpPr>
              <p:nvPr>
                <p:custDataLst>
                  <p:tags r:id="rId9"/>
                </p:custDataLst>
              </p:nvPr>
            </p:nvSpPr>
            <p:spPr bwMode="auto">
              <a:xfrm>
                <a:off x="7913650" y="4456556"/>
                <a:ext cx="508000" cy="483141"/>
              </a:xfrm>
              <a:custGeom>
                <a:avLst/>
                <a:gdLst>
                  <a:gd name="T0" fmla="*/ 915 w 1250"/>
                  <a:gd name="T1" fmla="*/ 250 h 1187"/>
                  <a:gd name="T2" fmla="*/ 915 w 1250"/>
                  <a:gd name="T3" fmla="*/ 1053 h 1187"/>
                  <a:gd name="T4" fmla="*/ 848 w 1250"/>
                  <a:gd name="T5" fmla="*/ 1053 h 1187"/>
                  <a:gd name="T6" fmla="*/ 850 w 1250"/>
                  <a:gd name="T7" fmla="*/ 0 h 1187"/>
                  <a:gd name="T8" fmla="*/ 448 w 1250"/>
                  <a:gd name="T9" fmla="*/ 0 h 1187"/>
                  <a:gd name="T10" fmla="*/ 446 w 1250"/>
                  <a:gd name="T11" fmla="*/ 1053 h 1187"/>
                  <a:gd name="T12" fmla="*/ 379 w 1250"/>
                  <a:gd name="T13" fmla="*/ 1053 h 1187"/>
                  <a:gd name="T14" fmla="*/ 379 w 1250"/>
                  <a:gd name="T15" fmla="*/ 361 h 1187"/>
                  <a:gd name="T16" fmla="*/ 0 w 1250"/>
                  <a:gd name="T17" fmla="*/ 361 h 1187"/>
                  <a:gd name="T18" fmla="*/ 0 w 1250"/>
                  <a:gd name="T19" fmla="*/ 1187 h 1187"/>
                  <a:gd name="T20" fmla="*/ 1250 w 1250"/>
                  <a:gd name="T21" fmla="*/ 1187 h 1187"/>
                  <a:gd name="T22" fmla="*/ 1250 w 1250"/>
                  <a:gd name="T23" fmla="*/ 250 h 1187"/>
                  <a:gd name="T24" fmla="*/ 915 w 1250"/>
                  <a:gd name="T25" fmla="*/ 250 h 1187"/>
                  <a:gd name="T26" fmla="*/ 982 w 1250"/>
                  <a:gd name="T27" fmla="*/ 339 h 1187"/>
                  <a:gd name="T28" fmla="*/ 1183 w 1250"/>
                  <a:gd name="T29" fmla="*/ 339 h 1187"/>
                  <a:gd name="T30" fmla="*/ 1183 w 1250"/>
                  <a:gd name="T31" fmla="*/ 584 h 1187"/>
                  <a:gd name="T32" fmla="*/ 982 w 1250"/>
                  <a:gd name="T33" fmla="*/ 584 h 1187"/>
                  <a:gd name="T34" fmla="*/ 982 w 1250"/>
                  <a:gd name="T35" fmla="*/ 339 h 1187"/>
                  <a:gd name="T36" fmla="*/ 982 w 1250"/>
                  <a:gd name="T37" fmla="*/ 674 h 1187"/>
                  <a:gd name="T38" fmla="*/ 1183 w 1250"/>
                  <a:gd name="T39" fmla="*/ 674 h 1187"/>
                  <a:gd name="T40" fmla="*/ 1183 w 1250"/>
                  <a:gd name="T41" fmla="*/ 919 h 1187"/>
                  <a:gd name="T42" fmla="*/ 982 w 1250"/>
                  <a:gd name="T43" fmla="*/ 919 h 1187"/>
                  <a:gd name="T44" fmla="*/ 982 w 1250"/>
                  <a:gd name="T45" fmla="*/ 674 h 1187"/>
                  <a:gd name="T46" fmla="*/ 513 w 1250"/>
                  <a:gd name="T47" fmla="*/ 71 h 1187"/>
                  <a:gd name="T48" fmla="*/ 781 w 1250"/>
                  <a:gd name="T49" fmla="*/ 71 h 1187"/>
                  <a:gd name="T50" fmla="*/ 781 w 1250"/>
                  <a:gd name="T51" fmla="*/ 183 h 1187"/>
                  <a:gd name="T52" fmla="*/ 513 w 1250"/>
                  <a:gd name="T53" fmla="*/ 183 h 1187"/>
                  <a:gd name="T54" fmla="*/ 513 w 1250"/>
                  <a:gd name="T55" fmla="*/ 71 h 1187"/>
                  <a:gd name="T56" fmla="*/ 513 w 1250"/>
                  <a:gd name="T57" fmla="*/ 294 h 1187"/>
                  <a:gd name="T58" fmla="*/ 781 w 1250"/>
                  <a:gd name="T59" fmla="*/ 294 h 1187"/>
                  <a:gd name="T60" fmla="*/ 781 w 1250"/>
                  <a:gd name="T61" fmla="*/ 406 h 1187"/>
                  <a:gd name="T62" fmla="*/ 513 w 1250"/>
                  <a:gd name="T63" fmla="*/ 406 h 1187"/>
                  <a:gd name="T64" fmla="*/ 513 w 1250"/>
                  <a:gd name="T65" fmla="*/ 294 h 1187"/>
                  <a:gd name="T66" fmla="*/ 513 w 1250"/>
                  <a:gd name="T67" fmla="*/ 517 h 1187"/>
                  <a:gd name="T68" fmla="*/ 781 w 1250"/>
                  <a:gd name="T69" fmla="*/ 517 h 1187"/>
                  <a:gd name="T70" fmla="*/ 781 w 1250"/>
                  <a:gd name="T71" fmla="*/ 629 h 1187"/>
                  <a:gd name="T72" fmla="*/ 513 w 1250"/>
                  <a:gd name="T73" fmla="*/ 629 h 1187"/>
                  <a:gd name="T74" fmla="*/ 513 w 1250"/>
                  <a:gd name="T75" fmla="*/ 517 h 1187"/>
                  <a:gd name="T76" fmla="*/ 513 w 1250"/>
                  <a:gd name="T77" fmla="*/ 741 h 1187"/>
                  <a:gd name="T78" fmla="*/ 781 w 1250"/>
                  <a:gd name="T79" fmla="*/ 741 h 1187"/>
                  <a:gd name="T80" fmla="*/ 781 w 1250"/>
                  <a:gd name="T81" fmla="*/ 852 h 1187"/>
                  <a:gd name="T82" fmla="*/ 513 w 1250"/>
                  <a:gd name="T83" fmla="*/ 852 h 1187"/>
                  <a:gd name="T84" fmla="*/ 513 w 1250"/>
                  <a:gd name="T85" fmla="*/ 741 h 1187"/>
                  <a:gd name="T86" fmla="*/ 67 w 1250"/>
                  <a:gd name="T87" fmla="*/ 450 h 1187"/>
                  <a:gd name="T88" fmla="*/ 156 w 1250"/>
                  <a:gd name="T89" fmla="*/ 450 h 1187"/>
                  <a:gd name="T90" fmla="*/ 156 w 1250"/>
                  <a:gd name="T91" fmla="*/ 607 h 1187"/>
                  <a:gd name="T92" fmla="*/ 67 w 1250"/>
                  <a:gd name="T93" fmla="*/ 607 h 1187"/>
                  <a:gd name="T94" fmla="*/ 67 w 1250"/>
                  <a:gd name="T95" fmla="*/ 450 h 1187"/>
                  <a:gd name="T96" fmla="*/ 223 w 1250"/>
                  <a:gd name="T97" fmla="*/ 450 h 1187"/>
                  <a:gd name="T98" fmla="*/ 313 w 1250"/>
                  <a:gd name="T99" fmla="*/ 450 h 1187"/>
                  <a:gd name="T100" fmla="*/ 313 w 1250"/>
                  <a:gd name="T101" fmla="*/ 607 h 1187"/>
                  <a:gd name="T102" fmla="*/ 223 w 1250"/>
                  <a:gd name="T103" fmla="*/ 607 h 1187"/>
                  <a:gd name="T104" fmla="*/ 223 w 1250"/>
                  <a:gd name="T105" fmla="*/ 450 h 1187"/>
                  <a:gd name="T106" fmla="*/ 67 w 1250"/>
                  <a:gd name="T107" fmla="*/ 718 h 1187"/>
                  <a:gd name="T108" fmla="*/ 156 w 1250"/>
                  <a:gd name="T109" fmla="*/ 718 h 1187"/>
                  <a:gd name="T110" fmla="*/ 156 w 1250"/>
                  <a:gd name="T111" fmla="*/ 875 h 1187"/>
                  <a:gd name="T112" fmla="*/ 67 w 1250"/>
                  <a:gd name="T113" fmla="*/ 875 h 1187"/>
                  <a:gd name="T114" fmla="*/ 67 w 1250"/>
                  <a:gd name="T115" fmla="*/ 718 h 1187"/>
                  <a:gd name="T116" fmla="*/ 223 w 1250"/>
                  <a:gd name="T117" fmla="*/ 718 h 1187"/>
                  <a:gd name="T118" fmla="*/ 313 w 1250"/>
                  <a:gd name="T119" fmla="*/ 718 h 1187"/>
                  <a:gd name="T120" fmla="*/ 313 w 1250"/>
                  <a:gd name="T121" fmla="*/ 875 h 1187"/>
                  <a:gd name="T122" fmla="*/ 223 w 1250"/>
                  <a:gd name="T123" fmla="*/ 875 h 1187"/>
                  <a:gd name="T124" fmla="*/ 223 w 1250"/>
                  <a:gd name="T125" fmla="*/ 718 h 118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  <a:cxn ang="0">
                    <a:pos x="T122" y="T123"/>
                  </a:cxn>
                  <a:cxn ang="0">
                    <a:pos x="T124" y="T125"/>
                  </a:cxn>
                </a:cxnLst>
                <a:rect l="0" t="0" r="r" b="b"/>
                <a:pathLst>
                  <a:path w="1250" h="1187">
                    <a:moveTo>
                      <a:pt x="915" y="250"/>
                    </a:moveTo>
                    <a:lnTo>
                      <a:pt x="915" y="1053"/>
                    </a:lnTo>
                    <a:lnTo>
                      <a:pt x="848" y="1053"/>
                    </a:lnTo>
                    <a:lnTo>
                      <a:pt x="850" y="0"/>
                    </a:lnTo>
                    <a:lnTo>
                      <a:pt x="448" y="0"/>
                    </a:lnTo>
                    <a:lnTo>
                      <a:pt x="446" y="1053"/>
                    </a:lnTo>
                    <a:lnTo>
                      <a:pt x="379" y="1053"/>
                    </a:lnTo>
                    <a:lnTo>
                      <a:pt x="379" y="361"/>
                    </a:lnTo>
                    <a:lnTo>
                      <a:pt x="0" y="361"/>
                    </a:lnTo>
                    <a:lnTo>
                      <a:pt x="0" y="1187"/>
                    </a:lnTo>
                    <a:lnTo>
                      <a:pt x="1250" y="1187"/>
                    </a:lnTo>
                    <a:lnTo>
                      <a:pt x="1250" y="250"/>
                    </a:lnTo>
                    <a:lnTo>
                      <a:pt x="915" y="250"/>
                    </a:lnTo>
                    <a:close/>
                    <a:moveTo>
                      <a:pt x="982" y="339"/>
                    </a:moveTo>
                    <a:lnTo>
                      <a:pt x="1183" y="339"/>
                    </a:lnTo>
                    <a:lnTo>
                      <a:pt x="1183" y="584"/>
                    </a:lnTo>
                    <a:lnTo>
                      <a:pt x="982" y="584"/>
                    </a:lnTo>
                    <a:lnTo>
                      <a:pt x="982" y="339"/>
                    </a:lnTo>
                    <a:close/>
                    <a:moveTo>
                      <a:pt x="982" y="674"/>
                    </a:moveTo>
                    <a:lnTo>
                      <a:pt x="1183" y="674"/>
                    </a:lnTo>
                    <a:lnTo>
                      <a:pt x="1183" y="919"/>
                    </a:lnTo>
                    <a:lnTo>
                      <a:pt x="982" y="919"/>
                    </a:lnTo>
                    <a:lnTo>
                      <a:pt x="982" y="674"/>
                    </a:lnTo>
                    <a:close/>
                    <a:moveTo>
                      <a:pt x="513" y="71"/>
                    </a:moveTo>
                    <a:lnTo>
                      <a:pt x="781" y="71"/>
                    </a:lnTo>
                    <a:lnTo>
                      <a:pt x="781" y="183"/>
                    </a:lnTo>
                    <a:lnTo>
                      <a:pt x="513" y="183"/>
                    </a:lnTo>
                    <a:lnTo>
                      <a:pt x="513" y="71"/>
                    </a:lnTo>
                    <a:close/>
                    <a:moveTo>
                      <a:pt x="513" y="294"/>
                    </a:moveTo>
                    <a:lnTo>
                      <a:pt x="781" y="294"/>
                    </a:lnTo>
                    <a:lnTo>
                      <a:pt x="781" y="406"/>
                    </a:lnTo>
                    <a:lnTo>
                      <a:pt x="513" y="406"/>
                    </a:lnTo>
                    <a:lnTo>
                      <a:pt x="513" y="294"/>
                    </a:lnTo>
                    <a:close/>
                    <a:moveTo>
                      <a:pt x="513" y="517"/>
                    </a:moveTo>
                    <a:lnTo>
                      <a:pt x="781" y="517"/>
                    </a:lnTo>
                    <a:lnTo>
                      <a:pt x="781" y="629"/>
                    </a:lnTo>
                    <a:lnTo>
                      <a:pt x="513" y="629"/>
                    </a:lnTo>
                    <a:lnTo>
                      <a:pt x="513" y="517"/>
                    </a:lnTo>
                    <a:close/>
                    <a:moveTo>
                      <a:pt x="513" y="741"/>
                    </a:moveTo>
                    <a:lnTo>
                      <a:pt x="781" y="741"/>
                    </a:lnTo>
                    <a:lnTo>
                      <a:pt x="781" y="852"/>
                    </a:lnTo>
                    <a:lnTo>
                      <a:pt x="513" y="852"/>
                    </a:lnTo>
                    <a:lnTo>
                      <a:pt x="513" y="741"/>
                    </a:lnTo>
                    <a:close/>
                    <a:moveTo>
                      <a:pt x="67" y="450"/>
                    </a:moveTo>
                    <a:lnTo>
                      <a:pt x="156" y="450"/>
                    </a:lnTo>
                    <a:lnTo>
                      <a:pt x="156" y="607"/>
                    </a:lnTo>
                    <a:lnTo>
                      <a:pt x="67" y="607"/>
                    </a:lnTo>
                    <a:lnTo>
                      <a:pt x="67" y="450"/>
                    </a:lnTo>
                    <a:close/>
                    <a:moveTo>
                      <a:pt x="223" y="450"/>
                    </a:moveTo>
                    <a:lnTo>
                      <a:pt x="313" y="450"/>
                    </a:lnTo>
                    <a:lnTo>
                      <a:pt x="313" y="607"/>
                    </a:lnTo>
                    <a:lnTo>
                      <a:pt x="223" y="607"/>
                    </a:lnTo>
                    <a:lnTo>
                      <a:pt x="223" y="450"/>
                    </a:lnTo>
                    <a:close/>
                    <a:moveTo>
                      <a:pt x="67" y="718"/>
                    </a:moveTo>
                    <a:lnTo>
                      <a:pt x="156" y="718"/>
                    </a:lnTo>
                    <a:lnTo>
                      <a:pt x="156" y="875"/>
                    </a:lnTo>
                    <a:lnTo>
                      <a:pt x="67" y="875"/>
                    </a:lnTo>
                    <a:lnTo>
                      <a:pt x="67" y="718"/>
                    </a:lnTo>
                    <a:close/>
                    <a:moveTo>
                      <a:pt x="223" y="718"/>
                    </a:moveTo>
                    <a:lnTo>
                      <a:pt x="313" y="718"/>
                    </a:lnTo>
                    <a:lnTo>
                      <a:pt x="313" y="875"/>
                    </a:lnTo>
                    <a:lnTo>
                      <a:pt x="223" y="875"/>
                    </a:lnTo>
                    <a:lnTo>
                      <a:pt x="223" y="718"/>
                    </a:lnTo>
                    <a:close/>
                  </a:path>
                </a:pathLst>
              </a:custGeom>
              <a:solidFill>
                <a:srgbClr val="9954CC"/>
              </a:solidFill>
              <a:ln>
                <a:noFill/>
              </a:ln>
            </p:spPr>
            <p:txBody>
              <a:bodyPr vert="horz" wrap="square" lIns="68580" tIns="34290" rIns="68580" bIns="3429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6858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de-DE" sz="1350" b="0" i="0" u="none" strike="noStrike" kern="0" cap="none" spc="0" normalizeH="0" baseline="0" noProof="1">
                  <a:ln>
                    <a:noFill/>
                  </a:ln>
                  <a:solidFill>
                    <a:srgbClr val="9954CC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663" name="Gruppieren 662">
            <a:extLst>
              <a:ext uri="{FF2B5EF4-FFF2-40B4-BE49-F238E27FC236}">
                <a16:creationId xmlns:a16="http://schemas.microsoft.com/office/drawing/2014/main" id="{B6A04A6D-F977-5AAA-41A3-2A37B613EF16}"/>
              </a:ext>
            </a:extLst>
          </p:cNvPr>
          <p:cNvGrpSpPr/>
          <p:nvPr/>
        </p:nvGrpSpPr>
        <p:grpSpPr>
          <a:xfrm>
            <a:off x="9326465" y="5119949"/>
            <a:ext cx="297476" cy="389956"/>
            <a:chOff x="0" y="3078492"/>
            <a:chExt cx="545343" cy="621971"/>
          </a:xfrm>
          <a:solidFill>
            <a:srgbClr val="0070C0"/>
          </a:solidFill>
        </p:grpSpPr>
        <p:grpSp>
          <p:nvGrpSpPr>
            <p:cNvPr id="664" name="Gruppieren 663">
              <a:extLst>
                <a:ext uri="{FF2B5EF4-FFF2-40B4-BE49-F238E27FC236}">
                  <a16:creationId xmlns:a16="http://schemas.microsoft.com/office/drawing/2014/main" id="{1AAB0E43-740A-4504-41DC-C6DBB31B7580}"/>
                </a:ext>
              </a:extLst>
            </p:cNvPr>
            <p:cNvGrpSpPr/>
            <p:nvPr>
              <p:custDataLst>
                <p:tags r:id="rId8"/>
              </p:custDataLst>
            </p:nvPr>
          </p:nvGrpSpPr>
          <p:grpSpPr>
            <a:xfrm>
              <a:off x="0" y="3157538"/>
              <a:ext cx="545343" cy="542925"/>
              <a:chOff x="0" y="3157538"/>
              <a:chExt cx="545343" cy="542925"/>
            </a:xfrm>
            <a:grpFill/>
          </p:grpSpPr>
          <p:sp>
            <p:nvSpPr>
              <p:cNvPr id="666" name="Freeform 203">
                <a:extLst>
                  <a:ext uri="{FF2B5EF4-FFF2-40B4-BE49-F238E27FC236}">
                    <a16:creationId xmlns:a16="http://schemas.microsoft.com/office/drawing/2014/main" id="{C3AAEE5F-10F5-5395-ED0E-884C910017C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1015" y="3392120"/>
                <a:ext cx="464328" cy="222490"/>
              </a:xfrm>
              <a:custGeom>
                <a:avLst/>
                <a:gdLst>
                  <a:gd name="T0" fmla="*/ 776 w 800"/>
                  <a:gd name="T1" fmla="*/ 20 h 382"/>
                  <a:gd name="T2" fmla="*/ 636 w 800"/>
                  <a:gd name="T3" fmla="*/ 80 h 382"/>
                  <a:gd name="T4" fmla="*/ 624 w 800"/>
                  <a:gd name="T5" fmla="*/ 108 h 382"/>
                  <a:gd name="T6" fmla="*/ 537 w 800"/>
                  <a:gd name="T7" fmla="*/ 166 h 382"/>
                  <a:gd name="T8" fmla="*/ 485 w 800"/>
                  <a:gd name="T9" fmla="*/ 126 h 382"/>
                  <a:gd name="T10" fmla="*/ 360 w 800"/>
                  <a:gd name="T11" fmla="*/ 122 h 382"/>
                  <a:gd name="T12" fmla="*/ 332 w 800"/>
                  <a:gd name="T13" fmla="*/ 108 h 382"/>
                  <a:gd name="T14" fmla="*/ 91 w 800"/>
                  <a:gd name="T15" fmla="*/ 118 h 382"/>
                  <a:gd name="T16" fmla="*/ 0 w 800"/>
                  <a:gd name="T17" fmla="*/ 209 h 382"/>
                  <a:gd name="T18" fmla="*/ 173 w 800"/>
                  <a:gd name="T19" fmla="*/ 382 h 382"/>
                  <a:gd name="T20" fmla="*/ 201 w 800"/>
                  <a:gd name="T21" fmla="*/ 354 h 382"/>
                  <a:gd name="T22" fmla="*/ 495 w 800"/>
                  <a:gd name="T23" fmla="*/ 354 h 382"/>
                  <a:gd name="T24" fmla="*/ 557 w 800"/>
                  <a:gd name="T25" fmla="*/ 332 h 382"/>
                  <a:gd name="T26" fmla="*/ 633 w 800"/>
                  <a:gd name="T27" fmla="*/ 267 h 382"/>
                  <a:gd name="T28" fmla="*/ 723 w 800"/>
                  <a:gd name="T29" fmla="*/ 165 h 382"/>
                  <a:gd name="T30" fmla="*/ 790 w 800"/>
                  <a:gd name="T31" fmla="*/ 61 h 382"/>
                  <a:gd name="T32" fmla="*/ 776 w 800"/>
                  <a:gd name="T33" fmla="*/ 20 h 38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</a:cxnLst>
                <a:rect l="0" t="0" r="r" b="b"/>
                <a:pathLst>
                  <a:path w="800" h="382">
                    <a:moveTo>
                      <a:pt x="776" y="20"/>
                    </a:moveTo>
                    <a:cubicBezTo>
                      <a:pt x="720" y="0"/>
                      <a:pt x="660" y="27"/>
                      <a:pt x="636" y="80"/>
                    </a:cubicBezTo>
                    <a:lnTo>
                      <a:pt x="624" y="108"/>
                    </a:lnTo>
                    <a:lnTo>
                      <a:pt x="537" y="166"/>
                    </a:lnTo>
                    <a:cubicBezTo>
                      <a:pt x="530" y="143"/>
                      <a:pt x="510" y="126"/>
                      <a:pt x="485" y="126"/>
                    </a:cubicBezTo>
                    <a:lnTo>
                      <a:pt x="360" y="122"/>
                    </a:lnTo>
                    <a:cubicBezTo>
                      <a:pt x="349" y="122"/>
                      <a:pt x="337" y="113"/>
                      <a:pt x="332" y="108"/>
                    </a:cubicBezTo>
                    <a:cubicBezTo>
                      <a:pt x="278" y="54"/>
                      <a:pt x="160" y="49"/>
                      <a:pt x="91" y="118"/>
                    </a:cubicBezTo>
                    <a:lnTo>
                      <a:pt x="0" y="209"/>
                    </a:lnTo>
                    <a:lnTo>
                      <a:pt x="173" y="382"/>
                    </a:lnTo>
                    <a:lnTo>
                      <a:pt x="201" y="354"/>
                    </a:lnTo>
                    <a:lnTo>
                      <a:pt x="495" y="354"/>
                    </a:lnTo>
                    <a:cubicBezTo>
                      <a:pt x="517" y="354"/>
                      <a:pt x="539" y="346"/>
                      <a:pt x="557" y="332"/>
                    </a:cubicBezTo>
                    <a:lnTo>
                      <a:pt x="633" y="267"/>
                    </a:lnTo>
                    <a:cubicBezTo>
                      <a:pt x="668" y="238"/>
                      <a:pt x="698" y="203"/>
                      <a:pt x="723" y="165"/>
                    </a:cubicBezTo>
                    <a:lnTo>
                      <a:pt x="790" y="61"/>
                    </a:lnTo>
                    <a:cubicBezTo>
                      <a:pt x="800" y="46"/>
                      <a:pt x="793" y="25"/>
                      <a:pt x="776" y="20"/>
                    </a:cubicBezTo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 vert="horz" wrap="square" lIns="68580" tIns="34290" rIns="68580" bIns="3429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6858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de-DE" sz="1350" b="0" i="0" u="none" strike="noStrike" kern="0" cap="none" spc="0" normalizeH="0" baseline="0" noProof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Bahnschrift" panose="020B0502040204020203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667" name="Freeform 204">
                <a:extLst>
                  <a:ext uri="{FF2B5EF4-FFF2-40B4-BE49-F238E27FC236}">
                    <a16:creationId xmlns:a16="http://schemas.microsoft.com/office/drawing/2014/main" id="{C1BB8C11-BA45-A500-A9F0-8AD6F46A8637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0" y="3514248"/>
                <a:ext cx="187424" cy="186215"/>
              </a:xfrm>
              <a:custGeom>
                <a:avLst/>
                <a:gdLst>
                  <a:gd name="T0" fmla="*/ 232 w 322"/>
                  <a:gd name="T1" fmla="*/ 206 h 322"/>
                  <a:gd name="T2" fmla="*/ 256 w 322"/>
                  <a:gd name="T3" fmla="*/ 230 h 322"/>
                  <a:gd name="T4" fmla="*/ 232 w 322"/>
                  <a:gd name="T5" fmla="*/ 253 h 322"/>
                  <a:gd name="T6" fmla="*/ 209 w 322"/>
                  <a:gd name="T7" fmla="*/ 230 h 322"/>
                  <a:gd name="T8" fmla="*/ 232 w 322"/>
                  <a:gd name="T9" fmla="*/ 206 h 322"/>
                  <a:gd name="T10" fmla="*/ 0 w 322"/>
                  <a:gd name="T11" fmla="*/ 92 h 322"/>
                  <a:gd name="T12" fmla="*/ 230 w 322"/>
                  <a:gd name="T13" fmla="*/ 322 h 322"/>
                  <a:gd name="T14" fmla="*/ 322 w 322"/>
                  <a:gd name="T15" fmla="*/ 230 h 322"/>
                  <a:gd name="T16" fmla="*/ 93 w 322"/>
                  <a:gd name="T17" fmla="*/ 0 h 322"/>
                  <a:gd name="T18" fmla="*/ 0 w 322"/>
                  <a:gd name="T19" fmla="*/ 92 h 32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322" h="322">
                    <a:moveTo>
                      <a:pt x="232" y="206"/>
                    </a:moveTo>
                    <a:lnTo>
                      <a:pt x="256" y="230"/>
                    </a:lnTo>
                    <a:lnTo>
                      <a:pt x="232" y="253"/>
                    </a:lnTo>
                    <a:lnTo>
                      <a:pt x="209" y="230"/>
                    </a:lnTo>
                    <a:lnTo>
                      <a:pt x="232" y="206"/>
                    </a:lnTo>
                    <a:close/>
                    <a:moveTo>
                      <a:pt x="0" y="92"/>
                    </a:moveTo>
                    <a:lnTo>
                      <a:pt x="230" y="322"/>
                    </a:lnTo>
                    <a:lnTo>
                      <a:pt x="322" y="230"/>
                    </a:lnTo>
                    <a:lnTo>
                      <a:pt x="93" y="0"/>
                    </a:lnTo>
                    <a:lnTo>
                      <a:pt x="0" y="92"/>
                    </a:lnTo>
                    <a:close/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 vert="horz" wrap="square" lIns="68580" tIns="34290" rIns="68580" bIns="3429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6858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de-DE" sz="1350" b="0" i="0" u="none" strike="noStrike" kern="0" cap="none" spc="0" normalizeH="0" baseline="0" noProof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Bahnschrift" panose="020B0502040204020203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668" name="Freeform 206">
                <a:extLst>
                  <a:ext uri="{FF2B5EF4-FFF2-40B4-BE49-F238E27FC236}">
                    <a16:creationId xmlns:a16="http://schemas.microsoft.com/office/drawing/2014/main" id="{6E68B82E-9628-9D71-3986-D1CEFE891555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192260" y="3157538"/>
                <a:ext cx="257557" cy="303506"/>
              </a:xfrm>
              <a:custGeom>
                <a:avLst/>
                <a:gdLst>
                  <a:gd name="T0" fmla="*/ 222 w 444"/>
                  <a:gd name="T1" fmla="*/ 355 h 524"/>
                  <a:gd name="T2" fmla="*/ 159 w 444"/>
                  <a:gd name="T3" fmla="*/ 299 h 524"/>
                  <a:gd name="T4" fmla="*/ 204 w 444"/>
                  <a:gd name="T5" fmla="*/ 246 h 524"/>
                  <a:gd name="T6" fmla="*/ 204 w 444"/>
                  <a:gd name="T7" fmla="*/ 229 h 524"/>
                  <a:gd name="T8" fmla="*/ 240 w 444"/>
                  <a:gd name="T9" fmla="*/ 229 h 524"/>
                  <a:gd name="T10" fmla="*/ 240 w 444"/>
                  <a:gd name="T11" fmla="*/ 246 h 524"/>
                  <a:gd name="T12" fmla="*/ 285 w 444"/>
                  <a:gd name="T13" fmla="*/ 299 h 524"/>
                  <a:gd name="T14" fmla="*/ 249 w 444"/>
                  <a:gd name="T15" fmla="*/ 299 h 524"/>
                  <a:gd name="T16" fmla="*/ 222 w 444"/>
                  <a:gd name="T17" fmla="*/ 280 h 524"/>
                  <a:gd name="T18" fmla="*/ 195 w 444"/>
                  <a:gd name="T19" fmla="*/ 299 h 524"/>
                  <a:gd name="T20" fmla="*/ 222 w 444"/>
                  <a:gd name="T21" fmla="*/ 319 h 524"/>
                  <a:gd name="T22" fmla="*/ 285 w 444"/>
                  <a:gd name="T23" fmla="*/ 375 h 524"/>
                  <a:gd name="T24" fmla="*/ 240 w 444"/>
                  <a:gd name="T25" fmla="*/ 428 h 524"/>
                  <a:gd name="T26" fmla="*/ 240 w 444"/>
                  <a:gd name="T27" fmla="*/ 446 h 524"/>
                  <a:gd name="T28" fmla="*/ 204 w 444"/>
                  <a:gd name="T29" fmla="*/ 446 h 524"/>
                  <a:gd name="T30" fmla="*/ 204 w 444"/>
                  <a:gd name="T31" fmla="*/ 428 h 524"/>
                  <a:gd name="T32" fmla="*/ 159 w 444"/>
                  <a:gd name="T33" fmla="*/ 375 h 524"/>
                  <a:gd name="T34" fmla="*/ 195 w 444"/>
                  <a:gd name="T35" fmla="*/ 375 h 524"/>
                  <a:gd name="T36" fmla="*/ 222 w 444"/>
                  <a:gd name="T37" fmla="*/ 394 h 524"/>
                  <a:gd name="T38" fmla="*/ 249 w 444"/>
                  <a:gd name="T39" fmla="*/ 375 h 524"/>
                  <a:gd name="T40" fmla="*/ 222 w 444"/>
                  <a:gd name="T41" fmla="*/ 355 h 524"/>
                  <a:gd name="T42" fmla="*/ 165 w 444"/>
                  <a:gd name="T43" fmla="*/ 489 h 524"/>
                  <a:gd name="T44" fmla="*/ 172 w 444"/>
                  <a:gd name="T45" fmla="*/ 494 h 524"/>
                  <a:gd name="T46" fmla="*/ 296 w 444"/>
                  <a:gd name="T47" fmla="*/ 497 h 524"/>
                  <a:gd name="T48" fmla="*/ 357 w 444"/>
                  <a:gd name="T49" fmla="*/ 524 h 524"/>
                  <a:gd name="T50" fmla="*/ 407 w 444"/>
                  <a:gd name="T51" fmla="*/ 491 h 524"/>
                  <a:gd name="T52" fmla="*/ 415 w 444"/>
                  <a:gd name="T53" fmla="*/ 472 h 524"/>
                  <a:gd name="T54" fmla="*/ 444 w 444"/>
                  <a:gd name="T55" fmla="*/ 430 h 524"/>
                  <a:gd name="T56" fmla="*/ 444 w 444"/>
                  <a:gd name="T57" fmla="*/ 430 h 524"/>
                  <a:gd name="T58" fmla="*/ 444 w 444"/>
                  <a:gd name="T59" fmla="*/ 428 h 524"/>
                  <a:gd name="T60" fmla="*/ 286 w 444"/>
                  <a:gd name="T61" fmla="*/ 162 h 524"/>
                  <a:gd name="T62" fmla="*/ 286 w 444"/>
                  <a:gd name="T63" fmla="*/ 104 h 524"/>
                  <a:gd name="T64" fmla="*/ 310 w 444"/>
                  <a:gd name="T65" fmla="*/ 30 h 524"/>
                  <a:gd name="T66" fmla="*/ 293 w 444"/>
                  <a:gd name="T67" fmla="*/ 0 h 524"/>
                  <a:gd name="T68" fmla="*/ 293 w 444"/>
                  <a:gd name="T69" fmla="*/ 0 h 524"/>
                  <a:gd name="T70" fmla="*/ 274 w 444"/>
                  <a:gd name="T71" fmla="*/ 5 h 524"/>
                  <a:gd name="T72" fmla="*/ 265 w 444"/>
                  <a:gd name="T73" fmla="*/ 5 h 524"/>
                  <a:gd name="T74" fmla="*/ 246 w 444"/>
                  <a:gd name="T75" fmla="*/ 0 h 524"/>
                  <a:gd name="T76" fmla="*/ 227 w 444"/>
                  <a:gd name="T77" fmla="*/ 5 h 524"/>
                  <a:gd name="T78" fmla="*/ 217 w 444"/>
                  <a:gd name="T79" fmla="*/ 5 h 524"/>
                  <a:gd name="T80" fmla="*/ 198 w 444"/>
                  <a:gd name="T81" fmla="*/ 0 h 524"/>
                  <a:gd name="T82" fmla="*/ 179 w 444"/>
                  <a:gd name="T83" fmla="*/ 5 h 524"/>
                  <a:gd name="T84" fmla="*/ 170 w 444"/>
                  <a:gd name="T85" fmla="*/ 5 h 524"/>
                  <a:gd name="T86" fmla="*/ 151 w 444"/>
                  <a:gd name="T87" fmla="*/ 0 h 524"/>
                  <a:gd name="T88" fmla="*/ 151 w 444"/>
                  <a:gd name="T89" fmla="*/ 0 h 524"/>
                  <a:gd name="T90" fmla="*/ 134 w 444"/>
                  <a:gd name="T91" fmla="*/ 30 h 524"/>
                  <a:gd name="T92" fmla="*/ 158 w 444"/>
                  <a:gd name="T93" fmla="*/ 104 h 524"/>
                  <a:gd name="T94" fmla="*/ 158 w 444"/>
                  <a:gd name="T95" fmla="*/ 162 h 524"/>
                  <a:gd name="T96" fmla="*/ 0 w 444"/>
                  <a:gd name="T97" fmla="*/ 428 h 524"/>
                  <a:gd name="T98" fmla="*/ 0 w 444"/>
                  <a:gd name="T99" fmla="*/ 441 h 524"/>
                  <a:gd name="T100" fmla="*/ 30 w 444"/>
                  <a:gd name="T101" fmla="*/ 438 h 524"/>
                  <a:gd name="T102" fmla="*/ 165 w 444"/>
                  <a:gd name="T103" fmla="*/ 489 h 52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</a:cxnLst>
                <a:rect l="0" t="0" r="r" b="b"/>
                <a:pathLst>
                  <a:path w="444" h="524">
                    <a:moveTo>
                      <a:pt x="222" y="355"/>
                    </a:moveTo>
                    <a:cubicBezTo>
                      <a:pt x="178" y="355"/>
                      <a:pt x="159" y="327"/>
                      <a:pt x="159" y="299"/>
                    </a:cubicBezTo>
                    <a:cubicBezTo>
                      <a:pt x="159" y="274"/>
                      <a:pt x="178" y="253"/>
                      <a:pt x="204" y="246"/>
                    </a:cubicBezTo>
                    <a:lnTo>
                      <a:pt x="204" y="229"/>
                    </a:lnTo>
                    <a:lnTo>
                      <a:pt x="240" y="229"/>
                    </a:lnTo>
                    <a:lnTo>
                      <a:pt x="240" y="246"/>
                    </a:lnTo>
                    <a:cubicBezTo>
                      <a:pt x="266" y="253"/>
                      <a:pt x="285" y="274"/>
                      <a:pt x="285" y="299"/>
                    </a:cubicBezTo>
                    <a:lnTo>
                      <a:pt x="249" y="299"/>
                    </a:lnTo>
                    <a:cubicBezTo>
                      <a:pt x="249" y="289"/>
                      <a:pt x="236" y="280"/>
                      <a:pt x="222" y="280"/>
                    </a:cubicBezTo>
                    <a:cubicBezTo>
                      <a:pt x="208" y="280"/>
                      <a:pt x="195" y="289"/>
                      <a:pt x="195" y="299"/>
                    </a:cubicBezTo>
                    <a:cubicBezTo>
                      <a:pt x="195" y="316"/>
                      <a:pt x="212" y="319"/>
                      <a:pt x="222" y="319"/>
                    </a:cubicBezTo>
                    <a:cubicBezTo>
                      <a:pt x="259" y="319"/>
                      <a:pt x="285" y="342"/>
                      <a:pt x="285" y="375"/>
                    </a:cubicBezTo>
                    <a:cubicBezTo>
                      <a:pt x="285" y="400"/>
                      <a:pt x="266" y="421"/>
                      <a:pt x="240" y="428"/>
                    </a:cubicBezTo>
                    <a:lnTo>
                      <a:pt x="240" y="446"/>
                    </a:lnTo>
                    <a:lnTo>
                      <a:pt x="204" y="446"/>
                    </a:lnTo>
                    <a:lnTo>
                      <a:pt x="204" y="428"/>
                    </a:lnTo>
                    <a:cubicBezTo>
                      <a:pt x="178" y="421"/>
                      <a:pt x="159" y="400"/>
                      <a:pt x="159" y="375"/>
                    </a:cubicBezTo>
                    <a:lnTo>
                      <a:pt x="195" y="375"/>
                    </a:lnTo>
                    <a:cubicBezTo>
                      <a:pt x="195" y="385"/>
                      <a:pt x="208" y="394"/>
                      <a:pt x="222" y="394"/>
                    </a:cubicBezTo>
                    <a:cubicBezTo>
                      <a:pt x="236" y="394"/>
                      <a:pt x="249" y="385"/>
                      <a:pt x="249" y="375"/>
                    </a:cubicBezTo>
                    <a:cubicBezTo>
                      <a:pt x="249" y="363"/>
                      <a:pt x="239" y="355"/>
                      <a:pt x="222" y="355"/>
                    </a:cubicBezTo>
                    <a:close/>
                    <a:moveTo>
                      <a:pt x="165" y="489"/>
                    </a:moveTo>
                    <a:cubicBezTo>
                      <a:pt x="167" y="491"/>
                      <a:pt x="171" y="493"/>
                      <a:pt x="172" y="494"/>
                    </a:cubicBezTo>
                    <a:lnTo>
                      <a:pt x="296" y="497"/>
                    </a:lnTo>
                    <a:cubicBezTo>
                      <a:pt x="320" y="498"/>
                      <a:pt x="341" y="508"/>
                      <a:pt x="357" y="524"/>
                    </a:cubicBezTo>
                    <a:lnTo>
                      <a:pt x="407" y="491"/>
                    </a:lnTo>
                    <a:lnTo>
                      <a:pt x="415" y="472"/>
                    </a:lnTo>
                    <a:cubicBezTo>
                      <a:pt x="422" y="456"/>
                      <a:pt x="432" y="442"/>
                      <a:pt x="444" y="430"/>
                    </a:cubicBezTo>
                    <a:cubicBezTo>
                      <a:pt x="444" y="430"/>
                      <a:pt x="444" y="430"/>
                      <a:pt x="444" y="430"/>
                    </a:cubicBezTo>
                    <a:lnTo>
                      <a:pt x="444" y="428"/>
                    </a:lnTo>
                    <a:cubicBezTo>
                      <a:pt x="444" y="309"/>
                      <a:pt x="388" y="206"/>
                      <a:pt x="286" y="162"/>
                    </a:cubicBezTo>
                    <a:lnTo>
                      <a:pt x="286" y="104"/>
                    </a:lnTo>
                    <a:lnTo>
                      <a:pt x="310" y="30"/>
                    </a:lnTo>
                    <a:cubicBezTo>
                      <a:pt x="315" y="16"/>
                      <a:pt x="307" y="0"/>
                      <a:pt x="293" y="0"/>
                    </a:cubicBezTo>
                    <a:cubicBezTo>
                      <a:pt x="293" y="0"/>
                      <a:pt x="293" y="0"/>
                      <a:pt x="293" y="0"/>
                    </a:cubicBezTo>
                    <a:cubicBezTo>
                      <a:pt x="285" y="0"/>
                      <a:pt x="278" y="2"/>
                      <a:pt x="274" y="5"/>
                    </a:cubicBezTo>
                    <a:cubicBezTo>
                      <a:pt x="271" y="6"/>
                      <a:pt x="268" y="6"/>
                      <a:pt x="265" y="5"/>
                    </a:cubicBezTo>
                    <a:cubicBezTo>
                      <a:pt x="260" y="2"/>
                      <a:pt x="253" y="0"/>
                      <a:pt x="246" y="0"/>
                    </a:cubicBezTo>
                    <a:cubicBezTo>
                      <a:pt x="238" y="0"/>
                      <a:pt x="231" y="2"/>
                      <a:pt x="227" y="5"/>
                    </a:cubicBezTo>
                    <a:cubicBezTo>
                      <a:pt x="224" y="6"/>
                      <a:pt x="220" y="6"/>
                      <a:pt x="217" y="5"/>
                    </a:cubicBezTo>
                    <a:cubicBezTo>
                      <a:pt x="213" y="2"/>
                      <a:pt x="206" y="0"/>
                      <a:pt x="198" y="0"/>
                    </a:cubicBezTo>
                    <a:cubicBezTo>
                      <a:pt x="191" y="0"/>
                      <a:pt x="184" y="2"/>
                      <a:pt x="179" y="5"/>
                    </a:cubicBezTo>
                    <a:cubicBezTo>
                      <a:pt x="176" y="6"/>
                      <a:pt x="173" y="6"/>
                      <a:pt x="170" y="5"/>
                    </a:cubicBezTo>
                    <a:cubicBezTo>
                      <a:pt x="166" y="2"/>
                      <a:pt x="159" y="0"/>
                      <a:pt x="151" y="0"/>
                    </a:cubicBezTo>
                    <a:cubicBezTo>
                      <a:pt x="151" y="0"/>
                      <a:pt x="151" y="0"/>
                      <a:pt x="151" y="0"/>
                    </a:cubicBezTo>
                    <a:cubicBezTo>
                      <a:pt x="138" y="0"/>
                      <a:pt x="129" y="16"/>
                      <a:pt x="134" y="30"/>
                    </a:cubicBezTo>
                    <a:lnTo>
                      <a:pt x="158" y="104"/>
                    </a:lnTo>
                    <a:lnTo>
                      <a:pt x="158" y="162"/>
                    </a:lnTo>
                    <a:cubicBezTo>
                      <a:pt x="56" y="206"/>
                      <a:pt x="0" y="309"/>
                      <a:pt x="0" y="428"/>
                    </a:cubicBezTo>
                    <a:lnTo>
                      <a:pt x="0" y="441"/>
                    </a:lnTo>
                    <a:cubicBezTo>
                      <a:pt x="10" y="439"/>
                      <a:pt x="20" y="438"/>
                      <a:pt x="30" y="438"/>
                    </a:cubicBezTo>
                    <a:cubicBezTo>
                      <a:pt x="84" y="438"/>
                      <a:pt x="133" y="457"/>
                      <a:pt x="165" y="489"/>
                    </a:cubicBezTo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 vert="horz" wrap="square" lIns="68580" tIns="34290" rIns="68580" bIns="3429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6858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de-DE" sz="1350" b="0" i="0" u="none" strike="noStrike" kern="0" cap="none" spc="0" normalizeH="0" baseline="0" noProof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Bahnschrift" panose="020B0502040204020203" pitchFamily="34" charset="0"/>
                  <a:ea typeface="+mn-ea"/>
                  <a:cs typeface="+mn-cs"/>
                </a:endParaRPr>
              </a:p>
            </p:txBody>
          </p:sp>
        </p:grpSp>
        <p:sp>
          <p:nvSpPr>
            <p:cNvPr id="665" name="Freihandform 268">
              <a:extLst>
                <a:ext uri="{FF2B5EF4-FFF2-40B4-BE49-F238E27FC236}">
                  <a16:creationId xmlns:a16="http://schemas.microsoft.com/office/drawing/2014/main" id="{013BC7E4-7EBC-A47A-F841-5407801DF9EC}"/>
                </a:ext>
              </a:extLst>
            </p:cNvPr>
            <p:cNvSpPr/>
            <p:nvPr/>
          </p:nvSpPr>
          <p:spPr>
            <a:xfrm>
              <a:off x="132106" y="3078492"/>
              <a:ext cx="320330" cy="382046"/>
            </a:xfrm>
            <a:custGeom>
              <a:avLst/>
              <a:gdLst>
                <a:gd name="connsiteX0" fmla="*/ 206030 w 320330"/>
                <a:gd name="connsiteY0" fmla="*/ 33802 h 382046"/>
                <a:gd name="connsiteX1" fmla="*/ 206030 w 320330"/>
                <a:gd name="connsiteY1" fmla="*/ 33802 h 382046"/>
                <a:gd name="connsiteX2" fmla="*/ 153642 w 320330"/>
                <a:gd name="connsiteY2" fmla="*/ 36184 h 382046"/>
                <a:gd name="connsiteX3" fmla="*/ 132211 w 320330"/>
                <a:gd name="connsiteY3" fmla="*/ 48090 h 382046"/>
                <a:gd name="connsiteX4" fmla="*/ 113161 w 320330"/>
                <a:gd name="connsiteY4" fmla="*/ 59996 h 382046"/>
                <a:gd name="connsiteX5" fmla="*/ 98874 w 320330"/>
                <a:gd name="connsiteY5" fmla="*/ 74284 h 382046"/>
                <a:gd name="connsiteX6" fmla="*/ 82205 w 320330"/>
                <a:gd name="connsiteY6" fmla="*/ 86190 h 382046"/>
                <a:gd name="connsiteX7" fmla="*/ 67917 w 320330"/>
                <a:gd name="connsiteY7" fmla="*/ 105240 h 382046"/>
                <a:gd name="connsiteX8" fmla="*/ 60774 w 320330"/>
                <a:gd name="connsiteY8" fmla="*/ 112384 h 382046"/>
                <a:gd name="connsiteX9" fmla="*/ 48867 w 320330"/>
                <a:gd name="connsiteY9" fmla="*/ 131434 h 382046"/>
                <a:gd name="connsiteX10" fmla="*/ 39342 w 320330"/>
                <a:gd name="connsiteY10" fmla="*/ 155246 h 382046"/>
                <a:gd name="connsiteX11" fmla="*/ 25055 w 320330"/>
                <a:gd name="connsiteY11" fmla="*/ 176677 h 382046"/>
                <a:gd name="connsiteX12" fmla="*/ 15530 w 320330"/>
                <a:gd name="connsiteY12" fmla="*/ 195727 h 382046"/>
                <a:gd name="connsiteX13" fmla="*/ 6005 w 320330"/>
                <a:gd name="connsiteY13" fmla="*/ 207634 h 382046"/>
                <a:gd name="connsiteX14" fmla="*/ 3624 w 320330"/>
                <a:gd name="connsiteY14" fmla="*/ 214777 h 382046"/>
                <a:gd name="connsiteX15" fmla="*/ 6005 w 320330"/>
                <a:gd name="connsiteY15" fmla="*/ 262402 h 382046"/>
                <a:gd name="connsiteX16" fmla="*/ 22674 w 320330"/>
                <a:gd name="connsiteY16" fmla="*/ 279071 h 382046"/>
                <a:gd name="connsiteX17" fmla="*/ 29817 w 320330"/>
                <a:gd name="connsiteY17" fmla="*/ 286215 h 382046"/>
                <a:gd name="connsiteX18" fmla="*/ 36961 w 320330"/>
                <a:gd name="connsiteY18" fmla="*/ 300502 h 382046"/>
                <a:gd name="connsiteX19" fmla="*/ 44105 w 320330"/>
                <a:gd name="connsiteY19" fmla="*/ 305265 h 382046"/>
                <a:gd name="connsiteX20" fmla="*/ 48867 w 320330"/>
                <a:gd name="connsiteY20" fmla="*/ 321934 h 382046"/>
                <a:gd name="connsiteX21" fmla="*/ 58392 w 320330"/>
                <a:gd name="connsiteY21" fmla="*/ 326696 h 382046"/>
                <a:gd name="connsiteX22" fmla="*/ 72680 w 320330"/>
                <a:gd name="connsiteY22" fmla="*/ 336221 h 382046"/>
                <a:gd name="connsiteX23" fmla="*/ 91730 w 320330"/>
                <a:gd name="connsiteY23" fmla="*/ 340984 h 382046"/>
                <a:gd name="connsiteX24" fmla="*/ 101255 w 320330"/>
                <a:gd name="connsiteY24" fmla="*/ 343365 h 382046"/>
                <a:gd name="connsiteX25" fmla="*/ 129830 w 320330"/>
                <a:gd name="connsiteY25" fmla="*/ 348127 h 382046"/>
                <a:gd name="connsiteX26" fmla="*/ 136974 w 320330"/>
                <a:gd name="connsiteY26" fmla="*/ 350509 h 382046"/>
                <a:gd name="connsiteX27" fmla="*/ 153642 w 320330"/>
                <a:gd name="connsiteY27" fmla="*/ 357652 h 382046"/>
                <a:gd name="connsiteX28" fmla="*/ 170311 w 320330"/>
                <a:gd name="connsiteY28" fmla="*/ 362415 h 382046"/>
                <a:gd name="connsiteX29" fmla="*/ 184599 w 320330"/>
                <a:gd name="connsiteY29" fmla="*/ 369559 h 382046"/>
                <a:gd name="connsiteX30" fmla="*/ 225080 w 320330"/>
                <a:gd name="connsiteY30" fmla="*/ 376702 h 382046"/>
                <a:gd name="connsiteX31" fmla="*/ 232224 w 320330"/>
                <a:gd name="connsiteY31" fmla="*/ 379084 h 382046"/>
                <a:gd name="connsiteX32" fmla="*/ 291755 w 320330"/>
                <a:gd name="connsiteY32" fmla="*/ 379084 h 382046"/>
                <a:gd name="connsiteX33" fmla="*/ 298899 w 320330"/>
                <a:gd name="connsiteY33" fmla="*/ 371940 h 382046"/>
                <a:gd name="connsiteX34" fmla="*/ 308424 w 320330"/>
                <a:gd name="connsiteY34" fmla="*/ 357652 h 382046"/>
                <a:gd name="connsiteX35" fmla="*/ 310805 w 320330"/>
                <a:gd name="connsiteY35" fmla="*/ 348127 h 382046"/>
                <a:gd name="connsiteX36" fmla="*/ 317949 w 320330"/>
                <a:gd name="connsiteY36" fmla="*/ 338602 h 382046"/>
                <a:gd name="connsiteX37" fmla="*/ 320330 w 320330"/>
                <a:gd name="connsiteY37" fmla="*/ 324315 h 382046"/>
                <a:gd name="connsiteX38" fmla="*/ 317949 w 320330"/>
                <a:gd name="connsiteY38" fmla="*/ 243352 h 382046"/>
                <a:gd name="connsiteX39" fmla="*/ 315567 w 320330"/>
                <a:gd name="connsiteY39" fmla="*/ 231446 h 382046"/>
                <a:gd name="connsiteX40" fmla="*/ 308424 w 320330"/>
                <a:gd name="connsiteY40" fmla="*/ 193346 h 382046"/>
                <a:gd name="connsiteX41" fmla="*/ 303661 w 320330"/>
                <a:gd name="connsiteY41" fmla="*/ 186202 h 382046"/>
                <a:gd name="connsiteX42" fmla="*/ 294136 w 320330"/>
                <a:gd name="connsiteY42" fmla="*/ 164771 h 382046"/>
                <a:gd name="connsiteX43" fmla="*/ 289374 w 320330"/>
                <a:gd name="connsiteY43" fmla="*/ 152865 h 382046"/>
                <a:gd name="connsiteX44" fmla="*/ 275086 w 320330"/>
                <a:gd name="connsiteY44" fmla="*/ 121909 h 382046"/>
                <a:gd name="connsiteX45" fmla="*/ 265561 w 320330"/>
                <a:gd name="connsiteY45" fmla="*/ 95715 h 382046"/>
                <a:gd name="connsiteX46" fmla="*/ 263180 w 320330"/>
                <a:gd name="connsiteY46" fmla="*/ 86190 h 382046"/>
                <a:gd name="connsiteX47" fmla="*/ 253655 w 320330"/>
                <a:gd name="connsiteY47" fmla="*/ 71902 h 382046"/>
                <a:gd name="connsiteX48" fmla="*/ 246511 w 320330"/>
                <a:gd name="connsiteY48" fmla="*/ 50471 h 382046"/>
                <a:gd name="connsiteX49" fmla="*/ 239367 w 320330"/>
                <a:gd name="connsiteY49" fmla="*/ 38565 h 382046"/>
                <a:gd name="connsiteX50" fmla="*/ 232224 w 320330"/>
                <a:gd name="connsiteY50" fmla="*/ 17134 h 382046"/>
                <a:gd name="connsiteX51" fmla="*/ 227461 w 320330"/>
                <a:gd name="connsiteY51" fmla="*/ 9990 h 382046"/>
                <a:gd name="connsiteX52" fmla="*/ 225080 w 320330"/>
                <a:gd name="connsiteY52" fmla="*/ 465 h 382046"/>
                <a:gd name="connsiteX53" fmla="*/ 206030 w 320330"/>
                <a:gd name="connsiteY53" fmla="*/ 33802 h 3820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</a:cxnLst>
              <a:rect l="l" t="t" r="r" b="b"/>
              <a:pathLst>
                <a:path w="320330" h="382046">
                  <a:moveTo>
                    <a:pt x="206030" y="33802"/>
                  </a:moveTo>
                  <a:lnTo>
                    <a:pt x="206030" y="33802"/>
                  </a:lnTo>
                  <a:cubicBezTo>
                    <a:pt x="188567" y="34596"/>
                    <a:pt x="171067" y="34790"/>
                    <a:pt x="153642" y="36184"/>
                  </a:cubicBezTo>
                  <a:cubicBezTo>
                    <a:pt x="146592" y="36748"/>
                    <a:pt x="135990" y="45445"/>
                    <a:pt x="132211" y="48090"/>
                  </a:cubicBezTo>
                  <a:cubicBezTo>
                    <a:pt x="116754" y="58910"/>
                    <a:pt x="129002" y="52077"/>
                    <a:pt x="113161" y="59996"/>
                  </a:cubicBezTo>
                  <a:cubicBezTo>
                    <a:pt x="101942" y="76827"/>
                    <a:pt x="116590" y="56569"/>
                    <a:pt x="98874" y="74284"/>
                  </a:cubicBezTo>
                  <a:cubicBezTo>
                    <a:pt x="85796" y="87361"/>
                    <a:pt x="105646" y="76813"/>
                    <a:pt x="82205" y="86190"/>
                  </a:cubicBezTo>
                  <a:cubicBezTo>
                    <a:pt x="77442" y="92540"/>
                    <a:pt x="73529" y="99627"/>
                    <a:pt x="67917" y="105240"/>
                  </a:cubicBezTo>
                  <a:cubicBezTo>
                    <a:pt x="65536" y="107621"/>
                    <a:pt x="62930" y="109797"/>
                    <a:pt x="60774" y="112384"/>
                  </a:cubicBezTo>
                  <a:cubicBezTo>
                    <a:pt x="58288" y="115367"/>
                    <a:pt x="49647" y="130030"/>
                    <a:pt x="48867" y="131434"/>
                  </a:cubicBezTo>
                  <a:cubicBezTo>
                    <a:pt x="40892" y="145789"/>
                    <a:pt x="46596" y="137111"/>
                    <a:pt x="39342" y="155246"/>
                  </a:cubicBezTo>
                  <a:cubicBezTo>
                    <a:pt x="35120" y="165801"/>
                    <a:pt x="32771" y="167033"/>
                    <a:pt x="25055" y="176677"/>
                  </a:cubicBezTo>
                  <a:cubicBezTo>
                    <a:pt x="20321" y="195616"/>
                    <a:pt x="26324" y="176837"/>
                    <a:pt x="15530" y="195727"/>
                  </a:cubicBezTo>
                  <a:cubicBezTo>
                    <a:pt x="8451" y="208115"/>
                    <a:pt x="19562" y="198595"/>
                    <a:pt x="6005" y="207634"/>
                  </a:cubicBezTo>
                  <a:cubicBezTo>
                    <a:pt x="5211" y="210015"/>
                    <a:pt x="4314" y="212364"/>
                    <a:pt x="3624" y="214777"/>
                  </a:cubicBezTo>
                  <a:cubicBezTo>
                    <a:pt x="-1127" y="231404"/>
                    <a:pt x="-2042" y="241839"/>
                    <a:pt x="6005" y="262402"/>
                  </a:cubicBezTo>
                  <a:cubicBezTo>
                    <a:pt x="8868" y="269720"/>
                    <a:pt x="17118" y="273515"/>
                    <a:pt x="22674" y="279071"/>
                  </a:cubicBezTo>
                  <a:lnTo>
                    <a:pt x="29817" y="286215"/>
                  </a:lnTo>
                  <a:cubicBezTo>
                    <a:pt x="31754" y="292024"/>
                    <a:pt x="32346" y="295887"/>
                    <a:pt x="36961" y="300502"/>
                  </a:cubicBezTo>
                  <a:cubicBezTo>
                    <a:pt x="38985" y="302526"/>
                    <a:pt x="41724" y="303677"/>
                    <a:pt x="44105" y="305265"/>
                  </a:cubicBezTo>
                  <a:cubicBezTo>
                    <a:pt x="45692" y="310821"/>
                    <a:pt x="45662" y="317126"/>
                    <a:pt x="48867" y="321934"/>
                  </a:cubicBezTo>
                  <a:cubicBezTo>
                    <a:pt x="50836" y="324888"/>
                    <a:pt x="55348" y="324870"/>
                    <a:pt x="58392" y="326696"/>
                  </a:cubicBezTo>
                  <a:cubicBezTo>
                    <a:pt x="63300" y="329641"/>
                    <a:pt x="67250" y="334411"/>
                    <a:pt x="72680" y="336221"/>
                  </a:cubicBezTo>
                  <a:cubicBezTo>
                    <a:pt x="85444" y="340475"/>
                    <a:pt x="74493" y="337153"/>
                    <a:pt x="91730" y="340984"/>
                  </a:cubicBezTo>
                  <a:cubicBezTo>
                    <a:pt x="94925" y="341694"/>
                    <a:pt x="98038" y="342762"/>
                    <a:pt x="101255" y="343365"/>
                  </a:cubicBezTo>
                  <a:cubicBezTo>
                    <a:pt x="110746" y="345144"/>
                    <a:pt x="129830" y="348127"/>
                    <a:pt x="129830" y="348127"/>
                  </a:cubicBezTo>
                  <a:cubicBezTo>
                    <a:pt x="132211" y="348921"/>
                    <a:pt x="134667" y="349520"/>
                    <a:pt x="136974" y="350509"/>
                  </a:cubicBezTo>
                  <a:cubicBezTo>
                    <a:pt x="149673" y="355952"/>
                    <a:pt x="142474" y="354461"/>
                    <a:pt x="153642" y="357652"/>
                  </a:cubicBezTo>
                  <a:cubicBezTo>
                    <a:pt x="157197" y="358668"/>
                    <a:pt x="166508" y="360514"/>
                    <a:pt x="170311" y="362415"/>
                  </a:cubicBezTo>
                  <a:cubicBezTo>
                    <a:pt x="184224" y="369371"/>
                    <a:pt x="170634" y="365569"/>
                    <a:pt x="184599" y="369559"/>
                  </a:cubicBezTo>
                  <a:cubicBezTo>
                    <a:pt x="197794" y="373329"/>
                    <a:pt x="211538" y="374768"/>
                    <a:pt x="225080" y="376702"/>
                  </a:cubicBezTo>
                  <a:cubicBezTo>
                    <a:pt x="227461" y="377496"/>
                    <a:pt x="229789" y="378475"/>
                    <a:pt x="232224" y="379084"/>
                  </a:cubicBezTo>
                  <a:cubicBezTo>
                    <a:pt x="255131" y="384811"/>
                    <a:pt x="258097" y="380767"/>
                    <a:pt x="291755" y="379084"/>
                  </a:cubicBezTo>
                  <a:cubicBezTo>
                    <a:pt x="294136" y="376703"/>
                    <a:pt x="297031" y="374742"/>
                    <a:pt x="298899" y="371940"/>
                  </a:cubicBezTo>
                  <a:cubicBezTo>
                    <a:pt x="312684" y="351262"/>
                    <a:pt x="285634" y="380442"/>
                    <a:pt x="308424" y="357652"/>
                  </a:cubicBezTo>
                  <a:cubicBezTo>
                    <a:pt x="309218" y="354477"/>
                    <a:pt x="309341" y="351054"/>
                    <a:pt x="310805" y="348127"/>
                  </a:cubicBezTo>
                  <a:cubicBezTo>
                    <a:pt x="312580" y="344577"/>
                    <a:pt x="316475" y="342287"/>
                    <a:pt x="317949" y="338602"/>
                  </a:cubicBezTo>
                  <a:cubicBezTo>
                    <a:pt x="319742" y="334119"/>
                    <a:pt x="319536" y="329077"/>
                    <a:pt x="320330" y="324315"/>
                  </a:cubicBezTo>
                  <a:cubicBezTo>
                    <a:pt x="319536" y="297327"/>
                    <a:pt x="319332" y="270316"/>
                    <a:pt x="317949" y="243352"/>
                  </a:cubicBezTo>
                  <a:cubicBezTo>
                    <a:pt x="317742" y="239310"/>
                    <a:pt x="316182" y="235446"/>
                    <a:pt x="315567" y="231446"/>
                  </a:cubicBezTo>
                  <a:cubicBezTo>
                    <a:pt x="314503" y="224530"/>
                    <a:pt x="312561" y="199551"/>
                    <a:pt x="308424" y="193346"/>
                  </a:cubicBezTo>
                  <a:lnTo>
                    <a:pt x="303661" y="186202"/>
                  </a:lnTo>
                  <a:cubicBezTo>
                    <a:pt x="298622" y="171084"/>
                    <a:pt x="304470" y="187506"/>
                    <a:pt x="294136" y="164771"/>
                  </a:cubicBezTo>
                  <a:cubicBezTo>
                    <a:pt x="292367" y="160880"/>
                    <a:pt x="291165" y="156746"/>
                    <a:pt x="289374" y="152865"/>
                  </a:cubicBezTo>
                  <a:cubicBezTo>
                    <a:pt x="272211" y="115677"/>
                    <a:pt x="285934" y="149025"/>
                    <a:pt x="275086" y="121909"/>
                  </a:cubicBezTo>
                  <a:cubicBezTo>
                    <a:pt x="270300" y="97974"/>
                    <a:pt x="276306" y="122576"/>
                    <a:pt x="265561" y="95715"/>
                  </a:cubicBezTo>
                  <a:cubicBezTo>
                    <a:pt x="264346" y="92676"/>
                    <a:pt x="264644" y="89117"/>
                    <a:pt x="263180" y="86190"/>
                  </a:cubicBezTo>
                  <a:cubicBezTo>
                    <a:pt x="260620" y="81070"/>
                    <a:pt x="256396" y="76927"/>
                    <a:pt x="253655" y="71902"/>
                  </a:cubicBezTo>
                  <a:cubicBezTo>
                    <a:pt x="238486" y="44093"/>
                    <a:pt x="256965" y="73992"/>
                    <a:pt x="246511" y="50471"/>
                  </a:cubicBezTo>
                  <a:cubicBezTo>
                    <a:pt x="244631" y="46242"/>
                    <a:pt x="241437" y="42705"/>
                    <a:pt x="239367" y="38565"/>
                  </a:cubicBezTo>
                  <a:cubicBezTo>
                    <a:pt x="220034" y="-102"/>
                    <a:pt x="245868" y="48969"/>
                    <a:pt x="232224" y="17134"/>
                  </a:cubicBezTo>
                  <a:cubicBezTo>
                    <a:pt x="231097" y="14503"/>
                    <a:pt x="229049" y="12371"/>
                    <a:pt x="227461" y="9990"/>
                  </a:cubicBezTo>
                  <a:cubicBezTo>
                    <a:pt x="226667" y="6815"/>
                    <a:pt x="226369" y="3473"/>
                    <a:pt x="225080" y="465"/>
                  </a:cubicBezTo>
                  <a:cubicBezTo>
                    <a:pt x="223061" y="-4247"/>
                    <a:pt x="209205" y="28246"/>
                    <a:pt x="206030" y="33802"/>
                  </a:cubicBezTo>
                  <a:close/>
                </a:path>
              </a:pathLst>
            </a:custGeom>
            <a:grpFill/>
            <a:ln w="12700" cap="flat" cmpd="sng" algn="ctr">
              <a:solidFill>
                <a:sysClr val="window" lastClr="FFFFFF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de-DE" sz="1350" b="0" i="0" u="none" strike="noStrike" kern="0" cap="none" spc="0" normalizeH="0" baseline="0" noProof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Bahnschrift" panose="020B0502040204020203" pitchFamily="34" charset="0"/>
                <a:ea typeface="+mn-ea"/>
                <a:cs typeface="+mn-cs"/>
              </a:endParaRPr>
            </a:p>
          </p:txBody>
        </p:sp>
      </p:grpSp>
      <p:grpSp>
        <p:nvGrpSpPr>
          <p:cNvPr id="669" name="Gruppieren 668" descr="{&quot;Key&quot;:&quot;POWER_USER_SHAPE_ICON&quot;,&quot;Value&quot;:&quot;POWER_USER_SHAPE_ICON_STYLE_2&quot;}">
            <a:extLst>
              <a:ext uri="{FF2B5EF4-FFF2-40B4-BE49-F238E27FC236}">
                <a16:creationId xmlns:a16="http://schemas.microsoft.com/office/drawing/2014/main" id="{562C5FCA-6FFD-6799-800E-C1A19FA40250}"/>
              </a:ext>
            </a:extLst>
          </p:cNvPr>
          <p:cNvGrpSpPr>
            <a:grpSpLocks noChangeAspect="1"/>
          </p:cNvGrpSpPr>
          <p:nvPr/>
        </p:nvGrpSpPr>
        <p:grpSpPr>
          <a:xfrm>
            <a:off x="9382837" y="5119070"/>
            <a:ext cx="215474" cy="215476"/>
            <a:chOff x="-99093" y="3018292"/>
            <a:chExt cx="706188" cy="706192"/>
          </a:xfrm>
        </p:grpSpPr>
        <p:sp>
          <p:nvSpPr>
            <p:cNvPr id="670" name="POWER_USER_SHAPE_ICON_STYLE_2">
              <a:extLst>
                <a:ext uri="{FF2B5EF4-FFF2-40B4-BE49-F238E27FC236}">
                  <a16:creationId xmlns:a16="http://schemas.microsoft.com/office/drawing/2014/main" id="{59D892E1-04D3-2AF7-B8A7-324CF5ECA4AA}"/>
                </a:ext>
              </a:extLst>
            </p:cNvPr>
            <p:cNvSpPr/>
            <p:nvPr/>
          </p:nvSpPr>
          <p:spPr>
            <a:xfrm>
              <a:off x="-99093" y="3018292"/>
              <a:ext cx="706188" cy="706192"/>
            </a:xfrm>
            <a:prstGeom prst="ellipse">
              <a:avLst/>
            </a:prstGeom>
            <a:solidFill>
              <a:sysClr val="window" lastClr="FFFFFF"/>
            </a:solidFill>
            <a:ln w="28575" cap="flat" cmpd="sng" algn="ctr">
              <a:solidFill>
                <a:srgbClr val="0070C0"/>
              </a:solidFill>
              <a:prstDash val="sysDot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de-DE" sz="1350" b="0" i="0" u="none" strike="noStrike" kern="0" cap="none" spc="0" normalizeH="0" baseline="0" noProof="1">
                <a:ln>
                  <a:noFill/>
                </a:ln>
                <a:solidFill>
                  <a:srgbClr val="9954CC"/>
                </a:solidFill>
                <a:effectLst/>
                <a:uLnTx/>
                <a:uFillTx/>
                <a:latin typeface="Bahnschrift" panose="020B0502040204020203" pitchFamily="34" charset="0"/>
                <a:ea typeface="+mn-ea"/>
                <a:cs typeface="+mn-cs"/>
              </a:endParaRPr>
            </a:p>
          </p:txBody>
        </p:sp>
        <p:sp>
          <p:nvSpPr>
            <p:cNvPr id="671" name="Car7" descr="{&quot;Key&quot;:&quot;POWER_USER_SHAPE_ICON&quot;,&quot;Value&quot;:&quot;POWER_USER_SHAPE_ICON_STYLE_1&quot;}">
              <a:extLst>
                <a:ext uri="{FF2B5EF4-FFF2-40B4-BE49-F238E27FC236}">
                  <a16:creationId xmlns:a16="http://schemas.microsoft.com/office/drawing/2014/main" id="{6428A137-56AA-2916-53DB-2778B660205F}"/>
                </a:ext>
              </a:extLst>
            </p:cNvPr>
            <p:cNvSpPr>
              <a:spLocks noChangeAspect="1" noEditPoints="1"/>
            </p:cNvSpPr>
            <p:nvPr>
              <p:custDataLst>
                <p:tags r:id="rId7"/>
              </p:custDataLst>
            </p:nvPr>
          </p:nvSpPr>
          <p:spPr bwMode="auto">
            <a:xfrm>
              <a:off x="0" y="3157538"/>
              <a:ext cx="508000" cy="427698"/>
            </a:xfrm>
            <a:custGeom>
              <a:avLst/>
              <a:gdLst>
                <a:gd name="T0" fmla="*/ 616 w 733"/>
                <a:gd name="T1" fmla="*/ 466 h 616"/>
                <a:gd name="T2" fmla="*/ 566 w 733"/>
                <a:gd name="T3" fmla="*/ 416 h 616"/>
                <a:gd name="T4" fmla="*/ 616 w 733"/>
                <a:gd name="T5" fmla="*/ 366 h 616"/>
                <a:gd name="T6" fmla="*/ 666 w 733"/>
                <a:gd name="T7" fmla="*/ 416 h 616"/>
                <a:gd name="T8" fmla="*/ 616 w 733"/>
                <a:gd name="T9" fmla="*/ 466 h 616"/>
                <a:gd name="T10" fmla="*/ 134 w 733"/>
                <a:gd name="T11" fmla="*/ 266 h 616"/>
                <a:gd name="T12" fmla="*/ 165 w 733"/>
                <a:gd name="T13" fmla="*/ 107 h 616"/>
                <a:gd name="T14" fmla="*/ 200 w 733"/>
                <a:gd name="T15" fmla="*/ 66 h 616"/>
                <a:gd name="T16" fmla="*/ 533 w 733"/>
                <a:gd name="T17" fmla="*/ 66 h 616"/>
                <a:gd name="T18" fmla="*/ 567 w 733"/>
                <a:gd name="T19" fmla="*/ 107 h 616"/>
                <a:gd name="T20" fmla="*/ 599 w 733"/>
                <a:gd name="T21" fmla="*/ 266 h 616"/>
                <a:gd name="T22" fmla="*/ 134 w 733"/>
                <a:gd name="T23" fmla="*/ 266 h 616"/>
                <a:gd name="T24" fmla="*/ 116 w 733"/>
                <a:gd name="T25" fmla="*/ 466 h 616"/>
                <a:gd name="T26" fmla="*/ 66 w 733"/>
                <a:gd name="T27" fmla="*/ 416 h 616"/>
                <a:gd name="T28" fmla="*/ 116 w 733"/>
                <a:gd name="T29" fmla="*/ 366 h 616"/>
                <a:gd name="T30" fmla="*/ 166 w 733"/>
                <a:gd name="T31" fmla="*/ 416 h 616"/>
                <a:gd name="T32" fmla="*/ 116 w 733"/>
                <a:gd name="T33" fmla="*/ 466 h 616"/>
                <a:gd name="T34" fmla="*/ 666 w 733"/>
                <a:gd name="T35" fmla="*/ 272 h 616"/>
                <a:gd name="T36" fmla="*/ 666 w 733"/>
                <a:gd name="T37" fmla="*/ 266 h 616"/>
                <a:gd name="T38" fmla="*/ 632 w 733"/>
                <a:gd name="T39" fmla="*/ 93 h 616"/>
                <a:gd name="T40" fmla="*/ 632 w 733"/>
                <a:gd name="T41" fmla="*/ 91 h 616"/>
                <a:gd name="T42" fmla="*/ 533 w 733"/>
                <a:gd name="T43" fmla="*/ 0 h 616"/>
                <a:gd name="T44" fmla="*/ 200 w 733"/>
                <a:gd name="T45" fmla="*/ 0 h 616"/>
                <a:gd name="T46" fmla="*/ 101 w 733"/>
                <a:gd name="T47" fmla="*/ 91 h 616"/>
                <a:gd name="T48" fmla="*/ 67 w 733"/>
                <a:gd name="T49" fmla="*/ 260 h 616"/>
                <a:gd name="T50" fmla="*/ 66 w 733"/>
                <a:gd name="T51" fmla="*/ 266 h 616"/>
                <a:gd name="T52" fmla="*/ 67 w 733"/>
                <a:gd name="T53" fmla="*/ 272 h 616"/>
                <a:gd name="T54" fmla="*/ 0 w 733"/>
                <a:gd name="T55" fmla="*/ 366 h 616"/>
                <a:gd name="T56" fmla="*/ 0 w 733"/>
                <a:gd name="T57" fmla="*/ 450 h 616"/>
                <a:gd name="T58" fmla="*/ 66 w 733"/>
                <a:gd name="T59" fmla="*/ 544 h 616"/>
                <a:gd name="T60" fmla="*/ 66 w 733"/>
                <a:gd name="T61" fmla="*/ 583 h 616"/>
                <a:gd name="T62" fmla="*/ 100 w 733"/>
                <a:gd name="T63" fmla="*/ 616 h 616"/>
                <a:gd name="T64" fmla="*/ 133 w 733"/>
                <a:gd name="T65" fmla="*/ 616 h 616"/>
                <a:gd name="T66" fmla="*/ 166 w 733"/>
                <a:gd name="T67" fmla="*/ 583 h 616"/>
                <a:gd name="T68" fmla="*/ 166 w 733"/>
                <a:gd name="T69" fmla="*/ 550 h 616"/>
                <a:gd name="T70" fmla="*/ 566 w 733"/>
                <a:gd name="T71" fmla="*/ 550 h 616"/>
                <a:gd name="T72" fmla="*/ 566 w 733"/>
                <a:gd name="T73" fmla="*/ 583 h 616"/>
                <a:gd name="T74" fmla="*/ 600 w 733"/>
                <a:gd name="T75" fmla="*/ 616 h 616"/>
                <a:gd name="T76" fmla="*/ 633 w 733"/>
                <a:gd name="T77" fmla="*/ 616 h 616"/>
                <a:gd name="T78" fmla="*/ 666 w 733"/>
                <a:gd name="T79" fmla="*/ 583 h 616"/>
                <a:gd name="T80" fmla="*/ 666 w 733"/>
                <a:gd name="T81" fmla="*/ 544 h 616"/>
                <a:gd name="T82" fmla="*/ 733 w 733"/>
                <a:gd name="T83" fmla="*/ 450 h 616"/>
                <a:gd name="T84" fmla="*/ 733 w 733"/>
                <a:gd name="T85" fmla="*/ 366 h 616"/>
                <a:gd name="T86" fmla="*/ 666 w 733"/>
                <a:gd name="T87" fmla="*/ 272 h 6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733" h="616">
                  <a:moveTo>
                    <a:pt x="616" y="466"/>
                  </a:moveTo>
                  <a:cubicBezTo>
                    <a:pt x="589" y="466"/>
                    <a:pt x="566" y="444"/>
                    <a:pt x="566" y="416"/>
                  </a:cubicBezTo>
                  <a:cubicBezTo>
                    <a:pt x="566" y="389"/>
                    <a:pt x="589" y="366"/>
                    <a:pt x="616" y="366"/>
                  </a:cubicBezTo>
                  <a:cubicBezTo>
                    <a:pt x="644" y="366"/>
                    <a:pt x="666" y="389"/>
                    <a:pt x="666" y="416"/>
                  </a:cubicBezTo>
                  <a:cubicBezTo>
                    <a:pt x="666" y="444"/>
                    <a:pt x="644" y="466"/>
                    <a:pt x="616" y="466"/>
                  </a:cubicBezTo>
                  <a:close/>
                  <a:moveTo>
                    <a:pt x="134" y="266"/>
                  </a:moveTo>
                  <a:lnTo>
                    <a:pt x="165" y="107"/>
                  </a:lnTo>
                  <a:cubicBezTo>
                    <a:pt x="169" y="94"/>
                    <a:pt x="179" y="66"/>
                    <a:pt x="200" y="66"/>
                  </a:cubicBezTo>
                  <a:lnTo>
                    <a:pt x="533" y="66"/>
                  </a:lnTo>
                  <a:cubicBezTo>
                    <a:pt x="553" y="66"/>
                    <a:pt x="564" y="94"/>
                    <a:pt x="567" y="107"/>
                  </a:cubicBezTo>
                  <a:lnTo>
                    <a:pt x="599" y="266"/>
                  </a:lnTo>
                  <a:lnTo>
                    <a:pt x="134" y="266"/>
                  </a:lnTo>
                  <a:close/>
                  <a:moveTo>
                    <a:pt x="116" y="466"/>
                  </a:moveTo>
                  <a:cubicBezTo>
                    <a:pt x="89" y="466"/>
                    <a:pt x="66" y="444"/>
                    <a:pt x="66" y="416"/>
                  </a:cubicBezTo>
                  <a:cubicBezTo>
                    <a:pt x="66" y="389"/>
                    <a:pt x="89" y="366"/>
                    <a:pt x="116" y="366"/>
                  </a:cubicBezTo>
                  <a:cubicBezTo>
                    <a:pt x="144" y="366"/>
                    <a:pt x="166" y="389"/>
                    <a:pt x="166" y="416"/>
                  </a:cubicBezTo>
                  <a:cubicBezTo>
                    <a:pt x="166" y="444"/>
                    <a:pt x="144" y="466"/>
                    <a:pt x="116" y="466"/>
                  </a:cubicBezTo>
                  <a:close/>
                  <a:moveTo>
                    <a:pt x="666" y="272"/>
                  </a:moveTo>
                  <a:cubicBezTo>
                    <a:pt x="666" y="270"/>
                    <a:pt x="666" y="268"/>
                    <a:pt x="666" y="266"/>
                  </a:cubicBezTo>
                  <a:lnTo>
                    <a:pt x="632" y="93"/>
                  </a:lnTo>
                  <a:lnTo>
                    <a:pt x="632" y="91"/>
                  </a:lnTo>
                  <a:cubicBezTo>
                    <a:pt x="616" y="34"/>
                    <a:pt x="579" y="0"/>
                    <a:pt x="533" y="0"/>
                  </a:cubicBezTo>
                  <a:lnTo>
                    <a:pt x="200" y="0"/>
                  </a:lnTo>
                  <a:cubicBezTo>
                    <a:pt x="153" y="0"/>
                    <a:pt x="116" y="34"/>
                    <a:pt x="101" y="91"/>
                  </a:cubicBezTo>
                  <a:lnTo>
                    <a:pt x="67" y="260"/>
                  </a:lnTo>
                  <a:lnTo>
                    <a:pt x="66" y="266"/>
                  </a:lnTo>
                  <a:cubicBezTo>
                    <a:pt x="66" y="268"/>
                    <a:pt x="67" y="270"/>
                    <a:pt x="67" y="272"/>
                  </a:cubicBezTo>
                  <a:cubicBezTo>
                    <a:pt x="28" y="286"/>
                    <a:pt x="0" y="323"/>
                    <a:pt x="0" y="366"/>
                  </a:cubicBezTo>
                  <a:lnTo>
                    <a:pt x="0" y="450"/>
                  </a:lnTo>
                  <a:cubicBezTo>
                    <a:pt x="0" y="493"/>
                    <a:pt x="28" y="530"/>
                    <a:pt x="66" y="544"/>
                  </a:cubicBezTo>
                  <a:lnTo>
                    <a:pt x="66" y="583"/>
                  </a:lnTo>
                  <a:cubicBezTo>
                    <a:pt x="66" y="601"/>
                    <a:pt x="81" y="616"/>
                    <a:pt x="100" y="616"/>
                  </a:cubicBezTo>
                  <a:lnTo>
                    <a:pt x="133" y="616"/>
                  </a:lnTo>
                  <a:cubicBezTo>
                    <a:pt x="151" y="616"/>
                    <a:pt x="166" y="601"/>
                    <a:pt x="166" y="583"/>
                  </a:cubicBezTo>
                  <a:lnTo>
                    <a:pt x="166" y="550"/>
                  </a:lnTo>
                  <a:lnTo>
                    <a:pt x="566" y="550"/>
                  </a:lnTo>
                  <a:lnTo>
                    <a:pt x="566" y="583"/>
                  </a:lnTo>
                  <a:cubicBezTo>
                    <a:pt x="566" y="601"/>
                    <a:pt x="581" y="616"/>
                    <a:pt x="600" y="616"/>
                  </a:cubicBezTo>
                  <a:lnTo>
                    <a:pt x="633" y="616"/>
                  </a:lnTo>
                  <a:cubicBezTo>
                    <a:pt x="651" y="616"/>
                    <a:pt x="666" y="601"/>
                    <a:pt x="666" y="583"/>
                  </a:cubicBezTo>
                  <a:lnTo>
                    <a:pt x="666" y="544"/>
                  </a:lnTo>
                  <a:cubicBezTo>
                    <a:pt x="705" y="530"/>
                    <a:pt x="733" y="493"/>
                    <a:pt x="733" y="450"/>
                  </a:cubicBezTo>
                  <a:lnTo>
                    <a:pt x="733" y="366"/>
                  </a:lnTo>
                  <a:cubicBezTo>
                    <a:pt x="733" y="323"/>
                    <a:pt x="705" y="286"/>
                    <a:pt x="666" y="272"/>
                  </a:cubicBezTo>
                  <a:close/>
                </a:path>
              </a:pathLst>
            </a:custGeom>
            <a:solidFill>
              <a:srgbClr val="0070C0"/>
            </a:solidFill>
            <a:ln>
              <a:noFill/>
            </a:ln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de-DE" sz="1350" b="0" i="0" u="none" strike="noStrike" kern="0" cap="none" spc="0" normalizeH="0" baseline="0" noProof="1">
                <a:ln>
                  <a:noFill/>
                </a:ln>
                <a:solidFill>
                  <a:srgbClr val="9954CC"/>
                </a:solidFill>
                <a:effectLst/>
                <a:uLnTx/>
                <a:uFillTx/>
                <a:latin typeface="Bahnschrift" panose="020B0502040204020203" pitchFamily="34" charset="0"/>
                <a:ea typeface="+mn-ea"/>
                <a:cs typeface="+mn-cs"/>
              </a:endParaRPr>
            </a:p>
          </p:txBody>
        </p:sp>
      </p:grpSp>
      <p:sp>
        <p:nvSpPr>
          <p:cNvPr id="672" name="Flame3" descr="{&quot;Key&quot;:&quot;POWER_USER_SHAPE_ICON&quot;,&quot;Value&quot;:&quot;POWER_USER_SHAPE_ICON_STYLE_1&quot;}">
            <a:extLst>
              <a:ext uri="{FF2B5EF4-FFF2-40B4-BE49-F238E27FC236}">
                <a16:creationId xmlns:a16="http://schemas.microsoft.com/office/drawing/2014/main" id="{7F5F7E33-826D-7AD8-FBFA-C164B355C65C}"/>
              </a:ext>
            </a:extLst>
          </p:cNvPr>
          <p:cNvSpPr>
            <a:spLocks noChangeAspect="1"/>
          </p:cNvSpPr>
          <p:nvPr>
            <p:custDataLst>
              <p:tags r:id="rId5"/>
            </p:custDataLst>
          </p:nvPr>
        </p:nvSpPr>
        <p:spPr bwMode="auto">
          <a:xfrm>
            <a:off x="8022766" y="4265657"/>
            <a:ext cx="157979" cy="180244"/>
          </a:xfrm>
          <a:custGeom>
            <a:avLst/>
            <a:gdLst>
              <a:gd name="T0" fmla="*/ 177 w 620"/>
              <a:gd name="T1" fmla="*/ 708 h 708"/>
              <a:gd name="T2" fmla="*/ 133 w 620"/>
              <a:gd name="T3" fmla="*/ 708 h 708"/>
              <a:gd name="T4" fmla="*/ 0 w 620"/>
              <a:gd name="T5" fmla="*/ 487 h 708"/>
              <a:gd name="T6" fmla="*/ 89 w 620"/>
              <a:gd name="T7" fmla="*/ 88 h 708"/>
              <a:gd name="T8" fmla="*/ 178 w 620"/>
              <a:gd name="T9" fmla="*/ 265 h 708"/>
              <a:gd name="T10" fmla="*/ 310 w 620"/>
              <a:gd name="T11" fmla="*/ 0 h 708"/>
              <a:gd name="T12" fmla="*/ 443 w 620"/>
              <a:gd name="T13" fmla="*/ 354 h 708"/>
              <a:gd name="T14" fmla="*/ 532 w 620"/>
              <a:gd name="T15" fmla="*/ 221 h 708"/>
              <a:gd name="T16" fmla="*/ 620 w 620"/>
              <a:gd name="T17" fmla="*/ 443 h 708"/>
              <a:gd name="T18" fmla="*/ 487 w 620"/>
              <a:gd name="T19" fmla="*/ 708 h 708"/>
              <a:gd name="T20" fmla="*/ 399 w 620"/>
              <a:gd name="T21" fmla="*/ 708 h 708"/>
              <a:gd name="T22" fmla="*/ 443 w 620"/>
              <a:gd name="T23" fmla="*/ 576 h 708"/>
              <a:gd name="T24" fmla="*/ 354 w 620"/>
              <a:gd name="T25" fmla="*/ 310 h 708"/>
              <a:gd name="T26" fmla="*/ 266 w 620"/>
              <a:gd name="T27" fmla="*/ 576 h 708"/>
              <a:gd name="T28" fmla="*/ 177 w 620"/>
              <a:gd name="T29" fmla="*/ 398 h 708"/>
              <a:gd name="T30" fmla="*/ 133 w 620"/>
              <a:gd name="T31" fmla="*/ 562 h 708"/>
              <a:gd name="T32" fmla="*/ 177 w 620"/>
              <a:gd name="T33" fmla="*/ 708 h 70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</a:cxnLst>
            <a:rect l="0" t="0" r="r" b="b"/>
            <a:pathLst>
              <a:path w="620" h="708">
                <a:moveTo>
                  <a:pt x="177" y="708"/>
                </a:moveTo>
                <a:lnTo>
                  <a:pt x="133" y="708"/>
                </a:lnTo>
                <a:cubicBezTo>
                  <a:pt x="44" y="664"/>
                  <a:pt x="0" y="572"/>
                  <a:pt x="0" y="487"/>
                </a:cubicBezTo>
                <a:cubicBezTo>
                  <a:pt x="0" y="338"/>
                  <a:pt x="89" y="221"/>
                  <a:pt x="89" y="88"/>
                </a:cubicBezTo>
                <a:cubicBezTo>
                  <a:pt x="155" y="110"/>
                  <a:pt x="177" y="177"/>
                  <a:pt x="178" y="265"/>
                </a:cubicBezTo>
                <a:cubicBezTo>
                  <a:pt x="225" y="196"/>
                  <a:pt x="310" y="114"/>
                  <a:pt x="310" y="0"/>
                </a:cubicBezTo>
                <a:cubicBezTo>
                  <a:pt x="384" y="55"/>
                  <a:pt x="443" y="177"/>
                  <a:pt x="443" y="354"/>
                </a:cubicBezTo>
                <a:cubicBezTo>
                  <a:pt x="487" y="354"/>
                  <a:pt x="532" y="310"/>
                  <a:pt x="532" y="221"/>
                </a:cubicBezTo>
                <a:cubicBezTo>
                  <a:pt x="576" y="265"/>
                  <a:pt x="620" y="354"/>
                  <a:pt x="620" y="443"/>
                </a:cubicBezTo>
                <a:cubicBezTo>
                  <a:pt x="620" y="553"/>
                  <a:pt x="576" y="642"/>
                  <a:pt x="487" y="708"/>
                </a:cubicBezTo>
                <a:lnTo>
                  <a:pt x="399" y="708"/>
                </a:lnTo>
                <a:cubicBezTo>
                  <a:pt x="426" y="669"/>
                  <a:pt x="446" y="623"/>
                  <a:pt x="443" y="576"/>
                </a:cubicBezTo>
                <a:cubicBezTo>
                  <a:pt x="437" y="455"/>
                  <a:pt x="354" y="443"/>
                  <a:pt x="354" y="310"/>
                </a:cubicBezTo>
                <a:cubicBezTo>
                  <a:pt x="309" y="354"/>
                  <a:pt x="266" y="473"/>
                  <a:pt x="266" y="576"/>
                </a:cubicBezTo>
                <a:cubicBezTo>
                  <a:pt x="199" y="531"/>
                  <a:pt x="177" y="443"/>
                  <a:pt x="177" y="398"/>
                </a:cubicBezTo>
                <a:cubicBezTo>
                  <a:pt x="142" y="460"/>
                  <a:pt x="133" y="520"/>
                  <a:pt x="133" y="562"/>
                </a:cubicBezTo>
                <a:cubicBezTo>
                  <a:pt x="133" y="629"/>
                  <a:pt x="161" y="684"/>
                  <a:pt x="177" y="708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200" b="0" i="0" u="none" strike="noStrike" kern="0" cap="none" spc="0" normalizeH="0" baseline="0" noProof="1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73" name="Building5" descr="{&quot;Key&quot;:&quot;POWER_USER_SHAPE_ICON&quot;,&quot;Value&quot;:&quot;POWER_USER_SHAPE_ICON_STYLE_1&quot;}">
            <a:extLst>
              <a:ext uri="{FF2B5EF4-FFF2-40B4-BE49-F238E27FC236}">
                <a16:creationId xmlns:a16="http://schemas.microsoft.com/office/drawing/2014/main" id="{43B3D934-E83A-61D7-9C02-F6582F70FCF7}"/>
              </a:ext>
            </a:extLst>
          </p:cNvPr>
          <p:cNvSpPr>
            <a:spLocks noChangeAspect="1" noEditPoints="1"/>
          </p:cNvSpPr>
          <p:nvPr>
            <p:custDataLst>
              <p:tags r:id="rId6"/>
            </p:custDataLst>
          </p:nvPr>
        </p:nvSpPr>
        <p:spPr bwMode="auto">
          <a:xfrm>
            <a:off x="9088454" y="4619974"/>
            <a:ext cx="206438" cy="196338"/>
          </a:xfrm>
          <a:custGeom>
            <a:avLst/>
            <a:gdLst>
              <a:gd name="T0" fmla="*/ 915 w 1250"/>
              <a:gd name="T1" fmla="*/ 250 h 1187"/>
              <a:gd name="T2" fmla="*/ 915 w 1250"/>
              <a:gd name="T3" fmla="*/ 1053 h 1187"/>
              <a:gd name="T4" fmla="*/ 848 w 1250"/>
              <a:gd name="T5" fmla="*/ 1053 h 1187"/>
              <a:gd name="T6" fmla="*/ 850 w 1250"/>
              <a:gd name="T7" fmla="*/ 0 h 1187"/>
              <a:gd name="T8" fmla="*/ 448 w 1250"/>
              <a:gd name="T9" fmla="*/ 0 h 1187"/>
              <a:gd name="T10" fmla="*/ 446 w 1250"/>
              <a:gd name="T11" fmla="*/ 1053 h 1187"/>
              <a:gd name="T12" fmla="*/ 379 w 1250"/>
              <a:gd name="T13" fmla="*/ 1053 h 1187"/>
              <a:gd name="T14" fmla="*/ 379 w 1250"/>
              <a:gd name="T15" fmla="*/ 361 h 1187"/>
              <a:gd name="T16" fmla="*/ 0 w 1250"/>
              <a:gd name="T17" fmla="*/ 361 h 1187"/>
              <a:gd name="T18" fmla="*/ 0 w 1250"/>
              <a:gd name="T19" fmla="*/ 1187 h 1187"/>
              <a:gd name="T20" fmla="*/ 1250 w 1250"/>
              <a:gd name="T21" fmla="*/ 1187 h 1187"/>
              <a:gd name="T22" fmla="*/ 1250 w 1250"/>
              <a:gd name="T23" fmla="*/ 250 h 1187"/>
              <a:gd name="T24" fmla="*/ 915 w 1250"/>
              <a:gd name="T25" fmla="*/ 250 h 1187"/>
              <a:gd name="T26" fmla="*/ 982 w 1250"/>
              <a:gd name="T27" fmla="*/ 339 h 1187"/>
              <a:gd name="T28" fmla="*/ 1183 w 1250"/>
              <a:gd name="T29" fmla="*/ 339 h 1187"/>
              <a:gd name="T30" fmla="*/ 1183 w 1250"/>
              <a:gd name="T31" fmla="*/ 584 h 1187"/>
              <a:gd name="T32" fmla="*/ 982 w 1250"/>
              <a:gd name="T33" fmla="*/ 584 h 1187"/>
              <a:gd name="T34" fmla="*/ 982 w 1250"/>
              <a:gd name="T35" fmla="*/ 339 h 1187"/>
              <a:gd name="T36" fmla="*/ 982 w 1250"/>
              <a:gd name="T37" fmla="*/ 674 h 1187"/>
              <a:gd name="T38" fmla="*/ 1183 w 1250"/>
              <a:gd name="T39" fmla="*/ 674 h 1187"/>
              <a:gd name="T40" fmla="*/ 1183 w 1250"/>
              <a:gd name="T41" fmla="*/ 919 h 1187"/>
              <a:gd name="T42" fmla="*/ 982 w 1250"/>
              <a:gd name="T43" fmla="*/ 919 h 1187"/>
              <a:gd name="T44" fmla="*/ 982 w 1250"/>
              <a:gd name="T45" fmla="*/ 674 h 1187"/>
              <a:gd name="T46" fmla="*/ 513 w 1250"/>
              <a:gd name="T47" fmla="*/ 71 h 1187"/>
              <a:gd name="T48" fmla="*/ 781 w 1250"/>
              <a:gd name="T49" fmla="*/ 71 h 1187"/>
              <a:gd name="T50" fmla="*/ 781 w 1250"/>
              <a:gd name="T51" fmla="*/ 183 h 1187"/>
              <a:gd name="T52" fmla="*/ 513 w 1250"/>
              <a:gd name="T53" fmla="*/ 183 h 1187"/>
              <a:gd name="T54" fmla="*/ 513 w 1250"/>
              <a:gd name="T55" fmla="*/ 71 h 1187"/>
              <a:gd name="T56" fmla="*/ 513 w 1250"/>
              <a:gd name="T57" fmla="*/ 294 h 1187"/>
              <a:gd name="T58" fmla="*/ 781 w 1250"/>
              <a:gd name="T59" fmla="*/ 294 h 1187"/>
              <a:gd name="T60" fmla="*/ 781 w 1250"/>
              <a:gd name="T61" fmla="*/ 406 h 1187"/>
              <a:gd name="T62" fmla="*/ 513 w 1250"/>
              <a:gd name="T63" fmla="*/ 406 h 1187"/>
              <a:gd name="T64" fmla="*/ 513 w 1250"/>
              <a:gd name="T65" fmla="*/ 294 h 1187"/>
              <a:gd name="T66" fmla="*/ 513 w 1250"/>
              <a:gd name="T67" fmla="*/ 517 h 1187"/>
              <a:gd name="T68" fmla="*/ 781 w 1250"/>
              <a:gd name="T69" fmla="*/ 517 h 1187"/>
              <a:gd name="T70" fmla="*/ 781 w 1250"/>
              <a:gd name="T71" fmla="*/ 629 h 1187"/>
              <a:gd name="T72" fmla="*/ 513 w 1250"/>
              <a:gd name="T73" fmla="*/ 629 h 1187"/>
              <a:gd name="T74" fmla="*/ 513 w 1250"/>
              <a:gd name="T75" fmla="*/ 517 h 1187"/>
              <a:gd name="T76" fmla="*/ 513 w 1250"/>
              <a:gd name="T77" fmla="*/ 741 h 1187"/>
              <a:gd name="T78" fmla="*/ 781 w 1250"/>
              <a:gd name="T79" fmla="*/ 741 h 1187"/>
              <a:gd name="T80" fmla="*/ 781 w 1250"/>
              <a:gd name="T81" fmla="*/ 852 h 1187"/>
              <a:gd name="T82" fmla="*/ 513 w 1250"/>
              <a:gd name="T83" fmla="*/ 852 h 1187"/>
              <a:gd name="T84" fmla="*/ 513 w 1250"/>
              <a:gd name="T85" fmla="*/ 741 h 1187"/>
              <a:gd name="T86" fmla="*/ 67 w 1250"/>
              <a:gd name="T87" fmla="*/ 450 h 1187"/>
              <a:gd name="T88" fmla="*/ 156 w 1250"/>
              <a:gd name="T89" fmla="*/ 450 h 1187"/>
              <a:gd name="T90" fmla="*/ 156 w 1250"/>
              <a:gd name="T91" fmla="*/ 607 h 1187"/>
              <a:gd name="T92" fmla="*/ 67 w 1250"/>
              <a:gd name="T93" fmla="*/ 607 h 1187"/>
              <a:gd name="T94" fmla="*/ 67 w 1250"/>
              <a:gd name="T95" fmla="*/ 450 h 1187"/>
              <a:gd name="T96" fmla="*/ 223 w 1250"/>
              <a:gd name="T97" fmla="*/ 450 h 1187"/>
              <a:gd name="T98" fmla="*/ 313 w 1250"/>
              <a:gd name="T99" fmla="*/ 450 h 1187"/>
              <a:gd name="T100" fmla="*/ 313 w 1250"/>
              <a:gd name="T101" fmla="*/ 607 h 1187"/>
              <a:gd name="T102" fmla="*/ 223 w 1250"/>
              <a:gd name="T103" fmla="*/ 607 h 1187"/>
              <a:gd name="T104" fmla="*/ 223 w 1250"/>
              <a:gd name="T105" fmla="*/ 450 h 1187"/>
              <a:gd name="T106" fmla="*/ 67 w 1250"/>
              <a:gd name="T107" fmla="*/ 718 h 1187"/>
              <a:gd name="T108" fmla="*/ 156 w 1250"/>
              <a:gd name="T109" fmla="*/ 718 h 1187"/>
              <a:gd name="T110" fmla="*/ 156 w 1250"/>
              <a:gd name="T111" fmla="*/ 875 h 1187"/>
              <a:gd name="T112" fmla="*/ 67 w 1250"/>
              <a:gd name="T113" fmla="*/ 875 h 1187"/>
              <a:gd name="T114" fmla="*/ 67 w 1250"/>
              <a:gd name="T115" fmla="*/ 718 h 1187"/>
              <a:gd name="T116" fmla="*/ 223 w 1250"/>
              <a:gd name="T117" fmla="*/ 718 h 1187"/>
              <a:gd name="T118" fmla="*/ 313 w 1250"/>
              <a:gd name="T119" fmla="*/ 718 h 1187"/>
              <a:gd name="T120" fmla="*/ 313 w 1250"/>
              <a:gd name="T121" fmla="*/ 875 h 1187"/>
              <a:gd name="T122" fmla="*/ 223 w 1250"/>
              <a:gd name="T123" fmla="*/ 875 h 1187"/>
              <a:gd name="T124" fmla="*/ 223 w 1250"/>
              <a:gd name="T125" fmla="*/ 718 h 118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  <a:cxn ang="0">
                <a:pos x="T124" y="T125"/>
              </a:cxn>
            </a:cxnLst>
            <a:rect l="0" t="0" r="r" b="b"/>
            <a:pathLst>
              <a:path w="1250" h="1187">
                <a:moveTo>
                  <a:pt x="915" y="250"/>
                </a:moveTo>
                <a:lnTo>
                  <a:pt x="915" y="1053"/>
                </a:lnTo>
                <a:lnTo>
                  <a:pt x="848" y="1053"/>
                </a:lnTo>
                <a:lnTo>
                  <a:pt x="850" y="0"/>
                </a:lnTo>
                <a:lnTo>
                  <a:pt x="448" y="0"/>
                </a:lnTo>
                <a:lnTo>
                  <a:pt x="446" y="1053"/>
                </a:lnTo>
                <a:lnTo>
                  <a:pt x="379" y="1053"/>
                </a:lnTo>
                <a:lnTo>
                  <a:pt x="379" y="361"/>
                </a:lnTo>
                <a:lnTo>
                  <a:pt x="0" y="361"/>
                </a:lnTo>
                <a:lnTo>
                  <a:pt x="0" y="1187"/>
                </a:lnTo>
                <a:lnTo>
                  <a:pt x="1250" y="1187"/>
                </a:lnTo>
                <a:lnTo>
                  <a:pt x="1250" y="250"/>
                </a:lnTo>
                <a:lnTo>
                  <a:pt x="915" y="250"/>
                </a:lnTo>
                <a:close/>
                <a:moveTo>
                  <a:pt x="982" y="339"/>
                </a:moveTo>
                <a:lnTo>
                  <a:pt x="1183" y="339"/>
                </a:lnTo>
                <a:lnTo>
                  <a:pt x="1183" y="584"/>
                </a:lnTo>
                <a:lnTo>
                  <a:pt x="982" y="584"/>
                </a:lnTo>
                <a:lnTo>
                  <a:pt x="982" y="339"/>
                </a:lnTo>
                <a:close/>
                <a:moveTo>
                  <a:pt x="982" y="674"/>
                </a:moveTo>
                <a:lnTo>
                  <a:pt x="1183" y="674"/>
                </a:lnTo>
                <a:lnTo>
                  <a:pt x="1183" y="919"/>
                </a:lnTo>
                <a:lnTo>
                  <a:pt x="982" y="919"/>
                </a:lnTo>
                <a:lnTo>
                  <a:pt x="982" y="674"/>
                </a:lnTo>
                <a:close/>
                <a:moveTo>
                  <a:pt x="513" y="71"/>
                </a:moveTo>
                <a:lnTo>
                  <a:pt x="781" y="71"/>
                </a:lnTo>
                <a:lnTo>
                  <a:pt x="781" y="183"/>
                </a:lnTo>
                <a:lnTo>
                  <a:pt x="513" y="183"/>
                </a:lnTo>
                <a:lnTo>
                  <a:pt x="513" y="71"/>
                </a:lnTo>
                <a:close/>
                <a:moveTo>
                  <a:pt x="513" y="294"/>
                </a:moveTo>
                <a:lnTo>
                  <a:pt x="781" y="294"/>
                </a:lnTo>
                <a:lnTo>
                  <a:pt x="781" y="406"/>
                </a:lnTo>
                <a:lnTo>
                  <a:pt x="513" y="406"/>
                </a:lnTo>
                <a:lnTo>
                  <a:pt x="513" y="294"/>
                </a:lnTo>
                <a:close/>
                <a:moveTo>
                  <a:pt x="513" y="517"/>
                </a:moveTo>
                <a:lnTo>
                  <a:pt x="781" y="517"/>
                </a:lnTo>
                <a:lnTo>
                  <a:pt x="781" y="629"/>
                </a:lnTo>
                <a:lnTo>
                  <a:pt x="513" y="629"/>
                </a:lnTo>
                <a:lnTo>
                  <a:pt x="513" y="517"/>
                </a:lnTo>
                <a:close/>
                <a:moveTo>
                  <a:pt x="513" y="741"/>
                </a:moveTo>
                <a:lnTo>
                  <a:pt x="781" y="741"/>
                </a:lnTo>
                <a:lnTo>
                  <a:pt x="781" y="852"/>
                </a:lnTo>
                <a:lnTo>
                  <a:pt x="513" y="852"/>
                </a:lnTo>
                <a:lnTo>
                  <a:pt x="513" y="741"/>
                </a:lnTo>
                <a:close/>
                <a:moveTo>
                  <a:pt x="67" y="450"/>
                </a:moveTo>
                <a:lnTo>
                  <a:pt x="156" y="450"/>
                </a:lnTo>
                <a:lnTo>
                  <a:pt x="156" y="607"/>
                </a:lnTo>
                <a:lnTo>
                  <a:pt x="67" y="607"/>
                </a:lnTo>
                <a:lnTo>
                  <a:pt x="67" y="450"/>
                </a:lnTo>
                <a:close/>
                <a:moveTo>
                  <a:pt x="223" y="450"/>
                </a:moveTo>
                <a:lnTo>
                  <a:pt x="313" y="450"/>
                </a:lnTo>
                <a:lnTo>
                  <a:pt x="313" y="607"/>
                </a:lnTo>
                <a:lnTo>
                  <a:pt x="223" y="607"/>
                </a:lnTo>
                <a:lnTo>
                  <a:pt x="223" y="450"/>
                </a:lnTo>
                <a:close/>
                <a:moveTo>
                  <a:pt x="67" y="718"/>
                </a:moveTo>
                <a:lnTo>
                  <a:pt x="156" y="718"/>
                </a:lnTo>
                <a:lnTo>
                  <a:pt x="156" y="875"/>
                </a:lnTo>
                <a:lnTo>
                  <a:pt x="67" y="875"/>
                </a:lnTo>
                <a:lnTo>
                  <a:pt x="67" y="718"/>
                </a:lnTo>
                <a:close/>
                <a:moveTo>
                  <a:pt x="223" y="718"/>
                </a:moveTo>
                <a:lnTo>
                  <a:pt x="313" y="718"/>
                </a:lnTo>
                <a:lnTo>
                  <a:pt x="313" y="875"/>
                </a:lnTo>
                <a:lnTo>
                  <a:pt x="223" y="875"/>
                </a:lnTo>
                <a:lnTo>
                  <a:pt x="223" y="718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350" b="0" i="0" u="none" strike="noStrike" kern="0" cap="none" spc="0" normalizeH="0" baseline="0" noProof="1">
              <a:ln>
                <a:noFill/>
              </a:ln>
              <a:solidFill>
                <a:srgbClr val="9954CC"/>
              </a:solidFill>
              <a:effectLst/>
              <a:uLnTx/>
              <a:uFillTx/>
              <a:latin typeface="Bahnschrift" panose="020B0502040204020203" pitchFamily="34" charset="0"/>
              <a:ea typeface="+mn-ea"/>
              <a:cs typeface="+mn-cs"/>
            </a:endParaRPr>
          </a:p>
        </p:txBody>
      </p:sp>
      <p:sp>
        <p:nvSpPr>
          <p:cNvPr id="674" name="Textfeld 673">
            <a:extLst>
              <a:ext uri="{FF2B5EF4-FFF2-40B4-BE49-F238E27FC236}">
                <a16:creationId xmlns:a16="http://schemas.microsoft.com/office/drawing/2014/main" id="{4BC81B90-13BA-1A31-D12C-3F993ED906FD}"/>
              </a:ext>
            </a:extLst>
          </p:cNvPr>
          <p:cNvSpPr txBox="1"/>
          <p:nvPr/>
        </p:nvSpPr>
        <p:spPr bwMode="auto">
          <a:xfrm>
            <a:off x="10503484" y="5589529"/>
            <a:ext cx="47456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1800" b="0" i="0" u="none" strike="noStrike" kern="0" cap="none" spc="-1" normalizeH="0" baseline="0" noProof="1">
                <a:ln>
                  <a:noFill/>
                </a:ln>
                <a:solidFill>
                  <a:srgbClr val="E1320F"/>
                </a:solidFill>
                <a:effectLst/>
                <a:uLnTx/>
                <a:uFillTx/>
                <a:latin typeface="Calibri" panose="020F0502020204030204"/>
                <a:ea typeface="Arial"/>
                <a:cs typeface="+mn-cs"/>
              </a:rPr>
              <a:t>🎯</a:t>
            </a:r>
            <a:endParaRPr kumimoji="0" lang="de-DE" sz="1800" b="0" i="0" u="none" strike="noStrike" kern="0" cap="none" spc="-1" normalizeH="0" baseline="0" noProof="1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Textplatzhalter 9"/>
          <p:cNvSpPr>
            <a:spLocks noGrp="1"/>
          </p:cNvSpPr>
          <p:nvPr>
            <p:ph type="body" sz="quarter" idx="10"/>
          </p:nvPr>
        </p:nvSpPr>
        <p:spPr>
          <a:xfrm>
            <a:off x="2311365" y="1377289"/>
            <a:ext cx="6679616" cy="1284288"/>
          </a:xfrm>
        </p:spPr>
        <p:txBody>
          <a:bodyPr/>
          <a:lstStyle/>
          <a:p>
            <a:r>
              <a:rPr lang="de-DE" b="1" dirty="0"/>
              <a:t>Simon Schneider</a:t>
            </a:r>
          </a:p>
          <a:p>
            <a:r>
              <a:rPr lang="de-DE" b="1" dirty="0"/>
              <a:t>Anlaufstelle Plus-Energie-Quartiere</a:t>
            </a:r>
          </a:p>
          <a:p>
            <a:r>
              <a:rPr lang="de-DE" dirty="0"/>
              <a:t>FH Technikum Wien </a:t>
            </a:r>
          </a:p>
          <a:p>
            <a:r>
              <a:rPr lang="de-DE" dirty="0">
                <a:hlinkClick r:id="rId66"/>
              </a:rPr>
              <a:t>Simon.schneider@technikum-wien.at</a:t>
            </a:r>
            <a:endParaRPr lang="de-DE" dirty="0"/>
          </a:p>
        </p:txBody>
      </p:sp>
      <p:pic>
        <p:nvPicPr>
          <p:cNvPr id="4" name="Grafik 3">
            <a:extLst>
              <a:ext uri="{FF2B5EF4-FFF2-40B4-BE49-F238E27FC236}">
                <a16:creationId xmlns:a16="http://schemas.microsoft.com/office/drawing/2014/main" id="{7D855198-D3BC-2331-AED7-38829C9BBAFE}"/>
              </a:ext>
            </a:extLst>
          </p:cNvPr>
          <p:cNvPicPr>
            <a:picLocks noChangeAspect="1"/>
          </p:cNvPicPr>
          <p:nvPr/>
        </p:nvPicPr>
        <p:blipFill>
          <a:blip r:embed="rId67"/>
          <a:stretch>
            <a:fillRect/>
          </a:stretch>
        </p:blipFill>
        <p:spPr>
          <a:xfrm>
            <a:off x="554487" y="2798817"/>
            <a:ext cx="1526039" cy="1552579"/>
          </a:xfrm>
          <a:prstGeom prst="rect">
            <a:avLst/>
          </a:prstGeom>
        </p:spPr>
      </p:pic>
      <p:sp>
        <p:nvSpPr>
          <p:cNvPr id="6" name="Textfeld 5">
            <a:extLst>
              <a:ext uri="{FF2B5EF4-FFF2-40B4-BE49-F238E27FC236}">
                <a16:creationId xmlns:a16="http://schemas.microsoft.com/office/drawing/2014/main" id="{C344AD56-3D48-0C3E-4D9E-7FEE6E9656FE}"/>
              </a:ext>
            </a:extLst>
          </p:cNvPr>
          <p:cNvSpPr txBox="1"/>
          <p:nvPr/>
        </p:nvSpPr>
        <p:spPr>
          <a:xfrm>
            <a:off x="2056575" y="2804129"/>
            <a:ext cx="3934677" cy="18466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800" b="1" dirty="0"/>
              <a:t>Newsletter</a:t>
            </a:r>
            <a:br>
              <a:rPr lang="de-DE" dirty="0"/>
            </a:br>
            <a:r>
              <a:rPr lang="de-DE" sz="1600" dirty="0"/>
              <a:t>Aktuelle Informationen zur klimaaktiv Deklaration </a:t>
            </a:r>
            <a:r>
              <a:rPr lang="de-DE" sz="1600" b="1" dirty="0"/>
              <a:t>„Plus-Energie-Quartiere“</a:t>
            </a:r>
            <a:r>
              <a:rPr lang="de-DE" sz="1600" dirty="0"/>
              <a:t>, zum Nachweistool und zu Veranstaltungen</a:t>
            </a:r>
            <a:r>
              <a:rPr lang="de-DE" dirty="0"/>
              <a:t>.</a:t>
            </a:r>
            <a:br>
              <a:rPr lang="de-DE" dirty="0"/>
            </a:br>
            <a:r>
              <a:rPr lang="de-DE" b="1" dirty="0"/>
              <a:t>QR-Code scannen und anmelden</a:t>
            </a:r>
            <a:endParaRPr lang="de-DE" dirty="0"/>
          </a:p>
          <a:p>
            <a:endParaRPr lang="de-DE" dirty="0"/>
          </a:p>
        </p:txBody>
      </p:sp>
      <p:pic>
        <p:nvPicPr>
          <p:cNvPr id="9" name="Grafik 8">
            <a:extLst>
              <a:ext uri="{FF2B5EF4-FFF2-40B4-BE49-F238E27FC236}">
                <a16:creationId xmlns:a16="http://schemas.microsoft.com/office/drawing/2014/main" id="{5B4E72F2-4851-31C4-D108-57575EFF0516}"/>
              </a:ext>
            </a:extLst>
          </p:cNvPr>
          <p:cNvPicPr>
            <a:picLocks noChangeAspect="1"/>
          </p:cNvPicPr>
          <p:nvPr/>
        </p:nvPicPr>
        <p:blipFill>
          <a:blip r:embed="rId68"/>
          <a:stretch>
            <a:fillRect/>
          </a:stretch>
        </p:blipFill>
        <p:spPr>
          <a:xfrm>
            <a:off x="608297" y="4824600"/>
            <a:ext cx="1448277" cy="1461208"/>
          </a:xfrm>
          <a:prstGeom prst="rect">
            <a:avLst/>
          </a:prstGeom>
        </p:spPr>
      </p:pic>
      <p:sp>
        <p:nvSpPr>
          <p:cNvPr id="11" name="Textfeld 10">
            <a:extLst>
              <a:ext uri="{FF2B5EF4-FFF2-40B4-BE49-F238E27FC236}">
                <a16:creationId xmlns:a16="http://schemas.microsoft.com/office/drawing/2014/main" id="{DC18BC28-15E5-68BF-F5E9-13368E1458FF}"/>
              </a:ext>
            </a:extLst>
          </p:cNvPr>
          <p:cNvSpPr txBox="1"/>
          <p:nvPr/>
        </p:nvSpPr>
        <p:spPr>
          <a:xfrm>
            <a:off x="2051229" y="4726624"/>
            <a:ext cx="2708013" cy="18466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800" b="1" dirty="0"/>
              <a:t>Broschüre</a:t>
            </a:r>
            <a:br>
              <a:rPr lang="de-DE" dirty="0"/>
            </a:br>
            <a:r>
              <a:rPr lang="de-DE" sz="1600" dirty="0"/>
              <a:t>klimaaktiv Standard „Plus-Energie-Quartiere“</a:t>
            </a:r>
            <a:br>
              <a:rPr lang="de-DE" dirty="0"/>
            </a:br>
            <a:r>
              <a:rPr lang="de-DE" b="1" dirty="0"/>
              <a:t>QR-Code scannen und informieren</a:t>
            </a:r>
            <a:endParaRPr lang="de-DE" dirty="0"/>
          </a:p>
          <a:p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797454360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el 3">
            <a:extLst>
              <a:ext uri="{FF2B5EF4-FFF2-40B4-BE49-F238E27FC236}">
                <a16:creationId xmlns:a16="http://schemas.microsoft.com/office/drawing/2014/main" id="{71AFBD7C-92D7-42DF-4F03-30363526448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de-DE" dirty="0"/>
              <a:t>Juni 2025 –  Mai 2026</a:t>
            </a:r>
          </a:p>
        </p:txBody>
      </p:sp>
      <p:sp>
        <p:nvSpPr>
          <p:cNvPr id="5" name="Untertitel 4">
            <a:extLst>
              <a:ext uri="{FF2B5EF4-FFF2-40B4-BE49-F238E27FC236}">
                <a16:creationId xmlns:a16="http://schemas.microsoft.com/office/drawing/2014/main" id="{08A264A7-0060-9277-DA16-B73CFE6E8D0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de-DE" dirty="0"/>
              <a:t>Was hat sich im letzten Jahr beim PEQ Standard getan?</a:t>
            </a:r>
          </a:p>
        </p:txBody>
      </p:sp>
      <p:sp>
        <p:nvSpPr>
          <p:cNvPr id="6" name="Textplatzhalter 5">
            <a:extLst>
              <a:ext uri="{FF2B5EF4-FFF2-40B4-BE49-F238E27FC236}">
                <a16:creationId xmlns:a16="http://schemas.microsoft.com/office/drawing/2014/main" id="{71839F45-CEAD-55B4-4859-998552C363A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024750998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el 4">
            <a:extLst>
              <a:ext uri="{FF2B5EF4-FFF2-40B4-BE49-F238E27FC236}">
                <a16:creationId xmlns:a16="http://schemas.microsoft.com/office/drawing/2014/main" id="{8D61E888-695D-3F4A-2329-9FA0826A13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0002" y="1128714"/>
            <a:ext cx="10638033" cy="1107268"/>
          </a:xfrm>
        </p:spPr>
        <p:txBody>
          <a:bodyPr/>
          <a:lstStyle/>
          <a:p>
            <a:r>
              <a:rPr lang="de-DE" dirty="0"/>
              <a:t>Tool v1.11</a:t>
            </a:r>
            <a:br>
              <a:rPr lang="de-DE" dirty="0"/>
            </a:br>
            <a:r>
              <a:rPr lang="de-DE" dirty="0"/>
              <a:t>Weiterentwicklungen</a:t>
            </a:r>
          </a:p>
        </p:txBody>
      </p:sp>
      <p:sp>
        <p:nvSpPr>
          <p:cNvPr id="6" name="Textplatzhalter 5">
            <a:extLst>
              <a:ext uri="{FF2B5EF4-FFF2-40B4-BE49-F238E27FC236}">
                <a16:creationId xmlns:a16="http://schemas.microsoft.com/office/drawing/2014/main" id="{C63D87BA-3520-4764-7326-99E50420F27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719669" y="2164802"/>
            <a:ext cx="11258321" cy="1972696"/>
          </a:xfrm>
        </p:spPr>
        <p:txBody>
          <a:bodyPr>
            <a:normAutofit fontScale="85000" lnSpcReduction="10000"/>
          </a:bodyPr>
          <a:lstStyle/>
          <a:p>
            <a:pPr defTabSz="9144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defRPr/>
            </a:pPr>
            <a:r>
              <a:rPr kumimoji="0" lang="de-DE" altLang="de-DE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v1.05 (09.10.2025):</a:t>
            </a:r>
            <a:r>
              <a:rPr kumimoji="0" lang="de-DE" altLang="de-DE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 Bug-Fixing des Nachweistools </a:t>
            </a:r>
          </a:p>
          <a:p>
            <a:pPr defTabSz="9144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defRPr/>
            </a:pPr>
            <a:r>
              <a:rPr kumimoji="0" lang="de-DE" altLang="de-DE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Publikation (10.10.2025):</a:t>
            </a:r>
            <a:r>
              <a:rPr kumimoji="0" lang="de-DE" altLang="de-DE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 Definition und Beispiele zur dritten Deklarationsebene „klimaneutrale Plusenergiequartiere“ </a:t>
            </a:r>
          </a:p>
          <a:p>
            <a:pPr defTabSz="9144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defRPr/>
            </a:pPr>
            <a:r>
              <a:rPr kumimoji="0" lang="de-DE" altLang="de-DE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v1.06 (07.11.2025):</a:t>
            </a:r>
            <a:r>
              <a:rPr kumimoji="0" lang="de-DE" altLang="de-DE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 Verbesserungen bei Formatierungen, Darstellungen und Lesbarkeit </a:t>
            </a:r>
          </a:p>
          <a:p>
            <a:pPr defTabSz="9144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defRPr/>
            </a:pPr>
            <a:r>
              <a:rPr kumimoji="0" lang="de-DE" altLang="de-DE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v1.07 (01.12.2025):</a:t>
            </a:r>
            <a:r>
              <a:rPr kumimoji="0" lang="de-DE" altLang="de-DE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 Stabilisierung der </a:t>
            </a:r>
            <a:r>
              <a:rPr kumimoji="0" lang="de-DE" altLang="de-DE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Benutzeroberfläche</a:t>
            </a:r>
            <a:r>
              <a:rPr kumimoji="0" lang="de-DE" altLang="de-DE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, verbesserte Eingabelogik, Boolean-Eingaben </a:t>
            </a:r>
          </a:p>
          <a:p>
            <a:pPr defTabSz="9144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defRPr/>
            </a:pPr>
            <a:r>
              <a:rPr kumimoji="0" lang="de-DE" altLang="de-DE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v1.08 (20.01.2026):</a:t>
            </a:r>
            <a:r>
              <a:rPr kumimoji="0" lang="de-DE" altLang="de-DE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 Import von Energieausweis-Daten, </a:t>
            </a:r>
            <a:r>
              <a:rPr kumimoji="0" lang="de-DE" altLang="de-DE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Beispielgeometrien</a:t>
            </a:r>
            <a:r>
              <a:rPr kumimoji="0" lang="de-DE" altLang="de-DE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 </a:t>
            </a:r>
          </a:p>
          <a:p>
            <a:pPr defTabSz="9144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defRPr/>
            </a:pPr>
            <a:r>
              <a:rPr kumimoji="0" lang="de-DE" altLang="de-DE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v1.09 (12.02.2026):</a:t>
            </a:r>
            <a:r>
              <a:rPr kumimoji="0" lang="de-DE" altLang="de-DE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 kleinere Dateigröße, besserer </a:t>
            </a:r>
            <a:r>
              <a:rPr kumimoji="0" lang="de-DE" altLang="de-DE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Legacy-Support</a:t>
            </a:r>
            <a:r>
              <a:rPr kumimoji="0" lang="de-DE" altLang="de-DE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, </a:t>
            </a:r>
            <a:r>
              <a:rPr kumimoji="0" lang="de-DE" altLang="de-DE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automatisiertere</a:t>
            </a:r>
            <a:r>
              <a:rPr kumimoji="0" lang="de-DE" altLang="de-DE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 Migration bestehender Projekte </a:t>
            </a:r>
          </a:p>
          <a:p>
            <a:pPr defTabSz="9144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defRPr/>
            </a:pPr>
            <a:r>
              <a:rPr kumimoji="0" lang="de-DE" altLang="de-DE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v1.10 (24.02.2026):</a:t>
            </a:r>
            <a:r>
              <a:rPr kumimoji="0" lang="de-DE" altLang="de-DE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 Vorauswahlen für </a:t>
            </a:r>
            <a:r>
              <a:rPr kumimoji="0" lang="de-DE" altLang="de-DE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typische Geometrien</a:t>
            </a:r>
            <a:r>
              <a:rPr kumimoji="0" lang="de-DE" altLang="de-DE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, z. B. Einfamilienhaus, Reihenhaus, mehrgeschossiger Wohnbau </a:t>
            </a:r>
          </a:p>
          <a:p>
            <a:pPr defTabSz="9144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defRPr/>
            </a:pPr>
            <a:r>
              <a:rPr kumimoji="0" lang="de-DE" altLang="de-DE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v1.11 (05.04.2026):</a:t>
            </a:r>
            <a:r>
              <a:rPr kumimoji="0" lang="de-DE" altLang="de-DE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 Schema-getriebenes Datenmodell, </a:t>
            </a:r>
            <a:r>
              <a:rPr kumimoji="0" lang="de-DE" altLang="de-DE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Python-Schnittstelle</a:t>
            </a:r>
            <a:r>
              <a:rPr kumimoji="0" lang="de-DE" altLang="de-DE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, robustere Auswertungsstrukturen </a:t>
            </a:r>
          </a:p>
        </p:txBody>
      </p:sp>
      <p:sp>
        <p:nvSpPr>
          <p:cNvPr id="13" name="Titel 4">
            <a:extLst>
              <a:ext uri="{FF2B5EF4-FFF2-40B4-BE49-F238E27FC236}">
                <a16:creationId xmlns:a16="http://schemas.microsoft.com/office/drawing/2014/main" id="{E6CFAF64-78D3-7C9E-A36D-5CB138AA8227}"/>
              </a:ext>
            </a:extLst>
          </p:cNvPr>
          <p:cNvSpPr txBox="1">
            <a:spLocks/>
          </p:cNvSpPr>
          <p:nvPr/>
        </p:nvSpPr>
        <p:spPr>
          <a:xfrm>
            <a:off x="645424" y="3875156"/>
            <a:ext cx="10638033" cy="1107268"/>
          </a:xfrm>
          <a:prstGeom prst="rect">
            <a:avLst/>
          </a:prstGeom>
        </p:spPr>
        <p:txBody>
          <a:bodyPr vert="horz" wrap="none" lIns="0" tIns="0" rIns="0" bIns="0" rtlCol="0" anchor="t" anchorCtr="0">
            <a:noAutofit/>
          </a:bodyPr>
          <a:lstStyle>
            <a:lvl1pPr algn="l" defTabSz="1219170" rtl="0" eaLnBrk="1" latinLnBrk="0" hangingPunct="1">
              <a:lnSpc>
                <a:spcPts val="4000"/>
              </a:lnSpc>
              <a:spcBef>
                <a:spcPct val="0"/>
              </a:spcBef>
              <a:buNone/>
              <a:defRPr sz="3200" b="1" kern="1200">
                <a:solidFill>
                  <a:srgbClr val="003D84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de-DE" dirty="0"/>
              <a:t>Nächste Schritte</a:t>
            </a:r>
          </a:p>
        </p:txBody>
      </p:sp>
      <p:sp>
        <p:nvSpPr>
          <p:cNvPr id="14" name="Textplatzhalter 5">
            <a:extLst>
              <a:ext uri="{FF2B5EF4-FFF2-40B4-BE49-F238E27FC236}">
                <a16:creationId xmlns:a16="http://schemas.microsoft.com/office/drawing/2014/main" id="{5DAAE07C-0E57-EDE8-5C95-2D6929141D8C}"/>
              </a:ext>
            </a:extLst>
          </p:cNvPr>
          <p:cNvSpPr txBox="1">
            <a:spLocks/>
          </p:cNvSpPr>
          <p:nvPr/>
        </p:nvSpPr>
        <p:spPr>
          <a:xfrm>
            <a:off x="645424" y="4379465"/>
            <a:ext cx="11258321" cy="1972696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 marL="335992" marR="0" indent="-335992" algn="l" defTabSz="1219170" rtl="0" eaLnBrk="1" fontAlgn="auto" latinLnBrk="0" hangingPunct="1">
              <a:lnSpc>
                <a:spcPts val="3200"/>
              </a:lnSpc>
              <a:spcBef>
                <a:spcPts val="0"/>
              </a:spcBef>
              <a:spcAft>
                <a:spcPts val="1900"/>
              </a:spcAft>
              <a:buClr>
                <a:srgbClr val="003D84"/>
              </a:buClr>
              <a:buSzTx/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bg1">
                    <a:lumMod val="1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71983" marR="0" indent="-335992" algn="l" defTabSz="1219170" rtl="0" eaLnBrk="1" fontAlgn="auto" latinLnBrk="0" hangingPunct="1">
              <a:lnSpc>
                <a:spcPts val="3200"/>
              </a:lnSpc>
              <a:spcBef>
                <a:spcPts val="0"/>
              </a:spcBef>
              <a:spcAft>
                <a:spcPts val="1900"/>
              </a:spcAft>
              <a:buClrTx/>
              <a:buSzTx/>
              <a:buFont typeface="Corbel" panose="020B0503020204020204" pitchFamily="34" charset="0"/>
              <a:buChar char="−"/>
              <a:tabLst/>
              <a:defRPr sz="2400" kern="1200">
                <a:solidFill>
                  <a:schemeClr val="bg1">
                    <a:lumMod val="10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007975" indent="-335992" algn="l" defTabSz="1219170" rtl="0" eaLnBrk="1" latinLnBrk="0" hangingPunct="1">
              <a:lnSpc>
                <a:spcPts val="3200"/>
              </a:lnSpc>
              <a:spcBef>
                <a:spcPts val="0"/>
              </a:spcBef>
              <a:spcAft>
                <a:spcPts val="1900"/>
              </a:spcAft>
              <a:buClr>
                <a:srgbClr val="003D84"/>
              </a:buClr>
              <a:buFont typeface="Arial" pitchFamily="34" charset="0"/>
              <a:buChar char="•"/>
              <a:defRPr sz="2400" kern="1200">
                <a:solidFill>
                  <a:schemeClr val="bg1">
                    <a:lumMod val="10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tx2"/>
              </a:buClr>
              <a:buFont typeface="Arial" pitchFamily="34" charset="0"/>
              <a:buChar char="–"/>
              <a:defRPr sz="2400" kern="1200">
                <a:solidFill>
                  <a:schemeClr val="bg1">
                    <a:lumMod val="10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lnSpc>
                <a:spcPct val="90000"/>
              </a:lnSpc>
              <a:spcBef>
                <a:spcPts val="533"/>
              </a:spcBef>
              <a:buClr>
                <a:schemeClr val="tx2"/>
              </a:buClr>
              <a:buFont typeface="Arial" pitchFamily="34" charset="0"/>
              <a:buChar char="»"/>
              <a:defRPr sz="2400" kern="1200">
                <a:solidFill>
                  <a:schemeClr val="bg1">
                    <a:lumMod val="10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9144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defRPr/>
            </a:pPr>
            <a:r>
              <a:rPr lang="de-DE" altLang="de-DE" sz="1800" b="1" dirty="0">
                <a:solidFill>
                  <a:srgbClr val="000000"/>
                </a:solidFill>
                <a:latin typeface="Arial" panose="020B0604020202020204" pitchFamily="34" charset="0"/>
              </a:rPr>
              <a:t>v1.12 (6/2026): </a:t>
            </a:r>
            <a:r>
              <a:rPr lang="de-DE" altLang="de-DE" sz="1800" dirty="0">
                <a:solidFill>
                  <a:srgbClr val="000000"/>
                </a:solidFill>
                <a:latin typeface="Arial" panose="020B0604020202020204" pitchFamily="34" charset="0"/>
              </a:rPr>
              <a:t>20 typische Bauweisen als Auswahl, hinterlegte Bauteilliste</a:t>
            </a:r>
          </a:p>
          <a:p>
            <a:pPr defTabSz="9144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defRPr/>
            </a:pPr>
            <a:r>
              <a:rPr lang="de-DE" altLang="de-DE" sz="1800" b="1" dirty="0">
                <a:solidFill>
                  <a:srgbClr val="000000"/>
                </a:solidFill>
                <a:latin typeface="Arial" panose="020B0604020202020204" pitchFamily="34" charset="0"/>
              </a:rPr>
              <a:t>Wiss. Publikation </a:t>
            </a:r>
            <a:r>
              <a:rPr lang="de-DE" altLang="de-DE" sz="1800" dirty="0">
                <a:solidFill>
                  <a:srgbClr val="000000"/>
                </a:solidFill>
                <a:latin typeface="Arial" panose="020B0604020202020204" pitchFamily="34" charset="0"/>
              </a:rPr>
              <a:t>(9/2026): „Erreichbarkeit des PEQ-Standards für typische Bauaufgaben“</a:t>
            </a:r>
          </a:p>
          <a:p>
            <a:pPr defTabSz="9144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defRPr/>
            </a:pPr>
            <a:r>
              <a:rPr lang="de-DE" altLang="de-DE" sz="1800" b="1" dirty="0">
                <a:solidFill>
                  <a:srgbClr val="000000"/>
                </a:solidFill>
                <a:latin typeface="Arial" panose="020B0604020202020204" pitchFamily="34" charset="0"/>
              </a:rPr>
              <a:t>V1.13 (9/2026): </a:t>
            </a:r>
            <a:r>
              <a:rPr lang="de-DE" altLang="de-DE" sz="1800" dirty="0">
                <a:solidFill>
                  <a:srgbClr val="000000"/>
                </a:solidFill>
                <a:latin typeface="Arial" panose="020B0604020202020204" pitchFamily="34" charset="0"/>
              </a:rPr>
              <a:t>Green </a:t>
            </a:r>
            <a:r>
              <a:rPr lang="de-DE" altLang="de-DE" sz="1800" dirty="0" err="1">
                <a:solidFill>
                  <a:srgbClr val="000000"/>
                </a:solidFill>
                <a:latin typeface="Arial" panose="020B0604020202020204" pitchFamily="34" charset="0"/>
              </a:rPr>
              <a:t>Shading</a:t>
            </a:r>
            <a:r>
              <a:rPr lang="de-DE" altLang="de-DE" sz="1800" dirty="0">
                <a:solidFill>
                  <a:srgbClr val="000000"/>
                </a:solidFill>
                <a:latin typeface="Arial" panose="020B0604020202020204" pitchFamily="34" charset="0"/>
              </a:rPr>
              <a:t>, Dynamische Kosten, Mehr Flexibilitäts-Optionen, Dynamische WP-COPs mit Quelltemperatur</a:t>
            </a:r>
          </a:p>
        </p:txBody>
      </p:sp>
      <p:sp>
        <p:nvSpPr>
          <p:cNvPr id="16" name="Textfeld 15">
            <a:extLst>
              <a:ext uri="{FF2B5EF4-FFF2-40B4-BE49-F238E27FC236}">
                <a16:creationId xmlns:a16="http://schemas.microsoft.com/office/drawing/2014/main" id="{F73DE490-C477-6079-F4C0-907CB249483C}"/>
              </a:ext>
            </a:extLst>
          </p:cNvPr>
          <p:cNvSpPr txBox="1"/>
          <p:nvPr/>
        </p:nvSpPr>
        <p:spPr>
          <a:xfrm>
            <a:off x="564204" y="5729286"/>
            <a:ext cx="10006519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dirty="0"/>
              <a:t>📖Das aktuelle Tool und die Beschreibungen sind immer hier gesammelt abrufbar: </a:t>
            </a:r>
            <a:r>
              <a:rPr lang="de-DE" dirty="0">
                <a:hlinkClick r:id="rId2"/>
              </a:rPr>
              <a:t>https://github.com/simonschaluppe/peexcel/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937684718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FB6E647-A259-41C6-07F1-1708D44514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095983"/>
            <a:ext cx="10515600" cy="888459"/>
          </a:xfrm>
        </p:spPr>
        <p:txBody>
          <a:bodyPr wrap="none" anchor="t">
            <a:normAutofit/>
          </a:bodyPr>
          <a:lstStyle/>
          <a:p>
            <a:r>
              <a:rPr lang="de-DE" dirty="0"/>
              <a:t>Kommunikation</a:t>
            </a:r>
          </a:p>
        </p:txBody>
      </p:sp>
      <p:sp>
        <p:nvSpPr>
          <p:cNvPr id="11" name="Inhaltsplatzhalter 10">
            <a:extLst>
              <a:ext uri="{FF2B5EF4-FFF2-40B4-BE49-F238E27FC236}">
                <a16:creationId xmlns:a16="http://schemas.microsoft.com/office/drawing/2014/main" id="{282C0EEE-97C7-12A2-6967-5E024B4A677E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4DF6FB79-C042-685D-46FE-E34A27A1D5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anchor="ctr">
            <a:normAutofit/>
          </a:bodyPr>
          <a:lstStyle/>
          <a:p>
            <a:fld id="{1206269C-C24E-4E80-9A4B-E7E19BB59A67}" type="slidenum">
              <a:rPr lang="de-AT" smtClean="0"/>
              <a:pPr/>
              <a:t>42</a:t>
            </a:fld>
            <a:endParaRPr lang="de-AT"/>
          </a:p>
        </p:txBody>
      </p:sp>
      <p:graphicFrame>
        <p:nvGraphicFramePr>
          <p:cNvPr id="6" name="Tabelle 5">
            <a:extLst>
              <a:ext uri="{FF2B5EF4-FFF2-40B4-BE49-F238E27FC236}">
                <a16:creationId xmlns:a16="http://schemas.microsoft.com/office/drawing/2014/main" id="{E9D2A3A0-23AF-1FAA-357E-D08DA27F06B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67989692"/>
              </p:ext>
            </p:extLst>
          </p:nvPr>
        </p:nvGraphicFramePr>
        <p:xfrm>
          <a:off x="785410" y="3201039"/>
          <a:ext cx="5200343" cy="326461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76598">
                  <a:extLst>
                    <a:ext uri="{9D8B030D-6E8A-4147-A177-3AD203B41FA5}">
                      <a16:colId xmlns:a16="http://schemas.microsoft.com/office/drawing/2014/main" val="272258816"/>
                    </a:ext>
                  </a:extLst>
                </a:gridCol>
                <a:gridCol w="551234">
                  <a:extLst>
                    <a:ext uri="{9D8B030D-6E8A-4147-A177-3AD203B41FA5}">
                      <a16:colId xmlns:a16="http://schemas.microsoft.com/office/drawing/2014/main" val="1854511971"/>
                    </a:ext>
                  </a:extLst>
                </a:gridCol>
                <a:gridCol w="551234">
                  <a:extLst>
                    <a:ext uri="{9D8B030D-6E8A-4147-A177-3AD203B41FA5}">
                      <a16:colId xmlns:a16="http://schemas.microsoft.com/office/drawing/2014/main" val="848023133"/>
                    </a:ext>
                  </a:extLst>
                </a:gridCol>
                <a:gridCol w="1621277">
                  <a:extLst>
                    <a:ext uri="{9D8B030D-6E8A-4147-A177-3AD203B41FA5}">
                      <a16:colId xmlns:a16="http://schemas.microsoft.com/office/drawing/2014/main" val="1582397508"/>
                    </a:ext>
                  </a:extLst>
                </a:gridCol>
              </a:tblGrid>
              <a:tr h="736108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de-DE" sz="1600" u="none" strike="noStrike" dirty="0">
                          <a:effectLst/>
                        </a:rPr>
                        <a:t>Kommunikationsinstrument</a:t>
                      </a:r>
                      <a:endParaRPr lang="de-DE" sz="16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4520" marR="14520" marT="1452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de-DE" sz="1200" u="none" strike="noStrike" dirty="0">
                          <a:effectLst/>
                        </a:rPr>
                        <a:t>Anzahl</a:t>
                      </a:r>
                      <a:endParaRPr lang="de-DE" sz="12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4520" marR="14520" marT="1452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de-DE" sz="1200" u="none" strike="noStrike" dirty="0">
                          <a:effectLst/>
                        </a:rPr>
                        <a:t>Prozent</a:t>
                      </a:r>
                      <a:endParaRPr lang="de-DE" sz="12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4520" marR="14520" marT="1452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de-DE" sz="1200" u="none" strike="noStrike" dirty="0">
                          <a:effectLst/>
                        </a:rPr>
                        <a:t>Erreichte Personen in Summe</a:t>
                      </a:r>
                      <a:endParaRPr lang="de-DE" sz="12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4520" marR="14520" marT="14520" marB="0" anchor="b"/>
                </a:tc>
                <a:extLst>
                  <a:ext uri="{0D108BD9-81ED-4DB2-BD59-A6C34878D82A}">
                    <a16:rowId xmlns:a16="http://schemas.microsoft.com/office/drawing/2014/main" val="1382277838"/>
                  </a:ext>
                </a:extLst>
              </a:tr>
              <a:tr h="409828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de-DE" sz="1600" u="none" strike="noStrike">
                          <a:effectLst/>
                        </a:rPr>
                        <a:t>Print Artikel</a:t>
                      </a:r>
                      <a:endParaRPr lang="de-DE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4520" marR="14520" marT="1452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de-DE" sz="1600" u="none" strike="noStrike">
                          <a:effectLst/>
                        </a:rPr>
                        <a:t>0</a:t>
                      </a:r>
                      <a:endParaRPr lang="de-DE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4520" marR="14520" marT="1452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de-DE" sz="1600" u="none" strike="noStrike" dirty="0">
                          <a:effectLst/>
                        </a:rPr>
                        <a:t>0%</a:t>
                      </a:r>
                      <a:endParaRPr lang="de-DE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4520" marR="14520" marT="1452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de-DE" sz="1600" u="none" strike="noStrike" dirty="0">
                          <a:effectLst/>
                        </a:rPr>
                        <a:t>0</a:t>
                      </a:r>
                      <a:endParaRPr lang="de-DE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4520" marR="14520" marT="14520" marB="0" anchor="b"/>
                </a:tc>
                <a:extLst>
                  <a:ext uri="{0D108BD9-81ED-4DB2-BD59-A6C34878D82A}">
                    <a16:rowId xmlns:a16="http://schemas.microsoft.com/office/drawing/2014/main" val="3818762178"/>
                  </a:ext>
                </a:extLst>
              </a:tr>
              <a:tr h="409828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de-DE" sz="1600" u="none" strike="noStrike">
                          <a:effectLst/>
                        </a:rPr>
                        <a:t>Online Artikel</a:t>
                      </a:r>
                      <a:endParaRPr lang="de-DE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4520" marR="14520" marT="1452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de-DE" sz="1600" u="none" strike="noStrike" dirty="0">
                          <a:effectLst/>
                        </a:rPr>
                        <a:t>3</a:t>
                      </a:r>
                      <a:endParaRPr lang="de-DE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4520" marR="14520" marT="1452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de-DE" sz="1600" u="none" strike="noStrike">
                          <a:effectLst/>
                        </a:rPr>
                        <a:t>18%</a:t>
                      </a:r>
                      <a:endParaRPr lang="de-DE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4520" marR="14520" marT="1452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de-DE" sz="1600" u="none" strike="noStrike">
                          <a:effectLst/>
                        </a:rPr>
                        <a:t>150</a:t>
                      </a:r>
                      <a:endParaRPr lang="de-DE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4520" marR="14520" marT="14520" marB="0" anchor="b"/>
                </a:tc>
                <a:extLst>
                  <a:ext uri="{0D108BD9-81ED-4DB2-BD59-A6C34878D82A}">
                    <a16:rowId xmlns:a16="http://schemas.microsoft.com/office/drawing/2014/main" val="2355909762"/>
                  </a:ext>
                </a:extLst>
              </a:tr>
              <a:tr h="409828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de-DE" sz="1600" u="none" strike="noStrike">
                          <a:effectLst/>
                        </a:rPr>
                        <a:t>Präsentation</a:t>
                      </a:r>
                      <a:endParaRPr lang="de-DE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4520" marR="14520" marT="1452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de-DE" sz="1600" u="none" strike="noStrike" dirty="0">
                          <a:effectLst/>
                        </a:rPr>
                        <a:t>11</a:t>
                      </a:r>
                      <a:endParaRPr lang="de-DE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4520" marR="14520" marT="1452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de-DE" sz="1600" u="none" strike="noStrike">
                          <a:effectLst/>
                        </a:rPr>
                        <a:t>65%</a:t>
                      </a:r>
                      <a:endParaRPr lang="de-DE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4520" marR="14520" marT="1452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de-DE" sz="1600" u="none" strike="noStrike">
                          <a:effectLst/>
                        </a:rPr>
                        <a:t>250</a:t>
                      </a:r>
                      <a:endParaRPr lang="de-DE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4520" marR="14520" marT="14520" marB="0" anchor="b"/>
                </a:tc>
                <a:extLst>
                  <a:ext uri="{0D108BD9-81ED-4DB2-BD59-A6C34878D82A}">
                    <a16:rowId xmlns:a16="http://schemas.microsoft.com/office/drawing/2014/main" val="4024635657"/>
                  </a:ext>
                </a:extLst>
              </a:tr>
              <a:tr h="409828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de-DE" sz="1600" u="none" strike="noStrike">
                          <a:effectLst/>
                        </a:rPr>
                        <a:t>Workshop</a:t>
                      </a:r>
                      <a:endParaRPr lang="de-DE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4520" marR="14520" marT="1452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de-DE" sz="1600" u="none" strike="noStrike">
                          <a:effectLst/>
                        </a:rPr>
                        <a:t>3</a:t>
                      </a:r>
                      <a:endParaRPr lang="de-DE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4520" marR="14520" marT="1452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de-DE" sz="1600" u="none" strike="noStrike">
                          <a:effectLst/>
                        </a:rPr>
                        <a:t>18%</a:t>
                      </a:r>
                      <a:endParaRPr lang="de-DE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4520" marR="14520" marT="1452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de-DE" sz="1600" u="none" strike="noStrike">
                          <a:effectLst/>
                        </a:rPr>
                        <a:t>35</a:t>
                      </a:r>
                      <a:endParaRPr lang="de-DE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4520" marR="14520" marT="14520" marB="0" anchor="b"/>
                </a:tc>
                <a:extLst>
                  <a:ext uri="{0D108BD9-81ED-4DB2-BD59-A6C34878D82A}">
                    <a16:rowId xmlns:a16="http://schemas.microsoft.com/office/drawing/2014/main" val="601155148"/>
                  </a:ext>
                </a:extLst>
              </a:tr>
              <a:tr h="479363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de-DE" sz="1600" u="none" strike="noStrike">
                          <a:effectLst/>
                        </a:rPr>
                        <a:t>Auszeichnungsveranstaltung</a:t>
                      </a:r>
                      <a:endParaRPr lang="de-DE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4520" marR="14520" marT="1452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de-DE" sz="1600" u="none" strike="noStrike">
                          <a:effectLst/>
                        </a:rPr>
                        <a:t>0</a:t>
                      </a:r>
                      <a:endParaRPr lang="de-DE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4520" marR="14520" marT="1452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de-DE" sz="1600" u="none" strike="noStrike">
                          <a:effectLst/>
                        </a:rPr>
                        <a:t>0%</a:t>
                      </a:r>
                      <a:endParaRPr lang="de-DE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4520" marR="14520" marT="1452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de-DE" sz="1600" u="none" strike="noStrike">
                          <a:effectLst/>
                        </a:rPr>
                        <a:t>0</a:t>
                      </a:r>
                      <a:endParaRPr lang="de-DE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4520" marR="14520" marT="14520" marB="0" anchor="b"/>
                </a:tc>
                <a:extLst>
                  <a:ext uri="{0D108BD9-81ED-4DB2-BD59-A6C34878D82A}">
                    <a16:rowId xmlns:a16="http://schemas.microsoft.com/office/drawing/2014/main" val="2469704707"/>
                  </a:ext>
                </a:extLst>
              </a:tr>
              <a:tr h="409828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de-DE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4520" marR="14520" marT="1452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de-DE" sz="1600" u="none" strike="noStrike">
                          <a:effectLst/>
                        </a:rPr>
                        <a:t>17</a:t>
                      </a:r>
                      <a:endParaRPr lang="de-DE" sz="16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4520" marR="14520" marT="1452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de-DE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4520" marR="14520" marT="1452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de-DE" sz="1600" u="none" strike="noStrike" dirty="0">
                          <a:effectLst/>
                        </a:rPr>
                        <a:t>435</a:t>
                      </a:r>
                      <a:endParaRPr lang="de-DE" sz="16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4520" marR="14520" marT="14520" marB="0" anchor="b"/>
                </a:tc>
                <a:extLst>
                  <a:ext uri="{0D108BD9-81ED-4DB2-BD59-A6C34878D82A}">
                    <a16:rowId xmlns:a16="http://schemas.microsoft.com/office/drawing/2014/main" val="293802432"/>
                  </a:ext>
                </a:extLst>
              </a:tr>
            </a:tbl>
          </a:graphicData>
        </a:graphic>
      </p:graphicFrame>
      <p:graphicFrame>
        <p:nvGraphicFramePr>
          <p:cNvPr id="12" name="Diagramm 11">
            <a:extLst>
              <a:ext uri="{FF2B5EF4-FFF2-40B4-BE49-F238E27FC236}">
                <a16:creationId xmlns:a16="http://schemas.microsoft.com/office/drawing/2014/main" id="{00000000-0008-0000-0100-00000200000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61537754"/>
              </p:ext>
            </p:extLst>
          </p:nvPr>
        </p:nvGraphicFramePr>
        <p:xfrm>
          <a:off x="6584383" y="800100"/>
          <a:ext cx="4572000" cy="26289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13" name="Diagramm 12">
            <a:extLst>
              <a:ext uri="{FF2B5EF4-FFF2-40B4-BE49-F238E27FC236}">
                <a16:creationId xmlns:a16="http://schemas.microsoft.com/office/drawing/2014/main" id="{00000000-0008-0000-0100-00000500000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45342098"/>
              </p:ext>
            </p:extLst>
          </p:nvPr>
        </p:nvGraphicFramePr>
        <p:xfrm>
          <a:off x="6570413" y="3350033"/>
          <a:ext cx="4572000" cy="26365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2598457952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16C51BF-EB3C-E1B2-C60F-34E414F9B8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Beratungen und Quick-Checks: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9C0AC7C9-F71D-C671-D406-D93C429563D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de-DE" dirty="0"/>
              <a:t>IBRI Froschberg (Linz) – Neubau</a:t>
            </a:r>
          </a:p>
          <a:p>
            <a:r>
              <a:rPr lang="de-DE" dirty="0"/>
              <a:t>BUWOG Südtiroler-Quartier (Salzburg) – Neubau </a:t>
            </a:r>
          </a:p>
          <a:p>
            <a:r>
              <a:rPr lang="de-DE" dirty="0"/>
              <a:t>BUWOG Forsthausgasse (Wien) - Neubau</a:t>
            </a:r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07490063-39D3-43E0-5B97-788874FA8D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 dirty="0"/>
              <a:t>Beratungen und Quick-Checks</a:t>
            </a:r>
            <a:endParaRPr lang="de-AT" dirty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D52F91EB-8D89-8722-8C21-6ABF10CE70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06269C-C24E-4E80-9A4B-E7E19BB59A67}" type="slidenum">
              <a:rPr lang="de-AT" smtClean="0"/>
              <a:pPr/>
              <a:t>43</a:t>
            </a:fld>
            <a:endParaRPr lang="de-AT" dirty="0"/>
          </a:p>
        </p:txBody>
      </p:sp>
      <p:graphicFrame>
        <p:nvGraphicFramePr>
          <p:cNvPr id="6" name="Diagramm 5">
            <a:extLst>
              <a:ext uri="{FF2B5EF4-FFF2-40B4-BE49-F238E27FC236}">
                <a16:creationId xmlns:a16="http://schemas.microsoft.com/office/drawing/2014/main" id="{00000000-0008-0000-0100-00000400000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91689274"/>
              </p:ext>
            </p:extLst>
          </p:nvPr>
        </p:nvGraphicFramePr>
        <p:xfrm>
          <a:off x="719669" y="5055033"/>
          <a:ext cx="6468849" cy="128008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7" name="Diagramm 6">
            <a:extLst>
              <a:ext uri="{FF2B5EF4-FFF2-40B4-BE49-F238E27FC236}">
                <a16:creationId xmlns:a16="http://schemas.microsoft.com/office/drawing/2014/main" id="{00000000-0008-0000-0100-00000600000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68575700"/>
              </p:ext>
            </p:extLst>
          </p:nvPr>
        </p:nvGraphicFramePr>
        <p:xfrm>
          <a:off x="6825533" y="3366359"/>
          <a:ext cx="4568826" cy="26365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8" name="Diagramm 7">
            <a:extLst>
              <a:ext uri="{FF2B5EF4-FFF2-40B4-BE49-F238E27FC236}">
                <a16:creationId xmlns:a16="http://schemas.microsoft.com/office/drawing/2014/main" id="{00000000-0008-0000-0100-00000700000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25507251"/>
              </p:ext>
            </p:extLst>
          </p:nvPr>
        </p:nvGraphicFramePr>
        <p:xfrm>
          <a:off x="6858680" y="729839"/>
          <a:ext cx="4572001" cy="26365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</p:spTree>
    <p:extLst>
      <p:ext uri="{BB962C8B-B14F-4D97-AF65-F5344CB8AC3E}">
        <p14:creationId xmlns:p14="http://schemas.microsoft.com/office/powerpoint/2010/main" val="969127638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7CBBA9A-23D5-B7B2-7F2E-8FBA2FBE34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Klärung: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D12976C7-459B-BE33-77D1-EE9C2177773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pPr>
              <a:spcAft>
                <a:spcPts val="0"/>
              </a:spcAft>
            </a:pPr>
            <a:r>
              <a:rPr lang="de-DE" dirty="0"/>
              <a:t>Namen: Ausführungsdeklaration / Fertigstellungsdeklaration (</a:t>
            </a:r>
            <a:r>
              <a:rPr lang="de-DE" dirty="0">
                <a:highlight>
                  <a:srgbClr val="FFFF00"/>
                </a:highlight>
              </a:rPr>
              <a:t>Simon </a:t>
            </a:r>
            <a:r>
              <a:rPr lang="de-DE" dirty="0"/>
              <a:t>Check ich mit Oskar)</a:t>
            </a:r>
          </a:p>
          <a:p>
            <a:pPr lvl="1">
              <a:spcAft>
                <a:spcPts val="0"/>
              </a:spcAft>
            </a:pPr>
            <a:r>
              <a:rPr lang="de-DE" dirty="0"/>
              <a:t>Beschreibung der tatsächlich ausgeführten Haustechnik, Architektur, etc.</a:t>
            </a:r>
          </a:p>
          <a:p>
            <a:pPr lvl="1">
              <a:spcAft>
                <a:spcPts val="0"/>
              </a:spcAft>
            </a:pPr>
            <a:r>
              <a:rPr lang="de-DE" dirty="0"/>
              <a:t>Analog zu Anforderungen klimaaktiv Gebäude und Siedlungen (formal und </a:t>
            </a:r>
            <a:r>
              <a:rPr lang="de-DE" dirty="0" err="1"/>
              <a:t>inhaltiche</a:t>
            </a:r>
            <a:r>
              <a:rPr lang="de-DE" dirty="0"/>
              <a:t> Beispiel </a:t>
            </a:r>
            <a:r>
              <a:rPr lang="de-DE" dirty="0">
                <a:highlight>
                  <a:srgbClr val="FFFF00"/>
                </a:highlight>
              </a:rPr>
              <a:t>Simon &gt; Oskar</a:t>
            </a:r>
            <a:r>
              <a:rPr lang="de-DE" dirty="0"/>
              <a:t>)</a:t>
            </a:r>
          </a:p>
          <a:p>
            <a:pPr lvl="1">
              <a:spcAft>
                <a:spcPts val="0"/>
              </a:spcAft>
            </a:pPr>
            <a:endParaRPr lang="de-DE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88BAB9ED-87A8-12DE-89B6-5BB95028A4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AT"/>
              <a:t>Präsentationstitel</a:t>
            </a:r>
            <a:endParaRPr lang="de-AT" dirty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533E7F2E-C1AA-EDE0-1EAD-DC5426BE5B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06269C-C24E-4E80-9A4B-E7E19BB59A67}" type="slidenum">
              <a:rPr lang="de-AT" smtClean="0"/>
              <a:pPr/>
              <a:t>44</a:t>
            </a:fld>
            <a:endParaRPr lang="de-AT" dirty="0"/>
          </a:p>
        </p:txBody>
      </p:sp>
    </p:spTree>
    <p:extLst>
      <p:ext uri="{BB962C8B-B14F-4D97-AF65-F5344CB8AC3E}">
        <p14:creationId xmlns:p14="http://schemas.microsoft.com/office/powerpoint/2010/main" val="3208314286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710D349-7927-689E-AD76-D2CC660ACE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Flexibilitätsnachweis – was muss in der Fertigstellung gegeben sein?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0A32F5C1-429D-FFD0-1748-5737364EA5B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719669" y="1900519"/>
            <a:ext cx="10638367" cy="4753184"/>
          </a:xfrm>
        </p:spPr>
        <p:txBody>
          <a:bodyPr>
            <a:normAutofit fontScale="85000" lnSpcReduction="10000"/>
          </a:bodyPr>
          <a:lstStyle/>
          <a:p>
            <a:pPr>
              <a:spcAft>
                <a:spcPts val="0"/>
              </a:spcAft>
            </a:pPr>
            <a:r>
              <a:rPr lang="de-DE" b="1" dirty="0"/>
              <a:t>Nachweis der technischen Machbarkeit energieflexibler Betriebsweise</a:t>
            </a:r>
          </a:p>
          <a:p>
            <a:pPr lvl="1">
              <a:spcAft>
                <a:spcPts val="0"/>
              </a:spcAft>
            </a:pPr>
            <a:r>
              <a:rPr lang="de-DE" dirty="0"/>
              <a:t>WP: „Smart </a:t>
            </a:r>
            <a:r>
              <a:rPr lang="de-DE" dirty="0" err="1"/>
              <a:t>Grid</a:t>
            </a:r>
            <a:r>
              <a:rPr lang="de-DE" dirty="0"/>
              <a:t> Tauglich Zertifikat“</a:t>
            </a:r>
          </a:p>
          <a:p>
            <a:pPr lvl="1">
              <a:spcAft>
                <a:spcPts val="0"/>
              </a:spcAft>
            </a:pPr>
            <a:r>
              <a:rPr lang="de-DE" dirty="0"/>
              <a:t>(</a:t>
            </a:r>
            <a:r>
              <a:rPr lang="de-DE" dirty="0">
                <a:highlight>
                  <a:srgbClr val="FFFF00"/>
                </a:highlight>
              </a:rPr>
              <a:t>erst nach Am Bichl, im Herbst</a:t>
            </a:r>
            <a:r>
              <a:rPr lang="de-DE" dirty="0"/>
              <a:t>) Angabe WP- und Anschluss-Leistungen</a:t>
            </a:r>
          </a:p>
          <a:p>
            <a:pPr lvl="1">
              <a:spcAft>
                <a:spcPts val="0"/>
              </a:spcAft>
            </a:pPr>
            <a:r>
              <a:rPr lang="de-DE" dirty="0"/>
              <a:t>(</a:t>
            </a:r>
            <a:r>
              <a:rPr lang="de-DE" dirty="0">
                <a:highlight>
                  <a:srgbClr val="FFFF00"/>
                </a:highlight>
              </a:rPr>
              <a:t>erst nach Am Bichl, im Herbst</a:t>
            </a:r>
            <a:r>
              <a:rPr lang="de-DE" dirty="0"/>
              <a:t>) „Übersteuerung des Raumthermostat“ (Simon Handler Stufe II </a:t>
            </a:r>
            <a:r>
              <a:rPr lang="de-DE" dirty="0" err="1"/>
              <a:t>BauZ</a:t>
            </a:r>
            <a:r>
              <a:rPr lang="de-DE" dirty="0"/>
              <a:t>) als Teil des Regelungskonzept</a:t>
            </a:r>
          </a:p>
          <a:p>
            <a:pPr lvl="1">
              <a:spcAft>
                <a:spcPts val="0"/>
              </a:spcAft>
            </a:pPr>
            <a:r>
              <a:rPr lang="de-DE" dirty="0"/>
              <a:t>Bei thermischer </a:t>
            </a:r>
            <a:r>
              <a:rPr lang="de-DE" dirty="0" err="1"/>
              <a:t>Nutzerflex</a:t>
            </a:r>
            <a:r>
              <a:rPr lang="de-DE" dirty="0"/>
              <a:t>: Nachweis des Kommunikationskonzepts (Beispiel Ampel)</a:t>
            </a:r>
          </a:p>
          <a:p>
            <a:pPr>
              <a:spcAft>
                <a:spcPts val="0"/>
              </a:spcAft>
            </a:pPr>
            <a:r>
              <a:rPr lang="de-DE" dirty="0"/>
              <a:t>(nur für Am Bichl III) Absichtserklärung (</a:t>
            </a:r>
            <a:r>
              <a:rPr lang="de-DE" dirty="0">
                <a:highlight>
                  <a:srgbClr val="FFFF00"/>
                </a:highlight>
              </a:rPr>
              <a:t>Beispiele?</a:t>
            </a:r>
            <a:r>
              <a:rPr lang="de-DE" dirty="0"/>
              <a:t>): Flexibler Betrieb mit entspr. Geschäftsmodell: </a:t>
            </a:r>
          </a:p>
          <a:p>
            <a:pPr lvl="1">
              <a:spcAft>
                <a:spcPts val="0"/>
              </a:spcAft>
            </a:pPr>
            <a:r>
              <a:rPr lang="de-DE" dirty="0"/>
              <a:t>Stundenweise Abrechnung (variable Tarife oder stundenweise CO2 Intensitäten)</a:t>
            </a:r>
          </a:p>
          <a:p>
            <a:pPr lvl="1">
              <a:spcAft>
                <a:spcPts val="0"/>
              </a:spcAft>
            </a:pPr>
            <a:r>
              <a:rPr lang="de-DE" dirty="0"/>
              <a:t>Unterscheidung auf Energie-DL-Gruppen (Heizen, Kühlen, WW, E-Mobilität)</a:t>
            </a:r>
          </a:p>
          <a:p>
            <a:pPr>
              <a:spcAft>
                <a:spcPts val="0"/>
              </a:spcAft>
            </a:pPr>
            <a:r>
              <a:rPr lang="de-DE" dirty="0"/>
              <a:t>Nutzerstrom laut unserem Hintergrundbericht</a:t>
            </a:r>
          </a:p>
          <a:p>
            <a:pPr lvl="1">
              <a:spcAft>
                <a:spcPts val="0"/>
              </a:spcAft>
            </a:pPr>
            <a:r>
              <a:rPr lang="de-DE" dirty="0"/>
              <a:t>Bei Reduktion: </a:t>
            </a:r>
            <a:r>
              <a:rPr lang="de-DE" b="1" dirty="0"/>
              <a:t>Nachweis der (geplanter) Sensibilisierungsmaßnahmen </a:t>
            </a:r>
            <a:endParaRPr lang="de-DE" dirty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303E8BF8-1277-BF35-989E-2A0D3682B1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06269C-C24E-4E80-9A4B-E7E19BB59A67}" type="slidenum">
              <a:rPr lang="de-AT" smtClean="0"/>
              <a:pPr/>
              <a:t>45</a:t>
            </a:fld>
            <a:endParaRPr lang="de-AT" dirty="0"/>
          </a:p>
        </p:txBody>
      </p:sp>
    </p:spTree>
    <p:extLst>
      <p:ext uri="{BB962C8B-B14F-4D97-AF65-F5344CB8AC3E}">
        <p14:creationId xmlns:p14="http://schemas.microsoft.com/office/powerpoint/2010/main" val="724260636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8984540-8E69-9215-DA3E-8880E7C4AA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Sammlung von Deklarationsbeispielen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9161976E-3CD3-C3CB-B476-82FF2398793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de-DE" dirty="0"/>
              <a:t>Je nach Deklarationswerber (Genossenschaft, </a:t>
            </a:r>
            <a:r>
              <a:rPr lang="de-DE" dirty="0" err="1"/>
              <a:t>Freifin</a:t>
            </a:r>
            <a:r>
              <a:rPr lang="de-DE" dirty="0"/>
              <a:t>.)</a:t>
            </a:r>
          </a:p>
          <a:p>
            <a:r>
              <a:rPr lang="de-DE" dirty="0"/>
              <a:t>Flexibilitätsnutzen und Kosten (</a:t>
            </a:r>
            <a:r>
              <a:rPr lang="de-DE" dirty="0">
                <a:highlight>
                  <a:srgbClr val="FFFF00"/>
                </a:highlight>
              </a:rPr>
              <a:t>Simon OPEX</a:t>
            </a:r>
            <a:r>
              <a:rPr lang="de-DE" dirty="0"/>
              <a:t>)</a:t>
            </a:r>
          </a:p>
          <a:p>
            <a:pPr lvl="1"/>
            <a:endParaRPr lang="de-DE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ACA37933-B19B-8008-0F01-C1A5408281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AT"/>
              <a:t>Präsentationstitel</a:t>
            </a:r>
            <a:endParaRPr lang="de-AT" dirty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1AF33A10-D664-149B-1185-D09770433F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06269C-C24E-4E80-9A4B-E7E19BB59A67}" type="slidenum">
              <a:rPr lang="de-AT" smtClean="0"/>
              <a:pPr/>
              <a:t>46</a:t>
            </a:fld>
            <a:endParaRPr lang="de-AT" dirty="0"/>
          </a:p>
        </p:txBody>
      </p:sp>
    </p:spTree>
    <p:extLst>
      <p:ext uri="{BB962C8B-B14F-4D97-AF65-F5344CB8AC3E}">
        <p14:creationId xmlns:p14="http://schemas.microsoft.com/office/powerpoint/2010/main" val="1457489166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OWER_USER_TAGS_ICONS" val="building_POWER_USER_SEPARATOR_ICONS_architecture_POWER_USER_SEPARATOR_ICONS_buildings_POWER_USER_SEPARATOR_ICONS_city_POWER_USER_SEPARATOR_ICONS_office_POWER_USER_SEPARATOR_ICONS_skyline_POWER_USER_SEPARATOR_ICONS_urban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OWER_USER_TAGS_ICONS" val="building_POWER_USER_SEPARATOR_ICONS_architecture_POWER_USER_SEPARATOR_ICONS_buildings_POWER_USER_SEPARATOR_ICONS_city_POWER_USER_SEPARATOR_ICONS_office_POWER_USER_SEPARATOR_ICONS_skyline_POWER_USER_SEPARATOR_ICONS_urban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OWER_USER_TAGS_ICONS" val="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OWER_USER_TAGS_ICONS" val="network*connect*connection*connectivity*networking**networked*linking*linked*decentralized*decentralization*connections*connected*organization*port*technology*server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OWER_USER_TAGS_ICONS" val="building_POWER_USER_SEPARATOR_ICONS_architecture_POWER_USER_SEPARATOR_ICONS_buildings_POWER_USER_SEPARATOR_ICONS_city_POWER_USER_SEPARATOR_ICONS_office_POWER_USER_SEPARATOR_ICONS_skyline_POWER_USER_SEPARATOR_ICONS_urban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OWER_USER_TAGS_ICONS" val="building_POWER_USER_SEPARATOR_ICONS_architecture_POWER_USER_SEPARATOR_ICONS_buildings_POWER_USER_SEPARATOR_ICONS_city_POWER_USER_SEPARATOR_ICONS_office_POWER_USER_SEPARATOR_ICONS_skyline_POWER_USER_SEPARATOR_ICONS_urban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OWER_USER_TAGS_ICONS" val="building_POWER_USER_SEPARATOR_ICONS_architecture_POWER_USER_SEPARATOR_ICONS_buildings_POWER_USER_SEPARATOR_ICONS_city_POWER_USER_SEPARATOR_ICONS_office_POWER_USER_SEPARATOR_ICONS_skyline_POWER_USER_SEPARATOR_ICONS_urban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OWER_USER_TAGS_ICONS" val="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OWER_USER_TAGS_ICONS" val="electric-car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OWER_USER_TAGS_ICONS" val="cart_POWER_USER_SEPARATOR_ICONS_shopping_POWER_USER_SEPARATOR_ICONS_groceries_POWER_USER_SEPARATOR_ICONS_food_POWER_USER_SEPARATOR_ICONS_buy_POWER_USER_SEPARATOR_ICONS_purchase_POWER_USER_SEPARATOR_ICONS_supermarket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OWER_USER_TAGS_ICONS" val="solar panel*electricity*energy*environment*power*sun*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OWER_USER_TAGS_ICONS" val="flame*fire*gas*light*power*environment*energy*burn*hot*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OWER_USER_TAGS_ICONS" val="crowdsourcing_POWER_USER_SEPARATOR_ICONS_think_POWER_USER_SEPARATOR_ICONS_teamwork_POWER_USER_SEPARATOR_ICONS_team_POWER_USER_SEPARATOR_ICONS_smart_POWER_USER_SEPARATOR_ICONS_light-bulb_POWER_USER_SEPARATOR_ICONS_idea_POWER_USER_SEPARATOR_ICONS_group_POWER_USER_SEPARATOR_ICONS_collaborate_POWER_USER_SEPARATOR_ICONS_thinking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OWER_USER_TAGS_ICONS" val="crowdsourcing_POWER_USER_SEPARATOR_ICONS_think_POWER_USER_SEPARATOR_ICONS_teamwork_POWER_USER_SEPARATOR_ICONS_team_POWER_USER_SEPARATOR_ICONS_smart_POWER_USER_SEPARATOR_ICONS_light-bulb_POWER_USER_SEPARATOR_ICONS_idea_POWER_USER_SEPARATOR_ICONS_group_POWER_USER_SEPARATOR_ICONS_collaborate_POWER_USER_SEPARATOR_ICONS_thinking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OWER_USER_TAGS_ICONS" val="crowdsourcing_POWER_USER_SEPARATOR_ICONS_think_POWER_USER_SEPARATOR_ICONS_teamwork_POWER_USER_SEPARATOR_ICONS_team_POWER_USER_SEPARATOR_ICONS_smart_POWER_USER_SEPARATOR_ICONS_light-bulb_POWER_USER_SEPARATOR_ICONS_idea_POWER_USER_SEPARATOR_ICONS_group_POWER_USER_SEPARATOR_ICONS_collaborate_POWER_USER_SEPARATOR_ICONS_thinking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OWER_USER_TAGS_ICONS" val="crowdsourcing_POWER_USER_SEPARATOR_ICONS_think_POWER_USER_SEPARATOR_ICONS_teamwork_POWER_USER_SEPARATOR_ICONS_team_POWER_USER_SEPARATOR_ICONS_smart_POWER_USER_SEPARATOR_ICONS_light-bulb_POWER_USER_SEPARATOR_ICONS_idea_POWER_USER_SEPARATOR_ICONS_group_POWER_USER_SEPARATOR_ICONS_collaborate_POWER_USER_SEPARATOR_ICONS_thinking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OWER_USER_TAGS_ICONS" val="crowdsourcing_POWER_USER_SEPARATOR_ICONS_think_POWER_USER_SEPARATOR_ICONS_teamwork_POWER_USER_SEPARATOR_ICONS_team_POWER_USER_SEPARATOR_ICONS_smart_POWER_USER_SEPARATOR_ICONS_light-bulb_POWER_USER_SEPARATOR_ICONS_idea_POWER_USER_SEPARATOR_ICONS_group_POWER_USER_SEPARATOR_ICONS_collaborate_POWER_USER_SEPARATOR_ICONS_thinking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OWER_USER_TAGS_ICONS" val="crowdsourcing_POWER_USER_SEPARATOR_ICONS_think_POWER_USER_SEPARATOR_ICONS_teamwork_POWER_USER_SEPARATOR_ICONS_team_POWER_USER_SEPARATOR_ICONS_smart_POWER_USER_SEPARATOR_ICONS_light-bulb_POWER_USER_SEPARATOR_ICONS_idea_POWER_USER_SEPARATOR_ICONS_group_POWER_USER_SEPARATOR_ICONS_collaborate_POWER_USER_SEPARATOR_ICONS_thinking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OWER_USER_TAGS_ICONS" val="crowdsourcing_POWER_USER_SEPARATOR_ICONS_think_POWER_USER_SEPARATOR_ICONS_teamwork_POWER_USER_SEPARATOR_ICONS_team_POWER_USER_SEPARATOR_ICONS_smart_POWER_USER_SEPARATOR_ICONS_light-bulb_POWER_USER_SEPARATOR_ICONS_idea_POWER_USER_SEPARATOR_ICONS_group_POWER_USER_SEPARATOR_ICONS_collaborate_POWER_USER_SEPARATOR_ICONS_thinking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OWER_USER_TAGS_ICONS" val="crowdsourcing_POWER_USER_SEPARATOR_ICONS_think_POWER_USER_SEPARATOR_ICONS_teamwork_POWER_USER_SEPARATOR_ICONS_team_POWER_USER_SEPARATOR_ICONS_smart_POWER_USER_SEPARATOR_ICONS_light-bulb_POWER_USER_SEPARATOR_ICONS_idea_POWER_USER_SEPARATOR_ICONS_group_POWER_USER_SEPARATOR_ICONS_collaborate_POWER_USER_SEPARATOR_ICONS_thinking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OWER_USER_TAGS_ICONS" val="plug*electricity*energy*renewable*power*battery*charging*ampere*voltage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OWER_USER_TAGS_ICONS" val="building_POWER_USER_SEPARATOR_ICONS_architecture_POWER_USER_SEPARATOR_ICONS_buildings_POWER_USER_SEPARATOR_ICONS_city_POWER_USER_SEPARATOR_ICONS_office_POWER_USER_SEPARATOR_ICONS_skyline_POWER_USER_SEPARATOR_ICONS_urban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OWER_USER_TAGS_ICONS" val="building_POWER_USER_SEPARATOR_ICONS_architecture_POWER_USER_SEPARATOR_ICONS_buildings_POWER_USER_SEPARATOR_ICONS_city_POWER_USER_SEPARATOR_ICONS_office_POWER_USER_SEPARATOR_ICONS_skyline_POWER_USER_SEPARATOR_ICONS_urban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OWER_USER_TAGS_ICONS" val="building_POWER_USER_SEPARATOR_ICONS_architecture_POWER_USER_SEPARATOR_ICONS_buildings_POWER_USER_SEPARATOR_ICONS_city_POWER_USER_SEPARATOR_ICONS_office_POWER_USER_SEPARATOR_ICONS_skyline_POWER_USER_SEPARATOR_ICONS_urban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OWER_USER_TAGS_ICONS" val="building_POWER_USER_SEPARATOR_ICONS_architecture_POWER_USER_SEPARATOR_ICONS_buildings_POWER_USER_SEPARATOR_ICONS_city_POWER_USER_SEPARATOR_ICONS_office_POWER_USER_SEPARATOR_ICONS_skyline_POWER_USER_SEPARATOR_ICONS_urban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OWER_USER_TAGS_ICONS" val="building_POWER_USER_SEPARATOR_ICONS_architecture_POWER_USER_SEPARATOR_ICONS_buildings_POWER_USER_SEPARATOR_ICONS_city_POWER_USER_SEPARATOR_ICONS_office_POWER_USER_SEPARATOR_ICONS_skyline_POWER_USER_SEPARATOR_ICONS_urban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OWER_USER_TAGS_ICONS" val="building_POWER_USER_SEPARATOR_ICONS_architecture_POWER_USER_SEPARATOR_ICONS_buildings_POWER_USER_SEPARATOR_ICONS_city_POWER_USER_SEPARATOR_ICONS_office_POWER_USER_SEPARATOR_ICONS_skyline_POWER_USER_SEPARATOR_ICONS_urban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OWER_USER_TAGS_ICONS" val="building_POWER_USER_SEPARATOR_ICONS_architecture_POWER_USER_SEPARATOR_ICONS_buildings_POWER_USER_SEPARATOR_ICONS_city_POWER_USER_SEPARATOR_ICONS_office_POWER_USER_SEPARATOR_ICONS_skyline_POWER_USER_SEPARATOR_ICONS_urban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OWER_USER_TAGS_ICONS" val="building_POWER_USER_SEPARATOR_ICONS_architecture_POWER_USER_SEPARATOR_ICONS_buildings_POWER_USER_SEPARATOR_ICONS_city_POWER_USER_SEPARATOR_ICONS_office_POWER_USER_SEPARATOR_ICONS_skyline_POWER_USER_SEPARATOR_ICONS_urban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OWER_USER_TAGS_ICONS" val="building_POWER_USER_SEPARATOR_ICONS_architecture_POWER_USER_SEPARATOR_ICONS_buildings_POWER_USER_SEPARATOR_ICONS_city_POWER_USER_SEPARATOR_ICONS_office_POWER_USER_SEPARATOR_ICONS_skyline_POWER_USER_SEPARATOR_ICONS_urban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OWER_USER_TAGS_ICONS" val="building_POWER_USER_SEPARATOR_ICONS_architecture_POWER_USER_SEPARATOR_ICONS_buildings_POWER_USER_SEPARATOR_ICONS_city_POWER_USER_SEPARATOR_ICONS_office_POWER_USER_SEPARATOR_ICONS_skyline_POWER_USER_SEPARATOR_ICONS_urban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OWER_USER_TAGS_ICONS" val="building_POWER_USER_SEPARATOR_ICONS_architecture_POWER_USER_SEPARATOR_ICONS_buildings_POWER_USER_SEPARATOR_ICONS_city_POWER_USER_SEPARATOR_ICONS_office_POWER_USER_SEPARATOR_ICONS_skyline_POWER_USER_SEPARATOR_ICONS_urban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OWER_USER_TAGS_ICONS" val="building_POWER_USER_SEPARATOR_ICONS_architecture_POWER_USER_SEPARATOR_ICONS_buildings_POWER_USER_SEPARATOR_ICONS_city_POWER_USER_SEPARATOR_ICONS_office_POWER_USER_SEPARATOR_ICONS_skyline_POWER_USER_SEPARATOR_ICONS_urban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OWER_USER_TAGS_ICONS" val="flame*fire*gas*light*power*environment*energy*burn*hot*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OWER_USER_TAGS_ICONS" val="building_POWER_USER_SEPARATOR_ICONS_architecture_POWER_USER_SEPARATOR_ICONS_buildings_POWER_USER_SEPARATOR_ICONS_city_POWER_USER_SEPARATOR_ICONS_office_POWER_USER_SEPARATOR_ICONS_skyline_POWER_USER_SEPARATOR_ICONS_urban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OWER_USER_TAGS_ICONS" val="cart_POWER_USER_SEPARATOR_ICONS_shopping_POWER_USER_SEPARATOR_ICONS_groceries_POWER_USER_SEPARATOR_ICONS_food_POWER_USER_SEPARATOR_ICONS_buy_POWER_USER_SEPARATOR_ICONS_purchase_POWER_USER_SEPARATOR_ICONS_supermarket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OWER_USER_TAGS_ICONS" val="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OWER_USER_TAGS_ICONS" val="building_POWER_USER_SEPARATOR_ICONS_architecture_POWER_USER_SEPARATOR_ICONS_buildings_POWER_USER_SEPARATOR_ICONS_city_POWER_USER_SEPARATOR_ICONS_office_POWER_USER_SEPARATOR_ICONS_skyline_POWER_USER_SEPARATOR_ICONS_urban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OWER_USER_TAGS_ICONS" val="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OWER_USER_TAGS_ICONS" val="bolt*bounce*jump*jumping*platform*screw*spring*tool*thunder*storm*fast*speed*lightning*energy*electricity*volt*power*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OWER_USER_TAGS_ICONS" val="building_POWER_USER_SEPARATOR_ICONS_architecture_POWER_USER_SEPARATOR_ICONS_buildings_POWER_USER_SEPARATOR_ICONS_city_POWER_USER_SEPARATOR_ICONS_office_POWER_USER_SEPARATOR_ICONS_skyline_POWER_USER_SEPARATOR_ICONS_urban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OWER_USER_TAGS_ICONS" val="building_POWER_USER_SEPARATOR_ICONS_architecture_POWER_USER_SEPARATOR_ICONS_buildings_POWER_USER_SEPARATOR_ICONS_city_POWER_USER_SEPARATOR_ICONS_office_POWER_USER_SEPARATOR_ICONS_skyline_POWER_USER_SEPARATOR_ICONS_urban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OWER_USER_TAGS_ICONS" val="building_POWER_USER_SEPARATOR_ICONS_architecture_POWER_USER_SEPARATOR_ICONS_buildings_POWER_USER_SEPARATOR_ICONS_city_POWER_USER_SEPARATOR_ICONS_office_POWER_USER_SEPARATOR_ICONS_skyline_POWER_USER_SEPARATOR_ICONS_urban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OWER_USER_TAGS_ICONS" val="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OWER_USER_TAGS_ICONS" val="bolt*bounce*jump*jumping*platform*screw*spring*tool*thunder*storm*fast*speed*lightning*energy*electricity*volt*power*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OWER_USER_TAGS_ICONS" val="cart_POWER_USER_SEPARATOR_ICONS_shopping_POWER_USER_SEPARATOR_ICONS_groceries_POWER_USER_SEPARATOR_ICONS_food_POWER_USER_SEPARATOR_ICONS_buy_POWER_USER_SEPARATOR_ICONS_purchase_POWER_USER_SEPARATOR_ICONS_supermarket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OWER_USER_TAGS_ICONS" val="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OWER_USER_TAGS_ICONS" val="electric-car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OWER_USER_TAGS_ICONS" val="cart_POWER_USER_SEPARATOR_ICONS_shopping_POWER_USER_SEPARATOR_ICONS_groceries_POWER_USER_SEPARATOR_ICONS_food_POWER_USER_SEPARATOR_ICONS_buy_POWER_USER_SEPARATOR_ICONS_purchase_POWER_USER_SEPARATOR_ICONS_supermarket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OWER_USER_TAGS_ICONS" val="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OWER_USER_TAGS_ICONS" val="solar panel*electricity*energy*environment*power*sun*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OWER_USER_TAGS_ICONS" val="flame*fire*gas*light*power*environment*energy*burn*hot*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OWER_USER_TAGS_ICONS" val="crowdsourcing_POWER_USER_SEPARATOR_ICONS_think_POWER_USER_SEPARATOR_ICONS_teamwork_POWER_USER_SEPARATOR_ICONS_team_POWER_USER_SEPARATOR_ICONS_smart_POWER_USER_SEPARATOR_ICONS_light-bulb_POWER_USER_SEPARATOR_ICONS_idea_POWER_USER_SEPARATOR_ICONS_group_POWER_USER_SEPARATOR_ICONS_collaborate_POWER_USER_SEPARATOR_ICONS_thinking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OWER_USER_TAGS_ICONS" val="crowdsourcing_POWER_USER_SEPARATOR_ICONS_think_POWER_USER_SEPARATOR_ICONS_teamwork_POWER_USER_SEPARATOR_ICONS_team_POWER_USER_SEPARATOR_ICONS_smart_POWER_USER_SEPARATOR_ICONS_light-bulb_POWER_USER_SEPARATOR_ICONS_idea_POWER_USER_SEPARATOR_ICONS_group_POWER_USER_SEPARATOR_ICONS_collaborate_POWER_USER_SEPARATOR_ICONS_thinking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OWER_USER_TAGS_ICONS" val="crowdsourcing_POWER_USER_SEPARATOR_ICONS_think_POWER_USER_SEPARATOR_ICONS_teamwork_POWER_USER_SEPARATOR_ICONS_team_POWER_USER_SEPARATOR_ICONS_smart_POWER_USER_SEPARATOR_ICONS_light-bulb_POWER_USER_SEPARATOR_ICONS_idea_POWER_USER_SEPARATOR_ICONS_group_POWER_USER_SEPARATOR_ICONS_collaborate_POWER_USER_SEPARATOR_ICONS_thinking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OWER_USER_TAGS_ICONS" val="crowdsourcing_POWER_USER_SEPARATOR_ICONS_think_POWER_USER_SEPARATOR_ICONS_teamwork_POWER_USER_SEPARATOR_ICONS_team_POWER_USER_SEPARATOR_ICONS_smart_POWER_USER_SEPARATOR_ICONS_light-bulb_POWER_USER_SEPARATOR_ICONS_idea_POWER_USER_SEPARATOR_ICONS_group_POWER_USER_SEPARATOR_ICONS_collaborate_POWER_USER_SEPARATOR_ICONS_thinking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OWER_USER_TAGS_ICONS" val="crowdsourcing_POWER_USER_SEPARATOR_ICONS_think_POWER_USER_SEPARATOR_ICONS_teamwork_POWER_USER_SEPARATOR_ICONS_team_POWER_USER_SEPARATOR_ICONS_smart_POWER_USER_SEPARATOR_ICONS_light-bulb_POWER_USER_SEPARATOR_ICONS_idea_POWER_USER_SEPARATOR_ICONS_group_POWER_USER_SEPARATOR_ICONS_collaborate_POWER_USER_SEPARATOR_ICONS_thinking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OWER_USER_TAGS_ICONS" val="crowdsourcing_POWER_USER_SEPARATOR_ICONS_think_POWER_USER_SEPARATOR_ICONS_teamwork_POWER_USER_SEPARATOR_ICONS_team_POWER_USER_SEPARATOR_ICONS_smart_POWER_USER_SEPARATOR_ICONS_light-bulb_POWER_USER_SEPARATOR_ICONS_idea_POWER_USER_SEPARATOR_ICONS_group_POWER_USER_SEPARATOR_ICONS_collaborate_POWER_USER_SEPARATOR_ICONS_thinking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OWER_USER_TAGS_ICONS" val="crowdsourcing_POWER_USER_SEPARATOR_ICONS_think_POWER_USER_SEPARATOR_ICONS_teamwork_POWER_USER_SEPARATOR_ICONS_team_POWER_USER_SEPARATOR_ICONS_smart_POWER_USER_SEPARATOR_ICONS_light-bulb_POWER_USER_SEPARATOR_ICONS_idea_POWER_USER_SEPARATOR_ICONS_group_POWER_USER_SEPARATOR_ICONS_collaborate_POWER_USER_SEPARATOR_ICONS_thinking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OWER_USER_TAGS_ICONS" val="crowdsourcing_POWER_USER_SEPARATOR_ICONS_think_POWER_USER_SEPARATOR_ICONS_teamwork_POWER_USER_SEPARATOR_ICONS_team_POWER_USER_SEPARATOR_ICONS_smart_POWER_USER_SEPARATOR_ICONS_light-bulb_POWER_USER_SEPARATOR_ICONS_idea_POWER_USER_SEPARATOR_ICONS_group_POWER_USER_SEPARATOR_ICONS_collaborate_POWER_USER_SEPARATOR_ICONS_thinking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OWER_USER_TAGS_ICONS" val="plug*electricity*energy*renewable*power*battery*charging*ampere*voltage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OWER_USER_TAGS_ICONS" val="building_POWER_USER_SEPARATOR_ICONS_architecture_POWER_USER_SEPARATOR_ICONS_buildings_POWER_USER_SEPARATOR_ICONS_city_POWER_USER_SEPARATOR_ICONS_office_POWER_USER_SEPARATOR_ICONS_skyline_POWER_USER_SEPARATOR_ICONS_urban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OWER_USER_TAGS_ICONS" val=""/>
</p:tagLst>
</file>

<file path=ppt/tags/tag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OWER_USER_TAGS_ICONS" val="bolt*bounce*jump*jumping*platform*screw*spring*tool*thunder*storm*fast*speed*lightning*energy*electricity*volt*power*"/>
</p:tagLst>
</file>

<file path=ppt/tags/tag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OWER_USER_TAGS_ICONS" val="earth_POWER_USER_SEPARATOR_ICONS_economical_POWER_USER_SEPARATOR_ICONS_global_POWER_USER_SEPARATOR_ICONS_globalization_POWER_USER_SEPARATOR_ICONS_planet_POWER_USER_SEPARATOR_ICONS_planet-earth_POWER_USER_SEPARATOR_ICONS_space_POWER_USER_SEPARATOR_ICONS_universe_POWER_USER_SEPARATOR_ICONS_world"/>
</p:tagLst>
</file>

<file path=ppt/tags/tag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OWER_USER_TAGS_ICONS" val="earth_POWER_USER_SEPARATOR_ICONS_economical_POWER_USER_SEPARATOR_ICONS_global_POWER_USER_SEPARATOR_ICONS_globalization_POWER_USER_SEPARATOR_ICONS_planet_POWER_USER_SEPARATOR_ICONS_planet-earth_POWER_USER_SEPARATOR_ICONS_space_POWER_USER_SEPARATOR_ICONS_universe_POWER_USER_SEPARATOR_ICONS_world"/>
</p:tagLst>
</file>

<file path=ppt/tags/tag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OWER_USER_TAGS_ICONS" val=""/>
</p:tagLst>
</file>

<file path=ppt/tags/tag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OWER_USER_TAGS_ICONS" val="electric-car"/>
</p:tagLst>
</file>

<file path=ppt/tags/tag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OWER_USER_TAGS_ICONS" val="cart_POWER_USER_SEPARATOR_ICONS_shopping_POWER_USER_SEPARATOR_ICONS_groceries_POWER_USER_SEPARATOR_ICONS_food_POWER_USER_SEPARATOR_ICONS_buy_POWER_USER_SEPARATOR_ICONS_purchase_POWER_USER_SEPARATOR_ICONS_supermarket"/>
</p:tagLst>
</file>

<file path=ppt/tags/tag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OWER_USER_TAGS_ICONS" val=""/>
</p:tagLst>
</file>

<file path=ppt/tags/tag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OWER_USER_TAGS_ICONS" val="gas*car*energy*fuel*gas station*highway**logistics*transportation*transport*environment*oil*petroleum*resources*vehicle*consumption*power*global warming*environment"/>
</p:tagLst>
</file>

<file path=ppt/tags/tag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OWER_USER_TAGS_ICONS" val="solar panel*electricity*energy*environment*power*sun*"/>
</p:tagLst>
</file>

<file path=ppt/tags/tag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OWER_USER_TAGS_ICONS" val="solar panel*electricity*energy*environment*power*sun*"/>
</p:tagLst>
</file>

<file path=ppt/tags/tag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OWER_USER_TAGS_ICONS" val="crowdsourcing_POWER_USER_SEPARATOR_ICONS_think_POWER_USER_SEPARATOR_ICONS_teamwork_POWER_USER_SEPARATOR_ICONS_team_POWER_USER_SEPARATOR_ICONS_smart_POWER_USER_SEPARATOR_ICONS_light-bulb_POWER_USER_SEPARATOR_ICONS_idea_POWER_USER_SEPARATOR_ICONS_group_POWER_USER_SEPARATOR_ICONS_collaborate_POWER_USER_SEPARATOR_ICONS_thinking"/>
</p:tagLst>
</file>

<file path=ppt/tags/tag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OWER_USER_TAGS_ICONS" val="crowdsourcing_POWER_USER_SEPARATOR_ICONS_think_POWER_USER_SEPARATOR_ICONS_teamwork_POWER_USER_SEPARATOR_ICONS_team_POWER_USER_SEPARATOR_ICONS_smart_POWER_USER_SEPARATOR_ICONS_light-bulb_POWER_USER_SEPARATOR_ICONS_idea_POWER_USER_SEPARATOR_ICONS_group_POWER_USER_SEPARATOR_ICONS_collaborate_POWER_USER_SEPARATOR_ICONS_thinking"/>
</p:tagLst>
</file>

<file path=ppt/tags/tag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OWER_USER_TAGS_ICONS" val="crowdsourcing_POWER_USER_SEPARATOR_ICONS_think_POWER_USER_SEPARATOR_ICONS_teamwork_POWER_USER_SEPARATOR_ICONS_team_POWER_USER_SEPARATOR_ICONS_smart_POWER_USER_SEPARATOR_ICONS_light-bulb_POWER_USER_SEPARATOR_ICONS_idea_POWER_USER_SEPARATOR_ICONS_group_POWER_USER_SEPARATOR_ICONS_collaborate_POWER_USER_SEPARATOR_ICONS_thinking"/>
</p:tagLst>
</file>

<file path=ppt/tags/tag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OWER_USER_TAGS_ICONS" val="crowdsourcing_POWER_USER_SEPARATOR_ICONS_think_POWER_USER_SEPARATOR_ICONS_teamwork_POWER_USER_SEPARATOR_ICONS_team_POWER_USER_SEPARATOR_ICONS_smart_POWER_USER_SEPARATOR_ICONS_light-bulb_POWER_USER_SEPARATOR_ICONS_idea_POWER_USER_SEPARATOR_ICONS_group_POWER_USER_SEPARATOR_ICONS_collaborate_POWER_USER_SEPARATOR_ICONS_thinking"/>
</p:tagLst>
</file>

<file path=ppt/tags/tag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OWER_USER_TAGS_ICONS" val="crowdsourcing_POWER_USER_SEPARATOR_ICONS_think_POWER_USER_SEPARATOR_ICONS_teamwork_POWER_USER_SEPARATOR_ICONS_team_POWER_USER_SEPARATOR_ICONS_smart_POWER_USER_SEPARATOR_ICONS_light-bulb_POWER_USER_SEPARATOR_ICONS_idea_POWER_USER_SEPARATOR_ICONS_group_POWER_USER_SEPARATOR_ICONS_collaborate_POWER_USER_SEPARATOR_ICONS_thinking"/>
</p:tagLst>
</file>

<file path=ppt/tags/tag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OWER_USER_TAGS_ICONS" val="crowdsourcing_POWER_USER_SEPARATOR_ICONS_think_POWER_USER_SEPARATOR_ICONS_teamwork_POWER_USER_SEPARATOR_ICONS_team_POWER_USER_SEPARATOR_ICONS_smart_POWER_USER_SEPARATOR_ICONS_light-bulb_POWER_USER_SEPARATOR_ICONS_idea_POWER_USER_SEPARATOR_ICONS_group_POWER_USER_SEPARATOR_ICONS_collaborate_POWER_USER_SEPARATOR_ICONS_thinking"/>
</p:tagLst>
</file>

<file path=ppt/tags/tag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OWER_USER_TAGS_ICONS" val="crowdsourcing_POWER_USER_SEPARATOR_ICONS_think_POWER_USER_SEPARATOR_ICONS_teamwork_POWER_USER_SEPARATOR_ICONS_team_POWER_USER_SEPARATOR_ICONS_smart_POWER_USER_SEPARATOR_ICONS_light-bulb_POWER_USER_SEPARATOR_ICONS_idea_POWER_USER_SEPARATOR_ICONS_group_POWER_USER_SEPARATOR_ICONS_collaborate_POWER_USER_SEPARATOR_ICONS_thinking"/>
</p:tagLst>
</file>

<file path=ppt/tags/tag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OWER_USER_TAGS_ICONS" val="crowdsourcing_POWER_USER_SEPARATOR_ICONS_think_POWER_USER_SEPARATOR_ICONS_teamwork_POWER_USER_SEPARATOR_ICONS_team_POWER_USER_SEPARATOR_ICONS_smart_POWER_USER_SEPARATOR_ICONS_light-bulb_POWER_USER_SEPARATOR_ICONS_idea_POWER_USER_SEPARATOR_ICONS_group_POWER_USER_SEPARATOR_ICONS_collaborate_POWER_USER_SEPARATOR_ICONS_thinking"/>
</p:tagLst>
</file>

<file path=ppt/tags/tag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OWER_USER_TAGS_ICONS" val="plug*electricity*energy*renewable*power*battery*charging*ampere*voltage"/>
</p:tagLst>
</file>

<file path=ppt/tags/tag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OWER_USER_TAGS_ICONS" val="solar panel*electricity*energy*environment*power*sun*"/>
</p:tagLst>
</file>

<file path=ppt/tags/tag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OWER_USER_TAGS_ICONS" val="flame*fire*gas*light*power*environment*energy*burn*hot*"/>
</p:tagLst>
</file>

<file path=ppt/tags/tag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OWER_USER_TAGS_ICONS" val="crowdsourcing_POWER_USER_SEPARATOR_ICONS_think_POWER_USER_SEPARATOR_ICONS_teamwork_POWER_USER_SEPARATOR_ICONS_team_POWER_USER_SEPARATOR_ICONS_smart_POWER_USER_SEPARATOR_ICONS_light-bulb_POWER_USER_SEPARATOR_ICONS_idea_POWER_USER_SEPARATOR_ICONS_group_POWER_USER_SEPARATOR_ICONS_collaborate_POWER_USER_SEPARATOR_ICONS_thinking"/>
</p:tagLst>
</file>

<file path=ppt/tags/tag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OWER_USER_TAGS_ICONS" val="crowdsourcing_POWER_USER_SEPARATOR_ICONS_think_POWER_USER_SEPARATOR_ICONS_teamwork_POWER_USER_SEPARATOR_ICONS_team_POWER_USER_SEPARATOR_ICONS_smart_POWER_USER_SEPARATOR_ICONS_light-bulb_POWER_USER_SEPARATOR_ICONS_idea_POWER_USER_SEPARATOR_ICONS_group_POWER_USER_SEPARATOR_ICONS_collaborate_POWER_USER_SEPARATOR_ICONS_thinking"/>
</p:tagLst>
</file>

<file path=ppt/tags/tag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OWER_USER_TAGS_ICONS" val="crowdsourcing_POWER_USER_SEPARATOR_ICONS_think_POWER_USER_SEPARATOR_ICONS_teamwork_POWER_USER_SEPARATOR_ICONS_team_POWER_USER_SEPARATOR_ICONS_smart_POWER_USER_SEPARATOR_ICONS_light-bulb_POWER_USER_SEPARATOR_ICONS_idea_POWER_USER_SEPARATOR_ICONS_group_POWER_USER_SEPARATOR_ICONS_collaborate_POWER_USER_SEPARATOR_ICONS_thinking"/>
</p:tagLst>
</file>

<file path=ppt/tags/tag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OWER_USER_TAGS_ICONS" val="crowdsourcing_POWER_USER_SEPARATOR_ICONS_think_POWER_USER_SEPARATOR_ICONS_teamwork_POWER_USER_SEPARATOR_ICONS_team_POWER_USER_SEPARATOR_ICONS_smart_POWER_USER_SEPARATOR_ICONS_light-bulb_POWER_USER_SEPARATOR_ICONS_idea_POWER_USER_SEPARATOR_ICONS_group_POWER_USER_SEPARATOR_ICONS_collaborate_POWER_USER_SEPARATOR_ICONS_thinking"/>
</p:tagLst>
</file>

<file path=ppt/tags/tag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OWER_USER_TAGS_ICONS" val="crowdsourcing_POWER_USER_SEPARATOR_ICONS_think_POWER_USER_SEPARATOR_ICONS_teamwork_POWER_USER_SEPARATOR_ICONS_team_POWER_USER_SEPARATOR_ICONS_smart_POWER_USER_SEPARATOR_ICONS_light-bulb_POWER_USER_SEPARATOR_ICONS_idea_POWER_USER_SEPARATOR_ICONS_group_POWER_USER_SEPARATOR_ICONS_collaborate_POWER_USER_SEPARATOR_ICONS_thinking"/>
</p:tagLst>
</file>

<file path=ppt/tags/tag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OWER_USER_TAGS_ICONS" val="crowdsourcing_POWER_USER_SEPARATOR_ICONS_think_POWER_USER_SEPARATOR_ICONS_teamwork_POWER_USER_SEPARATOR_ICONS_team_POWER_USER_SEPARATOR_ICONS_smart_POWER_USER_SEPARATOR_ICONS_light-bulb_POWER_USER_SEPARATOR_ICONS_idea_POWER_USER_SEPARATOR_ICONS_group_POWER_USER_SEPARATOR_ICONS_collaborate_POWER_USER_SEPARATOR_ICONS_thinking"/>
</p:tagLst>
</file>

<file path=ppt/tags/tag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OWER_USER_TAGS_ICONS" val="crowdsourcing_POWER_USER_SEPARATOR_ICONS_think_POWER_USER_SEPARATOR_ICONS_teamwork_POWER_USER_SEPARATOR_ICONS_team_POWER_USER_SEPARATOR_ICONS_smart_POWER_USER_SEPARATOR_ICONS_light-bulb_POWER_USER_SEPARATOR_ICONS_idea_POWER_USER_SEPARATOR_ICONS_group_POWER_USER_SEPARATOR_ICONS_collaborate_POWER_USER_SEPARATOR_ICONS_thinking"/>
</p:tagLst>
</file>

<file path=ppt/tags/tag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OWER_USER_TAGS_ICONS" val="crowdsourcing_POWER_USER_SEPARATOR_ICONS_think_POWER_USER_SEPARATOR_ICONS_teamwork_POWER_USER_SEPARATOR_ICONS_team_POWER_USER_SEPARATOR_ICONS_smart_POWER_USER_SEPARATOR_ICONS_light-bulb_POWER_USER_SEPARATOR_ICONS_idea_POWER_USER_SEPARATOR_ICONS_group_POWER_USER_SEPARATOR_ICONS_collaborate_POWER_USER_SEPARATOR_ICONS_thinking"/>
</p:tagLst>
</file>

<file path=ppt/tags/tag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OWER_USER_TAGS_ICONS" val="plug*electricity*energy*renewable*power*battery*charging*ampere*voltage"/>
</p:tagLst>
</file>

<file path=ppt/theme/theme1.xml><?xml version="1.0" encoding="utf-8"?>
<a:theme xmlns:a="http://schemas.openxmlformats.org/drawingml/2006/main" name="Republik-AT-4x3">
  <a:themeElements>
    <a:clrScheme name="CD-Farbpalette">
      <a:dk1>
        <a:srgbClr val="000000"/>
      </a:dk1>
      <a:lt1>
        <a:srgbClr val="FFFFFF"/>
      </a:lt1>
      <a:dk2>
        <a:srgbClr val="3E3E40"/>
      </a:dk2>
      <a:lt2>
        <a:srgbClr val="808080"/>
      </a:lt2>
      <a:accent1>
        <a:srgbClr val="003D84"/>
      </a:accent1>
      <a:accent2>
        <a:srgbClr val="6B498C"/>
      </a:accent2>
      <a:accent3>
        <a:srgbClr val="5FB564"/>
      </a:accent3>
      <a:accent4>
        <a:srgbClr val="ED6D42"/>
      </a:accent4>
      <a:accent5>
        <a:srgbClr val="CA0237"/>
      </a:accent5>
      <a:accent6>
        <a:srgbClr val="3BACBE"/>
      </a:accent6>
      <a:hlink>
        <a:srgbClr val="000000"/>
      </a:hlink>
      <a:folHlink>
        <a:srgbClr val="000000"/>
      </a:folHlink>
    </a:clrScheme>
    <a:fontScheme name="Calibri">
      <a:maj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Klarheit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hade val="86000"/>
                <a:satMod val="140000"/>
              </a:schemeClr>
            </a:gs>
            <a:gs pos="45000">
              <a:schemeClr val="phClr">
                <a:tint val="48000"/>
                <a:satMod val="150000"/>
              </a:schemeClr>
            </a:gs>
            <a:gs pos="100000">
              <a:schemeClr val="phClr">
                <a:tint val="28000"/>
                <a:satMod val="16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70000"/>
                <a:satMod val="150000"/>
              </a:schemeClr>
            </a:gs>
            <a:gs pos="34000">
              <a:schemeClr val="phClr">
                <a:shade val="70000"/>
                <a:satMod val="140000"/>
              </a:schemeClr>
            </a:gs>
            <a:gs pos="70000">
              <a:schemeClr val="phClr">
                <a:tint val="100000"/>
                <a:shade val="90000"/>
                <a:satMod val="140000"/>
              </a:schemeClr>
            </a:gs>
            <a:gs pos="100000">
              <a:schemeClr val="phClr">
                <a:tint val="100000"/>
                <a:shade val="100000"/>
                <a:satMod val="10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26425" cap="flat" cmpd="sng" algn="ctr">
          <a:solidFill>
            <a:schemeClr val="phClr"/>
          </a:solidFill>
          <a:prstDash val="solid"/>
        </a:ln>
        <a:ln w="444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5100000"/>
            </a:lightRig>
          </a:scene3d>
          <a:sp3d contourW="6350">
            <a:bevelT w="29210" h="12700"/>
            <a:contourClr>
              <a:schemeClr val="phClr">
                <a:shade val="30000"/>
                <a:satMod val="13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Vorlage Powerpoint 16zu9.potx" id="{8A3427BA-7080-4A5B-8919-EC416F71D1B5}" vid="{A1BF8820-9C99-4ACF-A4BE-68B57CCC3868}"/>
    </a:ext>
  </a:extLst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Benutzerdefiniert 2">
    <a:dk1>
      <a:srgbClr val="000000"/>
    </a:dk1>
    <a:lt1>
      <a:srgbClr val="FFFFFF"/>
    </a:lt1>
    <a:dk2>
      <a:srgbClr val="E1320F"/>
    </a:dk2>
    <a:lt2>
      <a:srgbClr val="E6EFF3"/>
    </a:lt2>
    <a:accent1>
      <a:srgbClr val="CA0237"/>
    </a:accent1>
    <a:accent2>
      <a:srgbClr val="5FB564"/>
    </a:accent2>
    <a:accent3>
      <a:srgbClr val="950F53"/>
    </a:accent3>
    <a:accent4>
      <a:srgbClr val="F59C00"/>
    </a:accent4>
    <a:accent5>
      <a:srgbClr val="3BACBE"/>
    </a:accent5>
    <a:accent6>
      <a:srgbClr val="BCCF00"/>
    </a:accent6>
    <a:hlink>
      <a:srgbClr val="1C1C1C"/>
    </a:hlink>
    <a:folHlink>
      <a:srgbClr val="636362"/>
    </a:folHlink>
  </a:clrScheme>
  <a:fontScheme name="Calibri">
    <a:majorFont>
      <a:latin typeface="Calibri" panose="020F0502020204030204"/>
      <a:ea typeface=""/>
      <a:cs typeface=""/>
      <a:font script="Jpan" typeface="メイリオ"/>
      <a:font script="Hang" typeface="맑은 고딕"/>
      <a:font script="Hans" typeface="宋体"/>
      <a:font script="Hant" typeface="新細明體"/>
      <a:font script="Arab" typeface="Arial"/>
      <a:font script="Hebr" typeface="Arial"/>
      <a:font script="Thai" typeface="Cordia New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ahoma"/>
      <a:font script="Uigh" typeface="Microsoft Uighur"/>
      <a:font script="Geor" typeface="Sylfaen"/>
    </a:majorFont>
    <a:minorFont>
      <a:latin typeface="Calibri" panose="020F0502020204030204"/>
      <a:ea typeface=""/>
      <a:cs typeface=""/>
      <a:font script="Jpan" typeface="メイリオ"/>
      <a:font script="Hang" typeface="맑은 고딕"/>
      <a:font script="Hans" typeface="宋体"/>
      <a:font script="Hant" typeface="新細明體"/>
      <a:font script="Arab" typeface="Arial"/>
      <a:font script="Hebr" typeface="Arial"/>
      <a:font script="Thai" typeface="Cordia New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ahoma"/>
      <a:font script="Uigh" typeface="Microsoft Uighur"/>
      <a:font script="Geor" typeface="Sylfaen"/>
    </a:minorFont>
  </a:fontScheme>
  <a:fmtScheme name="Larissa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6350" cap="flat" cmpd="sng" algn="ctr">
        <a:solidFill>
          <a:schemeClr val="phClr"/>
        </a:solidFill>
        <a:prstDash val="solid"/>
        <a:miter lim="800000"/>
      </a:ln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ppt/theme/themeOverride2.xml><?xml version="1.0" encoding="utf-8"?>
<a:themeOverride xmlns:a="http://schemas.openxmlformats.org/drawingml/2006/main">
  <a:clrScheme name="Benutzerdefiniert 2">
    <a:dk1>
      <a:srgbClr val="000000"/>
    </a:dk1>
    <a:lt1>
      <a:srgbClr val="FFFFFF"/>
    </a:lt1>
    <a:dk2>
      <a:srgbClr val="E1320F"/>
    </a:dk2>
    <a:lt2>
      <a:srgbClr val="E6EFF3"/>
    </a:lt2>
    <a:accent1>
      <a:srgbClr val="CA0237"/>
    </a:accent1>
    <a:accent2>
      <a:srgbClr val="5FB564"/>
    </a:accent2>
    <a:accent3>
      <a:srgbClr val="950F53"/>
    </a:accent3>
    <a:accent4>
      <a:srgbClr val="F59C00"/>
    </a:accent4>
    <a:accent5>
      <a:srgbClr val="3BACBE"/>
    </a:accent5>
    <a:accent6>
      <a:srgbClr val="BCCF00"/>
    </a:accent6>
    <a:hlink>
      <a:srgbClr val="1C1C1C"/>
    </a:hlink>
    <a:folHlink>
      <a:srgbClr val="636362"/>
    </a:folHlink>
  </a:clrScheme>
  <a:fontScheme name="Calibri">
    <a:majorFont>
      <a:latin typeface="Calibri" panose="020F0502020204030204"/>
      <a:ea typeface=""/>
      <a:cs typeface=""/>
      <a:font script="Jpan" typeface="メイリオ"/>
      <a:font script="Hang" typeface="맑은 고딕"/>
      <a:font script="Hans" typeface="宋体"/>
      <a:font script="Hant" typeface="新細明體"/>
      <a:font script="Arab" typeface="Arial"/>
      <a:font script="Hebr" typeface="Arial"/>
      <a:font script="Thai" typeface="Cordia New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ahoma"/>
      <a:font script="Uigh" typeface="Microsoft Uighur"/>
      <a:font script="Geor" typeface="Sylfaen"/>
    </a:majorFont>
    <a:minorFont>
      <a:latin typeface="Calibri" panose="020F0502020204030204"/>
      <a:ea typeface=""/>
      <a:cs typeface=""/>
      <a:font script="Jpan" typeface="メイリオ"/>
      <a:font script="Hang" typeface="맑은 고딕"/>
      <a:font script="Hans" typeface="宋体"/>
      <a:font script="Hant" typeface="新細明體"/>
      <a:font script="Arab" typeface="Arial"/>
      <a:font script="Hebr" typeface="Arial"/>
      <a:font script="Thai" typeface="Cordia New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ahoma"/>
      <a:font script="Uigh" typeface="Microsoft Uighur"/>
      <a:font script="Geor" typeface="Sylfaen"/>
    </a:minorFont>
  </a:fontScheme>
  <a:fmtScheme name="Larissa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6350" cap="flat" cmpd="sng" algn="ctr">
        <a:solidFill>
          <a:schemeClr val="phClr"/>
        </a:solidFill>
        <a:prstDash val="solid"/>
        <a:miter lim="800000"/>
      </a:ln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ppt/theme/themeOverride3.xml><?xml version="1.0" encoding="utf-8"?>
<a:themeOverride xmlns:a="http://schemas.openxmlformats.org/drawingml/2006/main">
  <a:clrScheme name="Benutzerdefiniert 2">
    <a:dk1>
      <a:srgbClr val="000000"/>
    </a:dk1>
    <a:lt1>
      <a:srgbClr val="FFFFFF"/>
    </a:lt1>
    <a:dk2>
      <a:srgbClr val="E1320F"/>
    </a:dk2>
    <a:lt2>
      <a:srgbClr val="E6EFF3"/>
    </a:lt2>
    <a:accent1>
      <a:srgbClr val="CA0237"/>
    </a:accent1>
    <a:accent2>
      <a:srgbClr val="5FB564"/>
    </a:accent2>
    <a:accent3>
      <a:srgbClr val="950F53"/>
    </a:accent3>
    <a:accent4>
      <a:srgbClr val="F59C00"/>
    </a:accent4>
    <a:accent5>
      <a:srgbClr val="3BACBE"/>
    </a:accent5>
    <a:accent6>
      <a:srgbClr val="BCCF00"/>
    </a:accent6>
    <a:hlink>
      <a:srgbClr val="1C1C1C"/>
    </a:hlink>
    <a:folHlink>
      <a:srgbClr val="636362"/>
    </a:folHlink>
  </a:clrScheme>
  <a:fontScheme name="Calibri">
    <a:majorFont>
      <a:latin typeface="Calibri" panose="020F0502020204030204"/>
      <a:ea typeface=""/>
      <a:cs typeface=""/>
      <a:font script="Jpan" typeface="メイリオ"/>
      <a:font script="Hang" typeface="맑은 고딕"/>
      <a:font script="Hans" typeface="宋体"/>
      <a:font script="Hant" typeface="新細明體"/>
      <a:font script="Arab" typeface="Arial"/>
      <a:font script="Hebr" typeface="Arial"/>
      <a:font script="Thai" typeface="Cordia New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ahoma"/>
      <a:font script="Uigh" typeface="Microsoft Uighur"/>
      <a:font script="Geor" typeface="Sylfaen"/>
    </a:majorFont>
    <a:minorFont>
      <a:latin typeface="Calibri" panose="020F0502020204030204"/>
      <a:ea typeface=""/>
      <a:cs typeface=""/>
      <a:font script="Jpan" typeface="メイリオ"/>
      <a:font script="Hang" typeface="맑은 고딕"/>
      <a:font script="Hans" typeface="宋体"/>
      <a:font script="Hant" typeface="新細明體"/>
      <a:font script="Arab" typeface="Arial"/>
      <a:font script="Hebr" typeface="Arial"/>
      <a:font script="Thai" typeface="Cordia New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ahoma"/>
      <a:font script="Uigh" typeface="Microsoft Uighur"/>
      <a:font script="Geor" typeface="Sylfaen"/>
    </a:minorFont>
  </a:fontScheme>
  <a:fmtScheme name="Larissa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6350" cap="flat" cmpd="sng" algn="ctr">
        <a:solidFill>
          <a:schemeClr val="phClr"/>
        </a:solidFill>
        <a:prstDash val="solid"/>
        <a:miter lim="800000"/>
      </a:ln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ppt/theme/themeOverride4.xml><?xml version="1.0" encoding="utf-8"?>
<a:themeOverride xmlns:a="http://schemas.openxmlformats.org/drawingml/2006/main">
  <a:clrScheme name="Benutzerdefiniert 2">
    <a:dk1>
      <a:srgbClr val="000000"/>
    </a:dk1>
    <a:lt1>
      <a:srgbClr val="FFFFFF"/>
    </a:lt1>
    <a:dk2>
      <a:srgbClr val="E1320F"/>
    </a:dk2>
    <a:lt2>
      <a:srgbClr val="E6EFF3"/>
    </a:lt2>
    <a:accent1>
      <a:srgbClr val="CA0237"/>
    </a:accent1>
    <a:accent2>
      <a:srgbClr val="5FB564"/>
    </a:accent2>
    <a:accent3>
      <a:srgbClr val="950F53"/>
    </a:accent3>
    <a:accent4>
      <a:srgbClr val="F59C00"/>
    </a:accent4>
    <a:accent5>
      <a:srgbClr val="3BACBE"/>
    </a:accent5>
    <a:accent6>
      <a:srgbClr val="BCCF00"/>
    </a:accent6>
    <a:hlink>
      <a:srgbClr val="1C1C1C"/>
    </a:hlink>
    <a:folHlink>
      <a:srgbClr val="636362"/>
    </a:folHlink>
  </a:clrScheme>
  <a:fontScheme name="Calibri">
    <a:majorFont>
      <a:latin typeface="Calibri" panose="020F0502020204030204"/>
      <a:ea typeface=""/>
      <a:cs typeface=""/>
      <a:font script="Jpan" typeface="メイリオ"/>
      <a:font script="Hang" typeface="맑은 고딕"/>
      <a:font script="Hans" typeface="宋体"/>
      <a:font script="Hant" typeface="新細明體"/>
      <a:font script="Arab" typeface="Arial"/>
      <a:font script="Hebr" typeface="Arial"/>
      <a:font script="Thai" typeface="Cordia New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ahoma"/>
      <a:font script="Uigh" typeface="Microsoft Uighur"/>
      <a:font script="Geor" typeface="Sylfaen"/>
    </a:majorFont>
    <a:minorFont>
      <a:latin typeface="Calibri" panose="020F0502020204030204"/>
      <a:ea typeface=""/>
      <a:cs typeface=""/>
      <a:font script="Jpan" typeface="メイリオ"/>
      <a:font script="Hang" typeface="맑은 고딕"/>
      <a:font script="Hans" typeface="宋体"/>
      <a:font script="Hant" typeface="新細明體"/>
      <a:font script="Arab" typeface="Arial"/>
      <a:font script="Hebr" typeface="Arial"/>
      <a:font script="Thai" typeface="Cordia New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ahoma"/>
      <a:font script="Uigh" typeface="Microsoft Uighur"/>
      <a:font script="Geor" typeface="Sylfaen"/>
    </a:minorFont>
  </a:fontScheme>
  <a:fmtScheme name="Larissa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6350" cap="flat" cmpd="sng" algn="ctr">
        <a:solidFill>
          <a:schemeClr val="phClr"/>
        </a:solidFill>
        <a:prstDash val="solid"/>
        <a:miter lim="800000"/>
      </a:ln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ppt/theme/themeOverride5.xml><?xml version="1.0" encoding="utf-8"?>
<a:themeOverride xmlns:a="http://schemas.openxmlformats.org/drawingml/2006/main">
  <a:clrScheme name="Benutzerdefiniert 2">
    <a:dk1>
      <a:srgbClr val="000000"/>
    </a:dk1>
    <a:lt1>
      <a:srgbClr val="FFFFFF"/>
    </a:lt1>
    <a:dk2>
      <a:srgbClr val="E1320F"/>
    </a:dk2>
    <a:lt2>
      <a:srgbClr val="E6EFF3"/>
    </a:lt2>
    <a:accent1>
      <a:srgbClr val="CA0237"/>
    </a:accent1>
    <a:accent2>
      <a:srgbClr val="5FB564"/>
    </a:accent2>
    <a:accent3>
      <a:srgbClr val="950F53"/>
    </a:accent3>
    <a:accent4>
      <a:srgbClr val="F59C00"/>
    </a:accent4>
    <a:accent5>
      <a:srgbClr val="3BACBE"/>
    </a:accent5>
    <a:accent6>
      <a:srgbClr val="BCCF00"/>
    </a:accent6>
    <a:hlink>
      <a:srgbClr val="1C1C1C"/>
    </a:hlink>
    <a:folHlink>
      <a:srgbClr val="636362"/>
    </a:folHlink>
  </a:clrScheme>
  <a:fontScheme name="Calibri">
    <a:majorFont>
      <a:latin typeface="Calibri" panose="020F0502020204030204"/>
      <a:ea typeface=""/>
      <a:cs typeface=""/>
      <a:font script="Jpan" typeface="メイリオ"/>
      <a:font script="Hang" typeface="맑은 고딕"/>
      <a:font script="Hans" typeface="宋体"/>
      <a:font script="Hant" typeface="新細明體"/>
      <a:font script="Arab" typeface="Arial"/>
      <a:font script="Hebr" typeface="Arial"/>
      <a:font script="Thai" typeface="Cordia New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ahoma"/>
      <a:font script="Uigh" typeface="Microsoft Uighur"/>
      <a:font script="Geor" typeface="Sylfaen"/>
    </a:majorFont>
    <a:minorFont>
      <a:latin typeface="Calibri" panose="020F0502020204030204"/>
      <a:ea typeface=""/>
      <a:cs typeface=""/>
      <a:font script="Jpan" typeface="メイリオ"/>
      <a:font script="Hang" typeface="맑은 고딕"/>
      <a:font script="Hans" typeface="宋体"/>
      <a:font script="Hant" typeface="新細明體"/>
      <a:font script="Arab" typeface="Arial"/>
      <a:font script="Hebr" typeface="Arial"/>
      <a:font script="Thai" typeface="Cordia New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ahoma"/>
      <a:font script="Uigh" typeface="Microsoft Uighur"/>
      <a:font script="Geor" typeface="Sylfaen"/>
    </a:minorFont>
  </a:fontScheme>
  <a:fmtScheme name="Larissa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6350" cap="flat" cmpd="sng" algn="ctr">
        <a:solidFill>
          <a:schemeClr val="phClr"/>
        </a:solidFill>
        <a:prstDash val="solid"/>
        <a:miter lim="800000"/>
      </a:ln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ppt/theme/themeOverride6.xml><?xml version="1.0" encoding="utf-8"?>
<a:themeOverride xmlns:a="http://schemas.openxmlformats.org/drawingml/2006/main">
  <a:clrScheme name="Benutzerdefiniert 2">
    <a:dk1>
      <a:srgbClr val="000000"/>
    </a:dk1>
    <a:lt1>
      <a:srgbClr val="FFFFFF"/>
    </a:lt1>
    <a:dk2>
      <a:srgbClr val="E1320F"/>
    </a:dk2>
    <a:lt2>
      <a:srgbClr val="E6EFF3"/>
    </a:lt2>
    <a:accent1>
      <a:srgbClr val="CA0237"/>
    </a:accent1>
    <a:accent2>
      <a:srgbClr val="5FB564"/>
    </a:accent2>
    <a:accent3>
      <a:srgbClr val="950F53"/>
    </a:accent3>
    <a:accent4>
      <a:srgbClr val="F59C00"/>
    </a:accent4>
    <a:accent5>
      <a:srgbClr val="3BACBE"/>
    </a:accent5>
    <a:accent6>
      <a:srgbClr val="BCCF00"/>
    </a:accent6>
    <a:hlink>
      <a:srgbClr val="1C1C1C"/>
    </a:hlink>
    <a:folHlink>
      <a:srgbClr val="636362"/>
    </a:folHlink>
  </a:clrScheme>
  <a:fontScheme name="Calibri">
    <a:majorFont>
      <a:latin typeface="Calibri" panose="020F0502020204030204"/>
      <a:ea typeface=""/>
      <a:cs typeface=""/>
      <a:font script="Jpan" typeface="メイリオ"/>
      <a:font script="Hang" typeface="맑은 고딕"/>
      <a:font script="Hans" typeface="宋体"/>
      <a:font script="Hant" typeface="新細明體"/>
      <a:font script="Arab" typeface="Arial"/>
      <a:font script="Hebr" typeface="Arial"/>
      <a:font script="Thai" typeface="Cordia New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ahoma"/>
      <a:font script="Uigh" typeface="Microsoft Uighur"/>
      <a:font script="Geor" typeface="Sylfaen"/>
    </a:majorFont>
    <a:minorFont>
      <a:latin typeface="Calibri" panose="020F0502020204030204"/>
      <a:ea typeface=""/>
      <a:cs typeface=""/>
      <a:font script="Jpan" typeface="メイリオ"/>
      <a:font script="Hang" typeface="맑은 고딕"/>
      <a:font script="Hans" typeface="宋体"/>
      <a:font script="Hant" typeface="新細明體"/>
      <a:font script="Arab" typeface="Arial"/>
      <a:font script="Hebr" typeface="Arial"/>
      <a:font script="Thai" typeface="Cordia New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ahoma"/>
      <a:font script="Uigh" typeface="Microsoft Uighur"/>
      <a:font script="Geor" typeface="Sylfaen"/>
    </a:minorFont>
  </a:fontScheme>
  <a:fmtScheme name="Larissa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6350" cap="flat" cmpd="sng" algn="ctr">
        <a:solidFill>
          <a:schemeClr val="phClr"/>
        </a:solidFill>
        <a:prstDash val="solid"/>
        <a:miter lim="800000"/>
      </a:ln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2615</Words>
  <Application>Microsoft Office PowerPoint</Application>
  <PresentationFormat>Breitbild</PresentationFormat>
  <Paragraphs>471</Paragraphs>
  <Slides>46</Slides>
  <Notes>0</Notes>
  <HiddenSlides>1</HiddenSlides>
  <MMClips>0</MMClips>
  <ScaleCrop>false</ScaleCrop>
  <HeadingPairs>
    <vt:vector size="6" baseType="variant">
      <vt:variant>
        <vt:lpstr>Verwendete Schriftarten</vt:lpstr>
      </vt:variant>
      <vt:variant>
        <vt:i4>8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46</vt:i4>
      </vt:variant>
    </vt:vector>
  </HeadingPairs>
  <TitlesOfParts>
    <vt:vector size="55" baseType="lpstr">
      <vt:lpstr>Aptos</vt:lpstr>
      <vt:lpstr>Arial</vt:lpstr>
      <vt:lpstr>Bahnschrift</vt:lpstr>
      <vt:lpstr>Calibri</vt:lpstr>
      <vt:lpstr>Calibri Light</vt:lpstr>
      <vt:lpstr>Corbel</vt:lpstr>
      <vt:lpstr>Times New Roman</vt:lpstr>
      <vt:lpstr>Wingdings</vt:lpstr>
      <vt:lpstr>Republik-AT-4x3</vt:lpstr>
      <vt:lpstr>Teil 1: Die Anlaufstelle Teil 2: Der Plus-Energie-Standard</vt:lpstr>
      <vt:lpstr>klimaaktiv | Die Klimaschutzinitiative der österr. Bundesregierung</vt:lpstr>
      <vt:lpstr>Angebote</vt:lpstr>
      <vt:lpstr>Das Programm klimaaktiv Siedlungen und Quartiere</vt:lpstr>
      <vt:lpstr>Die Anlaufstelle für Plus-Energie-Quartiere</vt:lpstr>
      <vt:lpstr>Vision: Effizient, erneuerbar und flexibel versorgt</vt:lpstr>
      <vt:lpstr>Angebote</vt:lpstr>
      <vt:lpstr>Das klimaaktiv Programmteam</vt:lpstr>
      <vt:lpstr>Ihr Weg zum Plus-Energie-Quartier</vt:lpstr>
      <vt:lpstr>Kompetenzpartner:innen: Rolle und Mehrwert</vt:lpstr>
      <vt:lpstr>Erfolge seit 2024 (Stand September 2025)</vt:lpstr>
      <vt:lpstr>PowerPoint-Präsentation</vt:lpstr>
      <vt:lpstr>Deklaration je nach Projektstand</vt:lpstr>
      <vt:lpstr>Der Plus-Energie-Standard</vt:lpstr>
      <vt:lpstr>Vision: Effizient, erneuerbar und flexibel versorgt</vt:lpstr>
      <vt:lpstr>Anwendungsbereich: Quantitative Bewertung von Konzepten</vt:lpstr>
      <vt:lpstr>Leitideen des Plus-Energie-Quartier-Standards</vt:lpstr>
      <vt:lpstr>Ausprägungen der klimaaktiv Plus-Energie-Quartiers-Deklaration</vt:lpstr>
      <vt:lpstr>Der Plus-Energie-Standard ermöglicht die Deklaration von</vt:lpstr>
      <vt:lpstr> Der Standard vereint</vt:lpstr>
      <vt:lpstr>Kontextfaktor Bauliche Dichte</vt:lpstr>
      <vt:lpstr>Mobilität: Inkludiert und budgetiert</vt:lpstr>
      <vt:lpstr>Kontextfaktor Sanierung</vt:lpstr>
      <vt:lpstr>Energieflexibilität</vt:lpstr>
      <vt:lpstr>Treibhausgas-Bilanz</vt:lpstr>
      <vt:lpstr>THG-Bilanzierung  im Detail</vt:lpstr>
      <vt:lpstr>Zertifizierung in der Praxis</vt:lpstr>
      <vt:lpstr>Erfolgsbeispiel RUGInnovation</vt:lpstr>
      <vt:lpstr>Primärenergie-Nachweise</vt:lpstr>
      <vt:lpstr>PowerPoint-Präsentation</vt:lpstr>
      <vt:lpstr>Primärenergie-Nachweise</vt:lpstr>
      <vt:lpstr>Primärenergie-Nachweise</vt:lpstr>
      <vt:lpstr>Nachweis klimaneutrales Plus-Energie-Quartier</vt:lpstr>
      <vt:lpstr>Beispiel Pilzgasse ZQ3 Demo</vt:lpstr>
      <vt:lpstr>Beispiel Alliiertenviertel</vt:lpstr>
      <vt:lpstr>Übersicht</vt:lpstr>
      <vt:lpstr>FAQ</vt:lpstr>
      <vt:lpstr>Flexibilitätsnachweis – was muss in der Fertigstellung gegeben sein?</vt:lpstr>
      <vt:lpstr>Kontakt  </vt:lpstr>
      <vt:lpstr>Juni 2025 –  Mai 2026</vt:lpstr>
      <vt:lpstr>Tool v1.11 Weiterentwicklungen</vt:lpstr>
      <vt:lpstr>Kommunikation</vt:lpstr>
      <vt:lpstr>Beratungen und Quick-Checks:</vt:lpstr>
      <vt:lpstr>Klärung:</vt:lpstr>
      <vt:lpstr>Flexibilitätsnachweis – was muss in der Fertigstellung gegeben sein?</vt:lpstr>
      <vt:lpstr>Sammlung von Deklarationsbeispielen</vt:lpstr>
    </vt:vector>
  </TitlesOfParts>
  <Company>BMVIT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klimaaktiv – Die Klimaschutzinitiative Österreichs Gemeinsames Engagement für die Energie- und Mobilitätswende</dc:title>
  <dc:creator>Maier Philipp</dc:creator>
  <cp:lastModifiedBy>Simon Schneider</cp:lastModifiedBy>
  <cp:revision>463</cp:revision>
  <cp:lastPrinted>2025-03-20T10:17:34Z</cp:lastPrinted>
  <dcterms:created xsi:type="dcterms:W3CDTF">2025-01-27T16:11:10Z</dcterms:created>
  <dcterms:modified xsi:type="dcterms:W3CDTF">2026-06-29T12:47:16Z</dcterms:modified>
</cp:coreProperties>
</file>